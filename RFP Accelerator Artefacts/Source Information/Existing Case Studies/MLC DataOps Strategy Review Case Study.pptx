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C08FCC-1D99-4C11-BC09-658FFAA0D13E}" v="2" dt="2025-07-23T07:43:02.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0" d="100"/>
          <a:sy n="100" d="100"/>
        </p:scale>
        <p:origin x="79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Nisbett" userId="2cdcd649-906d-48e9-836a-3bd72dc5b482" providerId="ADAL" clId="{6AC08FCC-1D99-4C11-BC09-658FFAA0D13E}"/>
    <pc:docChg chg="custSel modSld">
      <pc:chgData name="Andrew Nisbett" userId="2cdcd649-906d-48e9-836a-3bd72dc5b482" providerId="ADAL" clId="{6AC08FCC-1D99-4C11-BC09-658FFAA0D13E}" dt="2025-07-23T07:58:06.209" v="2401" actId="1036"/>
      <pc:docMkLst>
        <pc:docMk/>
      </pc:docMkLst>
      <pc:sldChg chg="addSp delSp modSp mod">
        <pc:chgData name="Andrew Nisbett" userId="2cdcd649-906d-48e9-836a-3bd72dc5b482" providerId="ADAL" clId="{6AC08FCC-1D99-4C11-BC09-658FFAA0D13E}" dt="2025-07-23T07:58:06.209" v="2401" actId="1036"/>
        <pc:sldMkLst>
          <pc:docMk/>
          <pc:sldMk cId="1836725786" sldId="257"/>
        </pc:sldMkLst>
        <pc:spChg chg="mod">
          <ac:chgData name="Andrew Nisbett" userId="2cdcd649-906d-48e9-836a-3bd72dc5b482" providerId="ADAL" clId="{6AC08FCC-1D99-4C11-BC09-658FFAA0D13E}" dt="2025-07-23T07:58:02.301" v="2398" actId="1036"/>
          <ac:spMkLst>
            <pc:docMk/>
            <pc:sldMk cId="1836725786" sldId="257"/>
            <ac:spMk id="5" creationId="{113B260F-02BB-E9A7-FB90-ADC1F6FB920D}"/>
          </ac:spMkLst>
        </pc:spChg>
        <pc:spChg chg="add mod">
          <ac:chgData name="Andrew Nisbett" userId="2cdcd649-906d-48e9-836a-3bd72dc5b482" providerId="ADAL" clId="{6AC08FCC-1D99-4C11-BC09-658FFAA0D13E}" dt="2025-07-23T07:03:35.317" v="63" actId="1036"/>
          <ac:spMkLst>
            <pc:docMk/>
            <pc:sldMk cId="1836725786" sldId="257"/>
            <ac:spMk id="6" creationId="{7440C464-D406-AD41-1800-E5BD53237314}"/>
          </ac:spMkLst>
        </pc:spChg>
        <pc:spChg chg="add mod">
          <ac:chgData name="Andrew Nisbett" userId="2cdcd649-906d-48e9-836a-3bd72dc5b482" providerId="ADAL" clId="{6AC08FCC-1D99-4C11-BC09-658FFAA0D13E}" dt="2025-07-23T07:03:35.317" v="63" actId="1036"/>
          <ac:spMkLst>
            <pc:docMk/>
            <pc:sldMk cId="1836725786" sldId="257"/>
            <ac:spMk id="10" creationId="{FC6FFA44-D358-4BA9-9F9B-33E421DA2ACB}"/>
          </ac:spMkLst>
        </pc:spChg>
        <pc:spChg chg="mod">
          <ac:chgData name="Andrew Nisbett" userId="2cdcd649-906d-48e9-836a-3bd72dc5b482" providerId="ADAL" clId="{6AC08FCC-1D99-4C11-BC09-658FFAA0D13E}" dt="2025-07-23T07:07:44.429" v="104" actId="313"/>
          <ac:spMkLst>
            <pc:docMk/>
            <pc:sldMk cId="1836725786" sldId="257"/>
            <ac:spMk id="15" creationId="{CD324C2E-9ED2-FD3D-F0AA-E97D44868E6C}"/>
          </ac:spMkLst>
        </pc:spChg>
        <pc:spChg chg="del">
          <ac:chgData name="Andrew Nisbett" userId="2cdcd649-906d-48e9-836a-3bd72dc5b482" providerId="ADAL" clId="{6AC08FCC-1D99-4C11-BC09-658FFAA0D13E}" dt="2025-07-23T07:03:28.694" v="0" actId="478"/>
          <ac:spMkLst>
            <pc:docMk/>
            <pc:sldMk cId="1836725786" sldId="257"/>
            <ac:spMk id="22" creationId="{E338DC0E-B0F1-63C8-F4A1-7A91E83C02F5}"/>
          </ac:spMkLst>
        </pc:spChg>
        <pc:spChg chg="mod">
          <ac:chgData name="Andrew Nisbett" userId="2cdcd649-906d-48e9-836a-3bd72dc5b482" providerId="ADAL" clId="{6AC08FCC-1D99-4C11-BC09-658FFAA0D13E}" dt="2025-07-23T07:27:19.623" v="919" actId="1036"/>
          <ac:spMkLst>
            <pc:docMk/>
            <pc:sldMk cId="1836725786" sldId="257"/>
            <ac:spMk id="23" creationId="{A21E5D37-428B-2E67-F4E6-08740D6B4F86}"/>
          </ac:spMkLst>
        </pc:spChg>
        <pc:spChg chg="mod">
          <ac:chgData name="Andrew Nisbett" userId="2cdcd649-906d-48e9-836a-3bd72dc5b482" providerId="ADAL" clId="{6AC08FCC-1D99-4C11-BC09-658FFAA0D13E}" dt="2025-07-23T07:58:06.209" v="2401" actId="1036"/>
          <ac:spMkLst>
            <pc:docMk/>
            <pc:sldMk cId="1836725786" sldId="257"/>
            <ac:spMk id="24" creationId="{54188DC0-D0FE-EA63-1873-8482ADFFEAF5}"/>
          </ac:spMkLst>
        </pc:spChg>
        <pc:spChg chg="del">
          <ac:chgData name="Andrew Nisbett" userId="2cdcd649-906d-48e9-836a-3bd72dc5b482" providerId="ADAL" clId="{6AC08FCC-1D99-4C11-BC09-658FFAA0D13E}" dt="2025-07-23T07:03:28.694" v="0" actId="478"/>
          <ac:spMkLst>
            <pc:docMk/>
            <pc:sldMk cId="1836725786" sldId="257"/>
            <ac:spMk id="25" creationId="{EA7C1E8D-2B3C-F2D1-E212-1AF5BADCD60C}"/>
          </ac:spMkLst>
        </pc:spChg>
        <pc:spChg chg="mod">
          <ac:chgData name="Andrew Nisbett" userId="2cdcd649-906d-48e9-836a-3bd72dc5b482" providerId="ADAL" clId="{6AC08FCC-1D99-4C11-BC09-658FFAA0D13E}" dt="2025-07-23T07:16:21.731" v="550" actId="20577"/>
          <ac:spMkLst>
            <pc:docMk/>
            <pc:sldMk cId="1836725786" sldId="257"/>
            <ac:spMk id="26" creationId="{C66AC46E-2735-98D6-F6F0-4163DEF07545}"/>
          </ac:spMkLst>
        </pc:spChg>
        <pc:spChg chg="mod">
          <ac:chgData name="Andrew Nisbett" userId="2cdcd649-906d-48e9-836a-3bd72dc5b482" providerId="ADAL" clId="{6AC08FCC-1D99-4C11-BC09-658FFAA0D13E}" dt="2025-07-23T07:43:48.888" v="1817" actId="20577"/>
          <ac:spMkLst>
            <pc:docMk/>
            <pc:sldMk cId="1836725786" sldId="257"/>
            <ac:spMk id="28" creationId="{1762D708-DDFE-CFAB-4EBA-820BC48A4944}"/>
          </ac:spMkLst>
        </pc:spChg>
        <pc:spChg chg="mod">
          <ac:chgData name="Andrew Nisbett" userId="2cdcd649-906d-48e9-836a-3bd72dc5b482" providerId="ADAL" clId="{6AC08FCC-1D99-4C11-BC09-658FFAA0D13E}" dt="2025-07-23T07:24:05.307" v="671" actId="20577"/>
          <ac:spMkLst>
            <pc:docMk/>
            <pc:sldMk cId="1836725786" sldId="257"/>
            <ac:spMk id="48" creationId="{CB9CDF36-C1E7-9DC5-C072-8FE9940570F8}"/>
          </ac:spMkLst>
        </pc:spChg>
        <pc:spChg chg="mod">
          <ac:chgData name="Andrew Nisbett" userId="2cdcd649-906d-48e9-836a-3bd72dc5b482" providerId="ADAL" clId="{6AC08FCC-1D99-4C11-BC09-658FFAA0D13E}" dt="2025-07-23T07:26:54.423" v="882" actId="1036"/>
          <ac:spMkLst>
            <pc:docMk/>
            <pc:sldMk cId="1836725786" sldId="257"/>
            <ac:spMk id="49" creationId="{675A7C81-6A86-C5DE-4101-842DAD62F0C6}"/>
          </ac:spMkLst>
        </pc:spChg>
        <pc:spChg chg="mod">
          <ac:chgData name="Andrew Nisbett" userId="2cdcd649-906d-48e9-836a-3bd72dc5b482" providerId="ADAL" clId="{6AC08FCC-1D99-4C11-BC09-658FFAA0D13E}" dt="2025-07-23T07:26:58.904" v="883" actId="14100"/>
          <ac:spMkLst>
            <pc:docMk/>
            <pc:sldMk cId="1836725786" sldId="257"/>
            <ac:spMk id="50" creationId="{8C318E8E-FF15-FFA8-A833-1E97C3047EE1}"/>
          </ac:spMkLst>
        </pc:spChg>
        <pc:spChg chg="mod">
          <ac:chgData name="Andrew Nisbett" userId="2cdcd649-906d-48e9-836a-3bd72dc5b482" providerId="ADAL" clId="{6AC08FCC-1D99-4C11-BC09-658FFAA0D13E}" dt="2025-07-23T07:24:57.268" v="698" actId="1036"/>
          <ac:spMkLst>
            <pc:docMk/>
            <pc:sldMk cId="1836725786" sldId="257"/>
            <ac:spMk id="64" creationId="{2B4844E5-96CE-0FD0-3809-592B5EC28501}"/>
          </ac:spMkLst>
        </pc:spChg>
        <pc:grpChg chg="mod">
          <ac:chgData name="Andrew Nisbett" userId="2cdcd649-906d-48e9-836a-3bd72dc5b482" providerId="ADAL" clId="{6AC08FCC-1D99-4C11-BC09-658FFAA0D13E}" dt="2025-07-23T07:27:07.339" v="909" actId="1035"/>
          <ac:grpSpMkLst>
            <pc:docMk/>
            <pc:sldMk cId="1836725786" sldId="257"/>
            <ac:grpSpMk id="9" creationId="{1FC67E4C-73A2-897E-6348-7891123E92EE}"/>
          </ac:grpSpMkLst>
        </pc:grpChg>
        <pc:grpChg chg="mod">
          <ac:chgData name="Andrew Nisbett" userId="2cdcd649-906d-48e9-836a-3bd72dc5b482" providerId="ADAL" clId="{6AC08FCC-1D99-4C11-BC09-658FFAA0D13E}" dt="2025-07-23T07:58:06.209" v="2401" actId="1036"/>
          <ac:grpSpMkLst>
            <pc:docMk/>
            <pc:sldMk cId="1836725786" sldId="257"/>
            <ac:grpSpMk id="31" creationId="{EFDBFCB3-F3ED-B667-53B1-2F85A1D95499}"/>
          </ac:grpSpMkLst>
        </pc:grpChg>
        <pc:grpChg chg="mod">
          <ac:chgData name="Andrew Nisbett" userId="2cdcd649-906d-48e9-836a-3bd72dc5b482" providerId="ADAL" clId="{6AC08FCC-1D99-4C11-BC09-658FFAA0D13E}" dt="2025-07-23T07:58:02.301" v="2398" actId="1036"/>
          <ac:grpSpMkLst>
            <pc:docMk/>
            <pc:sldMk cId="1836725786" sldId="257"/>
            <ac:grpSpMk id="40" creationId="{8E5AC439-79DA-E440-79C8-A9EDED65B305}"/>
          </ac:grpSpMkLst>
        </pc:grpChg>
        <pc:grpChg chg="mod">
          <ac:chgData name="Andrew Nisbett" userId="2cdcd649-906d-48e9-836a-3bd72dc5b482" providerId="ADAL" clId="{6AC08FCC-1D99-4C11-BC09-658FFAA0D13E}" dt="2025-07-23T07:27:19.623" v="919" actId="1036"/>
          <ac:grpSpMkLst>
            <pc:docMk/>
            <pc:sldMk cId="1836725786" sldId="257"/>
            <ac:grpSpMk id="54" creationId="{62FA0344-63B8-FA85-9673-CAE06602E31E}"/>
          </ac:grpSpMkLst>
        </pc:grpChg>
        <pc:grpChg chg="mod">
          <ac:chgData name="Andrew Nisbett" userId="2cdcd649-906d-48e9-836a-3bd72dc5b482" providerId="ADAL" clId="{6AC08FCC-1D99-4C11-BC09-658FFAA0D13E}" dt="2025-07-23T07:27:19.623" v="919" actId="1036"/>
          <ac:grpSpMkLst>
            <pc:docMk/>
            <pc:sldMk cId="1836725786" sldId="257"/>
            <ac:grpSpMk id="62" creationId="{B7648D23-386E-773E-A17A-37C34272BAE7}"/>
          </ac:grpSpMkLst>
        </pc:grpChg>
        <pc:picChg chg="del">
          <ac:chgData name="Andrew Nisbett" userId="2cdcd649-906d-48e9-836a-3bd72dc5b482" providerId="ADAL" clId="{6AC08FCC-1D99-4C11-BC09-658FFAA0D13E}" dt="2025-07-23T07:03:28.694" v="0" actId="478"/>
          <ac:picMkLst>
            <pc:docMk/>
            <pc:sldMk cId="1836725786" sldId="257"/>
            <ac:picMk id="4" creationId="{CFD5F414-07E6-0303-6772-0700DF78D346}"/>
          </ac:picMkLst>
        </pc:picChg>
        <pc:picChg chg="add mod">
          <ac:chgData name="Andrew Nisbett" userId="2cdcd649-906d-48e9-836a-3bd72dc5b482" providerId="ADAL" clId="{6AC08FCC-1D99-4C11-BC09-658FFAA0D13E}" dt="2025-07-23T07:03:35.317" v="63" actId="1036"/>
          <ac:picMkLst>
            <pc:docMk/>
            <pc:sldMk cId="1836725786" sldId="257"/>
            <ac:picMk id="11" creationId="{2E54734C-0B4D-6924-C386-E4CD3C07D7B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E8FF6-17C8-417C-8287-CA27A1BF4F8F}" type="datetimeFigureOut">
              <a:rPr lang="en-AU" smtClean="0"/>
              <a:t>23/07/2025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56563-11AB-4020-BB42-C67E58AA822B}" type="slidenum">
              <a:rPr lang="en-AU" smtClean="0"/>
              <a:t>‹#›</a:t>
            </a:fld>
            <a:endParaRPr lang="en-AU"/>
          </a:p>
        </p:txBody>
      </p:sp>
    </p:spTree>
    <p:extLst>
      <p:ext uri="{BB962C8B-B14F-4D97-AF65-F5344CB8AC3E}">
        <p14:creationId xmlns:p14="http://schemas.microsoft.com/office/powerpoint/2010/main" val="245963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E5774E-369C-4248-9E14-0810446CC3A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0817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2385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36752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923786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824843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198571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1403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66849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196954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4023894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70974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67991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3444341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FF06217B-3145-6D21-94AC-E634370CF8FF}"/>
              </a:ext>
            </a:extLst>
          </p:cNvPr>
          <p:cNvGrpSpPr/>
          <p:nvPr/>
        </p:nvGrpSpPr>
        <p:grpSpPr>
          <a:xfrm>
            <a:off x="2886427" y="6103839"/>
            <a:ext cx="4654567" cy="678212"/>
            <a:chOff x="91265" y="8976672"/>
            <a:chExt cx="2596456" cy="1437585"/>
          </a:xfrm>
        </p:grpSpPr>
        <p:sp>
          <p:nvSpPr>
            <p:cNvPr id="48" name="object 41">
              <a:extLst>
                <a:ext uri="{FF2B5EF4-FFF2-40B4-BE49-F238E27FC236}">
                  <a16:creationId xmlns:a16="http://schemas.microsoft.com/office/drawing/2014/main" id="{CB9CDF36-C1E7-9DC5-C072-8FE9940570F8}"/>
                </a:ext>
              </a:extLst>
            </p:cNvPr>
            <p:cNvSpPr txBox="1"/>
            <p:nvPr/>
          </p:nvSpPr>
          <p:spPr>
            <a:xfrm>
              <a:off x="291315" y="10007024"/>
              <a:ext cx="2110222" cy="320755"/>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900" b="0" i="1" u="none" strike="noStrike" kern="1200" cap="none" spc="35"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 </a:t>
              </a:r>
              <a:r>
                <a:rPr kumimoji="0" lang="en-AU" sz="900" b="0" i="1" u="none" strike="noStrike" kern="1200" cap="none" spc="35"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Head of Data &amp; Analytics</a:t>
              </a:r>
              <a:endParaRPr kumimoji="0" sz="900" b="0" i="1" u="none" strike="noStrike" kern="1200" cap="none" spc="0"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endParaRPr>
            </a:p>
          </p:txBody>
        </p:sp>
        <p:sp>
          <p:nvSpPr>
            <p:cNvPr id="50" name="Rectangle 49">
              <a:extLst>
                <a:ext uri="{FF2B5EF4-FFF2-40B4-BE49-F238E27FC236}">
                  <a16:creationId xmlns:a16="http://schemas.microsoft.com/office/drawing/2014/main" id="{8C318E8E-FF15-FFA8-A833-1E97C3047EE1}"/>
                </a:ext>
              </a:extLst>
            </p:cNvPr>
            <p:cNvSpPr/>
            <p:nvPr/>
          </p:nvSpPr>
          <p:spPr>
            <a:xfrm>
              <a:off x="91265" y="8976672"/>
              <a:ext cx="2596456" cy="1437585"/>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object 42">
              <a:extLst>
                <a:ext uri="{FF2B5EF4-FFF2-40B4-BE49-F238E27FC236}">
                  <a16:creationId xmlns:a16="http://schemas.microsoft.com/office/drawing/2014/main" id="{675A7C81-6A86-C5DE-4101-842DAD62F0C6}"/>
                </a:ext>
              </a:extLst>
            </p:cNvPr>
            <p:cNvSpPr txBox="1"/>
            <p:nvPr/>
          </p:nvSpPr>
          <p:spPr>
            <a:xfrm>
              <a:off x="275140" y="9052812"/>
              <a:ext cx="2228136" cy="848644"/>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32100"/>
                </a:lnSpc>
                <a:spcBef>
                  <a:spcPts val="100"/>
                </a:spcBef>
                <a:spcAft>
                  <a:spcPts val="0"/>
                </a:spcAft>
                <a:buClrTx/>
                <a:buSzTx/>
                <a:buFontTx/>
                <a:buNone/>
                <a:tabLst/>
                <a:defRPr/>
              </a:pPr>
              <a:r>
                <a:rPr kumimoji="0" lang="en-AU" sz="1000" b="0" i="0" u="none" strike="noStrike" kern="1200" cap="none" spc="0"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We knew we needed the kind of experience and expertise intelia has in the DataOps space, they’re proven and highly respected by our team. </a:t>
              </a:r>
              <a:endParaRPr kumimoji="0" sz="1000" b="0" i="0" u="none" strike="noStrike" kern="1200" cap="none" spc="0"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endParaRPr>
            </a:p>
          </p:txBody>
        </p:sp>
      </p:grpSp>
      <p:cxnSp>
        <p:nvCxnSpPr>
          <p:cNvPr id="75" name="Straight Connector 74">
            <a:extLst>
              <a:ext uri="{FF2B5EF4-FFF2-40B4-BE49-F238E27FC236}">
                <a16:creationId xmlns:a16="http://schemas.microsoft.com/office/drawing/2014/main" id="{7594B3FF-E945-5D47-0FA3-057E4E7A6C97}"/>
              </a:ext>
            </a:extLst>
          </p:cNvPr>
          <p:cNvCxnSpPr>
            <a:cxnSpLocks/>
          </p:cNvCxnSpPr>
          <p:nvPr/>
        </p:nvCxnSpPr>
        <p:spPr>
          <a:xfrm flipH="1">
            <a:off x="7675467" y="2049535"/>
            <a:ext cx="0" cy="3625200"/>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CD324C2E-9ED2-FD3D-F0AA-E97D44868E6C}"/>
              </a:ext>
            </a:extLst>
          </p:cNvPr>
          <p:cNvSpPr txBox="1">
            <a:spLocks/>
          </p:cNvSpPr>
          <p:nvPr/>
        </p:nvSpPr>
        <p:spPr>
          <a:xfrm>
            <a:off x="316834" y="614156"/>
            <a:ext cx="9809812" cy="443711"/>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2800" b="1" i="0" u="none" strike="noStrike" kern="0" cap="none" spc="0" normalizeH="0" baseline="0" noProof="0" dirty="0">
                <a:ln>
                  <a:noFill/>
                </a:ln>
                <a:solidFill>
                  <a:prstClr val="white"/>
                </a:solidFill>
                <a:effectLst/>
                <a:uLnTx/>
                <a:uFillTx/>
                <a:latin typeface="Roboto"/>
                <a:ea typeface="+mj-ea"/>
              </a:rPr>
              <a:t>Case</a:t>
            </a:r>
            <a:r>
              <a:rPr kumimoji="0" lang="en-AU" sz="2800" b="1" i="0" u="none" strike="noStrike" kern="0" cap="none" spc="-15" normalizeH="0" baseline="0" noProof="0" dirty="0">
                <a:ln>
                  <a:noFill/>
                </a:ln>
                <a:solidFill>
                  <a:prstClr val="white"/>
                </a:solidFill>
                <a:effectLst/>
                <a:uLnTx/>
                <a:uFillTx/>
                <a:latin typeface="Roboto"/>
                <a:ea typeface="+mj-ea"/>
              </a:rPr>
              <a:t> </a:t>
            </a:r>
            <a:r>
              <a:rPr kumimoji="0" lang="en-AU" sz="2800" b="1" i="0" u="none" strike="noStrike" kern="0" cap="none" spc="-10" normalizeH="0" baseline="0" noProof="0" dirty="0">
                <a:ln>
                  <a:noFill/>
                </a:ln>
                <a:solidFill>
                  <a:prstClr val="white"/>
                </a:solidFill>
                <a:effectLst/>
                <a:uLnTx/>
                <a:uFillTx/>
                <a:latin typeface="Roboto"/>
                <a:ea typeface="+mj-ea"/>
              </a:rPr>
              <a:t>Study – DataOps Creating “Speed to Insights”</a:t>
            </a:r>
            <a:endParaRPr kumimoji="0" lang="en-AU" sz="2800" b="1" i="0" u="none" strike="noStrike" kern="0" cap="none" spc="-10" normalizeH="0" baseline="0" noProof="0" dirty="0">
              <a:ln>
                <a:noFill/>
              </a:ln>
              <a:solidFill>
                <a:sysClr val="window" lastClr="FFFFFF"/>
              </a:solidFill>
              <a:effectLst/>
              <a:uLnTx/>
              <a:uFillTx/>
              <a:latin typeface="Roboto"/>
              <a:ea typeface="+mj-ea"/>
            </a:endParaRPr>
          </a:p>
        </p:txBody>
      </p:sp>
      <p:pic>
        <p:nvPicPr>
          <p:cNvPr id="16" name="bg object 23">
            <a:extLst>
              <a:ext uri="{FF2B5EF4-FFF2-40B4-BE49-F238E27FC236}">
                <a16:creationId xmlns:a16="http://schemas.microsoft.com/office/drawing/2014/main" id="{1F963E9B-BB0D-444B-59F4-E587E16A2F5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865152CC-7651-C287-3FEF-D7C2C715E4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1759BADB-DBF3-5EEA-C278-C70AE3057212}"/>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32100"/>
              </a:lnSpc>
              <a:spcBef>
                <a:spcPts val="365"/>
              </a:spcBef>
              <a:spcAft>
                <a:spcPts val="0"/>
              </a:spcAft>
              <a:buClrTx/>
              <a:buSzTx/>
              <a:buFontTx/>
              <a:buNone/>
              <a:tabLst/>
              <a:defRPr/>
            </a:pPr>
            <a:r>
              <a:rPr kumimoji="0" lang="en-US" sz="1000" b="0" i="0" u="none" strike="noStrike" kern="0" cap="none" spc="35" normalizeH="0" baseline="0" noProof="0">
                <a:ln>
                  <a:noFill/>
                </a:ln>
                <a:solidFill>
                  <a:prstClr val="white"/>
                </a:solidFill>
                <a:effectLst/>
                <a:uLnTx/>
                <a:uFillTx/>
                <a:latin typeface="Roboto" panose="02000000000000000000" pitchFamily="2" charset="0"/>
                <a:ea typeface="Roboto" panose="02000000000000000000" pitchFamily="2" charset="0"/>
                <a:cs typeface="Tahoma"/>
              </a:rPr>
              <a:t>www.intelia.ai</a:t>
            </a:r>
            <a:endParaRPr kumimoji="0" sz="1000" b="0" i="0" u="none" strike="noStrike" kern="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BE0D2C8A-B3B2-2928-7B96-948A4BD3F81C}"/>
              </a:ext>
            </a:extLst>
          </p:cNvPr>
          <p:cNvCxnSpPr>
            <a:cxnSpLocks/>
          </p:cNvCxnSpPr>
          <p:nvPr/>
        </p:nvCxnSpPr>
        <p:spPr>
          <a:xfrm flipH="1">
            <a:off x="2819752" y="2072168"/>
            <a:ext cx="2" cy="3626324"/>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3365EC-7DB8-AD71-8EC5-1ADBB2192780}"/>
              </a:ext>
            </a:extLst>
          </p:cNvPr>
          <p:cNvSpPr/>
          <p:nvPr/>
        </p:nvSpPr>
        <p:spPr>
          <a:xfrm>
            <a:off x="7398322" y="153154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23" name="object 29">
            <a:extLst>
              <a:ext uri="{FF2B5EF4-FFF2-40B4-BE49-F238E27FC236}">
                <a16:creationId xmlns:a16="http://schemas.microsoft.com/office/drawing/2014/main" id="{A21E5D37-428B-2E67-F4E6-08740D6B4F86}"/>
              </a:ext>
            </a:extLst>
          </p:cNvPr>
          <p:cNvSpPr txBox="1"/>
          <p:nvPr/>
        </p:nvSpPr>
        <p:spPr>
          <a:xfrm>
            <a:off x="3144467" y="1795843"/>
            <a:ext cx="4134635" cy="1654299"/>
          </a:xfrm>
          <a:prstGeom prst="rect">
            <a:avLst/>
          </a:prstGeom>
        </p:spPr>
        <p:txBody>
          <a:bodyPr vert="horz" wrap="square" lIns="0" tIns="12700" rIns="0" bIns="0" rtlCol="0">
            <a:spAutoFit/>
          </a:bodyPr>
          <a:lstStyle>
            <a:defPPr>
              <a:defRPr lang="en-US"/>
            </a:defPPr>
            <a:lvl1pPr marR="0" lvl="0" indent="0" defTabSz="584200" fontAlgn="auto" hangingPunct="0">
              <a:lnSpc>
                <a:spcPct val="100000"/>
              </a:lnSpc>
              <a:spcBef>
                <a:spcPts val="0"/>
              </a:spcBef>
              <a:spcAft>
                <a:spcPts val="0"/>
              </a:spcAft>
              <a:buClrTx/>
              <a:buSzTx/>
              <a:buFontTx/>
              <a:buNone/>
              <a:tabLst/>
              <a:defRPr sz="1000">
                <a:solidFill>
                  <a:srgbClr val="212B40"/>
                </a:solidFill>
                <a:latin typeface="Roboto"/>
                <a:cs typeface="Roboto"/>
              </a:defRPr>
            </a:lvl1pPr>
          </a:lstStyle>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rPr>
              <a:t>Having recently successfully implemented Snowflake as a modern cloud-based data platform (the “EDW”), MLC’s Data Analytics Team wanted to level up their overall efficiency and effectiveness in making data readily available for consumers to leverage data to produce analytics and insights.</a:t>
            </a:r>
          </a:p>
          <a:p>
            <a:pPr marL="0" marR="0" lvl="0" indent="0" algn="l" defTabSz="584200" rtl="0" eaLnBrk="1" fontAlgn="auto" latinLnBrk="0" hangingPunct="0">
              <a:lnSpc>
                <a:spcPct val="100000"/>
              </a:lnSpc>
              <a:spcBef>
                <a:spcPts val="200"/>
              </a:spcBef>
              <a:spcAft>
                <a:spcPts val="200"/>
              </a:spcAft>
              <a:buClrTx/>
              <a:buSzTx/>
              <a:buFontTx/>
              <a:buNone/>
              <a:tabLst/>
              <a:defRPr/>
            </a:pPr>
            <a:r>
              <a:rPr lang="en-AU" dirty="0"/>
              <a:t>They self-identified a number of areas that could be improved including priorities, decision-making ownership, process clarity and consistency, architecture &amp; design, resource constraints and collaboration. </a:t>
            </a:r>
            <a:endParaRPr kumimoji="0" lang="en-AU" sz="1000" b="0" i="0" u="none" strike="noStrike" kern="1200" cap="none" spc="0" normalizeH="0" baseline="0" noProof="0" dirty="0">
              <a:ln>
                <a:noFill/>
              </a:ln>
              <a:solidFill>
                <a:srgbClr val="212B40"/>
              </a:solidFill>
              <a:effectLst/>
              <a:uLnTx/>
              <a:uFillTx/>
              <a:latin typeface="Roboto"/>
              <a:ea typeface="+mn-ea"/>
            </a:endParaRPr>
          </a:p>
          <a:p>
            <a:pPr marL="0" marR="0" lvl="0" indent="0" algn="l" defTabSz="584200" rtl="0" eaLnBrk="1" fontAlgn="auto" latinLnBrk="0" hangingPunct="0">
              <a:lnSpc>
                <a:spcPct val="100000"/>
              </a:lnSpc>
              <a:spcBef>
                <a:spcPts val="200"/>
              </a:spcBef>
              <a:spcAft>
                <a:spcPts val="200"/>
              </a:spcAft>
              <a:buClrTx/>
              <a:buSzTx/>
              <a:buFontTx/>
              <a:buNone/>
              <a:tabLst/>
              <a:defRPr/>
            </a:pPr>
            <a:r>
              <a:rPr lang="en-AU" dirty="0"/>
              <a:t>The opportunity MLC saw was to introduce DataOps into their ways of working.</a:t>
            </a:r>
            <a:endParaRPr kumimoji="0" sz="1000" b="0" i="0" u="none" strike="noStrike" kern="1200" cap="none" spc="0" normalizeH="0" baseline="0" noProof="0" dirty="0">
              <a:ln>
                <a:noFill/>
              </a:ln>
              <a:solidFill>
                <a:srgbClr val="212B40"/>
              </a:solidFill>
              <a:effectLst/>
              <a:uLnTx/>
              <a:uFillTx/>
              <a:latin typeface="Roboto"/>
              <a:ea typeface="+mn-ea"/>
            </a:endParaRPr>
          </a:p>
        </p:txBody>
      </p:sp>
      <p:sp>
        <p:nvSpPr>
          <p:cNvPr id="24" name="object 31">
            <a:extLst>
              <a:ext uri="{FF2B5EF4-FFF2-40B4-BE49-F238E27FC236}">
                <a16:creationId xmlns:a16="http://schemas.microsoft.com/office/drawing/2014/main" id="{54188DC0-D0FE-EA63-1873-8482ADFFEAF5}"/>
              </a:ext>
            </a:extLst>
          </p:cNvPr>
          <p:cNvSpPr txBox="1"/>
          <p:nvPr/>
        </p:nvSpPr>
        <p:spPr>
          <a:xfrm>
            <a:off x="3144467" y="3973632"/>
            <a:ext cx="4134635" cy="1808187"/>
          </a:xfrm>
          <a:prstGeom prst="rect">
            <a:avLst/>
          </a:prstGeom>
        </p:spPr>
        <p:txBody>
          <a:bodyPr vert="horz" wrap="square" lIns="0" tIns="12700" rIns="0" bIns="0" rtlCol="0">
            <a:spAutoFit/>
          </a:bodyPr>
          <a:lstStyle/>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As a key data partner, intelia were engaged to review the current operating model, engagement and delivery processes targeting Snowflake, Informatica Intelligent Cloud Services (IICS) and Microsoft Power BI technologies. </a:t>
            </a:r>
          </a:p>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In particular, intelia were requested to explore opportunities to implement a DataOps model to increase speed to providing insights (reduce manual / duplicated effort, eliminate re-work &amp; multiple hand offs etc).</a:t>
            </a:r>
          </a:p>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Over a three-week period, intelia conducted extensive interviews with senior stakeholders to understand current state, pain points, challenges and opportunities which then enabled creation of the DataOps Recommendations Paper.</a:t>
            </a:r>
          </a:p>
        </p:txBody>
      </p:sp>
      <p:sp>
        <p:nvSpPr>
          <p:cNvPr id="26" name="object 38">
            <a:extLst>
              <a:ext uri="{FF2B5EF4-FFF2-40B4-BE49-F238E27FC236}">
                <a16:creationId xmlns:a16="http://schemas.microsoft.com/office/drawing/2014/main" id="{C66AC46E-2735-98D6-F6F0-4163DEF07545}"/>
              </a:ext>
            </a:extLst>
          </p:cNvPr>
          <p:cNvSpPr txBox="1"/>
          <p:nvPr/>
        </p:nvSpPr>
        <p:spPr>
          <a:xfrm>
            <a:off x="132723" y="1510142"/>
            <a:ext cx="2376462" cy="2113399"/>
          </a:xfrm>
          <a:prstGeom prst="rect">
            <a:avLst/>
          </a:prstGeom>
          <a:ln w="19050" cmpd="sng">
            <a:noFill/>
            <a:prstDash val="solid"/>
          </a:ln>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Data Consulting</a:t>
            </a:r>
          </a:p>
          <a:p>
            <a:pPr marL="298450" marR="0" lvl="0" indent="-285750" algn="l" defTabSz="914400" rtl="0" eaLnBrk="1" fontAlgn="auto" latinLnBrk="0" hangingPunct="1">
              <a:lnSpc>
                <a:spcPct val="100000"/>
              </a:lnSpc>
              <a:spcBef>
                <a:spcPts val="500"/>
              </a:spcBef>
              <a:spcAft>
                <a:spcPts val="10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mn-ea"/>
                <a:cs typeface="Roboto"/>
              </a:rPr>
              <a:t>Business stakeholder engagement and consultation</a:t>
            </a: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mn-ea"/>
                <a:cs typeface="Roboto"/>
              </a:rPr>
              <a:t>Current state analysis</a:t>
            </a: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lang="en-AU" sz="1200" dirty="0">
                <a:solidFill>
                  <a:srgbClr val="0E2A3F"/>
                </a:solidFill>
                <a:latin typeface="Roboto"/>
                <a:cs typeface="Roboto"/>
              </a:rPr>
              <a:t>Strategy, solution and capability uplift recommendations</a:t>
            </a:r>
            <a:endParaRPr kumimoji="0" lang="en-AU" sz="1200" b="0" i="0" u="none" strike="noStrike" kern="1200" cap="none" spc="0" normalizeH="0" baseline="0" noProof="0" dirty="0">
              <a:ln>
                <a:noFill/>
              </a:ln>
              <a:solidFill>
                <a:srgbClr val="0E2A3F"/>
              </a:solidFill>
              <a:effectLst/>
              <a:uLnTx/>
              <a:uFillTx/>
              <a:latin typeface="Roboto"/>
              <a:ea typeface="+mn-ea"/>
              <a:cs typeface="Roboto"/>
            </a:endParaRP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lang="en-AU" sz="1200" dirty="0">
                <a:solidFill>
                  <a:srgbClr val="0E2A3F"/>
                </a:solidFill>
                <a:latin typeface="Roboto"/>
                <a:cs typeface="Roboto"/>
              </a:rPr>
              <a:t>DataOps</a:t>
            </a: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lang="en-AU" sz="1200" dirty="0">
                <a:solidFill>
                  <a:srgbClr val="0E2A3F"/>
                </a:solidFill>
                <a:latin typeface="Roboto"/>
                <a:cs typeface="Roboto"/>
              </a:rPr>
              <a:t>Data Governance</a:t>
            </a:r>
            <a:endParaRPr kumimoji="0" lang="en-AU" sz="1200" b="0" i="0" u="none" strike="noStrike" kern="1200" cap="none" spc="0" normalizeH="0" baseline="0" noProof="0" dirty="0">
              <a:ln>
                <a:noFill/>
              </a:ln>
              <a:solidFill>
                <a:srgbClr val="0E2A3F"/>
              </a:solidFill>
              <a:effectLst/>
              <a:uLnTx/>
              <a:uFillTx/>
              <a:latin typeface="Roboto"/>
              <a:ea typeface="+mn-ea"/>
              <a:cs typeface="Roboto"/>
            </a:endParaRP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endParaRPr kumimoji="0" lang="en-AU" sz="1200" b="0" i="0" u="none" strike="noStrike" kern="1200" cap="none" spc="0" normalizeH="0" baseline="0" noProof="0" dirty="0">
              <a:ln>
                <a:noFill/>
              </a:ln>
              <a:solidFill>
                <a:srgbClr val="0E2A3F"/>
              </a:solidFill>
              <a:effectLst/>
              <a:uLnTx/>
              <a:uFillTx/>
              <a:latin typeface="Roboto"/>
              <a:ea typeface="+mn-ea"/>
              <a:cs typeface="Roboto"/>
            </a:endParaRPr>
          </a:p>
        </p:txBody>
      </p:sp>
      <p:sp>
        <p:nvSpPr>
          <p:cNvPr id="28" name="object 31">
            <a:extLst>
              <a:ext uri="{FF2B5EF4-FFF2-40B4-BE49-F238E27FC236}">
                <a16:creationId xmlns:a16="http://schemas.microsoft.com/office/drawing/2014/main" id="{1762D708-DDFE-CFAB-4EBA-820BC48A4944}"/>
              </a:ext>
            </a:extLst>
          </p:cNvPr>
          <p:cNvSpPr txBox="1"/>
          <p:nvPr/>
        </p:nvSpPr>
        <p:spPr>
          <a:xfrm>
            <a:off x="8008027" y="1795843"/>
            <a:ext cx="4068000" cy="2180084"/>
          </a:xfrm>
          <a:prstGeom prst="rect">
            <a:avLst/>
          </a:prstGeom>
        </p:spPr>
        <p:txBody>
          <a:bodyPr vert="horz" wrap="square" lIns="0" tIns="12700" rIns="0" bIns="0" rtlCol="0">
            <a:spAutoFit/>
          </a:bodyPr>
          <a:lstStyle>
            <a:defPPr>
              <a:defRPr lang="en-US"/>
            </a:defPPr>
            <a:lvl1pPr marR="0" lvl="0" indent="0" defTabSz="584200" fontAlgn="auto" hangingPunct="0">
              <a:lnSpc>
                <a:spcPct val="100000"/>
              </a:lnSpc>
              <a:spcBef>
                <a:spcPts val="200"/>
              </a:spcBef>
              <a:spcAft>
                <a:spcPts val="200"/>
              </a:spcAft>
              <a:buClrTx/>
              <a:buSzTx/>
              <a:buFontTx/>
              <a:buNone/>
              <a:tabLst/>
              <a:defRPr kumimoji="0" sz="1000" b="0" i="0" u="none" strike="noStrike" cap="none" spc="0" normalizeH="0" baseline="0">
                <a:ln>
                  <a:noFill/>
                </a:ln>
                <a:solidFill>
                  <a:srgbClr val="212B40"/>
                </a:solidFill>
                <a:effectLst/>
                <a:uLnTx/>
                <a:uFillTx/>
                <a:latin typeface="Roboto"/>
                <a:cs typeface="Roboto"/>
              </a:defRPr>
            </a:lvl1pPr>
          </a:lstStyle>
          <a:p>
            <a:r>
              <a:rPr lang="en-AU" dirty="0">
                <a:sym typeface="Helvetica Neue Medium"/>
              </a:rPr>
              <a:t>intelia’s comprehensive current state review identified a number of key feedback themes across Snowflake’s native capabilities, agile processes / operating model, data modelling and toil. </a:t>
            </a:r>
          </a:p>
          <a:p>
            <a:r>
              <a:rPr lang="en-AU" dirty="0">
                <a:sym typeface="Helvetica Neue Medium"/>
              </a:rPr>
              <a:t>intelia then proposed 9 fully fleshed out recommendations to enable introduction of DataOps against the following target areas:</a:t>
            </a:r>
          </a:p>
          <a:p>
            <a:pPr marL="85725" indent="-85725">
              <a:spcBef>
                <a:spcPts val="100"/>
              </a:spcBef>
              <a:spcAft>
                <a:spcPts val="100"/>
              </a:spcAft>
              <a:buFont typeface="Arial" panose="020B0604020202020204" pitchFamily="34" charset="0"/>
              <a:buChar char="•"/>
            </a:pPr>
            <a:r>
              <a:rPr lang="en-AU" dirty="0">
                <a:sym typeface="Helvetica Neue Medium"/>
              </a:rPr>
              <a:t>Processes (front door, operating model, agile approach)</a:t>
            </a:r>
          </a:p>
          <a:p>
            <a:pPr marL="85725" indent="-85725">
              <a:spcBef>
                <a:spcPts val="100"/>
              </a:spcBef>
              <a:spcAft>
                <a:spcPts val="100"/>
              </a:spcAft>
              <a:buFont typeface="Arial" panose="020B0604020202020204" pitchFamily="34" charset="0"/>
              <a:buChar char="•"/>
            </a:pPr>
            <a:r>
              <a:rPr lang="en-AU" dirty="0">
                <a:sym typeface="Helvetica Neue Medium"/>
              </a:rPr>
              <a:t>Technology (focus on building business consumption layer, simplifying data modelling and relentless elimination of toil)</a:t>
            </a:r>
          </a:p>
          <a:p>
            <a:pPr marL="85725" indent="-85725">
              <a:spcBef>
                <a:spcPts val="100"/>
              </a:spcBef>
              <a:spcAft>
                <a:spcPts val="100"/>
              </a:spcAft>
              <a:buFont typeface="Arial" panose="020B0604020202020204" pitchFamily="34" charset="0"/>
              <a:buChar char="•"/>
            </a:pPr>
            <a:r>
              <a:rPr lang="en-AU" dirty="0">
                <a:sym typeface="Helvetica Neue Medium"/>
              </a:rPr>
              <a:t>Team (re-organise to eliminate silos, clarify roles &amp; responsibilities, upskill &amp; introduce missing capabilities where needed)</a:t>
            </a:r>
          </a:p>
          <a:p>
            <a:pPr marL="85725" indent="-85725">
              <a:spcBef>
                <a:spcPts val="100"/>
              </a:spcBef>
              <a:spcAft>
                <a:spcPts val="100"/>
              </a:spcAft>
              <a:buFont typeface="Arial" panose="020B0604020202020204" pitchFamily="34" charset="0"/>
              <a:buChar char="•"/>
            </a:pPr>
            <a:r>
              <a:rPr lang="en-AU" dirty="0">
                <a:sym typeface="Helvetica Neue Medium"/>
              </a:rPr>
              <a:t>Ways of Working (service-oriented culture, business value first, improved collaboration, relentless focus on “speed to insights”, improved outwards communication)</a:t>
            </a:r>
          </a:p>
        </p:txBody>
      </p:sp>
      <p:sp>
        <p:nvSpPr>
          <p:cNvPr id="29" name="Freeform 30">
            <a:extLst>
              <a:ext uri="{FF2B5EF4-FFF2-40B4-BE49-F238E27FC236}">
                <a16:creationId xmlns:a16="http://schemas.microsoft.com/office/drawing/2014/main" id="{1F995815-1FE3-293D-DC1F-AAEB999DF020}"/>
              </a:ext>
            </a:extLst>
          </p:cNvPr>
          <p:cNvSpPr>
            <a:spLocks/>
          </p:cNvSpPr>
          <p:nvPr/>
        </p:nvSpPr>
        <p:spPr bwMode="auto">
          <a:xfrm>
            <a:off x="5246510" y="1516767"/>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0" name="Freeform 31">
            <a:extLst>
              <a:ext uri="{FF2B5EF4-FFF2-40B4-BE49-F238E27FC236}">
                <a16:creationId xmlns:a16="http://schemas.microsoft.com/office/drawing/2014/main" id="{C18F2289-1AA9-8CA2-79F2-700DDCEDBB63}"/>
              </a:ext>
            </a:extLst>
          </p:cNvPr>
          <p:cNvSpPr>
            <a:spLocks/>
          </p:cNvSpPr>
          <p:nvPr/>
        </p:nvSpPr>
        <p:spPr bwMode="auto">
          <a:xfrm>
            <a:off x="5389678" y="1609114"/>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nvGrpSpPr>
          <p:cNvPr id="31" name="Group 30">
            <a:extLst>
              <a:ext uri="{FF2B5EF4-FFF2-40B4-BE49-F238E27FC236}">
                <a16:creationId xmlns:a16="http://schemas.microsoft.com/office/drawing/2014/main" id="{EFDBFCB3-F3ED-B667-53B1-2F85A1D95499}"/>
              </a:ext>
            </a:extLst>
          </p:cNvPr>
          <p:cNvGrpSpPr/>
          <p:nvPr/>
        </p:nvGrpSpPr>
        <p:grpSpPr>
          <a:xfrm>
            <a:off x="2546181" y="3662836"/>
            <a:ext cx="4540498" cy="548597"/>
            <a:chOff x="2825502" y="4435109"/>
            <a:chExt cx="4540498" cy="548597"/>
          </a:xfrm>
        </p:grpSpPr>
        <p:sp>
          <p:nvSpPr>
            <p:cNvPr id="32" name="object 6">
              <a:extLst>
                <a:ext uri="{FF2B5EF4-FFF2-40B4-BE49-F238E27FC236}">
                  <a16:creationId xmlns:a16="http://schemas.microsoft.com/office/drawing/2014/main" id="{551197A2-F607-E6BD-ADFF-3451399F376E}"/>
                </a:ext>
              </a:extLst>
            </p:cNvPr>
            <p:cNvSpPr/>
            <p:nvPr/>
          </p:nvSpPr>
          <p:spPr>
            <a:xfrm flipV="1">
              <a:off x="3350807" y="46537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object 23">
              <a:extLst>
                <a:ext uri="{FF2B5EF4-FFF2-40B4-BE49-F238E27FC236}">
                  <a16:creationId xmlns:a16="http://schemas.microsoft.com/office/drawing/2014/main" id="{134B9576-5C77-18EF-390C-0443EB6C6672}"/>
                </a:ext>
              </a:extLst>
            </p:cNvPr>
            <p:cNvPicPr/>
            <p:nvPr/>
          </p:nvPicPr>
          <p:blipFill>
            <a:blip r:embed="rId5" cstate="print"/>
            <a:stretch>
              <a:fillRect/>
            </a:stretch>
          </p:blipFill>
          <p:spPr>
            <a:xfrm>
              <a:off x="7156293" y="4473100"/>
              <a:ext cx="162060" cy="103902"/>
            </a:xfrm>
            <a:prstGeom prst="rect">
              <a:avLst/>
            </a:prstGeom>
          </p:spPr>
        </p:pic>
        <p:sp>
          <p:nvSpPr>
            <p:cNvPr id="34" name="object 32">
              <a:extLst>
                <a:ext uri="{FF2B5EF4-FFF2-40B4-BE49-F238E27FC236}">
                  <a16:creationId xmlns:a16="http://schemas.microsoft.com/office/drawing/2014/main" id="{32371B57-4C21-0400-EF5B-D687E89FCAC4}"/>
                </a:ext>
              </a:extLst>
            </p:cNvPr>
            <p:cNvSpPr txBox="1"/>
            <p:nvPr/>
          </p:nvSpPr>
          <p:spPr>
            <a:xfrm>
              <a:off x="3498831" y="4435109"/>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intelia’s Approach</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35" name="Group 34">
              <a:extLst>
                <a:ext uri="{FF2B5EF4-FFF2-40B4-BE49-F238E27FC236}">
                  <a16:creationId xmlns:a16="http://schemas.microsoft.com/office/drawing/2014/main" id="{BDCAFD0A-22F5-6D89-8BA5-4F040D4BE9C7}"/>
                </a:ext>
              </a:extLst>
            </p:cNvPr>
            <p:cNvGrpSpPr/>
            <p:nvPr/>
          </p:nvGrpSpPr>
          <p:grpSpPr>
            <a:xfrm>
              <a:off x="2825502" y="4466181"/>
              <a:ext cx="565150" cy="517525"/>
              <a:chOff x="2880896" y="4105275"/>
              <a:chExt cx="565150" cy="517525"/>
            </a:xfrm>
          </p:grpSpPr>
          <p:sp>
            <p:nvSpPr>
              <p:cNvPr id="36" name="Oval 35">
                <a:extLst>
                  <a:ext uri="{FF2B5EF4-FFF2-40B4-BE49-F238E27FC236}">
                    <a16:creationId xmlns:a16="http://schemas.microsoft.com/office/drawing/2014/main" id="{D08FA88A-18FD-8FDF-6283-1A3B8A0276BD}"/>
                  </a:ext>
                </a:extLst>
              </p:cNvPr>
              <p:cNvSpPr/>
              <p:nvPr/>
            </p:nvSpPr>
            <p:spPr>
              <a:xfrm>
                <a:off x="2880896" y="4105275"/>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92224B68-3FBD-5EE3-74E8-59D8E35A15E1}"/>
                  </a:ext>
                </a:extLst>
              </p:cNvPr>
              <p:cNvSpPr>
                <a:spLocks noEditPoints="1"/>
              </p:cNvSpPr>
              <p:nvPr/>
            </p:nvSpPr>
            <p:spPr bwMode="auto">
              <a:xfrm rot="2700000">
                <a:off x="3029023" y="4139633"/>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21D8F4D2-8B53-8BDF-B4F3-F11CD1DCA96D}"/>
                  </a:ext>
                </a:extLst>
              </p:cNvPr>
              <p:cNvSpPr>
                <a:spLocks noEditPoints="1"/>
              </p:cNvSpPr>
              <p:nvPr/>
            </p:nvSpPr>
            <p:spPr bwMode="auto">
              <a:xfrm rot="2700000">
                <a:off x="3014273" y="4394936"/>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grpSp>
        <p:nvGrpSpPr>
          <p:cNvPr id="40" name="Group 39">
            <a:extLst>
              <a:ext uri="{FF2B5EF4-FFF2-40B4-BE49-F238E27FC236}">
                <a16:creationId xmlns:a16="http://schemas.microsoft.com/office/drawing/2014/main" id="{8E5AC439-79DA-E440-79C8-A9EDED65B305}"/>
              </a:ext>
            </a:extLst>
          </p:cNvPr>
          <p:cNvGrpSpPr/>
          <p:nvPr/>
        </p:nvGrpSpPr>
        <p:grpSpPr>
          <a:xfrm>
            <a:off x="7400205" y="4129941"/>
            <a:ext cx="4533074" cy="539537"/>
            <a:chOff x="2832926" y="8453490"/>
            <a:chExt cx="4533074" cy="539537"/>
          </a:xfrm>
        </p:grpSpPr>
        <p:sp>
          <p:nvSpPr>
            <p:cNvPr id="41" name="object 6">
              <a:extLst>
                <a:ext uri="{FF2B5EF4-FFF2-40B4-BE49-F238E27FC236}">
                  <a16:creationId xmlns:a16="http://schemas.microsoft.com/office/drawing/2014/main" id="{F0660766-C7E2-198A-510D-FB47BA3785BD}"/>
                </a:ext>
              </a:extLst>
            </p:cNvPr>
            <p:cNvSpPr/>
            <p:nvPr/>
          </p:nvSpPr>
          <p:spPr>
            <a:xfrm flipV="1">
              <a:off x="3371321" y="8691162"/>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2" name="object 23">
              <a:extLst>
                <a:ext uri="{FF2B5EF4-FFF2-40B4-BE49-F238E27FC236}">
                  <a16:creationId xmlns:a16="http://schemas.microsoft.com/office/drawing/2014/main" id="{4AE8F55D-6743-1891-D55D-B8CA1A744126}"/>
                </a:ext>
              </a:extLst>
            </p:cNvPr>
            <p:cNvPicPr/>
            <p:nvPr/>
          </p:nvPicPr>
          <p:blipFill>
            <a:blip r:embed="rId5" cstate="print"/>
            <a:stretch>
              <a:fillRect/>
            </a:stretch>
          </p:blipFill>
          <p:spPr>
            <a:xfrm>
              <a:off x="7105493" y="8539106"/>
              <a:ext cx="162060" cy="103902"/>
            </a:xfrm>
            <a:prstGeom prst="rect">
              <a:avLst/>
            </a:prstGeom>
          </p:spPr>
        </p:pic>
        <p:sp>
          <p:nvSpPr>
            <p:cNvPr id="43" name="object 32">
              <a:extLst>
                <a:ext uri="{FF2B5EF4-FFF2-40B4-BE49-F238E27FC236}">
                  <a16:creationId xmlns:a16="http://schemas.microsoft.com/office/drawing/2014/main" id="{209DAB07-BC1C-9636-6150-68D736197C39}"/>
                </a:ext>
              </a:extLst>
            </p:cNvPr>
            <p:cNvSpPr txBox="1"/>
            <p:nvPr/>
          </p:nvSpPr>
          <p:spPr>
            <a:xfrm>
              <a:off x="3513951" y="8453490"/>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Outcome </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44" name="Group 43">
              <a:extLst>
                <a:ext uri="{FF2B5EF4-FFF2-40B4-BE49-F238E27FC236}">
                  <a16:creationId xmlns:a16="http://schemas.microsoft.com/office/drawing/2014/main" id="{A94BFE55-B71C-8458-1CDA-C5CDF5D0C2BC}"/>
                </a:ext>
              </a:extLst>
            </p:cNvPr>
            <p:cNvGrpSpPr/>
            <p:nvPr/>
          </p:nvGrpSpPr>
          <p:grpSpPr>
            <a:xfrm>
              <a:off x="2832926" y="8475039"/>
              <a:ext cx="574768" cy="517988"/>
              <a:chOff x="2910256" y="7805799"/>
              <a:chExt cx="574768" cy="517988"/>
            </a:xfrm>
          </p:grpSpPr>
          <p:sp>
            <p:nvSpPr>
              <p:cNvPr id="45" name="Oval 44">
                <a:extLst>
                  <a:ext uri="{FF2B5EF4-FFF2-40B4-BE49-F238E27FC236}">
                    <a16:creationId xmlns:a16="http://schemas.microsoft.com/office/drawing/2014/main" id="{A0B375ED-5B17-C556-17A5-4D9467D58521}"/>
                  </a:ext>
                </a:extLst>
              </p:cNvPr>
              <p:cNvSpPr/>
              <p:nvPr/>
            </p:nvSpPr>
            <p:spPr>
              <a:xfrm>
                <a:off x="2910256" y="7805799"/>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53D9A795-AAEB-18A8-48D1-9A8B412C708B}"/>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884155"/>
                <a:ext cx="407854" cy="407854"/>
              </a:xfrm>
              <a:prstGeom prst="rect">
                <a:avLst/>
              </a:prstGeom>
              <a:noFill/>
              <a:extLst>
                <a:ext uri="{909E8E84-426E-40dd-AFC4-6F175D3DCCD1}">
                  <a14:hiddenFill xmlns="" xmlns:a14="http://schemas.microsoft.com/office/drawing/2010/main">
                    <a:solidFill>
                      <a:srgbClr val="FFFFFF"/>
                    </a:solidFill>
                  </a14:hiddenFill>
                </a:ext>
              </a:extLst>
            </p:spPr>
          </p:pic>
        </p:grpSp>
      </p:grpSp>
      <p:sp>
        <p:nvSpPr>
          <p:cNvPr id="53" name="TextBox 52">
            <a:extLst>
              <a:ext uri="{FF2B5EF4-FFF2-40B4-BE49-F238E27FC236}">
                <a16:creationId xmlns:a16="http://schemas.microsoft.com/office/drawing/2014/main" id="{6E4EAC1C-0A9E-A326-9FAC-F0EE18A9117D}"/>
              </a:ext>
            </a:extLst>
          </p:cNvPr>
          <p:cNvSpPr txBox="1"/>
          <p:nvPr/>
        </p:nvSpPr>
        <p:spPr>
          <a:xfrm>
            <a:off x="7759447" y="6499764"/>
            <a:ext cx="4624370" cy="32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With offices in Melbourne and Sydney, intelia is a technology consultancy specializing in all things data (strategy, architecture, governance, analytics, modern cloud data platforms and intelligent automation)</a:t>
            </a:r>
            <a:endParaRPr kumimoji="0" lang="en-AU" sz="75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grpSp>
        <p:nvGrpSpPr>
          <p:cNvPr id="54" name="Group 53">
            <a:extLst>
              <a:ext uri="{FF2B5EF4-FFF2-40B4-BE49-F238E27FC236}">
                <a16:creationId xmlns:a16="http://schemas.microsoft.com/office/drawing/2014/main" id="{62FA0344-63B8-FA85-9673-CAE06602E31E}"/>
              </a:ext>
            </a:extLst>
          </p:cNvPr>
          <p:cNvGrpSpPr/>
          <p:nvPr/>
        </p:nvGrpSpPr>
        <p:grpSpPr>
          <a:xfrm>
            <a:off x="2532370" y="1483506"/>
            <a:ext cx="4579709" cy="569612"/>
            <a:chOff x="2811691" y="2348558"/>
            <a:chExt cx="4579709" cy="569612"/>
          </a:xfrm>
        </p:grpSpPr>
        <p:pic>
          <p:nvPicPr>
            <p:cNvPr id="55" name="object 22">
              <a:extLst>
                <a:ext uri="{FF2B5EF4-FFF2-40B4-BE49-F238E27FC236}">
                  <a16:creationId xmlns:a16="http://schemas.microsoft.com/office/drawing/2014/main" id="{7C441AE6-669F-489C-6CA8-575B3418D532}"/>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EB93F986-1D5D-4B85-38B2-589E3EF0BE8C}"/>
                </a:ext>
              </a:extLst>
            </p:cNvPr>
            <p:cNvSpPr txBox="1"/>
            <p:nvPr/>
          </p:nvSpPr>
          <p:spPr>
            <a:xfrm>
              <a:off x="3489852" y="2348558"/>
              <a:ext cx="22371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Problem </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57" name="Group 56">
              <a:extLst>
                <a:ext uri="{FF2B5EF4-FFF2-40B4-BE49-F238E27FC236}">
                  <a16:creationId xmlns:a16="http://schemas.microsoft.com/office/drawing/2014/main" id="{82782396-1318-3797-A305-CA956384A3F3}"/>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A76EA8AC-FBE4-A906-6DD2-A62A137B55AA}"/>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305E174D-2C0E-5C48-ACC3-0161C36BF988}"/>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0936550C-5551-F20D-516B-4026E912ECB8}"/>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66080398-0508-3EEB-5FD4-19C7476A78B8}"/>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2" name="Group 61">
            <a:extLst>
              <a:ext uri="{FF2B5EF4-FFF2-40B4-BE49-F238E27FC236}">
                <a16:creationId xmlns:a16="http://schemas.microsoft.com/office/drawing/2014/main" id="{B7648D23-386E-773E-A17A-37C34272BAE7}"/>
              </a:ext>
            </a:extLst>
          </p:cNvPr>
          <p:cNvGrpSpPr/>
          <p:nvPr/>
        </p:nvGrpSpPr>
        <p:grpSpPr>
          <a:xfrm>
            <a:off x="7482414" y="1478667"/>
            <a:ext cx="4501665" cy="424565"/>
            <a:chOff x="2915135" y="6239199"/>
            <a:chExt cx="4501665" cy="424565"/>
          </a:xfrm>
        </p:grpSpPr>
        <p:pic>
          <p:nvPicPr>
            <p:cNvPr id="63" name="object 23">
              <a:extLst>
                <a:ext uri="{FF2B5EF4-FFF2-40B4-BE49-F238E27FC236}">
                  <a16:creationId xmlns:a16="http://schemas.microsoft.com/office/drawing/2014/main" id="{BCFE86E4-2D92-39FF-F2AD-A1D9974EE878}"/>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2B4844E5-96CE-0FD0-3809-592B5EC28501}"/>
                </a:ext>
              </a:extLst>
            </p:cNvPr>
            <p:cNvSpPr txBox="1"/>
            <p:nvPr/>
          </p:nvSpPr>
          <p:spPr>
            <a:xfrm>
              <a:off x="3498830" y="6239199"/>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Solution</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65" name="Group 64">
              <a:extLst>
                <a:ext uri="{FF2B5EF4-FFF2-40B4-BE49-F238E27FC236}">
                  <a16:creationId xmlns:a16="http://schemas.microsoft.com/office/drawing/2014/main" id="{DD53A769-EEF1-BF1C-F502-3A9935413C86}"/>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E3C68016-9401-4746-15CC-6C4AD113991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E8F660A5-D8A3-7B0F-47BD-6C8ABC2317D7}"/>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1A516EBD-0EF3-70D3-A667-E94277A0DB91}"/>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CA1E4271-9890-DB99-E13F-028F0993454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BE641147-B751-911C-DE6A-FE9F5C872C70}"/>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1FC67E4C-73A2-897E-6348-7891123E92EE}"/>
              </a:ext>
            </a:extLst>
          </p:cNvPr>
          <p:cNvGrpSpPr/>
          <p:nvPr/>
        </p:nvGrpSpPr>
        <p:grpSpPr>
          <a:xfrm>
            <a:off x="2983963" y="5922508"/>
            <a:ext cx="463632" cy="247082"/>
            <a:chOff x="3517624" y="5569904"/>
            <a:chExt cx="566513" cy="301910"/>
          </a:xfrm>
        </p:grpSpPr>
        <p:sp>
          <p:nvSpPr>
            <p:cNvPr id="7" name="Rectangle 6">
              <a:extLst>
                <a:ext uri="{FF2B5EF4-FFF2-40B4-BE49-F238E27FC236}">
                  <a16:creationId xmlns:a16="http://schemas.microsoft.com/office/drawing/2014/main" id="{812685A3-20FD-E11A-F2AA-0049E044DD1D}"/>
                </a:ext>
              </a:extLst>
            </p:cNvPr>
            <p:cNvSpPr/>
            <p:nvPr/>
          </p:nvSpPr>
          <p:spPr>
            <a:xfrm>
              <a:off x="3517624" y="5628355"/>
              <a:ext cx="566513" cy="243459"/>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bject 25">
              <a:extLst>
                <a:ext uri="{FF2B5EF4-FFF2-40B4-BE49-F238E27FC236}">
                  <a16:creationId xmlns:a16="http://schemas.microsoft.com/office/drawing/2014/main" id="{617EBBB1-A008-9335-516A-DEC257B48FCF}"/>
                </a:ext>
              </a:extLst>
            </p:cNvPr>
            <p:cNvSpPr/>
            <p:nvPr/>
          </p:nvSpPr>
          <p:spPr>
            <a:xfrm>
              <a:off x="3603350" y="5569904"/>
              <a:ext cx="391160" cy="276860"/>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object 31">
            <a:extLst>
              <a:ext uri="{FF2B5EF4-FFF2-40B4-BE49-F238E27FC236}">
                <a16:creationId xmlns:a16="http://schemas.microsoft.com/office/drawing/2014/main" id="{113B260F-02BB-E9A7-FB90-ADC1F6FB920D}"/>
              </a:ext>
            </a:extLst>
          </p:cNvPr>
          <p:cNvSpPr txBox="1"/>
          <p:nvPr/>
        </p:nvSpPr>
        <p:spPr>
          <a:xfrm>
            <a:off x="8008027" y="4451093"/>
            <a:ext cx="4068000" cy="1821011"/>
          </a:xfrm>
          <a:prstGeom prst="rect">
            <a:avLst/>
          </a:prstGeom>
        </p:spPr>
        <p:txBody>
          <a:bodyPr vert="horz" wrap="square" lIns="0" tIns="12700" rIns="0" bIns="0" rtlCol="0">
            <a:spAutoFit/>
          </a:bodyPr>
          <a:lstStyle>
            <a:defPPr>
              <a:defRPr lang="en-US"/>
            </a:defPPr>
            <a:lvl1pPr marR="0" lvl="0" indent="0" defTabSz="584200" fontAlgn="auto" hangingPunct="0">
              <a:lnSpc>
                <a:spcPct val="100000"/>
              </a:lnSpc>
              <a:spcBef>
                <a:spcPts val="200"/>
              </a:spcBef>
              <a:spcAft>
                <a:spcPts val="200"/>
              </a:spcAft>
              <a:buClrTx/>
              <a:buSzTx/>
              <a:buFontTx/>
              <a:buNone/>
              <a:tabLst/>
              <a:defRPr kumimoji="0" sz="1000" b="0" i="0" u="none" strike="noStrike" cap="none" spc="0" normalizeH="0" baseline="0">
                <a:ln>
                  <a:noFill/>
                </a:ln>
                <a:solidFill>
                  <a:srgbClr val="212B40"/>
                </a:solidFill>
                <a:effectLst/>
                <a:uLnTx/>
                <a:uFillTx/>
                <a:latin typeface="Roboto"/>
                <a:cs typeface="Roboto"/>
              </a:defRPr>
            </a:lvl1pPr>
          </a:lstStyle>
          <a:p>
            <a:r>
              <a:rPr lang="en-AU" dirty="0">
                <a:sym typeface="Helvetica Neue Medium"/>
              </a:rPr>
              <a:t>MLC were able to directly leverage the DataOps Recommendations Paper to undertake their DataOps transformation journey to more effectively leverage their new Snowflake environment to:</a:t>
            </a:r>
          </a:p>
          <a:p>
            <a:pPr marL="85725" indent="-85725">
              <a:spcBef>
                <a:spcPts val="100"/>
              </a:spcBef>
              <a:spcAft>
                <a:spcPts val="100"/>
              </a:spcAft>
              <a:buFont typeface="Arial" panose="020B0604020202020204" pitchFamily="34" charset="0"/>
              <a:buChar char="•"/>
            </a:pPr>
            <a:r>
              <a:rPr lang="en-AU" dirty="0">
                <a:sym typeface="Helvetica Neue Medium"/>
              </a:rPr>
              <a:t>Accelerate delivery of data solutions and make high value business data more readily available to data users for creation of insights</a:t>
            </a:r>
          </a:p>
          <a:p>
            <a:pPr marL="85725" indent="-85725">
              <a:spcBef>
                <a:spcPts val="100"/>
              </a:spcBef>
              <a:spcAft>
                <a:spcPts val="100"/>
              </a:spcAft>
              <a:buFont typeface="Arial" panose="020B0604020202020204" pitchFamily="34" charset="0"/>
              <a:buChar char="•"/>
            </a:pPr>
            <a:r>
              <a:rPr lang="en-AU" dirty="0">
                <a:sym typeface="Helvetica Neue Medium"/>
              </a:rPr>
              <a:t>Automate previously heavily manual processes, create re-usable and standardised data products, and leverage CI/CD for continuous iterative releases</a:t>
            </a:r>
          </a:p>
          <a:p>
            <a:pPr marL="85725" indent="-85725">
              <a:spcBef>
                <a:spcPts val="100"/>
              </a:spcBef>
              <a:spcAft>
                <a:spcPts val="100"/>
              </a:spcAft>
              <a:buFont typeface="Arial" panose="020B0604020202020204" pitchFamily="34" charset="0"/>
              <a:buChar char="•"/>
            </a:pPr>
            <a:r>
              <a:rPr lang="en-AU" dirty="0">
                <a:sym typeface="Helvetica Neue Medium"/>
              </a:rPr>
              <a:t>Improve data quality and increase business trust in the EDW</a:t>
            </a:r>
          </a:p>
          <a:p>
            <a:pPr marL="85725" indent="-85725">
              <a:spcBef>
                <a:spcPts val="100"/>
              </a:spcBef>
              <a:spcAft>
                <a:spcPts val="100"/>
              </a:spcAft>
              <a:buFont typeface="Arial" panose="020B0604020202020204" pitchFamily="34" charset="0"/>
              <a:buChar char="•"/>
            </a:pPr>
            <a:r>
              <a:rPr lang="en-AU" dirty="0">
                <a:sym typeface="Helvetica Neue Medium"/>
              </a:rPr>
              <a:t>Improve business collaboration and speed to deliver new data solutions</a:t>
            </a:r>
          </a:p>
        </p:txBody>
      </p:sp>
      <p:sp>
        <p:nvSpPr>
          <p:cNvPr id="6" name="bg object 16">
            <a:extLst>
              <a:ext uri="{FF2B5EF4-FFF2-40B4-BE49-F238E27FC236}">
                <a16:creationId xmlns:a16="http://schemas.microsoft.com/office/drawing/2014/main" id="{7440C464-D406-AD41-1800-E5BD53237314}"/>
              </a:ext>
            </a:extLst>
          </p:cNvPr>
          <p:cNvSpPr/>
          <p:nvPr/>
        </p:nvSpPr>
        <p:spPr>
          <a:xfrm>
            <a:off x="0" y="4367157"/>
            <a:ext cx="2616199" cy="2409864"/>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r>
              <a:rPr lang="en-AU"/>
              <a:t> </a:t>
            </a:r>
            <a:endParaRPr/>
          </a:p>
        </p:txBody>
      </p:sp>
      <p:sp>
        <p:nvSpPr>
          <p:cNvPr id="10" name="object 34">
            <a:extLst>
              <a:ext uri="{FF2B5EF4-FFF2-40B4-BE49-F238E27FC236}">
                <a16:creationId xmlns:a16="http://schemas.microsoft.com/office/drawing/2014/main" id="{FC6FFA44-D358-4BA9-9F9B-33E421DA2ACB}"/>
              </a:ext>
            </a:extLst>
          </p:cNvPr>
          <p:cNvSpPr txBox="1"/>
          <p:nvPr/>
        </p:nvSpPr>
        <p:spPr>
          <a:xfrm>
            <a:off x="89713" y="4473760"/>
            <a:ext cx="2436773" cy="1390124"/>
          </a:xfrm>
          <a:prstGeom prst="rect">
            <a:avLst/>
          </a:prstGeom>
        </p:spPr>
        <p:txBody>
          <a:bodyPr vert="horz" wrap="square" lIns="0" tIns="12700" rIns="0" bIns="0" rtlCol="0">
            <a:spAutoFit/>
          </a:bodyPr>
          <a:lstStyle/>
          <a:p>
            <a:pPr marL="12700" algn="ctr">
              <a:lnSpc>
                <a:spcPct val="100000"/>
              </a:lnSpc>
              <a:spcBef>
                <a:spcPts val="300"/>
              </a:spcBef>
            </a:pPr>
            <a:r>
              <a:rPr lang="en-AU" sz="1500" b="1" spc="-10" dirty="0">
                <a:solidFill>
                  <a:srgbClr val="FFFFFF"/>
                </a:solidFill>
                <a:latin typeface="Roboto"/>
                <a:cs typeface="Roboto"/>
              </a:rPr>
              <a:t>MLC</a:t>
            </a:r>
            <a:endParaRPr lang="en-AU" sz="1200" dirty="0">
              <a:latin typeface="Roboto"/>
              <a:cs typeface="Roboto"/>
            </a:endParaRPr>
          </a:p>
          <a:p>
            <a:pPr marL="12700">
              <a:spcBef>
                <a:spcPts val="300"/>
              </a:spcBef>
            </a:pPr>
            <a:r>
              <a:rPr lang="en-AU" sz="1200" dirty="0">
                <a:solidFill>
                  <a:schemeClr val="bg1"/>
                </a:solidFill>
                <a:latin typeface="Roboto"/>
                <a:cs typeface="Roboto"/>
              </a:rPr>
              <a:t>For over 125 years, MLC have been helping Australians invest and grow their wealth, save for retirement, and protect their financial futures through insurance and expert advice.</a:t>
            </a:r>
            <a:endParaRPr lang="en-AU" sz="1200" dirty="0">
              <a:latin typeface="Roboto"/>
              <a:cs typeface="Roboto"/>
            </a:endParaRPr>
          </a:p>
        </p:txBody>
      </p:sp>
      <p:pic>
        <p:nvPicPr>
          <p:cNvPr id="11" name="Picture 10">
            <a:extLst>
              <a:ext uri="{FF2B5EF4-FFF2-40B4-BE49-F238E27FC236}">
                <a16:creationId xmlns:a16="http://schemas.microsoft.com/office/drawing/2014/main" id="{2E54734C-0B4D-6924-C386-E4CD3C07D7B2}"/>
              </a:ext>
            </a:extLst>
          </p:cNvPr>
          <p:cNvPicPr>
            <a:picLocks noChangeAspect="1"/>
          </p:cNvPicPr>
          <p:nvPr/>
        </p:nvPicPr>
        <p:blipFill>
          <a:blip r:embed="rId9"/>
          <a:stretch>
            <a:fillRect/>
          </a:stretch>
        </p:blipFill>
        <p:spPr>
          <a:xfrm>
            <a:off x="835330" y="5978419"/>
            <a:ext cx="945538" cy="621691"/>
          </a:xfrm>
          <a:prstGeom prst="rect">
            <a:avLst/>
          </a:prstGeom>
        </p:spPr>
      </p:pic>
    </p:spTree>
    <p:extLst>
      <p:ext uri="{BB962C8B-B14F-4D97-AF65-F5344CB8AC3E}">
        <p14:creationId xmlns:p14="http://schemas.microsoft.com/office/powerpoint/2010/main" val="183672578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3442FE-AD8D-4094-8102-D2A44B70EA08}">
  <ds:schemaRefs>
    <ds:schemaRef ds:uri="http://purl.org/dc/dcmitype/"/>
    <ds:schemaRef ds:uri="http://schemas.microsoft.com/office/infopath/2007/PartnerControls"/>
    <ds:schemaRef ds:uri="b134bf45-6637-4d46-9e0b-ea5dfe480f7b"/>
    <ds:schemaRef ds:uri="http://www.w3.org/XML/1998/namespace"/>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906d9bb4-c53b-48ce-ad74-2ebc50fbcd89"/>
    <ds:schemaRef ds:uri="http://purl.org/dc/terms/"/>
  </ds:schemaRefs>
</ds:datastoreItem>
</file>

<file path=customXml/itemProps2.xml><?xml version="1.0" encoding="utf-8"?>
<ds:datastoreItem xmlns:ds="http://schemas.openxmlformats.org/officeDocument/2006/customXml" ds:itemID="{4935AB53-550C-4B0E-A59B-4E4C52480936}">
  <ds:schemaRefs>
    <ds:schemaRef ds:uri="http://schemas.microsoft.com/sharepoint/v3/contenttype/forms"/>
  </ds:schemaRefs>
</ds:datastoreItem>
</file>

<file path=customXml/itemProps3.xml><?xml version="1.0" encoding="utf-8"?>
<ds:datastoreItem xmlns:ds="http://schemas.openxmlformats.org/officeDocument/2006/customXml" ds:itemID="{8DF67C82-E179-408A-9787-21A82844F9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34bf45-6637-4d46-9e0b-ea5dfe480f7b"/>
    <ds:schemaRef ds:uri="906d9bb4-c53b-48ce-ad74-2ebc50fbcd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ee502f0-ffb4-46d8-a0a7-711fa97ef456}" enabled="0" method="" siteId="{6ee502f0-ffb4-46d8-a0a7-711fa97ef456}" removed="1"/>
</clbl:labelList>
</file>

<file path=docProps/app.xml><?xml version="1.0" encoding="utf-8"?>
<Properties xmlns="http://schemas.openxmlformats.org/officeDocument/2006/extended-properties" xmlns:vt="http://schemas.openxmlformats.org/officeDocument/2006/docPropsVTypes">
  <TotalTime>310</TotalTime>
  <Words>544</Words>
  <Application>Microsoft Office PowerPoint</Application>
  <PresentationFormat>Widescreen</PresentationFormat>
  <Paragraphs>36</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Helvetica Neue Medium</vt:lpstr>
      <vt:lpstr>Lato Light</vt:lpstr>
      <vt:lpstr>Roboto</vt:lpstr>
      <vt:lpstr>Roboto Light</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Andrew Nisbett</cp:lastModifiedBy>
  <cp:revision>39</cp:revision>
  <dcterms:created xsi:type="dcterms:W3CDTF">2023-09-17T23:19:06Z</dcterms:created>
  <dcterms:modified xsi:type="dcterms:W3CDTF">2025-07-23T07:58:08Z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