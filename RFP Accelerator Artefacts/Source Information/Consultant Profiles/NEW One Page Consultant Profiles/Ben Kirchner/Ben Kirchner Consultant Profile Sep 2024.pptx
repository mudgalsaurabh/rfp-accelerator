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notesMasterIdLst>
    <p:notesMasterId r:id="rId6"/>
  </p:notes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3584"/>
    <a:srgbClr val="0F2B3F"/>
    <a:srgbClr val="0059FF"/>
    <a:srgbClr val="00AB80"/>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D82654-B305-49AD-97FA-D089115CF3C2}" v="1" dt="2025-04-02T23:34:26.8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0" d="100"/>
          <a:sy n="50" d="100"/>
        </p:scale>
        <p:origin x="1524" y="4"/>
      </p:cViewPr>
      <p:guideLst>
        <p:guide orient="horz" pos="2448"/>
        <p:guide pos="3168"/>
        <p:guide pos="311"/>
        <p:guide pos="5994"/>
        <p:guide orient="horz" pos="148"/>
        <p:guide orient="horz" pos="4748"/>
      </p:guideLst>
    </p:cSldViewPr>
  </p:slideViewPr>
  <p:notesTextViewPr>
    <p:cViewPr>
      <p:scale>
        <a:sx n="1" d="1"/>
        <a:sy n="1" d="1"/>
      </p:scale>
      <p:origin x="0" y="-152"/>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0DD82654-B305-49AD-97FA-D089115CF3C2}"/>
    <pc:docChg chg="undo custSel modSld">
      <pc:chgData name="Darcy Roach" userId="ba676ee9-e9b4-49e8-a515-8077106c948d" providerId="ADAL" clId="{0DD82654-B305-49AD-97FA-D089115CF3C2}" dt="2025-04-02T23:36:28.014" v="2038" actId="1035"/>
      <pc:docMkLst>
        <pc:docMk/>
      </pc:docMkLst>
      <pc:sldChg chg="addSp delSp modSp mod modNotesTx">
        <pc:chgData name="Darcy Roach" userId="ba676ee9-e9b4-49e8-a515-8077106c948d" providerId="ADAL" clId="{0DD82654-B305-49AD-97FA-D089115CF3C2}" dt="2025-04-02T23:36:28.014" v="2038" actId="1035"/>
        <pc:sldMkLst>
          <pc:docMk/>
          <pc:sldMk cId="2009923557" sldId="270"/>
        </pc:sldMkLst>
        <pc:spChg chg="add del mod">
          <ac:chgData name="Darcy Roach" userId="ba676ee9-e9b4-49e8-a515-8077106c948d" providerId="ADAL" clId="{0DD82654-B305-49AD-97FA-D089115CF3C2}" dt="2025-04-02T23:33:48.722" v="2008"/>
          <ac:spMkLst>
            <pc:docMk/>
            <pc:sldMk cId="2009923557" sldId="270"/>
            <ac:spMk id="8" creationId="{54581896-883A-524C-B424-341FE46B50B8}"/>
          </ac:spMkLst>
        </pc:spChg>
        <pc:spChg chg="mod">
          <ac:chgData name="Darcy Roach" userId="ba676ee9-e9b4-49e8-a515-8077106c948d" providerId="ADAL" clId="{0DD82654-B305-49AD-97FA-D089115CF3C2}" dt="2025-04-02T23:35:16.074" v="2016" actId="20577"/>
          <ac:spMkLst>
            <pc:docMk/>
            <pc:sldMk cId="2009923557" sldId="270"/>
            <ac:spMk id="10" creationId="{BEBEE42C-2C3F-5B2C-5A79-928BD6620C6A}"/>
          </ac:spMkLst>
        </pc:spChg>
        <pc:spChg chg="add del mod">
          <ac:chgData name="Darcy Roach" userId="ba676ee9-e9b4-49e8-a515-8077106c948d" providerId="ADAL" clId="{0DD82654-B305-49AD-97FA-D089115CF3C2}" dt="2025-04-02T23:35:51.887" v="2031" actId="1035"/>
          <ac:spMkLst>
            <pc:docMk/>
            <pc:sldMk cId="2009923557" sldId="270"/>
            <ac:spMk id="12" creationId="{70DE989F-A988-8C86-5720-1FE5B119EB30}"/>
          </ac:spMkLst>
        </pc:spChg>
        <pc:spChg chg="mod">
          <ac:chgData name="Darcy Roach" userId="ba676ee9-e9b4-49e8-a515-8077106c948d" providerId="ADAL" clId="{0DD82654-B305-49AD-97FA-D089115CF3C2}" dt="2025-04-02T23:34:26.880" v="2012"/>
          <ac:spMkLst>
            <pc:docMk/>
            <pc:sldMk cId="2009923557" sldId="270"/>
            <ac:spMk id="16" creationId="{D88EDA7A-5B57-2E79-414A-866AA95DD3E3}"/>
          </ac:spMkLst>
        </pc:spChg>
        <pc:spChg chg="mod">
          <ac:chgData name="Darcy Roach" userId="ba676ee9-e9b4-49e8-a515-8077106c948d" providerId="ADAL" clId="{0DD82654-B305-49AD-97FA-D089115CF3C2}" dt="2025-04-02T23:35:23.302" v="2019" actId="1035"/>
          <ac:spMkLst>
            <pc:docMk/>
            <pc:sldMk cId="2009923557" sldId="270"/>
            <ac:spMk id="19" creationId="{7513C49A-2DF2-8111-FED4-FC07A8EAD258}"/>
          </ac:spMkLst>
        </pc:spChg>
        <pc:grpChg chg="add mod">
          <ac:chgData name="Darcy Roach" userId="ba676ee9-e9b4-49e8-a515-8077106c948d" providerId="ADAL" clId="{0DD82654-B305-49AD-97FA-D089115CF3C2}" dt="2025-04-02T23:35:39.897" v="2027" actId="1036"/>
          <ac:grpSpMkLst>
            <pc:docMk/>
            <pc:sldMk cId="2009923557" sldId="270"/>
            <ac:grpSpMk id="9" creationId="{0E15D179-54E4-6B00-2306-4800AB36A62F}"/>
          </ac:grpSpMkLst>
        </pc:grpChg>
        <pc:grpChg chg="mod">
          <ac:chgData name="Darcy Roach" userId="ba676ee9-e9b4-49e8-a515-8077106c948d" providerId="ADAL" clId="{0DD82654-B305-49AD-97FA-D089115CF3C2}" dt="2025-04-02T23:36:28.014" v="2038" actId="1035"/>
          <ac:grpSpMkLst>
            <pc:docMk/>
            <pc:sldMk cId="2009923557" sldId="270"/>
            <ac:grpSpMk id="24" creationId="{44A6634B-45E1-CF8F-A439-5BD66C9A9125}"/>
          </ac:grpSpMkLst>
        </pc:grpChg>
        <pc:grpChg chg="del">
          <ac:chgData name="Darcy Roach" userId="ba676ee9-e9b4-49e8-a515-8077106c948d" providerId="ADAL" clId="{0DD82654-B305-49AD-97FA-D089115CF3C2}" dt="2025-04-02T23:33:55.964" v="2009" actId="21"/>
          <ac:grpSpMkLst>
            <pc:docMk/>
            <pc:sldMk cId="2009923557" sldId="270"/>
            <ac:grpSpMk id="30" creationId="{0E15D179-54E4-6B00-2306-4800AB36A62F}"/>
          </ac:grpSpMkLst>
        </pc:grpChg>
        <pc:cxnChg chg="mod">
          <ac:chgData name="Darcy Roach" userId="ba676ee9-e9b4-49e8-a515-8077106c948d" providerId="ADAL" clId="{0DD82654-B305-49AD-97FA-D089115CF3C2}" dt="2025-04-02T23:36:18.561" v="2035" actId="14100"/>
          <ac:cxnSpMkLst>
            <pc:docMk/>
            <pc:sldMk cId="2009923557" sldId="270"/>
            <ac:cxnSpMk id="3" creationId="{67C34E10-2CF8-9BCA-1CC6-D78A3FF9CA80}"/>
          </ac:cxnSpMkLst>
        </pc:cxnChg>
        <pc:cxnChg chg="mod">
          <ac:chgData name="Darcy Roach" userId="ba676ee9-e9b4-49e8-a515-8077106c948d" providerId="ADAL" clId="{0DD82654-B305-49AD-97FA-D089115CF3C2}" dt="2025-04-02T23:35:45.556" v="2028" actId="14100"/>
          <ac:cxnSpMkLst>
            <pc:docMk/>
            <pc:sldMk cId="2009923557" sldId="270"/>
            <ac:cxnSpMk id="15" creationId="{BE5D877F-7644-D271-94D7-8106577E4286}"/>
          </ac:cxnSpMkLst>
        </pc:cxnChg>
        <pc:cxnChg chg="mod">
          <ac:chgData name="Darcy Roach" userId="ba676ee9-e9b4-49e8-a515-8077106c948d" providerId="ADAL" clId="{0DD82654-B305-49AD-97FA-D089115CF3C2}" dt="2025-04-02T23:35:32.764" v="2020" actId="14100"/>
          <ac:cxnSpMkLst>
            <pc:docMk/>
            <pc:sldMk cId="2009923557" sldId="270"/>
            <ac:cxnSpMk id="21" creationId="{B0913DE4-461D-CE43-AABC-C4B3D7D22F45}"/>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887A2D98-19D0-4D73-8D06-659B2769B746}" type="datetimeFigureOut">
              <a:rPr lang="en-AU" smtClean="0"/>
              <a:t>3/04/2025</a:t>
            </a:fld>
            <a:endParaRPr lang="en-AU"/>
          </a:p>
        </p:txBody>
      </p:sp>
      <p:sp>
        <p:nvSpPr>
          <p:cNvPr id="4" name="Slide Image Placeholder 3"/>
          <p:cNvSpPr>
            <a:spLocks noGrp="1" noRot="1" noChangeAspect="1"/>
          </p:cNvSpPr>
          <p:nvPr>
            <p:ph type="sldImg" idx="2"/>
          </p:nvPr>
        </p:nvSpPr>
        <p:spPr>
          <a:xfrm>
            <a:off x="3074988" y="857250"/>
            <a:ext cx="2994025" cy="2314575"/>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A883A2FF-797F-4937-94F8-E26ABA3604A0}" type="slidenum">
              <a:rPr lang="en-AU" smtClean="0"/>
              <a:t>‹#›</a:t>
            </a:fld>
            <a:endParaRPr lang="en-AU"/>
          </a:p>
        </p:txBody>
      </p:sp>
    </p:spTree>
    <p:extLst>
      <p:ext uri="{BB962C8B-B14F-4D97-AF65-F5344CB8AC3E}">
        <p14:creationId xmlns:p14="http://schemas.microsoft.com/office/powerpoint/2010/main" val="14065344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dirty="0">
                <a:solidFill>
                  <a:srgbClr val="A93584"/>
                </a:solidFill>
                <a:latin typeface="Roboto" panose="02000000000000000000" pitchFamily="2" charset="0"/>
                <a:ea typeface="Roboto" panose="02000000000000000000" pitchFamily="2" charset="0"/>
              </a:rPr>
              <a:t>Australian Government Organisation – Project Manager</a:t>
            </a:r>
          </a:p>
          <a:p>
            <a:pPr marL="171450" indent="-171450">
              <a:buFont typeface="Arial" panose="020B0604020202020204" pitchFamily="34" charset="0"/>
              <a:buChar char="•"/>
            </a:pPr>
            <a:r>
              <a:rPr lang="en-AU" dirty="0"/>
              <a:t>Lead a team of four, to manage a Data Warehouse project working in the subject areas of HR, Training, Finance, Asset Management and Fleet. Built on SQL Azure Database with Azure Data Factory.</a:t>
            </a:r>
          </a:p>
          <a:p>
            <a:pPr marL="171450" indent="-171450">
              <a:buFont typeface="Arial" panose="020B0604020202020204" pitchFamily="34" charset="0"/>
              <a:buChar char="•"/>
            </a:pPr>
            <a:r>
              <a:rPr lang="en-AU" dirty="0"/>
              <a:t>Created a Power BI/Azure Data Lake/Data Factory Solution for Social Media and Website Statistics using Google Analytics, Facebook and X.</a:t>
            </a:r>
          </a:p>
          <a:p>
            <a:pPr marL="171450" indent="-171450">
              <a:buFont typeface="Arial" panose="020B0604020202020204" pitchFamily="34" charset="0"/>
              <a:buChar char="•"/>
            </a:pPr>
            <a:r>
              <a:rPr lang="en-AU" dirty="0"/>
              <a:t>Scrum Master and budgeting/forecasting resources and cost, managed a Data Integration and Data Warehouse Platform with co-ordination from Multiple Vendors for a switchover at the same time. </a:t>
            </a:r>
          </a:p>
          <a:p>
            <a:endParaRPr lang="en-AU" dirty="0"/>
          </a:p>
        </p:txBody>
      </p:sp>
      <p:sp>
        <p:nvSpPr>
          <p:cNvPr id="4" name="Slide Number Placeholder 3"/>
          <p:cNvSpPr>
            <a:spLocks noGrp="1"/>
          </p:cNvSpPr>
          <p:nvPr>
            <p:ph type="sldNum" sz="quarter" idx="5"/>
          </p:nvPr>
        </p:nvSpPr>
        <p:spPr/>
        <p:txBody>
          <a:bodyPr/>
          <a:lstStyle/>
          <a:p>
            <a:fld id="{A883A2FF-797F-4937-94F8-E26ABA3604A0}" type="slidenum">
              <a:rPr lang="en-AU" smtClean="0"/>
              <a:t>1</a:t>
            </a:fld>
            <a:endParaRPr lang="en-AU"/>
          </a:p>
        </p:txBody>
      </p:sp>
    </p:spTree>
    <p:extLst>
      <p:ext uri="{BB962C8B-B14F-4D97-AF65-F5344CB8AC3E}">
        <p14:creationId xmlns:p14="http://schemas.microsoft.com/office/powerpoint/2010/main" val="7574764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4/3/2025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4/3/2025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4/3/2025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4/3/2025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4/3/2025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4/3/2025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4/3/2025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4/3/2025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4/3/2025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4/3/2025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4/3/2025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4/3/2025</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2F7F9DCD-ABFD-3411-96C4-EDE25D98CDEB}"/>
              </a:ext>
            </a:extLst>
          </p:cNvPr>
          <p:cNvSpPr txBox="1"/>
          <p:nvPr/>
        </p:nvSpPr>
        <p:spPr>
          <a:xfrm>
            <a:off x="8118489" y="1456630"/>
            <a:ext cx="1951941" cy="2277547"/>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AU" sz="1200" dirty="0">
                <a:solidFill>
                  <a:srgbClr val="00AB80"/>
                </a:solidFill>
              </a:rPr>
              <a:t>Logistics</a:t>
            </a:r>
          </a:p>
          <a:p>
            <a:pPr marL="0" indent="0">
              <a:lnSpc>
                <a:spcPct val="150000"/>
              </a:lnSpc>
              <a:buNone/>
            </a:pPr>
            <a:r>
              <a:rPr lang="en-AU" sz="1200" dirty="0">
                <a:solidFill>
                  <a:srgbClr val="00AB80"/>
                </a:solidFill>
              </a:rPr>
              <a:t>Government</a:t>
            </a:r>
          </a:p>
          <a:p>
            <a:pPr marL="0" indent="0">
              <a:lnSpc>
                <a:spcPct val="150000"/>
              </a:lnSpc>
              <a:buNone/>
            </a:pPr>
            <a:r>
              <a:rPr lang="en-AU" sz="1200" dirty="0">
                <a:solidFill>
                  <a:srgbClr val="00AB80"/>
                </a:solidFill>
              </a:rPr>
              <a:t>Telecommunications</a:t>
            </a:r>
          </a:p>
          <a:p>
            <a:pPr marL="0" indent="0">
              <a:lnSpc>
                <a:spcPct val="150000"/>
              </a:lnSpc>
              <a:buNone/>
            </a:pPr>
            <a:r>
              <a:rPr lang="en-AU" sz="1200" dirty="0">
                <a:solidFill>
                  <a:srgbClr val="00AB80"/>
                </a:solidFill>
              </a:rPr>
              <a:t>Retail</a:t>
            </a:r>
          </a:p>
          <a:p>
            <a:pPr marL="0" indent="0">
              <a:lnSpc>
                <a:spcPct val="150000"/>
              </a:lnSpc>
              <a:buNone/>
            </a:pPr>
            <a:r>
              <a:rPr lang="en-AU" sz="1200" dirty="0">
                <a:solidFill>
                  <a:srgbClr val="00AB80"/>
                </a:solidFill>
              </a:rPr>
              <a:t>Emergency Services</a:t>
            </a:r>
          </a:p>
          <a:p>
            <a:pPr marL="0" indent="0">
              <a:lnSpc>
                <a:spcPct val="150000"/>
              </a:lnSpc>
              <a:buNone/>
            </a:pPr>
            <a:r>
              <a:rPr lang="en-AU" sz="1200" dirty="0">
                <a:solidFill>
                  <a:srgbClr val="00AB80"/>
                </a:solidFill>
              </a:rPr>
              <a:t>Healthcare</a:t>
            </a:r>
          </a:p>
          <a:p>
            <a:pPr marL="0" indent="0">
              <a:lnSpc>
                <a:spcPct val="150000"/>
              </a:lnSpc>
              <a:buNone/>
            </a:pPr>
            <a:endParaRPr lang="en-AU" sz="1200" dirty="0">
              <a:solidFill>
                <a:srgbClr val="00AB80"/>
              </a:solidFill>
            </a:endParaRPr>
          </a:p>
          <a:p>
            <a:pPr marL="0" indent="0">
              <a:lnSpc>
                <a:spcPct val="150000"/>
              </a:lnSpc>
              <a:buNone/>
            </a:pPr>
            <a:endParaRPr lang="en-AU" sz="1200" dirty="0">
              <a:solidFill>
                <a:srgbClr val="00AB80"/>
              </a:solidFill>
            </a:endParaRPr>
          </a:p>
        </p:txBody>
      </p:sp>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AU" sz="1600" b="1" spc="388">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3"/>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2168863" cy="861774"/>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B</a:t>
            </a:r>
            <a:r>
              <a:rPr lang="en-AU" sz="2800" b="1" dirty="0" err="1">
                <a:solidFill>
                  <a:srgbClr val="00AB80"/>
                </a:solidFill>
                <a:latin typeface="Roboto" panose="02000000000000000000" pitchFamily="2" charset="0"/>
                <a:ea typeface="Roboto" panose="02000000000000000000" pitchFamily="2" charset="0"/>
              </a:rPr>
              <a:t>en</a:t>
            </a:r>
            <a:r>
              <a:rPr lang="en-AU" sz="2800" b="1" dirty="0">
                <a:solidFill>
                  <a:srgbClr val="00AB80"/>
                </a:solidFill>
                <a:latin typeface="Roboto" panose="02000000000000000000" pitchFamily="2" charset="0"/>
                <a:ea typeface="Roboto" panose="02000000000000000000" pitchFamily="2" charset="0"/>
              </a:rPr>
              <a:t> </a:t>
            </a:r>
          </a:p>
          <a:p>
            <a:r>
              <a:rPr lang="en-AU" sz="2800" b="1" dirty="0">
                <a:solidFill>
                  <a:srgbClr val="00AB80"/>
                </a:solidFill>
                <a:latin typeface="Roboto" panose="02000000000000000000" pitchFamily="2" charset="0"/>
                <a:ea typeface="Roboto" panose="02000000000000000000" pitchFamily="2" charset="0"/>
              </a:rPr>
              <a:t>Kirchner</a:t>
            </a:r>
          </a:p>
        </p:txBody>
      </p:sp>
      <p:sp>
        <p:nvSpPr>
          <p:cNvPr id="17" name="TextBox 16">
            <a:extLst>
              <a:ext uri="{FF2B5EF4-FFF2-40B4-BE49-F238E27FC236}">
                <a16:creationId xmlns:a16="http://schemas.microsoft.com/office/drawing/2014/main" id="{1BDE5051-9F34-F139-742D-4450E5D6591E}"/>
              </a:ext>
            </a:extLst>
          </p:cNvPr>
          <p:cNvSpPr txBox="1"/>
          <p:nvPr/>
        </p:nvSpPr>
        <p:spPr>
          <a:xfrm>
            <a:off x="229243" y="1587858"/>
            <a:ext cx="2956718" cy="4177426"/>
          </a:xfrm>
          <a:prstGeom prst="rect">
            <a:avLst/>
          </a:prstGeom>
          <a:noFill/>
        </p:spPr>
        <p:txBody>
          <a:bodyPr wrap="square" lIns="0" tIns="0" rIns="0" bIns="0" rtlCol="0" anchor="t">
            <a:spAutoFit/>
          </a:bodyPr>
          <a:lstStyle/>
          <a:p>
            <a:r>
              <a:rPr lang="en-AU" sz="1000" spc="13" dirty="0">
                <a:latin typeface="Roboto Light"/>
                <a:ea typeface="Roboto Light"/>
                <a:cs typeface="Lato"/>
              </a:rPr>
              <a:t>Ben is a highly skilled Project Manager and Data Lead, he excels in the delivery of critical data intensive technology solutions that meet challenging business demands. Ben has over 20 years of working experience in Technical IT, Stakeholder, Delivery Management, Leadership and Management Teams.</a:t>
            </a:r>
          </a:p>
          <a:p>
            <a:endParaRPr lang="en-AU" sz="1000" spc="13" dirty="0">
              <a:latin typeface="Roboto Light"/>
              <a:ea typeface="Roboto Light"/>
              <a:cs typeface="Lato"/>
            </a:endParaRPr>
          </a:p>
          <a:p>
            <a:r>
              <a:rPr lang="en-AU" sz="1000" spc="13" dirty="0">
                <a:latin typeface="Roboto Light"/>
                <a:ea typeface="Roboto Light"/>
                <a:cs typeface="Lato"/>
              </a:rPr>
              <a:t>A Google Cloud Certified Professional Cloud Architect and Azure Certified Data Engineer, Ben brings a wealth of experience, knowledge and best practices both through practical means and formal education training. Solving problems and looking for the right solution, working with Stakeholders and Delivery Teams to obtain the best outcome for all is the driver of Bens success.</a:t>
            </a:r>
          </a:p>
          <a:p>
            <a:endParaRPr lang="en-AU" sz="1000" spc="13" dirty="0">
              <a:latin typeface="Roboto Light"/>
              <a:ea typeface="Roboto Light"/>
              <a:cs typeface="Lato"/>
            </a:endParaRPr>
          </a:p>
          <a:p>
            <a:r>
              <a:rPr lang="en-AU" sz="1000" spc="13" dirty="0">
                <a:latin typeface="Roboto Light"/>
                <a:ea typeface="Roboto Light"/>
                <a:cs typeface="Lato"/>
              </a:rPr>
              <a:t>As a certified SCRUM Master, Ben takes an agile approach to making complex delivery simpler to deploy, giving all stakeholders the ability to provide feedback and ability to adapt and change to internal and external forces to a project or team in a controlled manner that technical and non-technical stakeholders can understand.</a:t>
            </a:r>
          </a:p>
          <a:p>
            <a:endParaRPr lang="en-AU" sz="1000" spc="13" dirty="0">
              <a:latin typeface="Roboto Light"/>
              <a:ea typeface="Roboto Light"/>
              <a:cs typeface="Lato"/>
            </a:endParaRPr>
          </a:p>
          <a:p>
            <a:endParaRPr lang="en-AU" sz="1000" spc="13" dirty="0">
              <a:latin typeface="Roboto Light"/>
              <a:ea typeface="Roboto Light"/>
              <a:cs typeface="Lato"/>
            </a:endParaRPr>
          </a:p>
          <a:p>
            <a:pPr>
              <a:lnSpc>
                <a:spcPts val="1500"/>
              </a:lnSpc>
            </a:pPr>
            <a:endParaRPr lang="en-AU" sz="1000" spc="13" dirty="0">
              <a:latin typeface="Roboto Light" panose="02000000000000000000" pitchFamily="2" charset="0"/>
              <a:ea typeface="Roboto Light" panose="02000000000000000000" pitchFamily="2" charset="0"/>
              <a:cs typeface="Lato" panose="020F0502020204030203" pitchFamily="34" charset="0"/>
            </a:endParaRPr>
          </a:p>
        </p:txBody>
      </p:sp>
      <p:sp>
        <p:nvSpPr>
          <p:cNvPr id="20" name="TextBox 19">
            <a:extLst>
              <a:ext uri="{FF2B5EF4-FFF2-40B4-BE49-F238E27FC236}">
                <a16:creationId xmlns:a16="http://schemas.microsoft.com/office/drawing/2014/main" id="{716A87E2-F657-C1C6-3715-B7C8A7F1E050}"/>
              </a:ext>
            </a:extLst>
          </p:cNvPr>
          <p:cNvSpPr txBox="1"/>
          <p:nvPr/>
        </p:nvSpPr>
        <p:spPr>
          <a:xfrm>
            <a:off x="152027" y="1239722"/>
            <a:ext cx="5029200" cy="310341"/>
          </a:xfrm>
          <a:prstGeom prst="rect">
            <a:avLst/>
          </a:prstGeom>
          <a:noFill/>
        </p:spPr>
        <p:txBody>
          <a:bodyPr wrap="square">
            <a:spAutoFit/>
          </a:bodyPr>
          <a:lstStyle/>
          <a:p>
            <a:pPr>
              <a:lnSpc>
                <a:spcPts val="1812"/>
              </a:lnSpc>
            </a:pPr>
            <a:r>
              <a:rPr lang="en-AU" sz="1400" b="1" spc="13">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AU" sz="400" b="1" spc="13">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50509" y="982605"/>
            <a:ext cx="2489720" cy="218008"/>
          </a:xfrm>
          <a:prstGeom prst="rect">
            <a:avLst/>
          </a:prstGeom>
          <a:noFill/>
        </p:spPr>
        <p:txBody>
          <a:bodyPr wrap="square" lIns="0" tIns="0" rIns="0" bIns="0" rtlCol="0" anchor="t">
            <a:spAutoFit/>
          </a:bodyPr>
          <a:lstStyle/>
          <a:p>
            <a:pPr>
              <a:lnSpc>
                <a:spcPts val="1812"/>
              </a:lnSpc>
            </a:pPr>
            <a:r>
              <a:rPr lang="en-AU" sz="1400" spc="13" dirty="0">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Principal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651925" y="5646450"/>
            <a:ext cx="1510046" cy="2031325"/>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Google Cloud Platform</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Microsoft Azure</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Collibra</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Power BI</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Python</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R</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Factory</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JIRA</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Informatica</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PL/SQL</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C/C++</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Unix/Linux</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Terraform</a:t>
            </a:r>
          </a:p>
          <a:p>
            <a:pPr marL="171450" indent="-171450">
              <a:buClr>
                <a:srgbClr val="00AB80"/>
              </a:buClr>
              <a:buFont typeface="Arial" panose="020B0604020202020204" pitchFamily="34" charset="0"/>
              <a:buChar char="•"/>
            </a:pPr>
            <a:endParaRPr lang="en-AU" sz="900" dirty="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377498"/>
            <a:ext cx="0" cy="1935074"/>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4"/>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3204850"/>
            <a:ext cx="1648720" cy="215444"/>
          </a:xfrm>
          <a:prstGeom prst="rect">
            <a:avLst/>
          </a:prstGeom>
          <a:noFill/>
        </p:spPr>
        <p:txBody>
          <a:bodyPr wrap="none" lIns="0" tIns="0" rIns="0" bIns="0" rtlCol="0">
            <a:spAutoFit/>
          </a:bodyPr>
          <a:lstStyle/>
          <a:p>
            <a:pPr algn="ctr"/>
            <a:r>
              <a:rPr lang="en-AU" sz="1400" b="1" spc="388" dirty="0">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AU" sz="2800" b="1">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7"/>
            <a:ext cx="0" cy="6263238"/>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AU" sz="1400" b="1" spc="388">
                <a:solidFill>
                  <a:schemeClr val="bg1"/>
                </a:solidFill>
                <a:latin typeface="Roboto" panose="02000000000000000000" pitchFamily="2" charset="0"/>
                <a:ea typeface="Roboto" panose="02000000000000000000" pitchFamily="2" charset="0"/>
              </a:rPr>
              <a:t>Industry</a:t>
            </a:r>
          </a:p>
          <a:p>
            <a:r>
              <a:rPr lang="en-AU" sz="1400" b="1" spc="388">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3420294"/>
            <a:ext cx="1963972" cy="4108817"/>
            <a:chOff x="8106458" y="2681447"/>
            <a:chExt cx="1963972" cy="4108817"/>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63972" cy="4108817"/>
            </a:xfrm>
            <a:prstGeom prst="rect">
              <a:avLst/>
            </a:prstGeom>
            <a:noFill/>
          </p:spPr>
          <p:txBody>
            <a:bodyPr wrap="square">
              <a:spAutoFit/>
            </a:bodyPr>
            <a:lstStyle/>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a:p>
              <a:pPr>
                <a:tabLst>
                  <a:tab pos="3819525" algn="l"/>
                  <a:tab pos="3895725" algn="l"/>
                </a:tabLst>
              </a:pPr>
              <a:r>
                <a:rPr lang="en-AU" sz="1200" dirty="0">
                  <a:solidFill>
                    <a:srgbClr val="00AB80"/>
                  </a:solidFill>
                  <a:latin typeface="Roboto Light" panose="02000000000000000000" pitchFamily="2" charset="0"/>
                  <a:ea typeface="Calibri" panose="020F0502020204030204" pitchFamily="34" charset="0"/>
                </a:rPr>
                <a:t>Microsoft | Certified Azure Data Engineer</a:t>
              </a:r>
            </a:p>
            <a:p>
              <a:pPr>
                <a:tabLst>
                  <a:tab pos="3819525" algn="l"/>
                  <a:tab pos="3895725" algn="l"/>
                </a:tabLst>
              </a:pPr>
              <a:endParaRPr lang="en-AU" sz="5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AU" sz="1200" dirty="0">
                  <a:solidFill>
                    <a:srgbClr val="00AB80"/>
                  </a:solidFill>
                  <a:latin typeface="Roboto Light" panose="02000000000000000000" pitchFamily="2" charset="0"/>
                  <a:ea typeface="Calibri" panose="020F0502020204030204" pitchFamily="34" charset="0"/>
                </a:rPr>
                <a:t>Google Cloud | Certified Professional Cloud Architect &amp; Digital Leader</a:t>
              </a:r>
            </a:p>
            <a:p>
              <a:pPr>
                <a:tabLst>
                  <a:tab pos="3819525" algn="l"/>
                  <a:tab pos="3895725" algn="l"/>
                </a:tabLst>
              </a:pPr>
              <a:endParaRPr lang="en-AU" sz="5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endParaRPr lang="en-AU" sz="5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AU" sz="1200" dirty="0">
                  <a:solidFill>
                    <a:srgbClr val="00AB80"/>
                  </a:solidFill>
                  <a:latin typeface="Roboto Light" panose="02000000000000000000" pitchFamily="2" charset="0"/>
                  <a:ea typeface="Calibri" panose="020F0502020204030204" pitchFamily="34" charset="0"/>
                </a:rPr>
                <a:t>Collibra | Certified Data Steward &amp; Solution Architect</a:t>
              </a:r>
            </a:p>
            <a:p>
              <a:pPr>
                <a:tabLst>
                  <a:tab pos="3819525" algn="l"/>
                  <a:tab pos="3895725" algn="l"/>
                </a:tabLst>
              </a:pPr>
              <a:endParaRPr lang="en-AU" sz="5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AU" sz="1200" dirty="0">
                  <a:solidFill>
                    <a:srgbClr val="00AB80"/>
                  </a:solidFill>
                  <a:effectLst/>
                  <a:latin typeface="Roboto Light" panose="02000000000000000000" pitchFamily="2" charset="0"/>
                  <a:ea typeface="Calibri" panose="020F0502020204030204" pitchFamily="34" charset="0"/>
                </a:rPr>
                <a:t>Certified Scrum Master</a:t>
              </a:r>
            </a:p>
            <a:p>
              <a:pPr>
                <a:tabLst>
                  <a:tab pos="3819525" algn="l"/>
                  <a:tab pos="3895725" algn="l"/>
                </a:tabLst>
              </a:pPr>
              <a:endParaRPr lang="en-AU" sz="5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r>
                <a:rPr lang="en-AU" sz="1200" dirty="0">
                  <a:solidFill>
                    <a:srgbClr val="00AB80"/>
                  </a:solidFill>
                  <a:latin typeface="Roboto Light" panose="02000000000000000000" pitchFamily="2" charset="0"/>
                  <a:ea typeface="Calibri" panose="020F0502020204030204" pitchFamily="34" charset="0"/>
                </a:rPr>
                <a:t>Master – Science, Advanced Computing | University of Technology Sydney</a:t>
              </a:r>
            </a:p>
            <a:p>
              <a:pPr>
                <a:tabLst>
                  <a:tab pos="3819525" algn="l"/>
                  <a:tab pos="3895725" algn="l"/>
                </a:tabLst>
              </a:pPr>
              <a:endParaRPr lang="en-AU" sz="500" dirty="0">
                <a:solidFill>
                  <a:srgbClr val="00AB80"/>
                </a:solidFill>
                <a:latin typeface="Roboto Light" panose="02000000000000000000" pitchFamily="2" charset="0"/>
              </a:endParaRPr>
            </a:p>
            <a:p>
              <a:pPr>
                <a:tabLst>
                  <a:tab pos="3819525" algn="l"/>
                  <a:tab pos="3895725" algn="l"/>
                </a:tabLst>
              </a:pPr>
              <a:r>
                <a:rPr lang="en-AU" sz="1200" dirty="0">
                  <a:solidFill>
                    <a:srgbClr val="00AB80"/>
                  </a:solidFill>
                  <a:latin typeface="Roboto Light" panose="02000000000000000000" pitchFamily="2" charset="0"/>
                  <a:ea typeface="Calibri" panose="020F0502020204030204" pitchFamily="34" charset="0"/>
                </a:rPr>
                <a:t>Master – Data Science, Algorithms, Cloud Computing, ML | University of Sydney</a:t>
              </a:r>
              <a:endParaRPr lang="en-AU" sz="1200" dirty="0">
                <a:solidFill>
                  <a:srgbClr val="00AB80"/>
                </a:solidFill>
                <a:latin typeface="Roboto Light" panose="02000000000000000000" pitchFamily="2" charset="0"/>
              </a:endParaRPr>
            </a:p>
            <a:p>
              <a:pPr>
                <a:tabLst>
                  <a:tab pos="3819525" algn="l"/>
                  <a:tab pos="3895725" algn="l"/>
                </a:tabLst>
              </a:pPr>
              <a:endParaRPr lang="en-AU" sz="1200" dirty="0">
                <a:solidFill>
                  <a:srgbClr val="00AB80"/>
                </a:solidFill>
                <a:latin typeface="Roboto Light" panose="02000000000000000000" pitchFamily="2" charset="0"/>
              </a:endParaRPr>
            </a:p>
          </p:txBody>
        </p:sp>
      </p:grpSp>
      <p:sp>
        <p:nvSpPr>
          <p:cNvPr id="4" name="TextBox 3">
            <a:extLst>
              <a:ext uri="{FF2B5EF4-FFF2-40B4-BE49-F238E27FC236}">
                <a16:creationId xmlns:a16="http://schemas.microsoft.com/office/drawing/2014/main" id="{80F49B2F-21D4-F9EB-049F-717A10CB7D84}"/>
              </a:ext>
            </a:extLst>
          </p:cNvPr>
          <p:cNvSpPr txBox="1"/>
          <p:nvPr/>
        </p:nvSpPr>
        <p:spPr>
          <a:xfrm>
            <a:off x="146651" y="5639118"/>
            <a:ext cx="1510046" cy="2308324"/>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Project Management</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Business Analysis</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Solution Architecture</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Science</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Migration</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Quality</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Governance</a:t>
            </a:r>
          </a:p>
          <a:p>
            <a:pPr marL="171450" indent="-171450">
              <a:buClr>
                <a:srgbClr val="00AB80"/>
              </a:buClr>
              <a:buFont typeface="Arial" panose="020B0604020202020204" pitchFamily="34" charset="0"/>
              <a:buChar char="•"/>
            </a:pPr>
            <a:r>
              <a:rPr lang="en-AU" sz="900" dirty="0" err="1">
                <a:latin typeface="Roboto Light" panose="02000000000000000000" pitchFamily="2" charset="0"/>
                <a:ea typeface="Roboto Light" panose="02000000000000000000" pitchFamily="2" charset="0"/>
              </a:rPr>
              <a:t>Devops</a:t>
            </a:r>
            <a:endParaRPr lang="en-AU"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Machine Learning</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Leadership</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Business Intelligence</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Stakeholder Management</a:t>
            </a:r>
          </a:p>
          <a:p>
            <a:pPr marL="171450" indent="-171450">
              <a:buClr>
                <a:srgbClr val="00AB80"/>
              </a:buClr>
              <a:buFont typeface="Arial" panose="020B0604020202020204" pitchFamily="34" charset="0"/>
              <a:buChar char="•"/>
            </a:pPr>
            <a:endParaRPr lang="en-AU"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AU" sz="900" dirty="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21267" y="1064814"/>
            <a:ext cx="4631164" cy="461665"/>
          </a:xfrm>
          <a:prstGeom prst="rect">
            <a:avLst/>
          </a:prstGeom>
          <a:noFill/>
        </p:spPr>
        <p:txBody>
          <a:bodyPr wrap="square" rtlCol="0">
            <a:spAutoFit/>
          </a:bodyPr>
          <a:lstStyle/>
          <a:p>
            <a:r>
              <a:rPr lang="en-AU" sz="1200" b="1" dirty="0">
                <a:solidFill>
                  <a:srgbClr val="0059FF"/>
                </a:solidFill>
                <a:latin typeface="Roboto" panose="02000000000000000000" pitchFamily="2" charset="0"/>
                <a:ea typeface="Roboto" panose="02000000000000000000" pitchFamily="2" charset="0"/>
              </a:rPr>
              <a:t>Australian Government Organisation – Project Manager</a:t>
            </a:r>
          </a:p>
          <a:p>
            <a:r>
              <a:rPr lang="en-AU" sz="1200" b="1" dirty="0">
                <a:solidFill>
                  <a:srgbClr val="0059FF"/>
                </a:solidFill>
                <a:latin typeface="Roboto" panose="02000000000000000000" pitchFamily="2" charset="0"/>
                <a:ea typeface="Roboto" panose="02000000000000000000" pitchFamily="2" charset="0"/>
              </a:rPr>
              <a:t> </a:t>
            </a:r>
          </a:p>
        </p:txBody>
      </p:sp>
      <p:grpSp>
        <p:nvGrpSpPr>
          <p:cNvPr id="24" name="Group 23">
            <a:extLst>
              <a:ext uri="{FF2B5EF4-FFF2-40B4-BE49-F238E27FC236}">
                <a16:creationId xmlns:a16="http://schemas.microsoft.com/office/drawing/2014/main" id="{44A6634B-45E1-CF8F-A439-5BD66C9A9125}"/>
              </a:ext>
            </a:extLst>
          </p:cNvPr>
          <p:cNvGrpSpPr/>
          <p:nvPr/>
        </p:nvGrpSpPr>
        <p:grpSpPr>
          <a:xfrm>
            <a:off x="3335751" y="3379263"/>
            <a:ext cx="5474873" cy="2485668"/>
            <a:chOff x="3335751" y="6220368"/>
            <a:chExt cx="5474873" cy="2485668"/>
          </a:xfrm>
        </p:grpSpPr>
        <p:sp>
          <p:nvSpPr>
            <p:cNvPr id="28" name="TextBox 27">
              <a:extLst>
                <a:ext uri="{FF2B5EF4-FFF2-40B4-BE49-F238E27FC236}">
                  <a16:creationId xmlns:a16="http://schemas.microsoft.com/office/drawing/2014/main" id="{6059F888-3BDF-A1C0-65E5-CB6FDD43D97C}"/>
                </a:ext>
              </a:extLst>
            </p:cNvPr>
            <p:cNvSpPr txBox="1"/>
            <p:nvPr/>
          </p:nvSpPr>
          <p:spPr>
            <a:xfrm>
              <a:off x="3335751" y="6220368"/>
              <a:ext cx="5474873" cy="461665"/>
            </a:xfrm>
            <a:prstGeom prst="rect">
              <a:avLst/>
            </a:prstGeom>
            <a:noFill/>
          </p:spPr>
          <p:txBody>
            <a:bodyPr wrap="square" rtlCol="0">
              <a:spAutoFit/>
            </a:bodyPr>
            <a:lstStyle/>
            <a:p>
              <a:r>
                <a:rPr lang="en-AU" sz="1200" b="1" dirty="0">
                  <a:solidFill>
                    <a:srgbClr val="A93584"/>
                  </a:solidFill>
                  <a:latin typeface="Roboto" panose="02000000000000000000" pitchFamily="2" charset="0"/>
                  <a:ea typeface="Roboto" panose="02000000000000000000" pitchFamily="2" charset="0"/>
                </a:rPr>
                <a:t>Australian Government Organisation – Project Manager</a:t>
              </a:r>
            </a:p>
            <a:p>
              <a:endParaRPr lang="en-AU" sz="1200" b="1" dirty="0">
                <a:solidFill>
                  <a:srgbClr val="A93584"/>
                </a:solidFill>
                <a:latin typeface="Roboto" panose="02000000000000000000" pitchFamily="2" charset="0"/>
                <a:ea typeface="Roboto" panose="02000000000000000000" pitchFamily="2" charset="0"/>
              </a:endParaRPr>
            </a:p>
          </p:txBody>
        </p:sp>
        <p:sp>
          <p:nvSpPr>
            <p:cNvPr id="19" name="TextBox 18">
              <a:extLst>
                <a:ext uri="{FF2B5EF4-FFF2-40B4-BE49-F238E27FC236}">
                  <a16:creationId xmlns:a16="http://schemas.microsoft.com/office/drawing/2014/main" id="{7513C49A-2DF2-8111-FED4-FC07A8EAD258}"/>
                </a:ext>
              </a:extLst>
            </p:cNvPr>
            <p:cNvSpPr txBox="1"/>
            <p:nvPr/>
          </p:nvSpPr>
          <p:spPr>
            <a:xfrm>
              <a:off x="3462567" y="6459267"/>
              <a:ext cx="4560861" cy="2246769"/>
            </a:xfrm>
            <a:prstGeom prst="rect">
              <a:avLst/>
            </a:prstGeom>
            <a:noFill/>
          </p:spPr>
          <p:txBody>
            <a:bodyPr wrap="square" numCol="1" rtlCol="0">
              <a:spAutoFit/>
            </a:bodyPr>
            <a:lstStyle>
              <a:defPPr>
                <a:defRPr lang="en-US"/>
              </a:defPPr>
              <a:lvl1pPr indent="0">
                <a:buClr>
                  <a:srgbClr val="00AB80"/>
                </a:buClr>
                <a:buFont typeface="Arial" panose="020B0604020202020204" pitchFamily="34" charset="0"/>
                <a:buNone/>
                <a:defRPr sz="1000">
                  <a:solidFill>
                    <a:schemeClr val="bg1"/>
                  </a:solidFill>
                  <a:latin typeface="Roboto Light" panose="02000000000000000000" pitchFamily="2" charset="0"/>
                  <a:ea typeface="Roboto Light" panose="02000000000000000000" pitchFamily="2" charset="0"/>
                </a:defRPr>
              </a:lvl1pPr>
            </a:lstStyle>
            <a:p>
              <a:pPr marL="171450" indent="-171450">
                <a:buFont typeface="Arial" panose="020B0604020202020204" pitchFamily="34" charset="0"/>
                <a:buChar char="•"/>
              </a:pPr>
              <a:r>
                <a:rPr lang="en-AU" dirty="0"/>
                <a:t>Project Managed a Strategic Data Management project. Multi-phase program of works encompassing Discovery, Data Governance and Analytics including:</a:t>
              </a:r>
            </a:p>
            <a:p>
              <a:pPr marL="171450" indent="-171450">
                <a:buFont typeface="Arial" panose="020B0604020202020204" pitchFamily="34" charset="0"/>
                <a:buChar char="•"/>
              </a:pPr>
              <a:r>
                <a:rPr lang="en-AU" dirty="0"/>
                <a:t>Completed Data Discovery Analysis and production of reports</a:t>
              </a:r>
            </a:p>
            <a:p>
              <a:pPr marL="171450" indent="-171450">
                <a:buFont typeface="Arial" panose="020B0604020202020204" pitchFamily="34" charset="0"/>
                <a:buChar char="•"/>
              </a:pPr>
              <a:r>
                <a:rPr lang="en-AU" dirty="0"/>
                <a:t>Development of Standards and Business Processes with interaction between the client and “Best Practices”</a:t>
              </a:r>
            </a:p>
            <a:p>
              <a:pPr marL="171450" indent="-171450">
                <a:buFont typeface="Arial" panose="020B0604020202020204" pitchFamily="34" charset="0"/>
                <a:buChar char="•"/>
              </a:pPr>
              <a:r>
                <a:rPr lang="en-AU" dirty="0"/>
                <a:t>Implemented Change Management via Stakeholder Impact Assessments</a:t>
              </a:r>
            </a:p>
            <a:p>
              <a:pPr marL="171450" indent="-171450">
                <a:buFont typeface="Arial" panose="020B0604020202020204" pitchFamily="34" charset="0"/>
                <a:buChar char="•"/>
              </a:pPr>
              <a:r>
                <a:rPr lang="en-AU" dirty="0"/>
                <a:t>Created Solution Design Document &amp; Deployed Aure components in DevOps</a:t>
              </a:r>
            </a:p>
            <a:p>
              <a:pPr marL="171450" indent="-171450">
                <a:buFont typeface="Arial" panose="020B0604020202020204" pitchFamily="34" charset="0"/>
                <a:buChar char="•"/>
              </a:pPr>
              <a:r>
                <a:rPr lang="en-AU" dirty="0"/>
                <a:t>Data Governance Standards, Registers and Processes Documented</a:t>
              </a:r>
            </a:p>
            <a:p>
              <a:pPr marL="171450" indent="-171450">
                <a:buFont typeface="Arial" panose="020B0604020202020204" pitchFamily="34" charset="0"/>
                <a:buChar char="•"/>
              </a:pPr>
              <a:r>
                <a:rPr lang="en-AU" dirty="0"/>
                <a:t>Stakeholder Impact Assessments, Rollout and Communications Plan</a:t>
              </a:r>
            </a:p>
            <a:p>
              <a:pPr marL="171450" indent="-171450">
                <a:buFont typeface="Arial" panose="020B0604020202020204" pitchFamily="34" charset="0"/>
                <a:buChar char="•"/>
              </a:pPr>
              <a:r>
                <a:rPr lang="en-AU" dirty="0"/>
                <a:t>Updated Roadmap and approval of the Solution Architecture Document</a:t>
              </a:r>
            </a:p>
            <a:p>
              <a:pPr marL="171450" indent="-171450">
                <a:buFont typeface="Arial" panose="020B0604020202020204" pitchFamily="34" charset="0"/>
                <a:buChar char="•"/>
              </a:pPr>
              <a:r>
                <a:rPr lang="en-AU" dirty="0"/>
                <a:t>Development and Prioritisation of Future Workings with Maturity Assessment</a:t>
              </a:r>
            </a:p>
            <a:p>
              <a:pPr marL="171450" indent="-171450">
                <a:buFont typeface="Arial" panose="020B0604020202020204" pitchFamily="34" charset="0"/>
                <a:buChar char="•"/>
              </a:pPr>
              <a:r>
                <a:rPr lang="en-AU" dirty="0"/>
                <a:t>Presentations to Executive Team, Directors &amp; CEO</a:t>
              </a:r>
            </a:p>
          </p:txBody>
        </p:sp>
        <p:cxnSp>
          <p:nvCxnSpPr>
            <p:cNvPr id="21" name="Straight Connector 20">
              <a:extLst>
                <a:ext uri="{FF2B5EF4-FFF2-40B4-BE49-F238E27FC236}">
                  <a16:creationId xmlns:a16="http://schemas.microsoft.com/office/drawing/2014/main" id="{B0913DE4-461D-CE43-AABC-C4B3D7D22F45}"/>
                </a:ext>
              </a:extLst>
            </p:cNvPr>
            <p:cNvCxnSpPr>
              <a:cxnSpLocks/>
            </p:cNvCxnSpPr>
            <p:nvPr/>
          </p:nvCxnSpPr>
          <p:spPr>
            <a:xfrm>
              <a:off x="3428144" y="6562317"/>
              <a:ext cx="0" cy="2005972"/>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sp>
        <p:nvSpPr>
          <p:cNvPr id="12" name="TextBox 11">
            <a:extLst>
              <a:ext uri="{FF2B5EF4-FFF2-40B4-BE49-F238E27FC236}">
                <a16:creationId xmlns:a16="http://schemas.microsoft.com/office/drawing/2014/main" id="{70DE989F-A988-8C86-5720-1FE5B119EB30}"/>
              </a:ext>
            </a:extLst>
          </p:cNvPr>
          <p:cNvSpPr txBox="1"/>
          <p:nvPr/>
        </p:nvSpPr>
        <p:spPr>
          <a:xfrm>
            <a:off x="3463961" y="1303440"/>
            <a:ext cx="4586205" cy="2246769"/>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r>
              <a:rPr lang="en-AU" sz="1000" dirty="0">
                <a:solidFill>
                  <a:schemeClr val="bg1"/>
                </a:solidFill>
              </a:rPr>
              <a:t>Developed a reporting platform for real time rostering and gap analysis on resourcing and qualifications</a:t>
            </a:r>
          </a:p>
          <a:p>
            <a:r>
              <a:rPr lang="en-AU" sz="1000" dirty="0">
                <a:solidFill>
                  <a:schemeClr val="bg1"/>
                </a:solidFill>
              </a:rPr>
              <a:t>Ingested data from UKG into a series of reports and dashboards suitable for Emergency Services needs</a:t>
            </a:r>
          </a:p>
          <a:p>
            <a:r>
              <a:rPr lang="en-AU" sz="1000" dirty="0">
                <a:solidFill>
                  <a:schemeClr val="bg1"/>
                </a:solidFill>
              </a:rPr>
              <a:t>Coordinated the technical aspects of the project from the architecture of the Azure Fabric platform, applying best practices on ETL development and the creation of Semantic Models and Dashboards &amp; Paginated reports</a:t>
            </a:r>
          </a:p>
          <a:p>
            <a:r>
              <a:rPr lang="en-AU" sz="1000" dirty="0">
                <a:solidFill>
                  <a:schemeClr val="bg1"/>
                </a:solidFill>
              </a:rPr>
              <a:t>Also managed another resource who has technical engineering experience in utilising and managing their time the best with the changing conditions of the project</a:t>
            </a:r>
          </a:p>
          <a:p>
            <a:r>
              <a:rPr lang="en-AU" sz="1000" dirty="0">
                <a:solidFill>
                  <a:schemeClr val="bg1"/>
                </a:solidFill>
              </a:rPr>
              <a:t>Liaised with the stakeholders of the project to organise and prioritise their requirements and to source what data is needed and how best to present this information</a:t>
            </a:r>
          </a:p>
          <a:p>
            <a:endParaRPr lang="en-AU" sz="1000" dirty="0">
              <a:solidFill>
                <a:schemeClr val="bg1"/>
              </a:solidFill>
            </a:endParaRPr>
          </a:p>
        </p:txBody>
      </p:sp>
      <p:grpSp>
        <p:nvGrpSpPr>
          <p:cNvPr id="9" name="Group 8">
            <a:extLst>
              <a:ext uri="{FF2B5EF4-FFF2-40B4-BE49-F238E27FC236}">
                <a16:creationId xmlns:a16="http://schemas.microsoft.com/office/drawing/2014/main" id="{0E15D179-54E4-6B00-2306-4800AB36A62F}"/>
              </a:ext>
            </a:extLst>
          </p:cNvPr>
          <p:cNvGrpSpPr/>
          <p:nvPr/>
        </p:nvGrpSpPr>
        <p:grpSpPr>
          <a:xfrm>
            <a:off x="3335753" y="5867810"/>
            <a:ext cx="5029198" cy="2017136"/>
            <a:chOff x="3335753" y="3590181"/>
            <a:chExt cx="5029198" cy="2017136"/>
          </a:xfrm>
        </p:grpSpPr>
        <p:sp>
          <p:nvSpPr>
            <p:cNvPr id="10" name="TextBox 9">
              <a:extLst>
                <a:ext uri="{FF2B5EF4-FFF2-40B4-BE49-F238E27FC236}">
                  <a16:creationId xmlns:a16="http://schemas.microsoft.com/office/drawing/2014/main" id="{BEBEE42C-2C3F-5B2C-5A79-928BD6620C6A}"/>
                </a:ext>
              </a:extLst>
            </p:cNvPr>
            <p:cNvSpPr txBox="1"/>
            <p:nvPr/>
          </p:nvSpPr>
          <p:spPr>
            <a:xfrm>
              <a:off x="3455046" y="3791435"/>
              <a:ext cx="4423172" cy="1815882"/>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endParaRPr lang="en-AU" sz="200" dirty="0"/>
            </a:p>
            <a:p>
              <a:r>
                <a:rPr lang="en-AU" sz="1000" dirty="0">
                  <a:solidFill>
                    <a:schemeClr val="bg1"/>
                  </a:solidFill>
                </a:rPr>
                <a:t>Lead a team of specialist Data Consultants in the delivery of a number of targeted data management / uplift projects within the context of a broader Parcel Delivery Efficiency Improvement program, including:</a:t>
              </a:r>
            </a:p>
            <a:p>
              <a:r>
                <a:rPr lang="en-AU" sz="1000" dirty="0">
                  <a:solidFill>
                    <a:schemeClr val="bg1"/>
                  </a:solidFill>
                </a:rPr>
                <a:t>Business Case development and presentation</a:t>
              </a:r>
            </a:p>
            <a:p>
              <a:r>
                <a:rPr lang="en-AU" sz="1000" dirty="0">
                  <a:solidFill>
                    <a:schemeClr val="bg1"/>
                  </a:solidFill>
                </a:rPr>
                <a:t>Requirements elicitation, Solution architecture and design</a:t>
              </a:r>
            </a:p>
            <a:p>
              <a:r>
                <a:rPr lang="en-AU" sz="1000" dirty="0">
                  <a:solidFill>
                    <a:schemeClr val="bg1"/>
                  </a:solidFill>
                </a:rPr>
                <a:t>Creation of project plans, resource plans and budget estimates</a:t>
              </a:r>
            </a:p>
            <a:p>
              <a:r>
                <a:rPr lang="en-AU" sz="1000" dirty="0">
                  <a:solidFill>
                    <a:schemeClr val="bg1"/>
                  </a:solidFill>
                </a:rPr>
                <a:t>Execution of projects and management of assigned resources as per agreed plans and budgets</a:t>
              </a:r>
            </a:p>
            <a:p>
              <a:r>
                <a:rPr lang="en-AU" sz="1000" dirty="0">
                  <a:solidFill>
                    <a:schemeClr val="bg1"/>
                  </a:solidFill>
                </a:rPr>
                <a:t>Monitoring, tracking and reporting project status</a:t>
              </a:r>
            </a:p>
            <a:p>
              <a:r>
                <a:rPr lang="en-AU" sz="1000" dirty="0">
                  <a:solidFill>
                    <a:schemeClr val="bg1"/>
                  </a:solidFill>
                </a:rPr>
                <a:t>Issue, risk and dependency tracking and management</a:t>
              </a:r>
            </a:p>
            <a:p>
              <a:endParaRPr lang="en-US" sz="1000" dirty="0"/>
            </a:p>
          </p:txBody>
        </p:sp>
        <p:cxnSp>
          <p:nvCxnSpPr>
            <p:cNvPr id="15" name="Straight Connector 14">
              <a:extLst>
                <a:ext uri="{FF2B5EF4-FFF2-40B4-BE49-F238E27FC236}">
                  <a16:creationId xmlns:a16="http://schemas.microsoft.com/office/drawing/2014/main" id="{BE5D877F-7644-D271-94D7-8106577E4286}"/>
                </a:ext>
              </a:extLst>
            </p:cNvPr>
            <p:cNvCxnSpPr>
              <a:cxnSpLocks/>
            </p:cNvCxnSpPr>
            <p:nvPr/>
          </p:nvCxnSpPr>
          <p:spPr>
            <a:xfrm>
              <a:off x="3428144" y="3900556"/>
              <a:ext cx="0" cy="1473384"/>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D88EDA7A-5B57-2E79-414A-866AA95DD3E3}"/>
                </a:ext>
              </a:extLst>
            </p:cNvPr>
            <p:cNvSpPr txBox="1"/>
            <p:nvPr/>
          </p:nvSpPr>
          <p:spPr>
            <a:xfrm>
              <a:off x="3335753" y="3590181"/>
              <a:ext cx="5029198" cy="276999"/>
            </a:xfrm>
            <a:prstGeom prst="rect">
              <a:avLst/>
            </a:prstGeom>
            <a:noFill/>
          </p:spPr>
          <p:txBody>
            <a:bodyPr wrap="square" rtlCol="0">
              <a:spAutoFit/>
            </a:bodyPr>
            <a:lstStyle/>
            <a:p>
              <a:r>
                <a:rPr lang="en-AU" sz="1200" b="1" dirty="0">
                  <a:solidFill>
                    <a:srgbClr val="ED7D31"/>
                  </a:solidFill>
                  <a:latin typeface="Roboto" panose="02000000000000000000" pitchFamily="2" charset="0"/>
                  <a:ea typeface="Roboto" panose="02000000000000000000" pitchFamily="2" charset="0"/>
                </a:rPr>
                <a:t>Leading Retail &amp; Logistics Organisation – Data Lead </a:t>
              </a:r>
            </a:p>
          </p:txBody>
        </p:sp>
      </p:gr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EAAB431-6FA9-4678-BFEA-63CD1CAD6FC2}">
  <ds:schemaRefs>
    <ds:schemaRef ds:uri="http://schemas.microsoft.com/sharepoint/v3/contenttype/forms"/>
  </ds:schemaRefs>
</ds:datastoreItem>
</file>

<file path=customXml/itemProps2.xml><?xml version="1.0" encoding="utf-8"?>
<ds:datastoreItem xmlns:ds="http://schemas.openxmlformats.org/officeDocument/2006/customXml" ds:itemID="{4C9102D6-B597-46CB-ACFD-1C557F7E3A74}">
  <ds:schemaRefs>
    <ds:schemaRef ds:uri="daf93972-1964-4522-aa34-640805a01c3a"/>
    <ds:schemaRef ds:uri="e52cd9e7-35e5-4bd3-9cab-ca6a63c31e5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79DDFC6-124A-4859-BB62-4C7039BA48C0}">
  <ds:schemaRefs>
    <ds:schemaRef ds:uri="http://schemas.microsoft.com/office/2006/metadata/properties"/>
    <ds:schemaRef ds:uri="daf93972-1964-4522-aa34-640805a01c3a"/>
    <ds:schemaRef ds:uri="http://schemas.microsoft.com/office/infopath/2007/PartnerControls"/>
    <ds:schemaRef ds:uri="http://schemas.openxmlformats.org/package/2006/metadata/core-properties"/>
    <ds:schemaRef ds:uri="http://purl.org/dc/elements/1.1/"/>
    <ds:schemaRef ds:uri="http://www.w3.org/XML/1998/namespace"/>
    <ds:schemaRef ds:uri="http://schemas.microsoft.com/office/2006/documentManagement/types"/>
    <ds:schemaRef ds:uri="http://purl.org/dc/dcmitype/"/>
    <ds:schemaRef ds:uri="e52cd9e7-35e5-4bd3-9cab-ca6a63c31e52"/>
    <ds:schemaRef ds:uri="http://purl.org/dc/terms/"/>
  </ds:schemaRefs>
</ds:datastoreItem>
</file>

<file path=docProps/app.xml><?xml version="1.0" encoding="utf-8"?>
<Properties xmlns="http://schemas.openxmlformats.org/officeDocument/2006/extended-properties" xmlns:vt="http://schemas.openxmlformats.org/officeDocument/2006/docPropsVTypes">
  <Template>Office Theme</Template>
  <TotalTime>365</TotalTime>
  <Words>721</Words>
  <Application>Microsoft Office PowerPoint</Application>
  <PresentationFormat>Custom</PresentationFormat>
  <Paragraphs>92</Paragraphs>
  <Slides>1</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vt:i4>
      </vt:variant>
    </vt:vector>
  </HeadingPairs>
  <TitlesOfParts>
    <vt:vector size="10" baseType="lpstr">
      <vt:lpstr>Aptos</vt:lpstr>
      <vt:lpstr>Arial</vt:lpstr>
      <vt:lpstr>Calibri</vt:lpstr>
      <vt:lpstr>Calibri Light</vt:lpstr>
      <vt:lpstr>Libre Caslon Text</vt:lpstr>
      <vt:lpstr>Roboto</vt:lpstr>
      <vt:lpstr>Roboto Light</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2</cp:revision>
  <dcterms:created xsi:type="dcterms:W3CDTF">2019-12-03T01:50:37Z</dcterms:created>
  <dcterms:modified xsi:type="dcterms:W3CDTF">2025-04-02T23:36:40Z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