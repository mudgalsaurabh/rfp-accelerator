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B80444-9BF8-4925-BA0A-A1D851842F31}" v="3" dt="2023-07-31T00:44:18.2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101" d="100"/>
          <a:sy n="101" d="100"/>
        </p:scale>
        <p:origin x="2148" y="-30"/>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2FB80444-9BF8-4925-BA0A-A1D851842F31}"/>
    <pc:docChg chg="undo custSel modSld">
      <pc:chgData name="Darcy Roach" userId="ba676ee9-e9b4-49e8-a515-8077106c948d" providerId="ADAL" clId="{2FB80444-9BF8-4925-BA0A-A1D851842F31}" dt="2023-07-31T01:07:48.739" v="1174" actId="20577"/>
      <pc:docMkLst>
        <pc:docMk/>
      </pc:docMkLst>
      <pc:sldChg chg="addSp delSp modSp mod">
        <pc:chgData name="Darcy Roach" userId="ba676ee9-e9b4-49e8-a515-8077106c948d" providerId="ADAL" clId="{2FB80444-9BF8-4925-BA0A-A1D851842F31}" dt="2023-07-31T01:07:48.739" v="1174" actId="20577"/>
        <pc:sldMkLst>
          <pc:docMk/>
          <pc:sldMk cId="2009923557" sldId="270"/>
        </pc:sldMkLst>
        <pc:spChg chg="mod topLvl">
          <ac:chgData name="Darcy Roach" userId="ba676ee9-e9b4-49e8-a515-8077106c948d" providerId="ADAL" clId="{2FB80444-9BF8-4925-BA0A-A1D851842F31}" dt="2023-07-31T00:43:44.545" v="692" actId="165"/>
          <ac:spMkLst>
            <pc:docMk/>
            <pc:sldMk cId="2009923557" sldId="270"/>
            <ac:spMk id="2" creationId="{2FA774CA-3857-9308-4D38-9414B0CC2B95}"/>
          </ac:spMkLst>
        </pc:spChg>
        <pc:spChg chg="mod">
          <ac:chgData name="Darcy Roach" userId="ba676ee9-e9b4-49e8-a515-8077106c948d" providerId="ADAL" clId="{2FB80444-9BF8-4925-BA0A-A1D851842F31}" dt="2023-07-31T00:16:47.656" v="265" actId="21"/>
          <ac:spMkLst>
            <pc:docMk/>
            <pc:sldMk cId="2009923557" sldId="270"/>
            <ac:spMk id="4" creationId="{80F49B2F-21D4-F9EB-049F-717A10CB7D84}"/>
          </ac:spMkLst>
        </pc:spChg>
        <pc:spChg chg="mod">
          <ac:chgData name="Darcy Roach" userId="ba676ee9-e9b4-49e8-a515-8077106c948d" providerId="ADAL" clId="{2FB80444-9BF8-4925-BA0A-A1D851842F31}" dt="2023-07-31T00:20:29.897" v="309" actId="20577"/>
          <ac:spMkLst>
            <pc:docMk/>
            <pc:sldMk cId="2009923557" sldId="270"/>
            <ac:spMk id="6" creationId="{701E125D-B356-8A2A-B86B-AB6567CEABE1}"/>
          </ac:spMkLst>
        </pc:spChg>
        <pc:spChg chg="add mod">
          <ac:chgData name="Darcy Roach" userId="ba676ee9-e9b4-49e8-a515-8077106c948d" providerId="ADAL" clId="{2FB80444-9BF8-4925-BA0A-A1D851842F31}" dt="2023-07-31T01:07:48.739" v="1174" actId="20577"/>
          <ac:spMkLst>
            <pc:docMk/>
            <pc:sldMk cId="2009923557" sldId="270"/>
            <ac:spMk id="9" creationId="{73AF90DA-A8BA-A38E-D7B5-20B62F60DBA2}"/>
          </ac:spMkLst>
        </pc:spChg>
        <pc:spChg chg="mod">
          <ac:chgData name="Darcy Roach" userId="ba676ee9-e9b4-49e8-a515-8077106c948d" providerId="ADAL" clId="{2FB80444-9BF8-4925-BA0A-A1D851842F31}" dt="2023-07-31T00:50:56.183" v="818" actId="20577"/>
          <ac:spMkLst>
            <pc:docMk/>
            <pc:sldMk cId="2009923557" sldId="270"/>
            <ac:spMk id="10" creationId="{06312B81-BCF1-2796-C112-3DBE0E02F483}"/>
          </ac:spMkLst>
        </pc:spChg>
        <pc:spChg chg="mod">
          <ac:chgData name="Darcy Roach" userId="ba676ee9-e9b4-49e8-a515-8077106c948d" providerId="ADAL" clId="{2FB80444-9BF8-4925-BA0A-A1D851842F31}" dt="2023-07-30T23:09:42.289" v="23" actId="20577"/>
          <ac:spMkLst>
            <pc:docMk/>
            <pc:sldMk cId="2009923557" sldId="270"/>
            <ac:spMk id="13" creationId="{FD2720C9-A79F-BD7F-E179-674AD67D7892}"/>
          </ac:spMkLst>
        </pc:spChg>
        <pc:spChg chg="del mod">
          <ac:chgData name="Darcy Roach" userId="ba676ee9-e9b4-49e8-a515-8077106c948d" providerId="ADAL" clId="{2FB80444-9BF8-4925-BA0A-A1D851842F31}" dt="2023-07-30T23:22:18.327" v="169" actId="478"/>
          <ac:spMkLst>
            <pc:docMk/>
            <pc:sldMk cId="2009923557" sldId="270"/>
            <ac:spMk id="17" creationId="{1BDE5051-9F34-F139-742D-4450E5D6591E}"/>
          </ac:spMkLst>
        </pc:spChg>
        <pc:spChg chg="mod topLvl">
          <ac:chgData name="Darcy Roach" userId="ba676ee9-e9b4-49e8-a515-8077106c948d" providerId="ADAL" clId="{2FB80444-9BF8-4925-BA0A-A1D851842F31}" dt="2023-07-31T00:55:38.213" v="821" actId="1076"/>
          <ac:spMkLst>
            <pc:docMk/>
            <pc:sldMk cId="2009923557" sldId="270"/>
            <ac:spMk id="19" creationId="{7513C49A-2DF2-8111-FED4-FC07A8EAD258}"/>
          </ac:spMkLst>
        </pc:spChg>
        <pc:spChg chg="mod">
          <ac:chgData name="Darcy Roach" userId="ba676ee9-e9b4-49e8-a515-8077106c948d" providerId="ADAL" clId="{2FB80444-9BF8-4925-BA0A-A1D851842F31}" dt="2023-07-31T00:19:21.156" v="273" actId="20577"/>
          <ac:spMkLst>
            <pc:docMk/>
            <pc:sldMk cId="2009923557" sldId="270"/>
            <ac:spMk id="26" creationId="{1A3D666D-00C8-D106-73C3-9FF300F8618C}"/>
          </ac:spMkLst>
        </pc:spChg>
        <pc:spChg chg="mod">
          <ac:chgData name="Darcy Roach" userId="ba676ee9-e9b4-49e8-a515-8077106c948d" providerId="ADAL" clId="{2FB80444-9BF8-4925-BA0A-A1D851842F31}" dt="2023-07-31T00:44:18.207" v="700" actId="164"/>
          <ac:spMkLst>
            <pc:docMk/>
            <pc:sldMk cId="2009923557" sldId="270"/>
            <ac:spMk id="28" creationId="{6059F888-3BDF-A1C0-65E5-CB6FDD43D97C}"/>
          </ac:spMkLst>
        </pc:spChg>
        <pc:spChg chg="mod ord">
          <ac:chgData name="Darcy Roach" userId="ba676ee9-e9b4-49e8-a515-8077106c948d" providerId="ADAL" clId="{2FB80444-9BF8-4925-BA0A-A1D851842F31}" dt="2023-07-31T00:53:00.450" v="819" actId="1076"/>
          <ac:spMkLst>
            <pc:docMk/>
            <pc:sldMk cId="2009923557" sldId="270"/>
            <ac:spMk id="32" creationId="{0B703521-F331-D24D-2144-A609A273150D}"/>
          </ac:spMkLst>
        </pc:spChg>
        <pc:spChg chg="mod">
          <ac:chgData name="Darcy Roach" userId="ba676ee9-e9b4-49e8-a515-8077106c948d" providerId="ADAL" clId="{2FB80444-9BF8-4925-BA0A-A1D851842F31}" dt="2023-07-31T01:04:13.319" v="1150"/>
          <ac:spMkLst>
            <pc:docMk/>
            <pc:sldMk cId="2009923557" sldId="270"/>
            <ac:spMk id="38" creationId="{AB47A2EE-BF0B-DB05-8B7C-DB6594B2B3D5}"/>
          </ac:spMkLst>
        </pc:spChg>
        <pc:spChg chg="mod">
          <ac:chgData name="Darcy Roach" userId="ba676ee9-e9b4-49e8-a515-8077106c948d" providerId="ADAL" clId="{2FB80444-9BF8-4925-BA0A-A1D851842F31}" dt="2023-07-31T00:59:52.012" v="925" actId="1076"/>
          <ac:spMkLst>
            <pc:docMk/>
            <pc:sldMk cId="2009923557" sldId="270"/>
            <ac:spMk id="39" creationId="{3EA81938-6A76-B850-B0E8-A5F905AEBA98}"/>
          </ac:spMkLst>
        </pc:spChg>
        <pc:spChg chg="mod">
          <ac:chgData name="Darcy Roach" userId="ba676ee9-e9b4-49e8-a515-8077106c948d" providerId="ADAL" clId="{2FB80444-9BF8-4925-BA0A-A1D851842F31}" dt="2023-07-31T00:59:40.577" v="924" actId="20577"/>
          <ac:spMkLst>
            <pc:docMk/>
            <pc:sldMk cId="2009923557" sldId="270"/>
            <ac:spMk id="175" creationId="{B9775FC7-7124-8CCA-9B1C-7CCD7D3DF384}"/>
          </ac:spMkLst>
        </pc:spChg>
        <pc:grpChg chg="mod">
          <ac:chgData name="Darcy Roach" userId="ba676ee9-e9b4-49e8-a515-8077106c948d" providerId="ADAL" clId="{2FB80444-9BF8-4925-BA0A-A1D851842F31}" dt="2023-07-31T00:59:52.012" v="925" actId="1076"/>
          <ac:grpSpMkLst>
            <pc:docMk/>
            <pc:sldMk cId="2009923557" sldId="270"/>
            <ac:grpSpMk id="5" creationId="{980A06B1-0A2F-7DF6-91DB-0F6DFA896A23}"/>
          </ac:grpSpMkLst>
        </pc:grpChg>
        <pc:grpChg chg="add mod">
          <ac:chgData name="Darcy Roach" userId="ba676ee9-e9b4-49e8-a515-8077106c948d" providerId="ADAL" clId="{2FB80444-9BF8-4925-BA0A-A1D851842F31}" dt="2023-07-31T00:44:35.435" v="706" actId="1076"/>
          <ac:grpSpMkLst>
            <pc:docMk/>
            <pc:sldMk cId="2009923557" sldId="270"/>
            <ac:grpSpMk id="16" creationId="{A1F14AC0-7E81-3290-BFBD-9B334F5C0EFB}"/>
          </ac:grpSpMkLst>
        </pc:grpChg>
        <pc:grpChg chg="del mod topLvl">
          <ac:chgData name="Darcy Roach" userId="ba676ee9-e9b4-49e8-a515-8077106c948d" providerId="ADAL" clId="{2FB80444-9BF8-4925-BA0A-A1D851842F31}" dt="2023-07-31T00:44:11.376" v="699" actId="165"/>
          <ac:grpSpMkLst>
            <pc:docMk/>
            <pc:sldMk cId="2009923557" sldId="270"/>
            <ac:grpSpMk id="18" creationId="{E0B3FDFC-4A78-346F-E1D4-E183BEB90A60}"/>
          </ac:grpSpMkLst>
        </pc:grpChg>
        <pc:grpChg chg="del mod">
          <ac:chgData name="Darcy Roach" userId="ba676ee9-e9b4-49e8-a515-8077106c948d" providerId="ADAL" clId="{2FB80444-9BF8-4925-BA0A-A1D851842F31}" dt="2023-07-31T00:43:44.545" v="692" actId="165"/>
          <ac:grpSpMkLst>
            <pc:docMk/>
            <pc:sldMk cId="2009923557" sldId="270"/>
            <ac:grpSpMk id="43" creationId="{6810B02A-0A17-06BB-A019-37D78ECAAF1D}"/>
          </ac:grpSpMkLst>
        </pc:grpChg>
        <pc:cxnChg chg="mod">
          <ac:chgData name="Darcy Roach" userId="ba676ee9-e9b4-49e8-a515-8077106c948d" providerId="ADAL" clId="{2FB80444-9BF8-4925-BA0A-A1D851842F31}" dt="2023-07-31T00:33:23.361" v="561" actId="14100"/>
          <ac:cxnSpMkLst>
            <pc:docMk/>
            <pc:sldMk cId="2009923557" sldId="270"/>
            <ac:cxnSpMk id="3" creationId="{67C34E10-2CF8-9BCA-1CC6-D78A3FF9CA80}"/>
          </ac:cxnSpMkLst>
        </pc:cxnChg>
        <pc:cxnChg chg="mod topLvl">
          <ac:chgData name="Darcy Roach" userId="ba676ee9-e9b4-49e8-a515-8077106c948d" providerId="ADAL" clId="{2FB80444-9BF8-4925-BA0A-A1D851842F31}" dt="2023-07-31T00:55:32.158" v="820" actId="14100"/>
          <ac:cxnSpMkLst>
            <pc:docMk/>
            <pc:sldMk cId="2009923557" sldId="270"/>
            <ac:cxnSpMk id="15" creationId="{F87F05F2-DA4C-4F55-A5D0-1887110DF155}"/>
          </ac:cxnSpMkLst>
        </pc:cxnChg>
        <pc:cxnChg chg="mod topLvl">
          <ac:chgData name="Darcy Roach" userId="ba676ee9-e9b4-49e8-a515-8077106c948d" providerId="ADAL" clId="{2FB80444-9BF8-4925-BA0A-A1D851842F31}" dt="2023-07-31T00:47:06.394" v="730" actId="14100"/>
          <ac:cxnSpMkLst>
            <pc:docMk/>
            <pc:sldMk cId="2009923557" sldId="270"/>
            <ac:cxnSpMk id="21" creationId="{B0913DE4-461D-CE43-AABC-C4B3D7D22F45}"/>
          </ac:cxnSpMkLst>
        </pc:cxnChg>
        <pc:cxnChg chg="mod">
          <ac:chgData name="Darcy Roach" userId="ba676ee9-e9b4-49e8-a515-8077106c948d" providerId="ADAL" clId="{2FB80444-9BF8-4925-BA0A-A1D851842F31}" dt="2023-07-31T01:04:36.350" v="1151" actId="14100"/>
          <ac:cxnSpMkLst>
            <pc:docMk/>
            <pc:sldMk cId="2009923557" sldId="270"/>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7/31/2023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7/31/2023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7/31/2023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7/31/2023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7/31/2023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7/31/2023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7/31/2023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7/31/2023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7/31/2023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7/31/2023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id="{0B703521-F331-D24D-2144-A609A273150D}"/>
              </a:ext>
            </a:extLst>
          </p:cNvPr>
          <p:cNvSpPr txBox="1"/>
          <p:nvPr/>
        </p:nvSpPr>
        <p:spPr>
          <a:xfrm>
            <a:off x="3500533" y="1341366"/>
            <a:ext cx="4433146"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Assessed client-side maturity and delivery capability </a:t>
            </a:r>
          </a:p>
          <a:p>
            <a:r>
              <a:rPr lang="en-AU" dirty="0"/>
              <a:t>Identified business use cases and stakeholders for engagement</a:t>
            </a:r>
          </a:p>
          <a:p>
            <a:r>
              <a:rPr lang="en-AU" dirty="0"/>
              <a:t>Managed use case front door processes to prioritise and align use cases to the delivery roadmap</a:t>
            </a:r>
          </a:p>
          <a:p>
            <a:r>
              <a:rPr lang="en-AU" dirty="0"/>
              <a:t>Identified platform capability requirements and design, including reference and target architectures</a:t>
            </a:r>
          </a:p>
          <a:p>
            <a:r>
              <a:rPr lang="en-AU" dirty="0"/>
              <a:t>Advocated technical support team requirements for successful transition to BAU support</a:t>
            </a:r>
          </a:p>
          <a:p>
            <a:r>
              <a:rPr lang="en-AU" dirty="0"/>
              <a:t>Capability-based platform and use case delivery planning and execution</a:t>
            </a:r>
          </a:p>
          <a:p>
            <a:r>
              <a:rPr lang="en-AU" dirty="0"/>
              <a:t>Assessed data and profiling, including PII and classification assessment processes</a:t>
            </a:r>
          </a:p>
          <a:p>
            <a:r>
              <a:rPr lang="en-AU" dirty="0"/>
              <a:t>Designed and built re-usable code for data ingestion and transformation</a:t>
            </a:r>
          </a:p>
          <a:p>
            <a:r>
              <a:rPr lang="en-AU" dirty="0"/>
              <a:t>Delivery of green-field data platform</a:t>
            </a:r>
          </a:p>
          <a:p>
            <a:endParaRPr lang="en-AU" dirty="0"/>
          </a:p>
          <a:p>
            <a:endParaRPr lang="en-AU" dirty="0"/>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Simon Masters</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Change Management</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 Service Management</a:t>
            </a:r>
          </a:p>
          <a:p>
            <a:pPr marL="171450" indent="-171450">
              <a:buClr>
                <a:srgbClr val="00AB80"/>
              </a:buClr>
              <a:buFont typeface="Arial" panose="020B0604020202020204" pitchFamily="34" charset="0"/>
              <a:buChar char="•"/>
            </a:pPr>
            <a:r>
              <a:rPr kumimoji="0" lang="en-US" sz="900" b="0" i="0" u="none" strike="noStrike" kern="1200" cap="none" spc="0" normalizeH="0" baseline="0" noProof="0" dirty="0">
                <a:ln>
                  <a:noFill/>
                </a:ln>
                <a:solidFill>
                  <a:prstClr val="black"/>
                </a:solidFill>
                <a:effectLst/>
                <a:uLnTx/>
                <a:uFillTx/>
                <a:latin typeface="Roboto Light" panose="02000000000000000000" pitchFamily="2" charset="0"/>
                <a:ea typeface="Roboto Light" panose="02000000000000000000" pitchFamily="2" charset="0"/>
                <a:cs typeface="+mn-cs"/>
              </a:rPr>
              <a:t>Data Analysis</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ITIL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Scrum</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Problem Solver</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Team Leadership</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Mentoring</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36307"/>
            <a:ext cx="0" cy="1935543"/>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598846"/>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50017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200054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Big 4 Banks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Energy</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Entertainment &amp; Gaming</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814290"/>
            <a:ext cx="1951941" cy="2862322"/>
            <a:chOff x="8106458" y="2681447"/>
            <a:chExt cx="1951941" cy="2862322"/>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862322"/>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IIBA – Certified Business Analyst Professional </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PMI </a:t>
              </a:r>
              <a:r>
                <a:rPr lang="en-GB" sz="1200" dirty="0">
                  <a:solidFill>
                    <a:srgbClr val="00AB80"/>
                  </a:solidFill>
                  <a:latin typeface="Roboto Light" panose="02000000000000000000" pitchFamily="2" charset="0"/>
                  <a:ea typeface="Calibri" panose="020F0502020204030204" pitchFamily="34" charset="0"/>
                </a:rPr>
                <a:t>–</a:t>
              </a:r>
              <a:r>
                <a:rPr lang="en-GB" sz="1200" dirty="0">
                  <a:solidFill>
                    <a:srgbClr val="00AB80"/>
                  </a:solidFill>
                  <a:effectLst/>
                  <a:latin typeface="Roboto Light" panose="02000000000000000000" pitchFamily="2" charset="0"/>
                  <a:ea typeface="Calibri" panose="020F0502020204030204" pitchFamily="34" charset="0"/>
                </a:rPr>
                <a:t> Certified Project Management Professional</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err="1">
                  <a:solidFill>
                    <a:srgbClr val="00AB80"/>
                  </a:solidFill>
                  <a:effectLst/>
                  <a:latin typeface="Roboto Light" panose="02000000000000000000" pitchFamily="2" charset="0"/>
                  <a:ea typeface="Calibri" panose="020F0502020204030204" pitchFamily="34" charset="0"/>
                </a:rPr>
                <a:t>SAFe</a:t>
              </a:r>
              <a:r>
                <a:rPr lang="en-GB" sz="1200" dirty="0">
                  <a:solidFill>
                    <a:srgbClr val="00AB80"/>
                  </a:solidFill>
                  <a:effectLst/>
                  <a:latin typeface="Roboto Light" panose="02000000000000000000" pitchFamily="2" charset="0"/>
                  <a:ea typeface="Calibri" panose="020F0502020204030204" pitchFamily="34" charset="0"/>
                </a:rPr>
                <a:t> 4 </a:t>
              </a:r>
              <a:r>
                <a:rPr lang="en-GB" sz="1200" dirty="0">
                  <a:solidFill>
                    <a:srgbClr val="00AB80"/>
                  </a:solidFill>
                  <a:latin typeface="Roboto Light" panose="02000000000000000000" pitchFamily="2" charset="0"/>
                  <a:ea typeface="Calibri" panose="020F0502020204030204" pitchFamily="34" charset="0"/>
                </a:rPr>
                <a:t>– </a:t>
              </a:r>
              <a:r>
                <a:rPr lang="en-GB" sz="1200" dirty="0">
                  <a:solidFill>
                    <a:srgbClr val="00AB80"/>
                  </a:solidFill>
                  <a:effectLst/>
                  <a:latin typeface="Roboto Light" panose="02000000000000000000" pitchFamily="2" charset="0"/>
                  <a:ea typeface="Calibri" panose="020F0502020204030204" pitchFamily="34" charset="0"/>
                </a:rPr>
                <a:t>Certified Scrum Master</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Commerce, Marketing, Management &amp; Economics | Deakin</a:t>
              </a:r>
              <a:r>
                <a:rPr lang="en-GB" sz="1200" dirty="0">
                  <a:solidFill>
                    <a:srgbClr val="00AB80"/>
                  </a:solidFill>
                  <a:effectLst/>
                  <a:latin typeface="Roboto Light" panose="02000000000000000000" pitchFamily="2" charset="0"/>
                  <a:ea typeface="Calibri" panose="020F0502020204030204" pitchFamily="34" charset="0"/>
                </a:rPr>
                <a:t> University</a:t>
              </a: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Improvement</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Application Support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Vendor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Requirements Gathering </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73289"/>
            <a:ext cx="4192693" cy="461665"/>
          </a:xfrm>
          <a:prstGeom prst="rect">
            <a:avLst/>
          </a:prstGeom>
          <a:noFill/>
        </p:spPr>
        <p:txBody>
          <a:bodyPr wrap="square" rtlCol="0">
            <a:spAutoFit/>
          </a:bodyPr>
          <a:lstStyle/>
          <a:p>
            <a:r>
              <a:rPr lang="en-AU" sz="1200" b="1" dirty="0">
                <a:solidFill>
                  <a:srgbClr val="0059FF"/>
                </a:solidFill>
                <a:latin typeface="Roboto" panose="02000000000000000000" pitchFamily="2" charset="0"/>
                <a:ea typeface="Roboto" panose="02000000000000000000" pitchFamily="2" charset="0"/>
              </a:rPr>
              <a:t>Financial Services Organisation – Senior Business Analyst</a:t>
            </a:r>
          </a:p>
          <a:p>
            <a:endParaRPr lang="en-AU" sz="1200" b="1" dirty="0">
              <a:solidFill>
                <a:srgbClr val="0059FF"/>
              </a:solidFill>
              <a:latin typeface="Roboto" panose="02000000000000000000" pitchFamily="2" charset="0"/>
              <a:ea typeface="Roboto" panose="02000000000000000000" pitchFamily="2" charset="0"/>
            </a:endParaRPr>
          </a:p>
        </p:txBody>
      </p:sp>
      <p:sp>
        <p:nvSpPr>
          <p:cNvPr id="2" name="TextBox 1">
            <a:extLst>
              <a:ext uri="{FF2B5EF4-FFF2-40B4-BE49-F238E27FC236}">
                <a16:creationId xmlns:a16="http://schemas.microsoft.com/office/drawing/2014/main" id="{2FA774CA-3857-9308-4D38-9414B0CC2B95}"/>
              </a:ext>
            </a:extLst>
          </p:cNvPr>
          <p:cNvSpPr txBox="1"/>
          <p:nvPr/>
        </p:nvSpPr>
        <p:spPr>
          <a:xfrm>
            <a:off x="3335753" y="3485206"/>
            <a:ext cx="4542465" cy="646331"/>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Logistics Organisation  – Senior Business Analyst</a:t>
            </a:r>
          </a:p>
          <a:p>
            <a:endParaRPr lang="en-AU" sz="1200" b="1" dirty="0">
              <a:solidFill>
                <a:srgbClr val="ED7D31"/>
              </a:solidFill>
              <a:latin typeface="Roboto" panose="02000000000000000000" pitchFamily="2" charset="0"/>
              <a:ea typeface="Roboto" panose="02000000000000000000" pitchFamily="2" charset="0"/>
            </a:endParaRPr>
          </a:p>
          <a:p>
            <a:endParaRPr lang="en-AU" sz="1200" b="1" dirty="0">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55043" y="3823407"/>
            <a:ext cx="0" cy="1913549"/>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500533" y="3742023"/>
            <a:ext cx="4550464"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Developed business analysis approach for EDPC project </a:t>
            </a:r>
          </a:p>
          <a:p>
            <a:r>
              <a:rPr lang="en-AU" sz="1000" dirty="0"/>
              <a:t>Undertook analysis of environment to provide inputs into the project scope </a:t>
            </a:r>
          </a:p>
          <a:p>
            <a:r>
              <a:rPr lang="en-AU" sz="1000" dirty="0"/>
              <a:t>Performed analysis to prioritise project initiative based on business return and value  </a:t>
            </a:r>
          </a:p>
          <a:p>
            <a:r>
              <a:rPr lang="en-AU" sz="1000" dirty="0"/>
              <a:t>Led and directed the project’s BA teams analysis of 9000+ data objects  </a:t>
            </a:r>
          </a:p>
          <a:p>
            <a:r>
              <a:rPr lang="en-AU" sz="1000" dirty="0"/>
              <a:t>Maintenance and management of Jira tickets  </a:t>
            </a:r>
          </a:p>
          <a:p>
            <a:r>
              <a:rPr lang="en-AU" sz="1000" dirty="0"/>
              <a:t>Provided governance and direction to off-shore team on analysis approach</a:t>
            </a:r>
          </a:p>
          <a:p>
            <a:r>
              <a:rPr lang="en-AU" sz="1000" dirty="0"/>
              <a:t>Established business requirements and NFR's for ETL environment to allow for evaluation of ETL solution candidates to be performed </a:t>
            </a:r>
          </a:p>
          <a:p>
            <a:r>
              <a:rPr lang="en-AU" sz="1000" dirty="0"/>
              <a:t>Undertook data migration requirements analysis and defined data seeding approach for the transition between as-is and to-be environments </a:t>
            </a:r>
          </a:p>
          <a:p>
            <a:r>
              <a:rPr lang="en-AU" sz="1000" dirty="0"/>
              <a:t>Provided governance and direction to off-shore team on ETL design and solution elements </a:t>
            </a:r>
          </a:p>
          <a:p>
            <a:pPr marL="0" indent="0">
              <a:buNone/>
            </a:pPr>
            <a:endParaRPr lang="en-AU" sz="1000" dirty="0"/>
          </a:p>
          <a:p>
            <a:endParaRPr lang="en-AU" sz="1000" dirty="0"/>
          </a:p>
        </p:txBody>
      </p:sp>
      <p:grpSp>
        <p:nvGrpSpPr>
          <p:cNvPr id="16" name="Group 15">
            <a:extLst>
              <a:ext uri="{FF2B5EF4-FFF2-40B4-BE49-F238E27FC236}">
                <a16:creationId xmlns:a16="http://schemas.microsoft.com/office/drawing/2014/main" id="{A1F14AC0-7E81-3290-BFBD-9B334F5C0EFB}"/>
              </a:ext>
            </a:extLst>
          </p:cNvPr>
          <p:cNvGrpSpPr/>
          <p:nvPr/>
        </p:nvGrpSpPr>
        <p:grpSpPr>
          <a:xfrm>
            <a:off x="3411970" y="5845557"/>
            <a:ext cx="4564437" cy="2185272"/>
            <a:chOff x="3411970" y="5451800"/>
            <a:chExt cx="4564437" cy="2185272"/>
          </a:xfrm>
        </p:grpSpPr>
        <p:sp>
          <p:nvSpPr>
            <p:cNvPr id="10" name="TextBox 9">
              <a:extLst>
                <a:ext uri="{FF2B5EF4-FFF2-40B4-BE49-F238E27FC236}">
                  <a16:creationId xmlns:a16="http://schemas.microsoft.com/office/drawing/2014/main" id="{06312B81-BCF1-2796-C112-3DBE0E02F483}"/>
                </a:ext>
              </a:extLst>
            </p:cNvPr>
            <p:cNvSpPr txBox="1"/>
            <p:nvPr/>
          </p:nvSpPr>
          <p:spPr>
            <a:xfrm>
              <a:off x="3576751" y="5544191"/>
              <a:ext cx="4399656"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dirty="0"/>
            </a:p>
            <a:p>
              <a:r>
                <a:rPr lang="en-AU" sz="1000" dirty="0"/>
                <a:t>Project Manager for the project initiation, analysis, and design phases</a:t>
              </a:r>
            </a:p>
            <a:p>
              <a:r>
                <a:rPr lang="en-AU" sz="1000" dirty="0"/>
                <a:t>Worked closely with technical teams to support the design, development, and deployment activities to ensure that work was in line with project objectives and business requirements </a:t>
              </a:r>
            </a:p>
            <a:p>
              <a:r>
                <a:rPr lang="en-AU" sz="1000" dirty="0"/>
                <a:t>Established data requirements and </a:t>
              </a:r>
              <a:r>
                <a:rPr lang="en-AU" sz="1000" dirty="0" err="1"/>
                <a:t>modeling</a:t>
              </a:r>
              <a:r>
                <a:rPr lang="en-AU" sz="1000" dirty="0"/>
                <a:t> approach for the DPL team</a:t>
              </a:r>
            </a:p>
            <a:p>
              <a:r>
                <a:rPr lang="en-AU" sz="1000" dirty="0"/>
                <a:t>Coached BA team in analysis techniques and processes relating to data and </a:t>
              </a:r>
              <a:r>
                <a:rPr lang="en-AU" sz="1000" dirty="0" err="1"/>
                <a:t>modeling</a:t>
              </a:r>
              <a:r>
                <a:rPr lang="en-AU" sz="1000" dirty="0"/>
                <a:t> </a:t>
              </a:r>
            </a:p>
            <a:p>
              <a:r>
                <a:rPr lang="en-AU" sz="1000" dirty="0"/>
                <a:t>Provided subject matter expertise in AEMO’s data platform environment </a:t>
              </a:r>
            </a:p>
            <a:p>
              <a:r>
                <a:rPr lang="en-AU" sz="1000" dirty="0"/>
                <a:t>Captured requirements via facilitating workshops with key stakeholders</a:t>
              </a:r>
            </a:p>
            <a:p>
              <a:r>
                <a:rPr lang="en-AU" sz="1000" dirty="0"/>
                <a:t>Lead the analysis of 50+ schemas requiring migration </a:t>
              </a:r>
            </a:p>
            <a:p>
              <a:endParaRPr lang="en-AU" sz="1000" dirty="0"/>
            </a:p>
            <a:p>
              <a:pPr marL="0" indent="0">
                <a:buNone/>
              </a:pP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63961" y="5785504"/>
              <a:ext cx="0" cy="136710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411970" y="5451800"/>
              <a:ext cx="3526969" cy="276999"/>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Big 4 Australian Bank – Data Engineer</a:t>
              </a:r>
            </a:p>
          </p:txBody>
        </p:sp>
      </p:grpSp>
      <p:sp>
        <p:nvSpPr>
          <p:cNvPr id="9" name="TextBox 8">
            <a:extLst>
              <a:ext uri="{FF2B5EF4-FFF2-40B4-BE49-F238E27FC236}">
                <a16:creationId xmlns:a16="http://schemas.microsoft.com/office/drawing/2014/main" id="{73AF90DA-A8BA-A38E-D7B5-20B62F60DBA2}"/>
              </a:ext>
            </a:extLst>
          </p:cNvPr>
          <p:cNvSpPr txBox="1"/>
          <p:nvPr/>
        </p:nvSpPr>
        <p:spPr>
          <a:xfrm>
            <a:off x="244292" y="1593954"/>
            <a:ext cx="2910700" cy="3254096"/>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GB" dirty="0">
                <a:solidFill>
                  <a:schemeClr val="tx1"/>
                </a:solidFill>
              </a:rPr>
              <a:t>Simon is a Business orientated IT Professional with an experienced focus on business analysis, project management, software development and application support in a range of industries.</a:t>
            </a:r>
            <a:r>
              <a:rPr lang="en-AU" dirty="0">
                <a:solidFill>
                  <a:schemeClr val="tx1"/>
                </a:solidFill>
              </a:rPr>
              <a:t> With strong</a:t>
            </a:r>
            <a:r>
              <a:rPr lang="en-GB" dirty="0">
                <a:solidFill>
                  <a:schemeClr val="tx1"/>
                </a:solidFill>
              </a:rPr>
              <a:t> business acumen, Simon possesses a genuine desire to resolve not only “how” but “why”. </a:t>
            </a:r>
          </a:p>
          <a:p>
            <a:endParaRPr lang="en-GB" sz="400" dirty="0">
              <a:solidFill>
                <a:schemeClr val="tx1"/>
              </a:solidFill>
            </a:endParaRPr>
          </a:p>
          <a:p>
            <a:r>
              <a:rPr lang="en-GB" dirty="0">
                <a:solidFill>
                  <a:schemeClr val="tx1"/>
                </a:solidFill>
              </a:rPr>
              <a:t>Simon is effective in building meaningful stakeholder partnerships and achieving alignment between business and IT stakeholders that allow problems to be solved and business needs to be met. Simon is calm in times of crisis and comfortable in high-paced, demanding and complicated environments. Able to communicate with confidence and respect at all levels within an organisation, Simon is enthusiastic about building empowered and successful teams. </a:t>
            </a:r>
            <a:endParaRPr lang="en-AU" dirty="0">
              <a:solidFill>
                <a:schemeClr val="tx1"/>
              </a:solidFill>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78DE8-CA0B-4723-AF37-2B344746F8D2}">
  <ds:schemaRefs>
    <ds:schemaRef ds:uri="http://purl.org/dc/elements/1.1/"/>
    <ds:schemaRef ds:uri="http://purl.org/dc/terms/"/>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e52cd9e7-35e5-4bd3-9cab-ca6a63c31e52"/>
    <ds:schemaRef ds:uri="daf93972-1964-4522-aa34-640805a01c3a"/>
    <ds:schemaRef ds:uri="http://www.w3.org/XML/1998/namespace"/>
  </ds:schemaRefs>
</ds:datastoreItem>
</file>

<file path=customXml/itemProps2.xml><?xml version="1.0" encoding="utf-8"?>
<ds:datastoreItem xmlns:ds="http://schemas.openxmlformats.org/officeDocument/2006/customXml" ds:itemID="{C4CABFFA-9B85-4619-908C-476FE296BD67}"/>
</file>

<file path=customXml/itemProps3.xml><?xml version="1.0" encoding="utf-8"?>
<ds:datastoreItem xmlns:ds="http://schemas.openxmlformats.org/officeDocument/2006/customXml" ds:itemID="{BBC6410C-B420-4127-9D32-DC600766FC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19740</TotalTime>
  <Words>524</Words>
  <Application>Microsoft Office PowerPoint</Application>
  <PresentationFormat>Custom</PresentationFormat>
  <Paragraphs>79</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95</cp:revision>
  <dcterms:created xsi:type="dcterms:W3CDTF">2019-12-03T01:50:37Z</dcterms:created>
  <dcterms:modified xsi:type="dcterms:W3CDTF">2023-07-31T01:07:57Z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