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491855-5B7F-4559-9806-D7C800927E3B}" v="8" dt="2025-08-06T04:48:23.9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96" d="100"/>
          <a:sy n="96" d="100"/>
        </p:scale>
        <p:origin x="2196" y="-168"/>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51491855-5B7F-4559-9806-D7C800927E3B}"/>
    <pc:docChg chg="undo custSel modSld">
      <pc:chgData name="Darcy Roach" userId="ba676ee9-e9b4-49e8-a515-8077106c948d" providerId="ADAL" clId="{51491855-5B7F-4559-9806-D7C800927E3B}" dt="2025-08-06T05:05:14.407" v="1164" actId="20577"/>
      <pc:docMkLst>
        <pc:docMk/>
      </pc:docMkLst>
      <pc:sldChg chg="modSp mod">
        <pc:chgData name="Darcy Roach" userId="ba676ee9-e9b4-49e8-a515-8077106c948d" providerId="ADAL" clId="{51491855-5B7F-4559-9806-D7C800927E3B}" dt="2025-08-06T05:05:14.407" v="1164" actId="20577"/>
        <pc:sldMkLst>
          <pc:docMk/>
          <pc:sldMk cId="2009923557" sldId="270"/>
        </pc:sldMkLst>
        <pc:spChg chg="mod">
          <ac:chgData name="Darcy Roach" userId="ba676ee9-e9b4-49e8-a515-8077106c948d" providerId="ADAL" clId="{51491855-5B7F-4559-9806-D7C800927E3B}" dt="2025-08-06T04:55:32.244" v="983" actId="1076"/>
          <ac:spMkLst>
            <pc:docMk/>
            <pc:sldMk cId="2009923557" sldId="270"/>
            <ac:spMk id="2" creationId="{2FA774CA-3857-9308-4D38-9414B0CC2B95}"/>
          </ac:spMkLst>
        </pc:spChg>
        <pc:spChg chg="mod">
          <ac:chgData name="Darcy Roach" userId="ba676ee9-e9b4-49e8-a515-8077106c948d" providerId="ADAL" clId="{51491855-5B7F-4559-9806-D7C800927E3B}" dt="2025-08-06T03:43:30.386" v="238" actId="20577"/>
          <ac:spMkLst>
            <pc:docMk/>
            <pc:sldMk cId="2009923557" sldId="270"/>
            <ac:spMk id="4" creationId="{80F49B2F-21D4-F9EB-049F-717A10CB7D84}"/>
          </ac:spMkLst>
        </pc:spChg>
        <pc:spChg chg="mod">
          <ac:chgData name="Darcy Roach" userId="ba676ee9-e9b4-49e8-a515-8077106c948d" providerId="ADAL" clId="{51491855-5B7F-4559-9806-D7C800927E3B}" dt="2025-08-06T04:50:50.405" v="926" actId="1076"/>
          <ac:spMkLst>
            <pc:docMk/>
            <pc:sldMk cId="2009923557" sldId="270"/>
            <ac:spMk id="6" creationId="{701E125D-B356-8A2A-B86B-AB6567CEABE1}"/>
          </ac:spMkLst>
        </pc:spChg>
        <pc:spChg chg="mod">
          <ac:chgData name="Darcy Roach" userId="ba676ee9-e9b4-49e8-a515-8077106c948d" providerId="ADAL" clId="{51491855-5B7F-4559-9806-D7C800927E3B}" dt="2025-08-06T04:50:10.965" v="925" actId="20577"/>
          <ac:spMkLst>
            <pc:docMk/>
            <pc:sldMk cId="2009923557" sldId="270"/>
            <ac:spMk id="9" creationId="{73AF90DA-A8BA-A38E-D7B5-20B62F60DBA2}"/>
          </ac:spMkLst>
        </pc:spChg>
        <pc:spChg chg="mod">
          <ac:chgData name="Darcy Roach" userId="ba676ee9-e9b4-49e8-a515-8077106c948d" providerId="ADAL" clId="{51491855-5B7F-4559-9806-D7C800927E3B}" dt="2025-08-06T04:34:55.575" v="851" actId="20577"/>
          <ac:spMkLst>
            <pc:docMk/>
            <pc:sldMk cId="2009923557" sldId="270"/>
            <ac:spMk id="10" creationId="{06312B81-BCF1-2796-C112-3DBE0E02F483}"/>
          </ac:spMkLst>
        </pc:spChg>
        <pc:spChg chg="mod">
          <ac:chgData name="Darcy Roach" userId="ba676ee9-e9b4-49e8-a515-8077106c948d" providerId="ADAL" clId="{51491855-5B7F-4559-9806-D7C800927E3B}" dt="2025-08-06T04:54:27.623" v="981" actId="20577"/>
          <ac:spMkLst>
            <pc:docMk/>
            <pc:sldMk cId="2009923557" sldId="270"/>
            <ac:spMk id="12" creationId="{00BFB9EC-C6FC-9CD6-25D9-30AE5857C83C}"/>
          </ac:spMkLst>
        </pc:spChg>
        <pc:spChg chg="mod">
          <ac:chgData name="Darcy Roach" userId="ba676ee9-e9b4-49e8-a515-8077106c948d" providerId="ADAL" clId="{51491855-5B7F-4559-9806-D7C800927E3B}" dt="2025-08-06T02:20:31.083" v="29" actId="20577"/>
          <ac:spMkLst>
            <pc:docMk/>
            <pc:sldMk cId="2009923557" sldId="270"/>
            <ac:spMk id="13" creationId="{FD2720C9-A79F-BD7F-E179-674AD67D7892}"/>
          </ac:spMkLst>
        </pc:spChg>
        <pc:spChg chg="mod">
          <ac:chgData name="Darcy Roach" userId="ba676ee9-e9b4-49e8-a515-8077106c948d" providerId="ADAL" clId="{51491855-5B7F-4559-9806-D7C800927E3B}" dt="2025-08-06T04:55:32.244" v="983" actId="1076"/>
          <ac:spMkLst>
            <pc:docMk/>
            <pc:sldMk cId="2009923557" sldId="270"/>
            <ac:spMk id="19" creationId="{7513C49A-2DF2-8111-FED4-FC07A8EAD258}"/>
          </ac:spMkLst>
        </pc:spChg>
        <pc:spChg chg="mod">
          <ac:chgData name="Darcy Roach" userId="ba676ee9-e9b4-49e8-a515-8077106c948d" providerId="ADAL" clId="{51491855-5B7F-4559-9806-D7C800927E3B}" dt="2025-08-06T03:53:38.928" v="294" actId="20577"/>
          <ac:spMkLst>
            <pc:docMk/>
            <pc:sldMk cId="2009923557" sldId="270"/>
            <ac:spMk id="26" creationId="{1A3D666D-00C8-D106-73C3-9FF300F8618C}"/>
          </ac:spMkLst>
        </pc:spChg>
        <pc:spChg chg="mod">
          <ac:chgData name="Darcy Roach" userId="ba676ee9-e9b4-49e8-a515-8077106c948d" providerId="ADAL" clId="{51491855-5B7F-4559-9806-D7C800927E3B}" dt="2025-08-06T04:32:34.713" v="810" actId="1076"/>
          <ac:spMkLst>
            <pc:docMk/>
            <pc:sldMk cId="2009923557" sldId="270"/>
            <ac:spMk id="28" creationId="{6059F888-3BDF-A1C0-65E5-CB6FDD43D97C}"/>
          </ac:spMkLst>
        </pc:spChg>
        <pc:spChg chg="mod">
          <ac:chgData name="Darcy Roach" userId="ba676ee9-e9b4-49e8-a515-8077106c948d" providerId="ADAL" clId="{51491855-5B7F-4559-9806-D7C800927E3B}" dt="2025-08-06T05:05:14.407" v="1164" actId="20577"/>
          <ac:spMkLst>
            <pc:docMk/>
            <pc:sldMk cId="2009923557" sldId="270"/>
            <ac:spMk id="38" creationId="{AB47A2EE-BF0B-DB05-8B7C-DB6594B2B3D5}"/>
          </ac:spMkLst>
        </pc:spChg>
        <pc:spChg chg="mod">
          <ac:chgData name="Darcy Roach" userId="ba676ee9-e9b4-49e8-a515-8077106c948d" providerId="ADAL" clId="{51491855-5B7F-4559-9806-D7C800927E3B}" dt="2025-08-06T05:02:39.183" v="1027" actId="20577"/>
          <ac:spMkLst>
            <pc:docMk/>
            <pc:sldMk cId="2009923557" sldId="270"/>
            <ac:spMk id="175" creationId="{B9775FC7-7124-8CCA-9B1C-7CCD7D3DF384}"/>
          </ac:spMkLst>
        </pc:spChg>
        <pc:grpChg chg="mod">
          <ac:chgData name="Darcy Roach" userId="ba676ee9-e9b4-49e8-a515-8077106c948d" providerId="ADAL" clId="{51491855-5B7F-4559-9806-D7C800927E3B}" dt="2025-08-06T04:50:50.405" v="926" actId="1076"/>
          <ac:grpSpMkLst>
            <pc:docMk/>
            <pc:sldMk cId="2009923557" sldId="270"/>
            <ac:grpSpMk id="16" creationId="{A1F14AC0-7E81-3290-BFBD-9B334F5C0EFB}"/>
          </ac:grpSpMkLst>
        </pc:grpChg>
        <pc:cxnChg chg="mod">
          <ac:chgData name="Darcy Roach" userId="ba676ee9-e9b4-49e8-a515-8077106c948d" providerId="ADAL" clId="{51491855-5B7F-4559-9806-D7C800927E3B}" dt="2025-08-06T04:54:34.357" v="982" actId="14100"/>
          <ac:cxnSpMkLst>
            <pc:docMk/>
            <pc:sldMk cId="2009923557" sldId="270"/>
            <ac:cxnSpMk id="3" creationId="{67C34E10-2CF8-9BCA-1CC6-D78A3FF9CA80}"/>
          </ac:cxnSpMkLst>
        </pc:cxnChg>
        <pc:cxnChg chg="mod">
          <ac:chgData name="Darcy Roach" userId="ba676ee9-e9b4-49e8-a515-8077106c948d" providerId="ADAL" clId="{51491855-5B7F-4559-9806-D7C800927E3B}" dt="2025-08-06T04:55:32.244" v="983" actId="1076"/>
          <ac:cxnSpMkLst>
            <pc:docMk/>
            <pc:sldMk cId="2009923557" sldId="270"/>
            <ac:cxnSpMk id="15" creationId="{F87F05F2-DA4C-4F55-A5D0-1887110DF155}"/>
          </ac:cxnSpMkLst>
        </pc:cxnChg>
        <pc:cxnChg chg="mod">
          <ac:chgData name="Darcy Roach" userId="ba676ee9-e9b4-49e8-a515-8077106c948d" providerId="ADAL" clId="{51491855-5B7F-4559-9806-D7C800927E3B}" dt="2025-08-06T04:35:08.427" v="852" actId="14100"/>
          <ac:cxnSpMkLst>
            <pc:docMk/>
            <pc:sldMk cId="2009923557" sldId="270"/>
            <ac:cxnSpMk id="21" creationId="{B0913DE4-461D-CE43-AABC-C4B3D7D22F45}"/>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8/6/2025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8/6/2025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8/6/2025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8/6/2025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8/6/2025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8/6/2025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40585" y="113351"/>
            <a:ext cx="2684870"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Daniel </a:t>
            </a:r>
          </a:p>
          <a:p>
            <a:r>
              <a:rPr lang="en-US" sz="2800" b="1" dirty="0">
                <a:solidFill>
                  <a:srgbClr val="00AB80"/>
                </a:solidFill>
                <a:latin typeface="Roboto" panose="02000000000000000000" pitchFamily="2" charset="0"/>
                <a:ea typeface="Roboto" panose="02000000000000000000" pitchFamily="2" charset="0"/>
              </a:rPr>
              <a:t>Zillmann</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44549" y="1247202"/>
            <a:ext cx="2972650" cy="310341"/>
          </a:xfrm>
          <a:prstGeom prst="rect">
            <a:avLst/>
          </a:prstGeom>
          <a:noFill/>
        </p:spPr>
        <p:txBody>
          <a:bodyPr wrap="square" lIns="91440" tIns="45720" rIns="91440" bIns="45720" anchor="t">
            <a:spAutoFit/>
          </a:bodyPr>
          <a:lstStyle/>
          <a:p>
            <a:pPr>
              <a:lnSpc>
                <a:spcPts val="1812"/>
              </a:lnSpc>
            </a:pPr>
            <a:r>
              <a:rPr lang="en-US" sz="1400" b="1" spc="13" dirty="0">
                <a:solidFill>
                  <a:srgbClr val="00AB80"/>
                </a:solidFill>
                <a:latin typeface="Roboto Light"/>
                <a:ea typeface="Roboto Light"/>
                <a:cs typeface="Lato"/>
              </a:rPr>
              <a:t>Profile</a:t>
            </a:r>
          </a:p>
        </p:txBody>
      </p:sp>
      <p:sp>
        <p:nvSpPr>
          <p:cNvPr id="22" name="TextBox 21">
            <a:extLst>
              <a:ext uri="{FF2B5EF4-FFF2-40B4-BE49-F238E27FC236}">
                <a16:creationId xmlns:a16="http://schemas.microsoft.com/office/drawing/2014/main" id="{9D4E289E-1D52-CBDD-E381-40963429D7F1}"/>
              </a:ext>
            </a:extLst>
          </p:cNvPr>
          <p:cNvSpPr txBox="1"/>
          <p:nvPr/>
        </p:nvSpPr>
        <p:spPr>
          <a:xfrm>
            <a:off x="244292" y="1025116"/>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a:ea typeface="Roboto Light"/>
                <a:cs typeface="Lato"/>
              </a:rPr>
              <a:t>Principal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28799"/>
            <a:ext cx="1510046"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Databricks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IBM Cognos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IT Service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Problem Solver</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Fast Learner</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Team Leadership</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Mentoring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Communication</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597813"/>
            <a:ext cx="0" cy="1920639"/>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219897" y="3096475"/>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784490"/>
            <a:ext cx="0" cy="651166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707439"/>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283343"/>
            <a:ext cx="1951941" cy="144655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latin typeface="Roboto Light"/>
                <a:ea typeface="Roboto Light"/>
                <a:cs typeface="Roboto Light"/>
              </a:rPr>
              <a:t>Logistics</a:t>
            </a:r>
            <a:endParaRPr lang="en-GB" sz="1200" dirty="0">
              <a:solidFill>
                <a:srgbClr val="00AB80"/>
              </a:solidFill>
              <a:cs typeface="Roboto Light"/>
            </a:endParaRP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Software</a:t>
            </a:r>
          </a:p>
          <a:p>
            <a:pPr marL="0" indent="0">
              <a:lnSpc>
                <a:spcPct val="150000"/>
              </a:lnSpc>
              <a:buNone/>
            </a:pPr>
            <a:r>
              <a:rPr lang="en-GB" sz="1200" dirty="0">
                <a:solidFill>
                  <a:srgbClr val="00AB80"/>
                </a:solidFill>
              </a:rPr>
              <a:t>Health Sciences</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280411"/>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13772" y="3311919"/>
            <a:ext cx="1963972" cy="2677656"/>
            <a:chOff x="8086580" y="2681447"/>
            <a:chExt cx="1963972" cy="2677656"/>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086580" y="2681447"/>
              <a:ext cx="1963972" cy="2677656"/>
            </a:xfrm>
            <a:prstGeom prst="rect">
              <a:avLst/>
            </a:prstGeom>
            <a:noFill/>
          </p:spPr>
          <p:txBody>
            <a:bodyPr wrap="square">
              <a:spAutoFit/>
            </a:bodyPr>
            <a:lstStyle/>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 Cloud Digital leader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Databricks | Databricks Fundamentals</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Databricks | Lakehouse Fundamentals</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Science, Business Administration - Universität </a:t>
              </a:r>
              <a:r>
                <a:rPr lang="en-GB" sz="1200" dirty="0" err="1">
                  <a:solidFill>
                    <a:srgbClr val="00AB80"/>
                  </a:solidFill>
                  <a:latin typeface="Roboto Light" panose="02000000000000000000" pitchFamily="2" charset="0"/>
                  <a:ea typeface="Calibri" panose="020F0502020204030204" pitchFamily="34" charset="0"/>
                </a:rPr>
                <a:t>zu</a:t>
              </a:r>
              <a:r>
                <a:rPr lang="en-GB" sz="1200" dirty="0">
                  <a:solidFill>
                    <a:srgbClr val="00AB80"/>
                  </a:solidFill>
                  <a:latin typeface="Roboto Light" panose="02000000000000000000" pitchFamily="2" charset="0"/>
                  <a:ea typeface="Calibri" panose="020F0502020204030204" pitchFamily="34" charset="0"/>
                </a:rPr>
                <a:t> Kiel (Germany)</a:t>
              </a: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28799"/>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Project Delivery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US" sz="900" dirty="0">
                <a:solidFill>
                  <a:prstClr val="black"/>
                </a:solidFill>
                <a:latin typeface="Roboto Light" panose="02000000000000000000" pitchFamily="2" charset="0"/>
                <a:ea typeface="Roboto Light" panose="02000000000000000000" pitchFamily="2" charset="0"/>
              </a:rPr>
              <a:t>Data Analysis</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Process Analysis</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Process Improvement</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Digital Transformation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Change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Requirements Gathering </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59463" y="1098589"/>
            <a:ext cx="4169449" cy="461665"/>
          </a:xfrm>
          <a:prstGeom prst="rect">
            <a:avLst/>
          </a:prstGeom>
          <a:noFill/>
        </p:spPr>
        <p:txBody>
          <a:bodyPr wrap="square" lIns="91440" tIns="45720" rIns="91440" bIns="45720" rtlCol="0" anchor="t">
            <a:spAutoFit/>
          </a:bodyPr>
          <a:lstStyle/>
          <a:p>
            <a:r>
              <a:rPr lang="en-AU" sz="1200" b="1" dirty="0">
                <a:solidFill>
                  <a:srgbClr val="0059FF"/>
                </a:solidFill>
                <a:latin typeface="Roboto"/>
                <a:ea typeface="Roboto"/>
                <a:cs typeface="Roboto"/>
              </a:rPr>
              <a:t>Australian Consulting Organisation (multiple clients) –   Principal Consultant</a:t>
            </a:r>
            <a:endParaRPr lang="en-US" dirty="0"/>
          </a:p>
        </p:txBody>
      </p:sp>
      <p:sp>
        <p:nvSpPr>
          <p:cNvPr id="2" name="TextBox 1">
            <a:extLst>
              <a:ext uri="{FF2B5EF4-FFF2-40B4-BE49-F238E27FC236}">
                <a16:creationId xmlns:a16="http://schemas.microsoft.com/office/drawing/2014/main" id="{2FA774CA-3857-9308-4D38-9414B0CC2B95}"/>
              </a:ext>
            </a:extLst>
          </p:cNvPr>
          <p:cNvSpPr txBox="1"/>
          <p:nvPr/>
        </p:nvSpPr>
        <p:spPr>
          <a:xfrm>
            <a:off x="3320217" y="3717101"/>
            <a:ext cx="4542465" cy="646331"/>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BI &amp; Performance Software Vendor  – Senior Consultant</a:t>
            </a:r>
          </a:p>
          <a:p>
            <a:endParaRPr lang="en-AU" sz="1200" b="1" dirty="0">
              <a:solidFill>
                <a:srgbClr val="ED7D31"/>
              </a:solidFill>
              <a:latin typeface="Roboto" panose="02000000000000000000" pitchFamily="2" charset="0"/>
              <a:ea typeface="Roboto" panose="02000000000000000000" pitchFamily="2" charset="0"/>
            </a:endParaRPr>
          </a:p>
          <a:p>
            <a:endParaRPr lang="en-AU" sz="1200" b="1" dirty="0">
              <a:solidFill>
                <a:srgbClr val="ED7D31"/>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39507" y="4055302"/>
            <a:ext cx="0" cy="83759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13C49A-2DF2-8111-FED4-FC07A8EAD258}"/>
              </a:ext>
            </a:extLst>
          </p:cNvPr>
          <p:cNvSpPr txBox="1"/>
          <p:nvPr/>
        </p:nvSpPr>
        <p:spPr>
          <a:xfrm>
            <a:off x="3484997" y="3973918"/>
            <a:ext cx="4550464"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Project management</a:t>
            </a:r>
          </a:p>
          <a:p>
            <a:r>
              <a:rPr lang="en-AU" sz="1000" dirty="0"/>
              <a:t>Implementation of board for planning and reporting purposes for several clients across various industries</a:t>
            </a:r>
          </a:p>
          <a:p>
            <a:r>
              <a:rPr lang="en-AU" sz="1000" dirty="0"/>
              <a:t>Training of new implementation partners and clients</a:t>
            </a:r>
          </a:p>
          <a:p>
            <a:r>
              <a:rPr lang="en-AU" sz="1000" dirty="0"/>
              <a:t>Project scoping for upcoming projects</a:t>
            </a:r>
          </a:p>
          <a:p>
            <a:r>
              <a:rPr lang="en-AU" sz="1000" dirty="0"/>
              <a:t>Sales support (proof of concept development, product presentations)</a:t>
            </a:r>
          </a:p>
          <a:p>
            <a:endParaRPr lang="en-AU" sz="1000" dirty="0"/>
          </a:p>
        </p:txBody>
      </p:sp>
      <p:grpSp>
        <p:nvGrpSpPr>
          <p:cNvPr id="16" name="Group 15">
            <a:extLst>
              <a:ext uri="{FF2B5EF4-FFF2-40B4-BE49-F238E27FC236}">
                <a16:creationId xmlns:a16="http://schemas.microsoft.com/office/drawing/2014/main" id="{A1F14AC0-7E81-3290-BFBD-9B334F5C0EFB}"/>
              </a:ext>
            </a:extLst>
          </p:cNvPr>
          <p:cNvGrpSpPr/>
          <p:nvPr/>
        </p:nvGrpSpPr>
        <p:grpSpPr>
          <a:xfrm>
            <a:off x="3327951" y="5233228"/>
            <a:ext cx="4641286" cy="2390788"/>
            <a:chOff x="3357601" y="5451800"/>
            <a:chExt cx="4641286" cy="2390788"/>
          </a:xfrm>
        </p:grpSpPr>
        <p:sp>
          <p:nvSpPr>
            <p:cNvPr id="10" name="TextBox 9">
              <a:extLst>
                <a:ext uri="{FF2B5EF4-FFF2-40B4-BE49-F238E27FC236}">
                  <a16:creationId xmlns:a16="http://schemas.microsoft.com/office/drawing/2014/main" id="{06312B81-BCF1-2796-C112-3DBE0E02F483}"/>
                </a:ext>
              </a:extLst>
            </p:cNvPr>
            <p:cNvSpPr txBox="1"/>
            <p:nvPr/>
          </p:nvSpPr>
          <p:spPr>
            <a:xfrm>
              <a:off x="3487380" y="5749707"/>
              <a:ext cx="4511507" cy="209288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AU" sz="1000" dirty="0"/>
            </a:p>
            <a:p>
              <a:r>
                <a:rPr lang="en-AU" sz="1000" dirty="0"/>
                <a:t>Introduction of a new planning tool for all planning processes (Finance, Purchase, Sales, and Inventory): evaluation of planning tools on the market, implementation, and development of the tool (frontend and backend), user training, management of four consultants and two colleagues (overall budget of €700k)</a:t>
              </a:r>
            </a:p>
            <a:p>
              <a:r>
                <a:rPr lang="en-AU" sz="1000" dirty="0"/>
                <a:t>Implementation of a new mobile reporting process for the consumer division, used to discuss results between the European headquarters and subsidiaries</a:t>
              </a:r>
            </a:p>
            <a:p>
              <a:r>
                <a:rPr lang="en-AU" sz="1000" dirty="0"/>
                <a:t>Support of the data warehouse team during the development of a new data warehouse (requirement gathering for finance data, data analysis, and report building)</a:t>
              </a:r>
            </a:p>
            <a:p>
              <a:pPr marL="0" indent="0">
                <a:buNone/>
              </a:pPr>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63961" y="5971780"/>
              <a:ext cx="0" cy="1603696"/>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059F888-3BDF-A1C0-65E5-CB6FDD43D97C}"/>
                </a:ext>
              </a:extLst>
            </p:cNvPr>
            <p:cNvSpPr txBox="1"/>
            <p:nvPr/>
          </p:nvSpPr>
          <p:spPr>
            <a:xfrm>
              <a:off x="3357601" y="5451800"/>
              <a:ext cx="4439055"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European Financial Services Organisation – Financial Process Analyst</a:t>
              </a:r>
            </a:p>
          </p:txBody>
        </p:sp>
      </p:grpSp>
      <p:sp>
        <p:nvSpPr>
          <p:cNvPr id="9" name="TextBox 8">
            <a:extLst>
              <a:ext uri="{FF2B5EF4-FFF2-40B4-BE49-F238E27FC236}">
                <a16:creationId xmlns:a16="http://schemas.microsoft.com/office/drawing/2014/main" id="{73AF90DA-A8BA-A38E-D7B5-20B62F60DBA2}"/>
              </a:ext>
            </a:extLst>
          </p:cNvPr>
          <p:cNvSpPr txBox="1"/>
          <p:nvPr/>
        </p:nvSpPr>
        <p:spPr>
          <a:xfrm>
            <a:off x="215347" y="1630048"/>
            <a:ext cx="2928169" cy="3638817"/>
          </a:xfrm>
          <a:prstGeom prst="rect">
            <a:avLst/>
          </a:prstGeom>
          <a:noFill/>
        </p:spPr>
        <p:txBody>
          <a:bodyPr wrap="square" lIns="0" tIns="0" rIns="0" bIns="0" rtlCol="0" anchor="t">
            <a:spAutoFit/>
          </a:bodyPr>
          <a:lstStyle>
            <a:defPPr>
              <a:defRPr lang="en-US"/>
            </a:defPPr>
            <a:lvl1pPr>
              <a:lnSpc>
                <a:spcPts val="1500"/>
              </a:lnSpc>
              <a:defRPr sz="1000" spc="13">
                <a:solidFill>
                  <a:schemeClr val="bg1"/>
                </a:solidFill>
                <a:latin typeface="Roboto Light" panose="02000000000000000000" pitchFamily="2" charset="0"/>
                <a:ea typeface="Roboto Light" panose="02000000000000000000" pitchFamily="2" charset="0"/>
                <a:cs typeface="Lato" panose="020F0502020204030203" pitchFamily="34" charset="0"/>
              </a:defRPr>
            </a:lvl1pPr>
          </a:lstStyle>
          <a:p>
            <a:r>
              <a:rPr lang="en-AU" dirty="0">
                <a:solidFill>
                  <a:schemeClr val="tx1"/>
                </a:solidFill>
              </a:rPr>
              <a:t>Daniel is an accomplished Principal Consultant with a proven track record of spearheading successful digital transformation initiatives, specialising in data and software projects. Adept at orchestrating corporate performance management and business intelligence projects from conception to execution, leveraging robust technical expertise and strategic insight to drive organisational growth and efficiency.</a:t>
            </a:r>
          </a:p>
          <a:p>
            <a:endParaRPr lang="en-AU" dirty="0">
              <a:solidFill>
                <a:schemeClr val="tx1"/>
              </a:solidFill>
            </a:endParaRPr>
          </a:p>
          <a:p>
            <a:r>
              <a:rPr lang="en-AU" dirty="0">
                <a:solidFill>
                  <a:schemeClr val="tx1"/>
                </a:solidFill>
              </a:rPr>
              <a:t>Driven by a passion for challenges, Daniel consistently seeks opportunities to acquire new</a:t>
            </a:r>
          </a:p>
          <a:p>
            <a:r>
              <a:rPr lang="en-AU" dirty="0">
                <a:solidFill>
                  <a:schemeClr val="tx1"/>
                </a:solidFill>
              </a:rPr>
              <a:t>skills and knowledge and is motivated by the prospect of not only managing intricate projects but also leading and mentoring dynamic teams.</a:t>
            </a:r>
          </a:p>
          <a:p>
            <a:r>
              <a:rPr lang="en-AU" dirty="0">
                <a:solidFill>
                  <a:schemeClr val="tx1"/>
                </a:solidFill>
              </a:rPr>
              <a:t>He also has a demonstrated ability to streamline processes, optimise workflows, and harness cutting-edge technologies to deliver impactful solutions that meet and exceed client expectations.</a:t>
            </a:r>
          </a:p>
        </p:txBody>
      </p:sp>
      <p:sp>
        <p:nvSpPr>
          <p:cNvPr id="12" name="TextBox 11">
            <a:extLst>
              <a:ext uri="{FF2B5EF4-FFF2-40B4-BE49-F238E27FC236}">
                <a16:creationId xmlns:a16="http://schemas.microsoft.com/office/drawing/2014/main" id="{00BFB9EC-C6FC-9CD6-25D9-30AE5857C83C}"/>
              </a:ext>
            </a:extLst>
          </p:cNvPr>
          <p:cNvSpPr txBox="1"/>
          <p:nvPr/>
        </p:nvSpPr>
        <p:spPr>
          <a:xfrm>
            <a:off x="3497847" y="1548457"/>
            <a:ext cx="4522078" cy="209288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Cultivated strong client relationships through proactive communication and tailored solutions, resulting in high client satisfaction and repeat business opportunities</a:t>
            </a:r>
          </a:p>
          <a:p>
            <a:r>
              <a:rPr lang="en-AU" dirty="0"/>
              <a:t>Created comprehensive project requirement documentation, ensuring clear project scope and alignment with client expectations throughout the project lifecycle</a:t>
            </a:r>
          </a:p>
          <a:p>
            <a:r>
              <a:rPr lang="en-AU" dirty="0"/>
              <a:t>Oversaw and mentored fellow consultants and project team members on-site, ensuring project milestones were met on time and within budget</a:t>
            </a:r>
          </a:p>
          <a:p>
            <a:r>
              <a:rPr lang="en-AU" dirty="0"/>
              <a:t>Conducted bi-weekly project progression reviews with key stakeholders, ensuring alignment with project milestones and objectives</a:t>
            </a:r>
          </a:p>
          <a:p>
            <a:r>
              <a:rPr lang="en-AU" dirty="0"/>
              <a:t>Delivered concise and engaging project updates and outcomes presentations to executives, facilitating informed decision-making and strategic planning</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Darcy Roach</DisplayName>
        <AccountId>14</AccountId>
        <AccountType/>
      </UserInfo>
      <UserInfo>
        <DisplayName>Joel Collins</DisplayName>
        <AccountId>13</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78DE8-CA0B-4723-AF37-2B344746F8D2}">
  <ds:schemaRefs>
    <ds:schemaRef ds:uri="http://schemas.microsoft.com/office/infopath/2007/PartnerControls"/>
    <ds:schemaRef ds:uri="e52cd9e7-35e5-4bd3-9cab-ca6a63c31e52"/>
    <ds:schemaRef ds:uri="http://purl.org/dc/elements/1.1/"/>
    <ds:schemaRef ds:uri="http://schemas.microsoft.com/office/2006/documentManagement/types"/>
    <ds:schemaRef ds:uri="daf93972-1964-4522-aa34-640805a01c3a"/>
    <ds:schemaRef ds:uri="http://purl.org/dc/terms/"/>
    <ds:schemaRef ds:uri="http://purl.org/dc/dcmitype/"/>
    <ds:schemaRef ds:uri="http://schemas.microsoft.com/office/2006/metadata/properties"/>
    <ds:schemaRef ds:uri="http://www.w3.org/XML/1998/namespace"/>
    <ds:schemaRef ds:uri="http://schemas.openxmlformats.org/package/2006/metadata/core-properties"/>
  </ds:schemaRefs>
</ds:datastoreItem>
</file>

<file path=customXml/itemProps2.xml><?xml version="1.0" encoding="utf-8"?>
<ds:datastoreItem xmlns:ds="http://schemas.openxmlformats.org/officeDocument/2006/customXml" ds:itemID="{E36342BA-B801-4BF7-9391-F7E98E6290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BC6410C-B420-4127-9D32-DC600766FC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20388</TotalTime>
  <Words>477</Words>
  <Application>Microsoft Office PowerPoint</Application>
  <PresentationFormat>Custom</PresentationFormat>
  <Paragraphs>70</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115</cp:revision>
  <dcterms:created xsi:type="dcterms:W3CDTF">2019-12-03T01:50:37Z</dcterms:created>
  <dcterms:modified xsi:type="dcterms:W3CDTF">2025-08-06T05:05:24Z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