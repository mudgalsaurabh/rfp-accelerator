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A8D6D9-1FF4-484E-9157-C95287F7E8F7}" v="17" dt="2022-11-14T23:16:36.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Adams" userId="46cab82c-f106-449b-886b-d644abe3a731" providerId="ADAL" clId="{1FA8D6D9-1FF4-484E-9157-C95287F7E8F7}"/>
    <pc:docChg chg="modSld">
      <pc:chgData name="Jonathan Adams" userId="46cab82c-f106-449b-886b-d644abe3a731" providerId="ADAL" clId="{1FA8D6D9-1FF4-484E-9157-C95287F7E8F7}" dt="2022-11-14T23:16:36.979" v="12" actId="20577"/>
      <pc:docMkLst>
        <pc:docMk/>
      </pc:docMkLst>
      <pc:sldChg chg="modSp mod">
        <pc:chgData name="Jonathan Adams" userId="46cab82c-f106-449b-886b-d644abe3a731" providerId="ADAL" clId="{1FA8D6D9-1FF4-484E-9157-C95287F7E8F7}" dt="2022-11-14T23:16:36.979" v="12" actId="20577"/>
        <pc:sldMkLst>
          <pc:docMk/>
          <pc:sldMk cId="2009923557" sldId="270"/>
        </pc:sldMkLst>
        <pc:spChg chg="mod">
          <ac:chgData name="Jonathan Adams" userId="46cab82c-f106-449b-886b-d644abe3a731" providerId="ADAL" clId="{1FA8D6D9-1FF4-484E-9157-C95287F7E8F7}" dt="2022-11-14T23:16:36.979" v="12" actId="20577"/>
          <ac:spMkLst>
            <pc:docMk/>
            <pc:sldMk cId="2009923557" sldId="270"/>
            <ac:spMk id="17" creationId="{1BDE5051-9F34-F139-742D-4450E5D6591E}"/>
          </ac:spMkLst>
        </pc:spChg>
        <pc:spChg chg="mod">
          <ac:chgData name="Jonathan Adams" userId="46cab82c-f106-449b-886b-d644abe3a731" providerId="ADAL" clId="{1FA8D6D9-1FF4-484E-9157-C95287F7E8F7}" dt="2022-11-14T23:16:23.737" v="6" actId="20577"/>
          <ac:spMkLst>
            <pc:docMk/>
            <pc:sldMk cId="2009923557" sldId="270"/>
            <ac:spMk id="26" creationId="{1A3D666D-00C8-D106-73C3-9FF300F861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11/14/2022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David Reaburn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7" y="1553962"/>
            <a:ext cx="2841132" cy="2292294"/>
          </a:xfrm>
          <a:prstGeom prst="rect">
            <a:avLst/>
          </a:prstGeom>
          <a:noFill/>
        </p:spPr>
        <p:txBody>
          <a:bodyPr wrap="square" lIns="0" tIns="0" rIns="0" bIns="0" rtlCol="0" anchor="t">
            <a:spAutoFit/>
          </a:bodyPr>
          <a:lstStyle/>
          <a:p>
            <a:pPr>
              <a:lnSpc>
                <a:spcPts val="1500"/>
              </a:lnSpc>
            </a:pPr>
            <a:r>
              <a:rPr lang="en-US" sz="1000" spc="13">
                <a:latin typeface="Roboto Light" panose="02000000000000000000" pitchFamily="2" charset="0"/>
                <a:ea typeface="Roboto Light" panose="02000000000000000000" pitchFamily="2" charset="0"/>
                <a:cs typeface="Lato" panose="020F0502020204030203" pitchFamily="34" charset="0"/>
              </a:rPr>
              <a:t>David is a passionate and committed leader with a strong Project Management and Delivery focus. David enjoys assisting organisations to uplift their technology foundations to deliver leading edge solutions and digital transformations. David has over 25 years senior IT experience in multiple roles including consulting, development/QA, service management, technology sales and agile project delivery. David has worked in finance, digital services, insurance and telecommunications industries.</a:t>
            </a:r>
          </a:p>
          <a:p>
            <a:pPr>
              <a:lnSpc>
                <a:spcPts val="1500"/>
              </a:lnSpc>
            </a:pPr>
            <a:endParaRPr lang="en-US" sz="1000" spc="13">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19858" y="5795596"/>
            <a:ext cx="1510046" cy="17543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Outsourcing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Telecommunications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Finance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 Life Cycle (SDLC)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Scrum Master</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SAFe</a:t>
            </a:r>
            <a:r>
              <a:rPr lang="en-US" sz="900">
                <a:latin typeface="Roboto Light" panose="02000000000000000000" pitchFamily="2" charset="0"/>
                <a:ea typeface="Roboto Light" panose="02000000000000000000" pitchFamily="2" charset="0"/>
              </a:rPr>
              <a:t> Practitioner </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172930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517040"/>
            <a:ext cx="4565204" cy="1631216"/>
            <a:chOff x="5030740" y="572554"/>
            <a:chExt cx="4876344" cy="1631216"/>
          </a:xfrm>
        </p:grpSpPr>
        <p:sp>
          <p:nvSpPr>
            <p:cNvPr id="10" name="TextBox 9">
              <a:extLst>
                <a:ext uri="{FF2B5EF4-FFF2-40B4-BE49-F238E27FC236}">
                  <a16:creationId xmlns:a16="http://schemas.microsoft.com/office/drawing/2014/main" id="{06312B81-BCF1-2796-C112-3DBE0E02F483}"/>
                </a:ext>
              </a:extLst>
            </p:cNvPr>
            <p:cNvSpPr txBox="1"/>
            <p:nvPr/>
          </p:nvSpPr>
          <p:spPr>
            <a:xfrm>
              <a:off x="5075839" y="572554"/>
              <a:ext cx="4831245"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US" sz="1000">
                  <a:solidFill>
                    <a:schemeClr val="bg1"/>
                  </a:solidFill>
                </a:rPr>
                <a:t>Worked with the PM’s &amp; Program Management team to facilitate a more robust Program Governance Structure. </a:t>
              </a:r>
            </a:p>
            <a:p>
              <a:r>
                <a:rPr lang="en-US" sz="1000">
                  <a:solidFill>
                    <a:schemeClr val="bg1"/>
                  </a:solidFill>
                </a:rPr>
                <a:t>Streamlined a delivery framework through a Value Stream model.</a:t>
              </a:r>
            </a:p>
            <a:p>
              <a:r>
                <a:rPr lang="en-US" sz="1000">
                  <a:solidFill>
                    <a:schemeClr val="bg1"/>
                  </a:solidFill>
                </a:rPr>
                <a:t>Assisted with Program planning across multiple streams for the Program.</a:t>
              </a:r>
            </a:p>
            <a:p>
              <a:r>
                <a:rPr lang="en-US" sz="1000">
                  <a:solidFill>
                    <a:schemeClr val="bg1"/>
                  </a:solidFill>
                </a:rPr>
                <a:t>Set up tooling for consistent program scheduling and reporting. </a:t>
              </a:r>
            </a:p>
            <a:p>
              <a:r>
                <a:rPr lang="en-US" sz="1000">
                  <a:solidFill>
                    <a:schemeClr val="bg1"/>
                  </a:solidFill>
                </a:rPr>
                <a:t>Facilitated tracking dependencies between streams.</a:t>
              </a:r>
            </a:p>
            <a:p>
              <a:r>
                <a:rPr lang="en-US" sz="1000">
                  <a:solidFill>
                    <a:schemeClr val="bg1"/>
                  </a:solidFill>
                </a:rPr>
                <a:t>Worked closely with Project Managers across multiple streams to provide a program level view.</a:t>
              </a:r>
            </a:p>
            <a:p>
              <a:r>
                <a:rPr lang="en-US" sz="1000">
                  <a:solidFill>
                    <a:schemeClr val="bg1"/>
                  </a:solidFill>
                </a:rPr>
                <a:t>Implemented a Risk &amp; Issue Management Framework</a:t>
              </a:r>
            </a:p>
            <a:p>
              <a:r>
                <a:rPr lang="en-US" sz="1000">
                  <a:solidFill>
                    <a:schemeClr val="bg1"/>
                  </a:solidFill>
                </a:rPr>
                <a:t>Built out Jira projects &amp; templates to support teams &amp; delivery models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653244"/>
              <a:ext cx="0" cy="142860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27387"/>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388438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42831"/>
            <a:ext cx="1951941" cy="1754326"/>
            <a:chOff x="8106458" y="2681447"/>
            <a:chExt cx="1951941" cy="175432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1754326"/>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err="1">
                  <a:solidFill>
                    <a:srgbClr val="00AB80"/>
                  </a:solidFill>
                  <a:latin typeface="Roboto Light" panose="02000000000000000000" pitchFamily="2" charset="0"/>
                  <a:ea typeface="Calibri" panose="020F0502020204030204" pitchFamily="34" charset="0"/>
                </a:rPr>
                <a:t>SAFe</a:t>
              </a:r>
              <a:r>
                <a:rPr lang="en-GB" sz="1200">
                  <a:solidFill>
                    <a:srgbClr val="00AB80"/>
                  </a:solidFill>
                  <a:latin typeface="Roboto Light" panose="02000000000000000000" pitchFamily="2" charset="0"/>
                  <a:ea typeface="Calibri" panose="020F0502020204030204" pitchFamily="34" charset="0"/>
                </a:rPr>
                <a:t> 5</a:t>
              </a:r>
              <a:r>
                <a:rPr lang="en-GB" sz="1200">
                  <a:solidFill>
                    <a:srgbClr val="00AB80"/>
                  </a:solidFill>
                  <a:effectLst/>
                  <a:latin typeface="Roboto Light" panose="02000000000000000000" pitchFamily="2" charset="0"/>
                  <a:ea typeface="Calibri" panose="020F0502020204030204" pitchFamily="34" charset="0"/>
                </a:rPr>
                <a:t> Certified | </a:t>
              </a: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Agilist</a:t>
              </a:r>
              <a:r>
                <a:rPr lang="en-GB" sz="1200">
                  <a:solidFill>
                    <a:srgbClr val="00AB80"/>
                  </a:solidFill>
                  <a:effectLst/>
                  <a:latin typeface="Roboto Light" panose="02000000000000000000" pitchFamily="2" charset="0"/>
                  <a:ea typeface="Calibri" panose="020F0502020204030204" pitchFamily="34" charset="0"/>
                </a:rPr>
                <a:t> </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 – Applied Science, Information Management &amp; Computer Science</a:t>
              </a:r>
              <a:r>
                <a:rPr lang="en-GB" sz="1200">
                  <a:solidFill>
                    <a:srgbClr val="00AB80"/>
                  </a:solidFill>
                  <a:latin typeface="Roboto Light" panose="02000000000000000000" pitchFamily="2" charset="0"/>
                  <a:ea typeface="Calibri" panose="020F0502020204030204" pitchFamily="34" charset="0"/>
                </a:rPr>
                <a:t>, Deakin university</a:t>
              </a: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242572"/>
            <a:ext cx="3526969" cy="276999"/>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Financial Services Organisation</a:t>
            </a:r>
          </a:p>
        </p:txBody>
      </p:sp>
      <p:sp>
        <p:nvSpPr>
          <p:cNvPr id="4" name="TextBox 3">
            <a:extLst>
              <a:ext uri="{FF2B5EF4-FFF2-40B4-BE49-F238E27FC236}">
                <a16:creationId xmlns:a16="http://schemas.microsoft.com/office/drawing/2014/main" id="{80F49B2F-21D4-F9EB-049F-717A10CB7D84}"/>
              </a:ext>
            </a:extLst>
          </p:cNvPr>
          <p:cNvSpPr txBox="1"/>
          <p:nvPr/>
        </p:nvSpPr>
        <p:spPr>
          <a:xfrm>
            <a:off x="151204" y="5781794"/>
            <a:ext cx="1528458"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Management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Leadership</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User Acceptance Testing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Agile and Waterfall Methodologies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Requirements Gathering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2" name="TextBox 11">
            <a:extLst>
              <a:ext uri="{FF2B5EF4-FFF2-40B4-BE49-F238E27FC236}">
                <a16:creationId xmlns:a16="http://schemas.microsoft.com/office/drawing/2014/main" id="{4C564B5F-C81D-1622-FD73-F33FA259FDC6}"/>
              </a:ext>
            </a:extLst>
          </p:cNvPr>
          <p:cNvSpPr txBox="1"/>
          <p:nvPr/>
        </p:nvSpPr>
        <p:spPr>
          <a:xfrm>
            <a:off x="234576" y="3737104"/>
            <a:ext cx="2794375" cy="1522853"/>
          </a:xfrm>
          <a:prstGeom prst="rect">
            <a:avLst/>
          </a:prstGeom>
          <a:noFill/>
        </p:spPr>
        <p:txBody>
          <a:bodyPr wrap="square" lIns="0" tIns="0" rIns="0" bIns="0" rtlCol="0" anchor="t">
            <a:spAutoFit/>
          </a:bodyPr>
          <a:lstStyle>
            <a:defPPr>
              <a:defRPr lang="en-US"/>
            </a:defPPr>
            <a:lvl1pPr>
              <a:lnSpc>
                <a:spcPts val="1812"/>
              </a:lnSpc>
              <a:defRPr sz="1000" spc="13">
                <a:latin typeface="Roboto Light" panose="02000000000000000000" pitchFamily="2" charset="0"/>
                <a:ea typeface="Roboto Light" panose="02000000000000000000" pitchFamily="2" charset="0"/>
                <a:cs typeface="Lato" panose="020F0502020204030203" pitchFamily="34" charset="0"/>
              </a:defRPr>
            </a:lvl1pPr>
          </a:lstStyle>
          <a:p>
            <a:pPr>
              <a:lnSpc>
                <a:spcPts val="1500"/>
              </a:lnSpc>
            </a:pPr>
            <a:r>
              <a:rPr lang="en-US"/>
              <a:t>With his diverse experience, David excels at running projects that are challenging, complex and combines the business and technology landscape where he can apply his broad knowledge, business acumen and passion for delivering leading edge technology projects whilst expertly managing the expectations of stakeholders.</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3526969" cy="276999"/>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Telecommunications Organisation</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0460"/>
            <a:ext cx="4549073"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US" sz="1000">
                <a:solidFill>
                  <a:schemeClr val="bg1"/>
                </a:solidFill>
              </a:rPr>
              <a:t>Day to day management of development teams (5 teams and 25 staff). </a:t>
            </a:r>
          </a:p>
          <a:p>
            <a:r>
              <a:rPr lang="en-US" sz="1000">
                <a:solidFill>
                  <a:schemeClr val="bg1"/>
                </a:solidFill>
              </a:rPr>
              <a:t>Managed team leaders of testing, web, network systems, mobile applications and PC Softphone application.</a:t>
            </a:r>
          </a:p>
          <a:p>
            <a:r>
              <a:rPr lang="en-US" sz="1000">
                <a:solidFill>
                  <a:schemeClr val="bg1"/>
                </a:solidFill>
              </a:rPr>
              <a:t>Managed five staff testing all software and hardware releases, performed recruitment, appraisals and mentoring of test analysts, developed test strategies, implemented tools and coordinated customer testing. </a:t>
            </a:r>
          </a:p>
          <a:p>
            <a:r>
              <a:rPr lang="en-US" sz="1000">
                <a:solidFill>
                  <a:schemeClr val="bg1"/>
                </a:solidFill>
              </a:rPr>
              <a:t>Built a team from scratch, automating 80% of code, incorporating Agile practices, lead testing on telco apps, real time billing systems and consumer devices. </a:t>
            </a:r>
          </a:p>
          <a:p>
            <a:r>
              <a:rPr lang="en-US" sz="1000">
                <a:solidFill>
                  <a:schemeClr val="bg1"/>
                </a:solidFill>
              </a:rPr>
              <a:t>Coordinated the efforts of five team leaders, managed end to end delivery of projects, recruited staff, performed appraisals and worked closely with project managers. </a:t>
            </a:r>
          </a:p>
          <a:p>
            <a:endParaRPr lang="en-US" sz="1000">
              <a:solidFill>
                <a:schemeClr val="bg1"/>
              </a:solidFill>
            </a:endParaRPr>
          </a:p>
          <a:p>
            <a:endParaRPr lang="en-US" sz="1000">
              <a:solidFill>
                <a:schemeClr val="bg1"/>
              </a:solidFill>
            </a:endParaRPr>
          </a:p>
          <a:p>
            <a:endParaRPr lang="en-AU" sz="1000">
              <a:solidFill>
                <a:schemeClr val="bg1"/>
              </a:solidFill>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426315"/>
            <a:ext cx="4690345" cy="2400657"/>
            <a:chOff x="5023753" y="3667804"/>
            <a:chExt cx="4866861" cy="2400657"/>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3667804"/>
              <a:ext cx="4831140"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a:t>Digital Delivery / Project Manager, overseeing three major releases from inception, through to development, production deployment and ongoing operations.</a:t>
              </a:r>
            </a:p>
            <a:p>
              <a:r>
                <a:rPr lang="en-US" sz="1000"/>
                <a:t>Managed a large vendor as build partner, with up to 50 onshore/offshore staff.</a:t>
              </a:r>
            </a:p>
            <a:p>
              <a:r>
                <a:rPr lang="en-US" sz="1000"/>
                <a:t>Managed a big four service provider as security partner, including contract negotiation and execution, engagement and outcome management .</a:t>
              </a:r>
            </a:p>
            <a:p>
              <a:r>
                <a:rPr lang="en-US" sz="1000"/>
                <a:t>Resource planning and procurement.</a:t>
              </a:r>
            </a:p>
            <a:p>
              <a:r>
                <a:rPr lang="en-US" sz="1000"/>
                <a:t>Played role of scrum master, managing agile delivery sprints.</a:t>
              </a:r>
            </a:p>
            <a:p>
              <a:r>
                <a:rPr lang="en-US" sz="1000"/>
                <a:t>Infrastructure and environment planning, building and maintenance to support multiple concurrent project streams across 5+ environments (50+ VM’s) </a:t>
              </a:r>
            </a:p>
            <a:p>
              <a:r>
                <a:rPr lang="en-US" sz="1000"/>
                <a:t>Successful implementation of three major projects, running to schedule with minimal budget variance </a:t>
              </a:r>
            </a:p>
            <a:p>
              <a:endParaRPr lang="en-US" sz="100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3736472"/>
              <a:ext cx="0" cy="211150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169077"/>
            <a:ext cx="3526969"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Financial Services Organisation</a:t>
            </a:r>
          </a:p>
        </p:txBody>
      </p:sp>
      <p:sp>
        <p:nvSpPr>
          <p:cNvPr id="24" name="TextBox 23">
            <a:extLst>
              <a:ext uri="{FF2B5EF4-FFF2-40B4-BE49-F238E27FC236}">
                <a16:creationId xmlns:a16="http://schemas.microsoft.com/office/drawing/2014/main" id="{A3E5CD05-D83C-02B9-FBD9-8A2F46990F5A}"/>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Software Industry</a:t>
            </a:r>
          </a:p>
          <a:p>
            <a:pPr marL="0" indent="0">
              <a:lnSpc>
                <a:spcPct val="150000"/>
              </a:lnSpc>
              <a:buNone/>
            </a:pPr>
            <a:r>
              <a:rPr lang="en-GB" sz="1200">
                <a:solidFill>
                  <a:srgbClr val="00AB80"/>
                </a:solidFill>
              </a:rPr>
              <a:t>Big 4 Consulting Firm</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6E20DE-293B-47EE-A0B4-3C23FE6048B0}"/>
</file>

<file path=customXml/itemProps2.xml><?xml version="1.0" encoding="utf-8"?>
<ds:datastoreItem xmlns:ds="http://schemas.openxmlformats.org/officeDocument/2006/customXml" ds:itemID="{BF903BBC-EB0B-474D-8A60-6BF88EC13BDC}">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27D51B-9A04-4480-8EC1-D13CBF95C6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2022-11-14T23:17:20Z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