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6"/>
  </p:notes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0F2B3F"/>
    <a:srgbClr val="ED7D31"/>
    <a:srgbClr val="0059FF"/>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804594-F33C-BE91-1498-C9D90165FB2E}" v="37" dt="2025-08-27T04:40:53.6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878" y="3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l Collins" userId="S::joel.collins@intelia.com.au::d3ae1526-77cd-4d01-b42b-68ae1cb060b9" providerId="AD" clId="Web-{C0804594-F33C-BE91-1498-C9D90165FB2E}"/>
    <pc:docChg chg="modSld">
      <pc:chgData name="Joel Collins" userId="S::joel.collins@intelia.com.au::d3ae1526-77cd-4d01-b42b-68ae1cb060b9" providerId="AD" clId="Web-{C0804594-F33C-BE91-1498-C9D90165FB2E}" dt="2025-08-27T04:40:50.260" v="18" actId="20577"/>
      <pc:docMkLst>
        <pc:docMk/>
      </pc:docMkLst>
      <pc:sldChg chg="modSp">
        <pc:chgData name="Joel Collins" userId="S::joel.collins@intelia.com.au::d3ae1526-77cd-4d01-b42b-68ae1cb060b9" providerId="AD" clId="Web-{C0804594-F33C-BE91-1498-C9D90165FB2E}" dt="2025-08-27T04:40:50.260" v="18" actId="20577"/>
        <pc:sldMkLst>
          <pc:docMk/>
          <pc:sldMk cId="2009923557" sldId="270"/>
        </pc:sldMkLst>
        <pc:spChg chg="mod">
          <ac:chgData name="Joel Collins" userId="S::joel.collins@intelia.com.au::d3ae1526-77cd-4d01-b42b-68ae1cb060b9" providerId="AD" clId="Web-{C0804594-F33C-BE91-1498-C9D90165FB2E}" dt="2025-08-27T04:40:50.260" v="18" actId="20577"/>
          <ac:spMkLst>
            <pc:docMk/>
            <pc:sldMk cId="2009923557" sldId="270"/>
            <ac:spMk id="6" creationId="{701E125D-B356-8A2A-B86B-AB6567CEABE1}"/>
          </ac:spMkLst>
        </pc:spChg>
        <pc:spChg chg="mod">
          <ac:chgData name="Joel Collins" userId="S::joel.collins@intelia.com.au::d3ae1526-77cd-4d01-b42b-68ae1cb060b9" providerId="AD" clId="Web-{C0804594-F33C-BE91-1498-C9D90165FB2E}" dt="2025-08-27T04:40:39.870" v="16" actId="1076"/>
          <ac:spMkLst>
            <pc:docMk/>
            <pc:sldMk cId="2009923557" sldId="270"/>
            <ac:spMk id="7" creationId="{6B2F289A-52B4-2A27-52EA-B05DE2DA93CE}"/>
          </ac:spMkLst>
        </pc:spChg>
        <pc:spChg chg="mod">
          <ac:chgData name="Joel Collins" userId="S::joel.collins@intelia.com.au::d3ae1526-77cd-4d01-b42b-68ae1cb060b9" providerId="AD" clId="Web-{C0804594-F33C-BE91-1498-C9D90165FB2E}" dt="2025-08-27T04:40:33.292" v="15" actId="20577"/>
          <ac:spMkLst>
            <pc:docMk/>
            <pc:sldMk cId="2009923557" sldId="270"/>
            <ac:spMk id="34" creationId="{43536914-D7FE-0F22-C18B-A5D89F6503CF}"/>
          </ac:spMkLst>
        </pc:spChg>
      </pc:sldChg>
    </pc:docChg>
  </pc:docChgLst>
  <pc:docChgLst>
    <pc:chgData name="Darcy Roach" userId="ba676ee9-e9b4-49e8-a515-8077106c948d" providerId="ADAL" clId="{74C885CB-6E75-42B6-8027-36EBFF5AE072}"/>
    <pc:docChg chg="custSel modSld">
      <pc:chgData name="Darcy Roach" userId="ba676ee9-e9b4-49e8-a515-8077106c948d" providerId="ADAL" clId="{74C885CB-6E75-42B6-8027-36EBFF5AE072}" dt="2025-08-06T02:10:17.830" v="1270" actId="20577"/>
      <pc:docMkLst>
        <pc:docMk/>
      </pc:docMkLst>
      <pc:sldChg chg="addSp modSp mod">
        <pc:chgData name="Darcy Roach" userId="ba676ee9-e9b4-49e8-a515-8077106c948d" providerId="ADAL" clId="{74C885CB-6E75-42B6-8027-36EBFF5AE072}" dt="2025-08-06T02:10:17.830" v="1270" actId="20577"/>
        <pc:sldMkLst>
          <pc:docMk/>
          <pc:sldMk cId="2009923557" sldId="270"/>
        </pc:sldMkLst>
        <pc:spChg chg="mod">
          <ac:chgData name="Darcy Roach" userId="ba676ee9-e9b4-49e8-a515-8077106c948d" providerId="ADAL" clId="{74C885CB-6E75-42B6-8027-36EBFF5AE072}" dt="2025-08-06T01:25:10.276" v="294" actId="20577"/>
          <ac:spMkLst>
            <pc:docMk/>
            <pc:sldMk cId="2009923557" sldId="270"/>
            <ac:spMk id="4" creationId="{80F49B2F-21D4-F9EB-049F-717A10CB7D84}"/>
          </ac:spMkLst>
        </pc:spChg>
        <pc:spChg chg="mod">
          <ac:chgData name="Darcy Roach" userId="ba676ee9-e9b4-49e8-a515-8077106c948d" providerId="ADAL" clId="{74C885CB-6E75-42B6-8027-36EBFF5AE072}" dt="2025-08-06T01:31:01.385" v="460" actId="20577"/>
          <ac:spMkLst>
            <pc:docMk/>
            <pc:sldMk cId="2009923557" sldId="270"/>
            <ac:spMk id="6" creationId="{701E125D-B356-8A2A-B86B-AB6567CEABE1}"/>
          </ac:spMkLst>
        </pc:spChg>
        <pc:spChg chg="mod">
          <ac:chgData name="Darcy Roach" userId="ba676ee9-e9b4-49e8-a515-8077106c948d" providerId="ADAL" clId="{74C885CB-6E75-42B6-8027-36EBFF5AE072}" dt="2025-08-06T01:50:58.852" v="948" actId="14100"/>
          <ac:spMkLst>
            <pc:docMk/>
            <pc:sldMk cId="2009923557" sldId="270"/>
            <ac:spMk id="8" creationId="{59FEB941-5146-6B10-4E4D-8A4ADE918AEF}"/>
          </ac:spMkLst>
        </pc:spChg>
        <pc:spChg chg="mod">
          <ac:chgData name="Darcy Roach" userId="ba676ee9-e9b4-49e8-a515-8077106c948d" providerId="ADAL" clId="{74C885CB-6E75-42B6-8027-36EBFF5AE072}" dt="2025-08-06T01:43:02.475" v="754" actId="20577"/>
          <ac:spMkLst>
            <pc:docMk/>
            <pc:sldMk cId="2009923557" sldId="270"/>
            <ac:spMk id="9" creationId="{8BF88D81-5535-9CA4-E956-E5A6096E59DC}"/>
          </ac:spMkLst>
        </pc:spChg>
        <pc:spChg chg="mod">
          <ac:chgData name="Darcy Roach" userId="ba676ee9-e9b4-49e8-a515-8077106c948d" providerId="ADAL" clId="{74C885CB-6E75-42B6-8027-36EBFF5AE072}" dt="2025-08-06T02:10:17.830" v="1270" actId="20577"/>
          <ac:spMkLst>
            <pc:docMk/>
            <pc:sldMk cId="2009923557" sldId="270"/>
            <ac:spMk id="12" creationId="{71E8655A-9388-59BA-F0D8-754D1DA66332}"/>
          </ac:spMkLst>
        </pc:spChg>
        <pc:spChg chg="mod">
          <ac:chgData name="Darcy Roach" userId="ba676ee9-e9b4-49e8-a515-8077106c948d" providerId="ADAL" clId="{74C885CB-6E75-42B6-8027-36EBFF5AE072}" dt="2025-08-06T01:02:58.593" v="5" actId="14100"/>
          <ac:spMkLst>
            <pc:docMk/>
            <pc:sldMk cId="2009923557" sldId="270"/>
            <ac:spMk id="13" creationId="{FD2720C9-A79F-BD7F-E179-674AD67D7892}"/>
          </ac:spMkLst>
        </pc:spChg>
        <pc:spChg chg="mod">
          <ac:chgData name="Darcy Roach" userId="ba676ee9-e9b4-49e8-a515-8077106c948d" providerId="ADAL" clId="{74C885CB-6E75-42B6-8027-36EBFF5AE072}" dt="2025-08-06T01:34:20.935" v="555" actId="20577"/>
          <ac:spMkLst>
            <pc:docMk/>
            <pc:sldMk cId="2009923557" sldId="270"/>
            <ac:spMk id="26" creationId="{1A3D666D-00C8-D106-73C3-9FF300F8618C}"/>
          </ac:spMkLst>
        </pc:spChg>
        <pc:spChg chg="add mod">
          <ac:chgData name="Darcy Roach" userId="ba676ee9-e9b4-49e8-a515-8077106c948d" providerId="ADAL" clId="{74C885CB-6E75-42B6-8027-36EBFF5AE072}" dt="2025-08-06T01:50:52.468" v="947" actId="1076"/>
          <ac:spMkLst>
            <pc:docMk/>
            <pc:sldMk cId="2009923557" sldId="270"/>
            <ac:spMk id="31" creationId="{0E2C84FB-1E08-EFA5-3533-776F714B2F21}"/>
          </ac:spMkLst>
        </pc:spChg>
        <pc:spChg chg="add mod">
          <ac:chgData name="Darcy Roach" userId="ba676ee9-e9b4-49e8-a515-8077106c948d" providerId="ADAL" clId="{74C885CB-6E75-42B6-8027-36EBFF5AE072}" dt="2025-08-06T01:50:52.468" v="947" actId="1076"/>
          <ac:spMkLst>
            <pc:docMk/>
            <pc:sldMk cId="2009923557" sldId="270"/>
            <ac:spMk id="32" creationId="{E8E7A092-C12A-8E7A-3B4F-A614FC1E0E50}"/>
          </ac:spMkLst>
        </pc:spChg>
        <pc:spChg chg="mod">
          <ac:chgData name="Darcy Roach" userId="ba676ee9-e9b4-49e8-a515-8077106c948d" providerId="ADAL" clId="{74C885CB-6E75-42B6-8027-36EBFF5AE072}" dt="2025-08-06T01:17:57.576" v="220" actId="14100"/>
          <ac:spMkLst>
            <pc:docMk/>
            <pc:sldMk cId="2009923557" sldId="270"/>
            <ac:spMk id="34" creationId="{43536914-D7FE-0F22-C18B-A5D89F6503CF}"/>
          </ac:spMkLst>
        </pc:spChg>
        <pc:spChg chg="mod">
          <ac:chgData name="Darcy Roach" userId="ba676ee9-e9b4-49e8-a515-8077106c948d" providerId="ADAL" clId="{74C885CB-6E75-42B6-8027-36EBFF5AE072}" dt="2025-08-06T02:06:28.290" v="1239" actId="20577"/>
          <ac:spMkLst>
            <pc:docMk/>
            <pc:sldMk cId="2009923557" sldId="270"/>
            <ac:spMk id="38" creationId="{AB47A2EE-BF0B-DB05-8B7C-DB6594B2B3D5}"/>
          </ac:spMkLst>
        </pc:spChg>
        <pc:spChg chg="mod">
          <ac:chgData name="Darcy Roach" userId="ba676ee9-e9b4-49e8-a515-8077106c948d" providerId="ADAL" clId="{74C885CB-6E75-42B6-8027-36EBFF5AE072}" dt="2025-08-06T01:52:05.557" v="989" actId="20577"/>
          <ac:spMkLst>
            <pc:docMk/>
            <pc:sldMk cId="2009923557" sldId="270"/>
            <ac:spMk id="175" creationId="{B9775FC7-7124-8CCA-9B1C-7CCD7D3DF384}"/>
          </ac:spMkLst>
        </pc:spChg>
        <pc:grpChg chg="mod">
          <ac:chgData name="Darcy Roach" userId="ba676ee9-e9b4-49e8-a515-8077106c948d" providerId="ADAL" clId="{74C885CB-6E75-42B6-8027-36EBFF5AE072}" dt="2025-08-06T01:34:50.226" v="558" actId="1076"/>
          <ac:grpSpMkLst>
            <pc:docMk/>
            <pc:sldMk cId="2009923557" sldId="270"/>
            <ac:grpSpMk id="2" creationId="{69CD73AD-37BE-CE99-424E-8286EA039856}"/>
          </ac:grpSpMkLst>
        </pc:grpChg>
        <pc:grpChg chg="mod">
          <ac:chgData name="Darcy Roach" userId="ba676ee9-e9b4-49e8-a515-8077106c948d" providerId="ADAL" clId="{74C885CB-6E75-42B6-8027-36EBFF5AE072}" dt="2025-08-06T02:05:07.001" v="1145"/>
          <ac:grpSpMkLst>
            <pc:docMk/>
            <pc:sldMk cId="2009923557" sldId="270"/>
            <ac:grpSpMk id="5" creationId="{980A06B1-0A2F-7DF6-91DB-0F6DFA896A23}"/>
          </ac:grpSpMkLst>
        </pc:grpChg>
        <pc:cxnChg chg="mod">
          <ac:chgData name="Darcy Roach" userId="ba676ee9-e9b4-49e8-a515-8077106c948d" providerId="ADAL" clId="{74C885CB-6E75-42B6-8027-36EBFF5AE072}" dt="2025-08-06T01:45:36.483" v="825" actId="1035"/>
          <ac:cxnSpMkLst>
            <pc:docMk/>
            <pc:sldMk cId="2009923557" sldId="270"/>
            <ac:cxnSpMk id="3" creationId="{67C34E10-2CF8-9BCA-1CC6-D78A3FF9CA80}"/>
          </ac:cxnSpMkLst>
        </pc:cxnChg>
        <pc:cxnChg chg="mod">
          <ac:chgData name="Darcy Roach" userId="ba676ee9-e9b4-49e8-a515-8077106c948d" providerId="ADAL" clId="{74C885CB-6E75-42B6-8027-36EBFF5AE072}" dt="2025-08-06T01:45:25.133" v="824" actId="1036"/>
          <ac:cxnSpMkLst>
            <pc:docMk/>
            <pc:sldMk cId="2009923557" sldId="270"/>
            <ac:cxnSpMk id="10" creationId="{6260F2C2-2BAD-8746-08BD-953DBDF86432}"/>
          </ac:cxnSpMkLst>
        </pc:cxnChg>
        <pc:cxnChg chg="add mod">
          <ac:chgData name="Darcy Roach" userId="ba676ee9-e9b4-49e8-a515-8077106c948d" providerId="ADAL" clId="{74C885CB-6E75-42B6-8027-36EBFF5AE072}" dt="2025-08-06T01:50:52.468" v="947" actId="1076"/>
          <ac:cxnSpMkLst>
            <pc:docMk/>
            <pc:sldMk cId="2009923557" sldId="270"/>
            <ac:cxnSpMk id="30" creationId="{9080301C-77F2-AD52-5916-C3B822B0149C}"/>
          </ac:cxnSpMkLst>
        </pc:cxnChg>
        <pc:cxnChg chg="mod">
          <ac:chgData name="Darcy Roach" userId="ba676ee9-e9b4-49e8-a515-8077106c948d" providerId="ADAL" clId="{74C885CB-6E75-42B6-8027-36EBFF5AE072}" dt="2025-08-06T02:05:07.001" v="1145"/>
          <ac:cxnSpMkLst>
            <pc:docMk/>
            <pc:sldMk cId="2009923557" sldId="270"/>
            <ac:cxnSpMk id="40" creationId="{872A9DC1-BA60-5A54-0907-130AE22B314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749701C-9EBA-40CC-BD8B-4D7BF0D0B926}" type="datetimeFigureOut">
              <a:rPr lang="en-AU" smtClean="0"/>
              <a:t>26/08/2025</a:t>
            </a:fld>
            <a:endParaRPr lang="en-AU"/>
          </a:p>
        </p:txBody>
      </p:sp>
      <p:sp>
        <p:nvSpPr>
          <p:cNvPr id="4" name="Slide Image Placeholder 3"/>
          <p:cNvSpPr>
            <a:spLocks noGrp="1" noRot="1" noChangeAspect="1"/>
          </p:cNvSpPr>
          <p:nvPr>
            <p:ph type="sldImg" idx="2"/>
          </p:nvPr>
        </p:nvSpPr>
        <p:spPr>
          <a:xfrm>
            <a:off x="3074988" y="857250"/>
            <a:ext cx="2994025"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9E10FD8D-36A7-4698-B581-E0FE1ADD2359}" type="slidenum">
              <a:rPr lang="en-AU" smtClean="0"/>
              <a:t>‹#›</a:t>
            </a:fld>
            <a:endParaRPr lang="en-AU"/>
          </a:p>
        </p:txBody>
      </p:sp>
    </p:spTree>
    <p:extLst>
      <p:ext uri="{BB962C8B-B14F-4D97-AF65-F5344CB8AC3E}">
        <p14:creationId xmlns:p14="http://schemas.microsoft.com/office/powerpoint/2010/main" val="4119793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AU" dirty="0"/>
          </a:p>
        </p:txBody>
      </p:sp>
      <p:sp>
        <p:nvSpPr>
          <p:cNvPr id="4" name="Slide Number Placeholder 3"/>
          <p:cNvSpPr>
            <a:spLocks noGrp="1"/>
          </p:cNvSpPr>
          <p:nvPr>
            <p:ph type="sldNum" sz="quarter" idx="5"/>
          </p:nvPr>
        </p:nvSpPr>
        <p:spPr/>
        <p:txBody>
          <a:bodyPr/>
          <a:lstStyle/>
          <a:p>
            <a:fld id="{9E10FD8D-36A7-4698-B581-E0FE1ADD2359}" type="slidenum">
              <a:rPr lang="en-AU" smtClean="0"/>
              <a:t>1</a:t>
            </a:fld>
            <a:endParaRPr lang="en-AU"/>
          </a:p>
        </p:txBody>
      </p:sp>
    </p:spTree>
    <p:extLst>
      <p:ext uri="{BB962C8B-B14F-4D97-AF65-F5344CB8AC3E}">
        <p14:creationId xmlns:p14="http://schemas.microsoft.com/office/powerpoint/2010/main" val="2580453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8/26/2025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8/26/2025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8/26/2025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8/26/2025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8/26/2025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8/26/2025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9CD73AD-37BE-CE99-424E-8286EA039856}"/>
              </a:ext>
            </a:extLst>
          </p:cNvPr>
          <p:cNvGrpSpPr/>
          <p:nvPr/>
        </p:nvGrpSpPr>
        <p:grpSpPr>
          <a:xfrm>
            <a:off x="3425115" y="3198110"/>
            <a:ext cx="4572309" cy="2585323"/>
            <a:chOff x="5030740" y="2225627"/>
            <a:chExt cx="4883932" cy="2585323"/>
          </a:xfrm>
        </p:grpSpPr>
        <p:sp>
          <p:nvSpPr>
            <p:cNvPr id="9" name="TextBox 8">
              <a:extLst>
                <a:ext uri="{FF2B5EF4-FFF2-40B4-BE49-F238E27FC236}">
                  <a16:creationId xmlns:a16="http://schemas.microsoft.com/office/drawing/2014/main" id="{8BF88D81-5535-9CA4-E956-E5A6096E59DC}"/>
                </a:ext>
              </a:extLst>
            </p:cNvPr>
            <p:cNvSpPr txBox="1"/>
            <p:nvPr/>
          </p:nvSpPr>
          <p:spPr>
            <a:xfrm>
              <a:off x="5059474" y="2225627"/>
              <a:ext cx="4855198" cy="2585323"/>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latin typeface="Roboto Light"/>
                  <a:ea typeface="Roboto Light"/>
                  <a:cs typeface="Roboto Light"/>
                </a:rPr>
                <a:t>Maintained process control and reduced variation on combustion and electrical systems by developing and utilising relevant real-time infrastructure dashboards and visualisation tools</a:t>
              </a:r>
            </a:p>
            <a:p>
              <a:r>
                <a:rPr lang="en-AU" sz="1000" dirty="0">
                  <a:latin typeface="Roboto Light"/>
                  <a:ea typeface="Roboto Light"/>
                  <a:cs typeface="Roboto Light"/>
                </a:rPr>
                <a:t>Developed and refined the asset strategy to align with the manufacturing unit’s priorities</a:t>
              </a:r>
            </a:p>
            <a:p>
              <a:r>
                <a:rPr lang="en-AU" sz="1000" dirty="0">
                  <a:latin typeface="Roboto Light"/>
                  <a:ea typeface="Roboto Light"/>
                  <a:cs typeface="Roboto Light"/>
                </a:rPr>
                <a:t>Created visualizations using Aware and acquired data from OSI PI data mart</a:t>
              </a:r>
            </a:p>
            <a:p>
              <a:r>
                <a:rPr lang="en-AU" sz="1000" dirty="0">
                  <a:latin typeface="Roboto Light"/>
                  <a:ea typeface="Roboto Light"/>
                  <a:cs typeface="Roboto Light"/>
                </a:rPr>
                <a:t>Collected on prem real time PLC, Wise sensor and ingesting data into </a:t>
              </a:r>
              <a:r>
                <a:rPr lang="en-AU" sz="1000" dirty="0" err="1">
                  <a:latin typeface="Roboto Light"/>
                  <a:ea typeface="Roboto Light"/>
                  <a:cs typeface="Roboto Light"/>
                </a:rPr>
                <a:t>ibAnalyser</a:t>
              </a:r>
              <a:r>
                <a:rPr lang="en-AU" sz="1000" dirty="0">
                  <a:latin typeface="Roboto Light"/>
                  <a:ea typeface="Roboto Light"/>
                  <a:cs typeface="Roboto Light"/>
                </a:rPr>
                <a:t> Datawarehouse</a:t>
              </a:r>
            </a:p>
            <a:p>
              <a:r>
                <a:rPr lang="en-AU" sz="1000" dirty="0">
                  <a:latin typeface="Roboto Light"/>
                  <a:ea typeface="Roboto Light"/>
                  <a:cs typeface="Roboto Light"/>
                </a:rPr>
                <a:t>Performed root cause analysis and undertook safe diagnosis, maintenance, emergency and planned repairs to equipment.</a:t>
              </a:r>
            </a:p>
            <a:p>
              <a:r>
                <a:rPr lang="en-AU" sz="1000" dirty="0">
                  <a:latin typeface="Roboto Light"/>
                  <a:ea typeface="Roboto Light"/>
                  <a:cs typeface="Roboto Light"/>
                </a:rPr>
                <a:t>Contributed to continuous improvement and strategy of furnaces - delivered process and equipment performance analysis and identified trends for variation and potential failure</a:t>
              </a:r>
            </a:p>
            <a:p>
              <a:r>
                <a:rPr lang="en-AU" sz="1000" dirty="0">
                  <a:latin typeface="Roboto Light"/>
                  <a:ea typeface="Roboto Light"/>
                  <a:cs typeface="Roboto Light"/>
                </a:rPr>
                <a:t>Ensured maintenance processes are developed and executed in line with safety standards</a:t>
              </a:r>
              <a:endParaRPr lang="en-AU" sz="1000" dirty="0"/>
            </a:p>
          </p:txBody>
        </p:sp>
        <p:cxnSp>
          <p:nvCxnSpPr>
            <p:cNvPr id="10" name="Straight Connector 9">
              <a:extLst>
                <a:ext uri="{FF2B5EF4-FFF2-40B4-BE49-F238E27FC236}">
                  <a16:creationId xmlns:a16="http://schemas.microsoft.com/office/drawing/2014/main" id="{6260F2C2-2BAD-8746-08BD-953DBDF86432}"/>
                </a:ext>
              </a:extLst>
            </p:cNvPr>
            <p:cNvCxnSpPr>
              <a:cxnSpLocks/>
            </p:cNvCxnSpPr>
            <p:nvPr/>
          </p:nvCxnSpPr>
          <p:spPr>
            <a:xfrm>
              <a:off x="5030740" y="2315302"/>
              <a:ext cx="0" cy="242743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75" name="TextBox 174">
            <a:extLst>
              <a:ext uri="{FF2B5EF4-FFF2-40B4-BE49-F238E27FC236}">
                <a16:creationId xmlns:a16="http://schemas.microsoft.com/office/drawing/2014/main" id="{B9775FC7-7124-8CCA-9B1C-7CCD7D3DF384}"/>
              </a:ext>
            </a:extLst>
          </p:cNvPr>
          <p:cNvSpPr txBox="1"/>
          <p:nvPr/>
        </p:nvSpPr>
        <p:spPr>
          <a:xfrm>
            <a:off x="8118489" y="1530265"/>
            <a:ext cx="1951941" cy="116955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Manufacturing</a:t>
            </a:r>
          </a:p>
          <a:p>
            <a:pPr marL="0" indent="0">
              <a:lnSpc>
                <a:spcPct val="150000"/>
              </a:lnSpc>
              <a:buNone/>
            </a:pPr>
            <a:r>
              <a:rPr lang="en-GB" sz="1200" dirty="0">
                <a:solidFill>
                  <a:srgbClr val="00AB80"/>
                </a:solidFill>
              </a:rPr>
              <a:t>Education</a:t>
            </a:r>
          </a:p>
          <a:p>
            <a:pPr marL="0" indent="0">
              <a:lnSpc>
                <a:spcPct val="150000"/>
              </a:lnSpc>
              <a:buNone/>
            </a:pPr>
            <a:r>
              <a:rPr lang="en-GB" sz="1200" dirty="0">
                <a:solidFill>
                  <a:srgbClr val="00AB80"/>
                </a:solidFill>
              </a:rPr>
              <a:t>Media</a:t>
            </a:r>
          </a:p>
          <a:p>
            <a:pPr marL="0" indent="0">
              <a:lnSpc>
                <a:spcPct val="150000"/>
              </a:lnSpc>
              <a:buNone/>
            </a:pPr>
            <a:r>
              <a:rPr lang="en-GB" sz="1200" dirty="0">
                <a:solidFill>
                  <a:srgbClr val="00AB80"/>
                </a:solidFill>
              </a:rPr>
              <a:t>Energy</a:t>
            </a:r>
          </a:p>
        </p:txBody>
      </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65598" y="54658"/>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405241"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Dhivya Gnanasekaran</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91123"/>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a:ea typeface="Roboto Light"/>
                <a:cs typeface="Lato"/>
              </a:rPr>
              <a:t>Senior Consultant</a:t>
            </a:r>
            <a:endPar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endParaRP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47849"/>
            <a:ext cx="1510046" cy="2031325"/>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 C++</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Phython</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Airflow</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BigQuery</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PowerBI</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Looker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Grafana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GitHub</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Terraform</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ibAnalyser</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OSI PI</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67846"/>
            <a:ext cx="0" cy="1275354"/>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4"/>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388035"/>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745663"/>
            <a:ext cx="0" cy="639941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954361"/>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527333"/>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603479"/>
            <a:ext cx="1951941" cy="2677656"/>
            <a:chOff x="8106458" y="2681447"/>
            <a:chExt cx="1951941" cy="2677656"/>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2677656"/>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Google Cloud | Certified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Masters | Advanced Engineering, Electrical &amp; Communications -Monash University</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Engineering, Electronics &amp; Communications – Easwari Engineering College (India)</a:t>
              </a: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47849"/>
            <a:ext cx="1467504"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Microsoft Azure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DataOps</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Transformation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Leadership</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70" y="1146052"/>
            <a:ext cx="4631164" cy="276999"/>
          </a:xfrm>
          <a:prstGeom prst="rect">
            <a:avLst/>
          </a:prstGeom>
          <a:noFill/>
        </p:spPr>
        <p:txBody>
          <a:bodyPr wrap="square" lIns="91440" tIns="45720" rIns="91440" bIns="45720" rtlCol="0" anchor="t">
            <a:spAutoFit/>
          </a:bodyPr>
          <a:lstStyle/>
          <a:p>
            <a:r>
              <a:rPr lang="en-US" sz="1200" b="1" dirty="0">
                <a:solidFill>
                  <a:srgbClr val="0059FF"/>
                </a:solidFill>
                <a:latin typeface="Roboto"/>
                <a:ea typeface="Roboto"/>
                <a:cs typeface="Roboto"/>
              </a:rPr>
              <a:t>Australian Manufacturing </a:t>
            </a:r>
            <a:r>
              <a:rPr lang="en-US" sz="1200" b="1" dirty="0" err="1">
                <a:solidFill>
                  <a:srgbClr val="0059FF"/>
                </a:solidFill>
                <a:latin typeface="Roboto"/>
                <a:ea typeface="Roboto"/>
                <a:cs typeface="Roboto"/>
              </a:rPr>
              <a:t>Organisation</a:t>
            </a:r>
            <a:r>
              <a:rPr lang="en-AU" sz="1200" b="1" dirty="0">
                <a:solidFill>
                  <a:srgbClr val="0059FF"/>
                </a:solidFill>
                <a:latin typeface="Roboto"/>
                <a:ea typeface="Roboto"/>
                <a:cs typeface="Roboto"/>
              </a:rPr>
              <a:t> – Data Engineer</a:t>
            </a:r>
          </a:p>
        </p:txBody>
      </p:sp>
      <p:sp>
        <p:nvSpPr>
          <p:cNvPr id="8" name="TextBox 7">
            <a:extLst>
              <a:ext uri="{FF2B5EF4-FFF2-40B4-BE49-F238E27FC236}">
                <a16:creationId xmlns:a16="http://schemas.microsoft.com/office/drawing/2014/main" id="{59FEB941-5146-6B10-4E4D-8A4ADE918AEF}"/>
              </a:ext>
            </a:extLst>
          </p:cNvPr>
          <p:cNvSpPr txBox="1"/>
          <p:nvPr/>
        </p:nvSpPr>
        <p:spPr>
          <a:xfrm>
            <a:off x="3463965" y="1351514"/>
            <a:ext cx="4500500" cy="1508105"/>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Developed data pipelines to ingest sensor data being collected from </a:t>
            </a:r>
            <a:r>
              <a:rPr lang="en-AU" sz="1000" dirty="0" err="1">
                <a:solidFill>
                  <a:schemeClr val="bg1"/>
                </a:solidFill>
              </a:rPr>
              <a:t>ibAnalyser</a:t>
            </a:r>
            <a:r>
              <a:rPr lang="en-AU" sz="1000" dirty="0">
                <a:solidFill>
                  <a:schemeClr val="bg1"/>
                </a:solidFill>
              </a:rPr>
              <a:t> into </a:t>
            </a:r>
            <a:r>
              <a:rPr lang="en-AU" sz="1000" dirty="0" err="1">
                <a:solidFill>
                  <a:schemeClr val="bg1"/>
                </a:solidFill>
              </a:rPr>
              <a:t>BigQuery</a:t>
            </a:r>
            <a:r>
              <a:rPr lang="en-AU" sz="1000" dirty="0">
                <a:solidFill>
                  <a:schemeClr val="bg1"/>
                </a:solidFill>
              </a:rPr>
              <a:t>.</a:t>
            </a:r>
          </a:p>
          <a:p>
            <a:r>
              <a:rPr lang="en-AU" sz="1000" dirty="0">
                <a:solidFill>
                  <a:schemeClr val="bg1"/>
                </a:solidFill>
              </a:rPr>
              <a:t>Created data products in </a:t>
            </a:r>
            <a:r>
              <a:rPr lang="en-AU" sz="1000" dirty="0" err="1">
                <a:solidFill>
                  <a:schemeClr val="bg1"/>
                </a:solidFill>
              </a:rPr>
              <a:t>BigQuery</a:t>
            </a:r>
            <a:r>
              <a:rPr lang="en-AU" sz="1000" dirty="0">
                <a:solidFill>
                  <a:schemeClr val="bg1"/>
                </a:solidFill>
              </a:rPr>
              <a:t> using Python and Airflow</a:t>
            </a:r>
          </a:p>
          <a:p>
            <a:r>
              <a:rPr lang="en-AU" sz="1000" dirty="0">
                <a:solidFill>
                  <a:schemeClr val="bg1"/>
                </a:solidFill>
              </a:rPr>
              <a:t>Managed the governance within GCP throughout Digital transformation</a:t>
            </a:r>
          </a:p>
          <a:p>
            <a:r>
              <a:rPr lang="en-AU" sz="1000" dirty="0">
                <a:solidFill>
                  <a:schemeClr val="bg1"/>
                </a:solidFill>
              </a:rPr>
              <a:t>Engaged in preliminary data architecture decision and provided supporting evidence on implementing Google container scanning to scan images pushed into artifact registry</a:t>
            </a:r>
          </a:p>
          <a:p>
            <a:r>
              <a:rPr lang="en-AU" sz="1000" dirty="0">
                <a:solidFill>
                  <a:schemeClr val="bg1"/>
                </a:solidFill>
              </a:rPr>
              <a:t>Created visualisation assets using Looker and Tableau for operational and Business use cases respectively</a:t>
            </a:r>
          </a:p>
        </p:txBody>
      </p:sp>
      <p:sp>
        <p:nvSpPr>
          <p:cNvPr id="34" name="TextBox 33">
            <a:extLst>
              <a:ext uri="{FF2B5EF4-FFF2-40B4-BE49-F238E27FC236}">
                <a16:creationId xmlns:a16="http://schemas.microsoft.com/office/drawing/2014/main" id="{43536914-D7FE-0F22-C18B-A5D89F6503CF}"/>
              </a:ext>
            </a:extLst>
          </p:cNvPr>
          <p:cNvSpPr txBox="1"/>
          <p:nvPr/>
        </p:nvSpPr>
        <p:spPr>
          <a:xfrm>
            <a:off x="259402" y="1530265"/>
            <a:ext cx="2916080" cy="3254096"/>
          </a:xfrm>
          <a:prstGeom prst="rect">
            <a:avLst/>
          </a:prstGeom>
          <a:noFill/>
        </p:spPr>
        <p:txBody>
          <a:bodyPr wrap="square" lIns="0" tIns="0" rIns="0" bIns="0" rtlCol="0" anchor="t">
            <a:spAutoFit/>
          </a:bodyPr>
          <a:lstStyle/>
          <a:p>
            <a:pPr>
              <a:lnSpc>
                <a:spcPts val="1500"/>
              </a:lnSpc>
            </a:pPr>
            <a:r>
              <a:rPr lang="en-AU" sz="1000" spc="13" dirty="0">
                <a:latin typeface="Roboto Light"/>
                <a:ea typeface="Roboto Light"/>
                <a:cs typeface="Lato"/>
              </a:rPr>
              <a:t>Dhivya is a Google-certified Data Engineer with over 5 years of experience. Passionate about leveraging data to drive meaningful business outcomes, Dhivya thrives on tackling complex data challenges and specialises in architecting and implementing batch processing pipelines using Airflow, Python, SQL, and </a:t>
            </a:r>
            <a:r>
              <a:rPr lang="en-AU" sz="1000" spc="13" dirty="0" err="1">
                <a:latin typeface="Roboto Light"/>
                <a:ea typeface="Roboto Light"/>
                <a:cs typeface="Lato"/>
              </a:rPr>
              <a:t>BigQuery</a:t>
            </a:r>
            <a:r>
              <a:rPr lang="en-AU" sz="1000" spc="13" dirty="0">
                <a:latin typeface="Roboto Light"/>
                <a:ea typeface="Roboto Light"/>
                <a:cs typeface="Lato"/>
              </a:rPr>
              <a:t>.</a:t>
            </a:r>
          </a:p>
          <a:p>
            <a:pPr>
              <a:lnSpc>
                <a:spcPts val="1500"/>
              </a:lnSpc>
            </a:pPr>
            <a:endParaRPr lang="en-AU" sz="1000" spc="13" dirty="0">
              <a:latin typeface="Roboto Light"/>
              <a:ea typeface="Roboto Light"/>
              <a:cs typeface="Lato"/>
            </a:endParaRPr>
          </a:p>
          <a:p>
            <a:pPr>
              <a:lnSpc>
                <a:spcPts val="1500"/>
              </a:lnSpc>
            </a:pPr>
            <a:r>
              <a:rPr lang="en-AU" sz="1000" spc="13" dirty="0">
                <a:latin typeface="Roboto Light"/>
                <a:ea typeface="Roboto Light"/>
                <a:cs typeface="Lato"/>
              </a:rPr>
              <a:t>Additionally, Dhivya is skilled in developing insightful dashboards and reports using Power BI and Tableau to drive data-informed decisions across organisations. Her expertise extends to real-time ETL processes, building data marts, and utilising CI/CD deployment workflows using GitHub Actions, Shell scripting, and Terraform for infrastructure automation, Dhivya ensures robust </a:t>
            </a:r>
            <a:r>
              <a:rPr lang="en-AU" sz="1000" spc="13" dirty="0" err="1">
                <a:latin typeface="Roboto Light"/>
                <a:ea typeface="Roboto Light"/>
                <a:cs typeface="Lato"/>
              </a:rPr>
              <a:t>DataOps</a:t>
            </a:r>
            <a:r>
              <a:rPr lang="en-AU" sz="1000" spc="13" dirty="0">
                <a:latin typeface="Roboto Light"/>
                <a:ea typeface="Roboto Light"/>
                <a:cs typeface="Lato"/>
              </a:rPr>
              <a:t> practices are in place. </a:t>
            </a:r>
            <a:endParaRPr lang="en-AU" sz="600" spc="13" dirty="0">
              <a:latin typeface="Roboto Light"/>
              <a:ea typeface="Roboto Light"/>
              <a:cs typeface="Lato"/>
            </a:endParaRPr>
          </a:p>
        </p:txBody>
      </p:sp>
      <p:sp>
        <p:nvSpPr>
          <p:cNvPr id="12" name="TextBox 11">
            <a:extLst>
              <a:ext uri="{FF2B5EF4-FFF2-40B4-BE49-F238E27FC236}">
                <a16:creationId xmlns:a16="http://schemas.microsoft.com/office/drawing/2014/main" id="{71E8655A-9388-59BA-F0D8-754D1DA66332}"/>
              </a:ext>
            </a:extLst>
          </p:cNvPr>
          <p:cNvSpPr txBox="1"/>
          <p:nvPr/>
        </p:nvSpPr>
        <p:spPr>
          <a:xfrm>
            <a:off x="3332724" y="2971411"/>
            <a:ext cx="4591676" cy="276999"/>
          </a:xfrm>
          <a:prstGeom prst="rect">
            <a:avLst/>
          </a:prstGeom>
          <a:noFill/>
        </p:spPr>
        <p:txBody>
          <a:bodyPr wrap="square" lIns="91440" tIns="45720" rIns="91440" bIns="45720" rtlCol="0" anchor="t">
            <a:spAutoFit/>
          </a:bodyPr>
          <a:lstStyle/>
          <a:p>
            <a:r>
              <a:rPr lang="en-AU" sz="1200" b="1">
                <a:solidFill>
                  <a:srgbClr val="ED7D31"/>
                </a:solidFill>
                <a:latin typeface="Roboto"/>
                <a:ea typeface="Roboto"/>
                <a:cs typeface="Roboto"/>
              </a:rPr>
              <a:t>Australian Manufacturing </a:t>
            </a:r>
            <a:r>
              <a:rPr lang="en-AU" sz="1200" b="1" dirty="0">
                <a:solidFill>
                  <a:srgbClr val="ED7D31"/>
                </a:solidFill>
                <a:latin typeface="Roboto"/>
                <a:ea typeface="Roboto"/>
                <a:cs typeface="Roboto"/>
              </a:rPr>
              <a:t>Organisation – DevOps Engineer</a:t>
            </a:r>
          </a:p>
        </p:txBody>
      </p:sp>
      <p:cxnSp>
        <p:nvCxnSpPr>
          <p:cNvPr id="30" name="Straight Connector 29">
            <a:extLst>
              <a:ext uri="{FF2B5EF4-FFF2-40B4-BE49-F238E27FC236}">
                <a16:creationId xmlns:a16="http://schemas.microsoft.com/office/drawing/2014/main" id="{9080301C-77F2-AD52-5916-C3B822B0149C}"/>
              </a:ext>
            </a:extLst>
          </p:cNvPr>
          <p:cNvCxnSpPr>
            <a:cxnSpLocks/>
          </p:cNvCxnSpPr>
          <p:nvPr/>
        </p:nvCxnSpPr>
        <p:spPr>
          <a:xfrm>
            <a:off x="3428143" y="6224419"/>
            <a:ext cx="0" cy="1259151"/>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E2C84FB-1E08-EFA5-3533-776F714B2F21}"/>
              </a:ext>
            </a:extLst>
          </p:cNvPr>
          <p:cNvSpPr txBox="1"/>
          <p:nvPr/>
        </p:nvSpPr>
        <p:spPr>
          <a:xfrm>
            <a:off x="3321270" y="5923891"/>
            <a:ext cx="4631164" cy="276999"/>
          </a:xfrm>
          <a:prstGeom prst="rect">
            <a:avLst/>
          </a:prstGeom>
          <a:noFill/>
        </p:spPr>
        <p:txBody>
          <a:bodyPr wrap="square" lIns="91440" tIns="45720" rIns="91440" bIns="45720" rtlCol="0" anchor="t">
            <a:spAutoFit/>
          </a:bodyPr>
          <a:lstStyle/>
          <a:p>
            <a:r>
              <a:rPr lang="en-US" sz="1200" b="1" dirty="0">
                <a:solidFill>
                  <a:srgbClr val="A93584"/>
                </a:solidFill>
                <a:latin typeface="Roboto"/>
                <a:ea typeface="Roboto"/>
                <a:cs typeface="Roboto"/>
              </a:rPr>
              <a:t>Australian Tertiary Education </a:t>
            </a:r>
            <a:r>
              <a:rPr lang="en-US" sz="1200" b="1" dirty="0" err="1">
                <a:solidFill>
                  <a:srgbClr val="A93584"/>
                </a:solidFill>
                <a:latin typeface="Roboto"/>
                <a:ea typeface="Roboto"/>
                <a:cs typeface="Roboto"/>
              </a:rPr>
              <a:t>Organisation</a:t>
            </a:r>
            <a:r>
              <a:rPr lang="en-AU" sz="1200" b="1" dirty="0">
                <a:solidFill>
                  <a:srgbClr val="A93584"/>
                </a:solidFill>
                <a:latin typeface="Roboto"/>
                <a:ea typeface="Roboto"/>
                <a:cs typeface="Roboto"/>
              </a:rPr>
              <a:t> – Data Engineer</a:t>
            </a:r>
          </a:p>
        </p:txBody>
      </p:sp>
      <p:sp>
        <p:nvSpPr>
          <p:cNvPr id="32" name="TextBox 31">
            <a:extLst>
              <a:ext uri="{FF2B5EF4-FFF2-40B4-BE49-F238E27FC236}">
                <a16:creationId xmlns:a16="http://schemas.microsoft.com/office/drawing/2014/main" id="{E8E7A092-C12A-8E7A-3B4F-A614FC1E0E50}"/>
              </a:ext>
            </a:extLst>
          </p:cNvPr>
          <p:cNvSpPr txBox="1"/>
          <p:nvPr/>
        </p:nvSpPr>
        <p:spPr>
          <a:xfrm>
            <a:off x="3463964" y="6129353"/>
            <a:ext cx="4654525" cy="1354217"/>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Designed an electronic circuit to communicate with a rocket from the control station and to control the valves of fuel tanks and oxidiser tanks using </a:t>
            </a:r>
            <a:r>
              <a:rPr lang="en-AU" sz="1000" dirty="0" err="1">
                <a:solidFill>
                  <a:schemeClr val="bg1"/>
                </a:solidFill>
              </a:rPr>
              <a:t>KiCAD</a:t>
            </a:r>
            <a:r>
              <a:rPr lang="en-AU" sz="1000" dirty="0">
                <a:solidFill>
                  <a:schemeClr val="bg1"/>
                </a:solidFill>
              </a:rPr>
              <a:t> and Arduino</a:t>
            </a:r>
          </a:p>
          <a:p>
            <a:r>
              <a:rPr lang="en-AU" sz="1000" dirty="0">
                <a:solidFill>
                  <a:schemeClr val="bg1"/>
                </a:solidFill>
              </a:rPr>
              <a:t>As a team won first place in AURC shoal - modelling and simulation</a:t>
            </a:r>
          </a:p>
          <a:p>
            <a:r>
              <a:rPr lang="en-AU" sz="1000" dirty="0">
                <a:solidFill>
                  <a:schemeClr val="bg1"/>
                </a:solidFill>
              </a:rPr>
              <a:t>Remained highly knowledgeable in safety standards and guidelines specified by AURC</a:t>
            </a:r>
          </a:p>
          <a:p>
            <a:r>
              <a:rPr lang="en-AU" sz="1000" dirty="0">
                <a:solidFill>
                  <a:schemeClr val="bg1"/>
                </a:solidFill>
              </a:rPr>
              <a:t>Coordinated and planned project works to ensure that results were achieved within project schedule.</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34DEBD-EF7F-418D-BEA7-68DB4E533249}">
  <ds:schemaRefs>
    <ds:schemaRef ds:uri="http://purl.org/dc/terms/"/>
    <ds:schemaRef ds:uri="http://purl.org/dc/elements/1.1/"/>
    <ds:schemaRef ds:uri="http://schemas.openxmlformats.org/package/2006/metadata/core-properties"/>
    <ds:schemaRef ds:uri="e52cd9e7-35e5-4bd3-9cab-ca6a63c31e52"/>
    <ds:schemaRef ds:uri="http://schemas.microsoft.com/office/2006/documentManagement/types"/>
    <ds:schemaRef ds:uri="http://purl.org/dc/dcmitype/"/>
    <ds:schemaRef ds:uri="http://schemas.microsoft.com/office/infopath/2007/PartnerControls"/>
    <ds:schemaRef ds:uri="daf93972-1964-4522-aa34-640805a01c3a"/>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273751C5-9698-40F5-AD20-4BF57165A770}">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25800A5-016C-48F2-9776-20E979C4EE0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173</TotalTime>
  <Words>488</Words>
  <Application>Microsoft Office PowerPoint</Application>
  <PresentationFormat>Custom</PresentationFormat>
  <Paragraphs>70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8</cp:revision>
  <dcterms:created xsi:type="dcterms:W3CDTF">2019-12-03T01:50:37Z</dcterms:created>
  <dcterms:modified xsi:type="dcterms:W3CDTF">2025-08-27T04:40:55Z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