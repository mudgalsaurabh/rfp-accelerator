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Lst>
  <p:sldSz cx="18288000" cy="10287000"/>
  <p:notesSz cx="6858000" cy="9144000"/>
  <p:embeddedFontLst>
    <p:embeddedFont>
      <p:font typeface="Roboto" panose="02000000000000000000" pitchFamily="2" charset="0"/>
      <p:regular r:id="rId3"/>
      <p:bold r:id="rId4"/>
      <p:italic r:id="rId5"/>
      <p:boldItalic r:id="rId6"/>
    </p:embeddedFont>
    <p:embeddedFont>
      <p:font typeface="Roboto Bold" panose="02000000000000000000" charset="0"/>
      <p:regular r:id="rId7"/>
      <p:bold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2B3F"/>
    <a:srgbClr val="00AA7F"/>
    <a:srgbClr val="D77432"/>
    <a:srgbClr val="92337A"/>
    <a:srgbClr val="0059FF"/>
    <a:srgbClr val="EF9B6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8" d="100"/>
          <a:sy n="38" d="100"/>
        </p:scale>
        <p:origin x="672"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6.fntdata"/><Relationship Id="rId13" Type="http://schemas.openxmlformats.org/officeDocument/2006/relationships/customXml" Target="../customXml/item1.xml"/><Relationship Id="rId3" Type="http://schemas.openxmlformats.org/officeDocument/2006/relationships/font" Target="fonts/font1.fntdata"/><Relationship Id="rId7" Type="http://schemas.openxmlformats.org/officeDocument/2006/relationships/font" Target="fonts/font5.fntdata"/><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4.fntdata"/><Relationship Id="rId11" Type="http://schemas.openxmlformats.org/officeDocument/2006/relationships/theme" Target="theme/theme1.xml"/><Relationship Id="rId5" Type="http://schemas.openxmlformats.org/officeDocument/2006/relationships/font" Target="fonts/font3.fntdata"/><Relationship Id="rId15" Type="http://schemas.openxmlformats.org/officeDocument/2006/relationships/customXml" Target="../customXml/item3.xml"/><Relationship Id="rId10" Type="http://schemas.openxmlformats.org/officeDocument/2006/relationships/viewProps" Target="viewProps.xml"/><Relationship Id="rId4" Type="http://schemas.openxmlformats.org/officeDocument/2006/relationships/font" Target="fonts/font2.fntdata"/><Relationship Id="rId9" Type="http://schemas.openxmlformats.org/officeDocument/2006/relationships/presProps" Target="presProps.xml"/><Relationship Id="rId14" Type="http://schemas.openxmlformats.org/officeDocument/2006/relationships/customXml" Target="../customXml/item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sv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
        <p:nvSpPr>
          <p:cNvPr id="7" name="Freeform 2"/>
          <p:cNvSpPr/>
          <p:nvPr userDrawn="1"/>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3"/>
            <a:stretch>
              <a:fillRect t="-9675" b="-9675"/>
            </a:stretch>
          </a:blipFill>
        </p:spPr>
        <p:txBody>
          <a:bodyPr/>
          <a:lstStyle/>
          <a:p>
            <a:endParaRPr lang="en-AU"/>
          </a:p>
        </p:txBody>
      </p:sp>
      <p:sp>
        <p:nvSpPr>
          <p:cNvPr id="8" name="Freeform 7"/>
          <p:cNvSpPr/>
          <p:nvPr userDrawn="1"/>
        </p:nvSpPr>
        <p:spPr>
          <a:xfrm>
            <a:off x="16137869" y="7528219"/>
            <a:ext cx="2145775" cy="2770530"/>
          </a:xfrm>
          <a:custGeom>
            <a:avLst/>
            <a:gdLst/>
            <a:ahLst/>
            <a:cxnLst/>
            <a:rect l="l" t="t" r="r" b="b"/>
            <a:pathLst>
              <a:path w="2150131" h="2776154">
                <a:moveTo>
                  <a:pt x="0" y="0"/>
                </a:moveTo>
                <a:lnTo>
                  <a:pt x="2150131" y="0"/>
                </a:lnTo>
                <a:lnTo>
                  <a:pt x="2150131" y="2776154"/>
                </a:lnTo>
                <a:lnTo>
                  <a:pt x="0" y="2776154"/>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A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flipV="1">
            <a:off x="200025" y="2665197"/>
            <a:ext cx="6493375" cy="0"/>
          </a:xfrm>
          <a:prstGeom prst="line">
            <a:avLst/>
          </a:prstGeom>
          <a:ln w="19050" cap="flat">
            <a:solidFill>
              <a:srgbClr val="0F2B3F"/>
            </a:solidFill>
            <a:prstDash val="sysDot"/>
            <a:headEnd type="none" w="sm" len="sm"/>
            <a:tailEnd type="none" w="sm" len="sm"/>
          </a:ln>
        </p:spPr>
        <p:txBody>
          <a:bodyPr/>
          <a:lstStyle/>
          <a:p>
            <a:endParaRPr lang="en-AU"/>
          </a:p>
        </p:txBody>
      </p:sp>
      <p:sp>
        <p:nvSpPr>
          <p:cNvPr id="4" name="AutoShape 4"/>
          <p:cNvSpPr/>
          <p:nvPr/>
        </p:nvSpPr>
        <p:spPr>
          <a:xfrm flipV="1">
            <a:off x="7119903" y="778751"/>
            <a:ext cx="7629610" cy="0"/>
          </a:xfrm>
          <a:prstGeom prst="line">
            <a:avLst/>
          </a:prstGeom>
          <a:ln w="19050" cap="flat">
            <a:solidFill>
              <a:srgbClr val="0F2B3F"/>
            </a:solidFill>
            <a:prstDash val="sysDot"/>
            <a:headEnd type="none" w="sm" len="sm"/>
            <a:tailEnd type="none" w="sm" len="sm"/>
          </a:ln>
        </p:spPr>
        <p:txBody>
          <a:bodyPr/>
          <a:lstStyle/>
          <a:p>
            <a:endParaRPr lang="en-AU"/>
          </a:p>
        </p:txBody>
      </p:sp>
      <p:sp>
        <p:nvSpPr>
          <p:cNvPr id="5" name="AutoShape 5"/>
          <p:cNvSpPr/>
          <p:nvPr/>
        </p:nvSpPr>
        <p:spPr>
          <a:xfrm flipV="1">
            <a:off x="6934200" y="345438"/>
            <a:ext cx="0" cy="9566935"/>
          </a:xfrm>
          <a:prstGeom prst="line">
            <a:avLst/>
          </a:prstGeom>
          <a:ln w="19050" cap="flat">
            <a:solidFill>
              <a:srgbClr val="00AA7F"/>
            </a:solidFill>
            <a:prstDash val="sysDot"/>
            <a:headEnd type="none" w="sm" len="sm"/>
            <a:tailEnd type="none" w="sm" len="sm"/>
          </a:ln>
        </p:spPr>
        <p:txBody>
          <a:bodyPr/>
          <a:lstStyle/>
          <a:p>
            <a:endParaRPr lang="en-AU"/>
          </a:p>
        </p:txBody>
      </p:sp>
      <p:sp>
        <p:nvSpPr>
          <p:cNvPr id="6" name="AutoShape 6"/>
          <p:cNvSpPr/>
          <p:nvPr/>
        </p:nvSpPr>
        <p:spPr>
          <a:xfrm flipV="1">
            <a:off x="15392400" y="899862"/>
            <a:ext cx="0" cy="9041700"/>
          </a:xfrm>
          <a:prstGeom prst="line">
            <a:avLst/>
          </a:prstGeom>
          <a:ln w="19050" cap="flat">
            <a:solidFill>
              <a:srgbClr val="00AA7F"/>
            </a:solidFill>
            <a:prstDash val="sysDot"/>
            <a:headEnd type="none" w="sm" len="sm"/>
            <a:tailEnd type="none" w="sm" len="sm"/>
          </a:ln>
        </p:spPr>
        <p:txBody>
          <a:bodyPr/>
          <a:lstStyle/>
          <a:p>
            <a:endParaRPr lang="en-AU"/>
          </a:p>
        </p:txBody>
      </p:sp>
      <p:sp>
        <p:nvSpPr>
          <p:cNvPr id="8" name="Freeform 8"/>
          <p:cNvSpPr/>
          <p:nvPr/>
        </p:nvSpPr>
        <p:spPr>
          <a:xfrm>
            <a:off x="15588910" y="204425"/>
            <a:ext cx="2048952" cy="474651"/>
          </a:xfrm>
          <a:custGeom>
            <a:avLst/>
            <a:gdLst/>
            <a:ahLst/>
            <a:cxnLst/>
            <a:rect l="l" t="t" r="r" b="b"/>
            <a:pathLst>
              <a:path w="2048952" h="474651">
                <a:moveTo>
                  <a:pt x="0" y="0"/>
                </a:moveTo>
                <a:lnTo>
                  <a:pt x="2048952" y="0"/>
                </a:lnTo>
                <a:lnTo>
                  <a:pt x="2048952" y="474651"/>
                </a:lnTo>
                <a:lnTo>
                  <a:pt x="0" y="474651"/>
                </a:lnTo>
                <a:lnTo>
                  <a:pt x="0" y="0"/>
                </a:lnTo>
                <a:close/>
              </a:path>
            </a:pathLst>
          </a:custGeom>
          <a:blipFill>
            <a:blip r:embed="rId2"/>
            <a:stretch>
              <a:fillRect/>
            </a:stretch>
          </a:blipFill>
        </p:spPr>
        <p:txBody>
          <a:bodyPr/>
          <a:lstStyle/>
          <a:p>
            <a:endParaRPr lang="en-AU"/>
          </a:p>
        </p:txBody>
      </p:sp>
      <p:sp>
        <p:nvSpPr>
          <p:cNvPr id="9" name="TextBox 9"/>
          <p:cNvSpPr txBox="1"/>
          <p:nvPr/>
        </p:nvSpPr>
        <p:spPr>
          <a:xfrm>
            <a:off x="15568937" y="4218551"/>
            <a:ext cx="2519031" cy="4340932"/>
          </a:xfrm>
          <a:prstGeom prst="rect">
            <a:avLst/>
          </a:prstGeom>
        </p:spPr>
        <p:txBody>
          <a:bodyPr wrap="square" lIns="0" tIns="0" rIns="0" bIns="0" rtlCol="0" anchor="t">
            <a:spAutoFit/>
          </a:bodyPr>
          <a:lstStyle/>
          <a:p>
            <a:pPr algn="l">
              <a:lnSpc>
                <a:spcPts val="1959"/>
              </a:lnSpc>
            </a:pPr>
            <a:r>
              <a:rPr lang="en-US" sz="1399" b="1" dirty="0">
                <a:solidFill>
                  <a:srgbClr val="00AA7F"/>
                </a:solidFill>
                <a:latin typeface="Roboto"/>
                <a:ea typeface="Roboto"/>
                <a:cs typeface="Roboto"/>
                <a:sym typeface="Roboto"/>
              </a:rPr>
              <a:t>Google Cloud | Certified Professional Data Engineer</a:t>
            </a:r>
          </a:p>
          <a:p>
            <a:pPr algn="l">
              <a:lnSpc>
                <a:spcPts val="1959"/>
              </a:lnSpc>
            </a:pPr>
            <a:endParaRPr lang="en-US" sz="1399" b="1" dirty="0">
              <a:solidFill>
                <a:srgbClr val="00AA7F"/>
              </a:solidFill>
              <a:latin typeface="Roboto"/>
              <a:ea typeface="Roboto"/>
              <a:cs typeface="Roboto"/>
              <a:sym typeface="Roboto"/>
            </a:endParaRPr>
          </a:p>
          <a:p>
            <a:pPr>
              <a:lnSpc>
                <a:spcPts val="1959"/>
              </a:lnSpc>
            </a:pPr>
            <a:r>
              <a:rPr lang="en-US" sz="1399" b="1" dirty="0">
                <a:solidFill>
                  <a:srgbClr val="00AA7F"/>
                </a:solidFill>
                <a:latin typeface="Roboto"/>
                <a:ea typeface="Roboto"/>
                <a:cs typeface="Roboto"/>
                <a:sym typeface="Roboto"/>
              </a:rPr>
              <a:t>Google Cloud | Certified Professional Cloud Architect</a:t>
            </a:r>
          </a:p>
          <a:p>
            <a:pPr algn="l">
              <a:lnSpc>
                <a:spcPts val="1959"/>
              </a:lnSpc>
            </a:pPr>
            <a:r>
              <a:rPr lang="en-US" sz="1399" b="1" dirty="0">
                <a:solidFill>
                  <a:srgbClr val="00AA7F"/>
                </a:solidFill>
                <a:latin typeface="Roboto"/>
                <a:ea typeface="Roboto"/>
                <a:cs typeface="Roboto"/>
                <a:sym typeface="Roboto"/>
              </a:rPr>
              <a:t> </a:t>
            </a:r>
          </a:p>
          <a:p>
            <a:pPr>
              <a:lnSpc>
                <a:spcPts val="1959"/>
              </a:lnSpc>
              <a:spcBef>
                <a:spcPct val="0"/>
              </a:spcBef>
            </a:pPr>
            <a:r>
              <a:rPr lang="en-US" sz="1399" b="1" dirty="0">
                <a:solidFill>
                  <a:srgbClr val="00AA7F"/>
                </a:solidFill>
                <a:latin typeface="Roboto"/>
                <a:ea typeface="Roboto"/>
                <a:cs typeface="Roboto"/>
                <a:sym typeface="Roboto"/>
              </a:rPr>
              <a:t>Microsoft | Certified Azure Solutions Architect</a:t>
            </a:r>
          </a:p>
          <a:p>
            <a:pPr>
              <a:lnSpc>
                <a:spcPts val="1959"/>
              </a:lnSpc>
              <a:spcBef>
                <a:spcPct val="0"/>
              </a:spcBef>
            </a:pPr>
            <a:endParaRPr lang="en-US" sz="1399" b="1" dirty="0">
              <a:solidFill>
                <a:srgbClr val="00AA7F"/>
              </a:solidFill>
              <a:latin typeface="Roboto"/>
              <a:ea typeface="Roboto"/>
              <a:cs typeface="Roboto"/>
              <a:sym typeface="Roboto"/>
            </a:endParaRPr>
          </a:p>
          <a:p>
            <a:pPr>
              <a:lnSpc>
                <a:spcPts val="1959"/>
              </a:lnSpc>
              <a:spcBef>
                <a:spcPct val="0"/>
              </a:spcBef>
            </a:pPr>
            <a:r>
              <a:rPr lang="en-US" sz="1399" b="1" dirty="0">
                <a:solidFill>
                  <a:srgbClr val="00AA7F"/>
                </a:solidFill>
                <a:latin typeface="Roboto"/>
                <a:ea typeface="Roboto"/>
                <a:cs typeface="Roboto"/>
                <a:sym typeface="Roboto"/>
              </a:rPr>
              <a:t>Microsoft | Certified Azure Data Engineer Associate</a:t>
            </a:r>
          </a:p>
          <a:p>
            <a:pPr>
              <a:lnSpc>
                <a:spcPts val="1959"/>
              </a:lnSpc>
              <a:spcBef>
                <a:spcPct val="0"/>
              </a:spcBef>
            </a:pPr>
            <a:endParaRPr lang="en-US" sz="1399" b="1" dirty="0">
              <a:solidFill>
                <a:srgbClr val="00AA7F"/>
              </a:solidFill>
              <a:latin typeface="Roboto"/>
              <a:ea typeface="Roboto"/>
              <a:cs typeface="Roboto"/>
              <a:sym typeface="Roboto"/>
            </a:endParaRPr>
          </a:p>
          <a:p>
            <a:pPr>
              <a:lnSpc>
                <a:spcPts val="1959"/>
              </a:lnSpc>
              <a:spcBef>
                <a:spcPct val="0"/>
              </a:spcBef>
            </a:pPr>
            <a:r>
              <a:rPr lang="en-US" sz="1399" b="1" dirty="0">
                <a:solidFill>
                  <a:srgbClr val="00AA7F"/>
                </a:solidFill>
                <a:latin typeface="Roboto"/>
                <a:ea typeface="Roboto"/>
                <a:cs typeface="Roboto"/>
                <a:sym typeface="Roboto"/>
              </a:rPr>
              <a:t>AWS | Certified Solutions Architect - Professional</a:t>
            </a:r>
          </a:p>
          <a:p>
            <a:pPr>
              <a:lnSpc>
                <a:spcPts val="1959"/>
              </a:lnSpc>
              <a:spcBef>
                <a:spcPct val="0"/>
              </a:spcBef>
            </a:pPr>
            <a:endParaRPr lang="en-US" sz="1399" b="1" dirty="0">
              <a:solidFill>
                <a:srgbClr val="00AA7F"/>
              </a:solidFill>
              <a:latin typeface="Roboto"/>
              <a:ea typeface="Roboto"/>
              <a:cs typeface="Roboto"/>
              <a:sym typeface="Roboto"/>
            </a:endParaRPr>
          </a:p>
          <a:p>
            <a:pPr>
              <a:lnSpc>
                <a:spcPts val="1959"/>
              </a:lnSpc>
              <a:spcBef>
                <a:spcPct val="0"/>
              </a:spcBef>
            </a:pPr>
            <a:r>
              <a:rPr lang="en-US" sz="1399" b="1" dirty="0">
                <a:solidFill>
                  <a:srgbClr val="00AA7F"/>
                </a:solidFill>
                <a:latin typeface="Roboto"/>
                <a:ea typeface="Roboto"/>
                <a:cs typeface="Roboto"/>
                <a:sym typeface="Roboto"/>
              </a:rPr>
              <a:t>Scrum.org | Professional Scrum Master</a:t>
            </a:r>
          </a:p>
        </p:txBody>
      </p:sp>
      <p:sp>
        <p:nvSpPr>
          <p:cNvPr id="10" name="AutoShape 10"/>
          <p:cNvSpPr/>
          <p:nvPr/>
        </p:nvSpPr>
        <p:spPr>
          <a:xfrm>
            <a:off x="15568938" y="4112756"/>
            <a:ext cx="2273295" cy="0"/>
          </a:xfrm>
          <a:prstGeom prst="line">
            <a:avLst/>
          </a:prstGeom>
          <a:ln w="19050" cap="flat">
            <a:solidFill>
              <a:srgbClr val="0F2B3F"/>
            </a:solidFill>
            <a:prstDash val="sysDot"/>
            <a:headEnd type="none" w="sm" len="sm"/>
            <a:tailEnd type="none" w="sm" len="sm"/>
          </a:ln>
        </p:spPr>
        <p:txBody>
          <a:bodyPr/>
          <a:lstStyle/>
          <a:p>
            <a:endParaRPr lang="en-AU"/>
          </a:p>
        </p:txBody>
      </p:sp>
      <p:sp>
        <p:nvSpPr>
          <p:cNvPr id="11" name="AutoShape 11"/>
          <p:cNvSpPr/>
          <p:nvPr/>
        </p:nvSpPr>
        <p:spPr>
          <a:xfrm>
            <a:off x="15559425" y="1599612"/>
            <a:ext cx="2273295" cy="0"/>
          </a:xfrm>
          <a:prstGeom prst="line">
            <a:avLst/>
          </a:prstGeom>
          <a:ln w="19050" cap="flat">
            <a:solidFill>
              <a:srgbClr val="0F2B3F"/>
            </a:solidFill>
            <a:prstDash val="sysDot"/>
            <a:headEnd type="none" w="sm" len="sm"/>
            <a:tailEnd type="none" w="sm" len="sm"/>
          </a:ln>
        </p:spPr>
        <p:txBody>
          <a:bodyPr/>
          <a:lstStyle/>
          <a:p>
            <a:endParaRPr lang="en-AU"/>
          </a:p>
        </p:txBody>
      </p:sp>
      <p:sp>
        <p:nvSpPr>
          <p:cNvPr id="12" name="TextBox 12"/>
          <p:cNvSpPr txBox="1"/>
          <p:nvPr/>
        </p:nvSpPr>
        <p:spPr>
          <a:xfrm>
            <a:off x="15539453" y="1104900"/>
            <a:ext cx="7840469" cy="358774"/>
          </a:xfrm>
          <a:prstGeom prst="rect">
            <a:avLst/>
          </a:prstGeom>
        </p:spPr>
        <p:txBody>
          <a:bodyPr lIns="0" tIns="0" rIns="0" bIns="0" rtlCol="0" anchor="t">
            <a:spAutoFit/>
          </a:bodyPr>
          <a:lstStyle/>
          <a:p>
            <a:pPr algn="l">
              <a:lnSpc>
                <a:spcPts val="2800"/>
              </a:lnSpc>
              <a:spcBef>
                <a:spcPct val="0"/>
              </a:spcBef>
            </a:pPr>
            <a:r>
              <a:rPr lang="en-US" sz="2000" b="1">
                <a:solidFill>
                  <a:srgbClr val="0F2B3F"/>
                </a:solidFill>
                <a:latin typeface="Roboto Bold"/>
                <a:ea typeface="Roboto Bold"/>
                <a:cs typeface="Roboto Bold"/>
                <a:sym typeface="Roboto Bold"/>
              </a:rPr>
              <a:t>Industry Experience</a:t>
            </a:r>
          </a:p>
        </p:txBody>
      </p:sp>
      <p:sp>
        <p:nvSpPr>
          <p:cNvPr id="13" name="TextBox 13"/>
          <p:cNvSpPr txBox="1"/>
          <p:nvPr/>
        </p:nvSpPr>
        <p:spPr>
          <a:xfrm>
            <a:off x="15539453" y="1666287"/>
            <a:ext cx="2293267" cy="2468625"/>
          </a:xfrm>
          <a:prstGeom prst="rect">
            <a:avLst/>
          </a:prstGeom>
        </p:spPr>
        <p:txBody>
          <a:bodyPr lIns="0" tIns="0" rIns="0" bIns="0" rtlCol="0" anchor="t">
            <a:spAutoFit/>
          </a:bodyPr>
          <a:lstStyle/>
          <a:p>
            <a:pPr>
              <a:lnSpc>
                <a:spcPts val="2800"/>
              </a:lnSpc>
            </a:pPr>
            <a:r>
              <a:rPr lang="en-US" sz="1400" b="1" dirty="0">
                <a:solidFill>
                  <a:srgbClr val="00AA7F"/>
                </a:solidFill>
                <a:latin typeface="Roboto Bold"/>
                <a:ea typeface="Roboto Bold"/>
                <a:cs typeface="Roboto Bold"/>
                <a:sym typeface="Roboto Bold"/>
              </a:rPr>
              <a:t>Government</a:t>
            </a:r>
          </a:p>
          <a:p>
            <a:pPr>
              <a:lnSpc>
                <a:spcPts val="2800"/>
              </a:lnSpc>
            </a:pPr>
            <a:r>
              <a:rPr lang="en-US" sz="1400" b="1" dirty="0">
                <a:solidFill>
                  <a:srgbClr val="00AA7F"/>
                </a:solidFill>
                <a:latin typeface="Roboto Bold"/>
                <a:ea typeface="Roboto Bold"/>
                <a:cs typeface="Roboto Bold"/>
                <a:sym typeface="Roboto Bold"/>
              </a:rPr>
              <a:t>Financial Services</a:t>
            </a:r>
          </a:p>
          <a:p>
            <a:pPr>
              <a:lnSpc>
                <a:spcPts val="2800"/>
              </a:lnSpc>
            </a:pPr>
            <a:r>
              <a:rPr lang="en-US" sz="1400" b="1" dirty="0">
                <a:solidFill>
                  <a:srgbClr val="00AA7F"/>
                </a:solidFill>
                <a:latin typeface="Roboto Bold"/>
                <a:ea typeface="Roboto Bold"/>
                <a:cs typeface="Roboto Bold"/>
                <a:sym typeface="Roboto Bold"/>
              </a:rPr>
              <a:t>Insurance</a:t>
            </a:r>
          </a:p>
          <a:p>
            <a:pPr>
              <a:lnSpc>
                <a:spcPts val="2800"/>
              </a:lnSpc>
            </a:pPr>
            <a:r>
              <a:rPr lang="en-US" sz="1400" b="1" dirty="0">
                <a:solidFill>
                  <a:srgbClr val="00AA7F"/>
                </a:solidFill>
                <a:latin typeface="Roboto Bold"/>
                <a:ea typeface="Roboto Bold"/>
                <a:cs typeface="Roboto Bold"/>
                <a:sym typeface="Roboto Bold"/>
              </a:rPr>
              <a:t>Retail</a:t>
            </a:r>
          </a:p>
          <a:p>
            <a:pPr>
              <a:lnSpc>
                <a:spcPts val="2800"/>
              </a:lnSpc>
            </a:pPr>
            <a:r>
              <a:rPr lang="en-US" sz="1400" b="1" dirty="0">
                <a:solidFill>
                  <a:srgbClr val="00AA7F"/>
                </a:solidFill>
                <a:latin typeface="Roboto Bold"/>
                <a:ea typeface="Roboto Bold"/>
                <a:cs typeface="Roboto Bold"/>
                <a:sym typeface="Roboto Bold"/>
              </a:rPr>
              <a:t>Multi-national </a:t>
            </a:r>
            <a:r>
              <a:rPr lang="en-US" sz="1400" b="1" dirty="0" err="1">
                <a:solidFill>
                  <a:srgbClr val="00AA7F"/>
                </a:solidFill>
                <a:latin typeface="Roboto Bold"/>
                <a:ea typeface="Roboto Bold"/>
                <a:cs typeface="Roboto Bold"/>
                <a:sym typeface="Roboto Bold"/>
              </a:rPr>
              <a:t>Organisations</a:t>
            </a:r>
            <a:endParaRPr lang="en-AU" sz="1400" b="1" dirty="0">
              <a:solidFill>
                <a:srgbClr val="00AA7F"/>
              </a:solidFill>
              <a:latin typeface="Roboto Bold"/>
              <a:ea typeface="Roboto Bold"/>
              <a:cs typeface="Roboto Bold"/>
              <a:sym typeface="Roboto Bold"/>
            </a:endParaRPr>
          </a:p>
          <a:p>
            <a:pPr>
              <a:lnSpc>
                <a:spcPts val="2800"/>
              </a:lnSpc>
            </a:pPr>
            <a:endParaRPr lang="en-AU" sz="1400" b="1" dirty="0">
              <a:solidFill>
                <a:srgbClr val="00AA7F"/>
              </a:solidFill>
              <a:latin typeface="Roboto Bold"/>
              <a:ea typeface="Roboto Bold"/>
              <a:cs typeface="Roboto Bold"/>
              <a:sym typeface="Roboto Bold"/>
            </a:endParaRPr>
          </a:p>
          <a:p>
            <a:pPr>
              <a:lnSpc>
                <a:spcPts val="2800"/>
              </a:lnSpc>
            </a:pPr>
            <a:endParaRPr lang="en-US" sz="1400" b="1" dirty="0">
              <a:solidFill>
                <a:srgbClr val="00AA7F"/>
              </a:solidFill>
              <a:latin typeface="Roboto Bold"/>
              <a:ea typeface="Roboto Bold"/>
              <a:cs typeface="Roboto Bold"/>
              <a:sym typeface="Roboto Bold"/>
            </a:endParaRPr>
          </a:p>
        </p:txBody>
      </p:sp>
      <p:sp>
        <p:nvSpPr>
          <p:cNvPr id="14" name="TextBox 14"/>
          <p:cNvSpPr txBox="1"/>
          <p:nvPr/>
        </p:nvSpPr>
        <p:spPr>
          <a:xfrm>
            <a:off x="15539453" y="3628047"/>
            <a:ext cx="2687031" cy="333425"/>
          </a:xfrm>
          <a:prstGeom prst="rect">
            <a:avLst/>
          </a:prstGeom>
        </p:spPr>
        <p:txBody>
          <a:bodyPr lIns="0" tIns="0" rIns="0" bIns="0" rtlCol="0" anchor="t">
            <a:spAutoFit/>
          </a:bodyPr>
          <a:lstStyle/>
          <a:p>
            <a:pPr algn="l">
              <a:lnSpc>
                <a:spcPts val="2800"/>
              </a:lnSpc>
              <a:spcBef>
                <a:spcPct val="0"/>
              </a:spcBef>
            </a:pPr>
            <a:r>
              <a:rPr lang="en-US" sz="2000" b="1" dirty="0">
                <a:solidFill>
                  <a:srgbClr val="0F2B3F"/>
                </a:solidFill>
                <a:latin typeface="Roboto Bold"/>
                <a:ea typeface="Roboto Bold"/>
                <a:cs typeface="Roboto Bold"/>
                <a:sym typeface="Roboto Bold"/>
              </a:rPr>
              <a:t>Certification</a:t>
            </a:r>
          </a:p>
        </p:txBody>
      </p:sp>
      <p:sp>
        <p:nvSpPr>
          <p:cNvPr id="15" name="TextBox 15"/>
          <p:cNvSpPr txBox="1"/>
          <p:nvPr/>
        </p:nvSpPr>
        <p:spPr>
          <a:xfrm>
            <a:off x="7239000" y="171689"/>
            <a:ext cx="7840469" cy="500137"/>
          </a:xfrm>
          <a:prstGeom prst="rect">
            <a:avLst/>
          </a:prstGeom>
        </p:spPr>
        <p:txBody>
          <a:bodyPr lIns="0" tIns="0" rIns="0" bIns="0" rtlCol="0" anchor="t">
            <a:spAutoFit/>
          </a:bodyPr>
          <a:lstStyle/>
          <a:p>
            <a:pPr algn="l">
              <a:lnSpc>
                <a:spcPts val="4200"/>
              </a:lnSpc>
              <a:spcBef>
                <a:spcPct val="0"/>
              </a:spcBef>
            </a:pPr>
            <a:r>
              <a:rPr lang="en-US" sz="3000" b="1" dirty="0">
                <a:solidFill>
                  <a:srgbClr val="0F2B3F"/>
                </a:solidFill>
                <a:latin typeface="Roboto Bold"/>
                <a:ea typeface="Roboto Bold"/>
                <a:cs typeface="Roboto Bold"/>
                <a:sym typeface="Roboto Bold"/>
              </a:rPr>
              <a:t>Selected Project Experience</a:t>
            </a:r>
          </a:p>
        </p:txBody>
      </p:sp>
      <p:sp>
        <p:nvSpPr>
          <p:cNvPr id="16" name="TextBox 16"/>
          <p:cNvSpPr txBox="1"/>
          <p:nvPr/>
        </p:nvSpPr>
        <p:spPr>
          <a:xfrm>
            <a:off x="222666" y="765476"/>
            <a:ext cx="6593800" cy="1384995"/>
          </a:xfrm>
          <a:prstGeom prst="rect">
            <a:avLst/>
          </a:prstGeom>
        </p:spPr>
        <p:txBody>
          <a:bodyPr wrap="square" lIns="0" tIns="0" rIns="0" bIns="0" rtlCol="0" anchor="t">
            <a:spAutoFit/>
          </a:bodyPr>
          <a:lstStyle/>
          <a:p>
            <a:pPr algn="l">
              <a:lnSpc>
                <a:spcPts val="5599"/>
              </a:lnSpc>
              <a:spcBef>
                <a:spcPct val="0"/>
              </a:spcBef>
            </a:pPr>
            <a:r>
              <a:rPr lang="en-US" sz="3999" b="1" dirty="0">
                <a:solidFill>
                  <a:srgbClr val="00AA7F"/>
                </a:solidFill>
                <a:latin typeface="Roboto Bold"/>
                <a:ea typeface="Roboto Bold"/>
                <a:cs typeface="Roboto Bold"/>
                <a:sym typeface="Roboto Bold"/>
              </a:rPr>
              <a:t>Xenia Cheng</a:t>
            </a:r>
          </a:p>
          <a:p>
            <a:pPr algn="l">
              <a:lnSpc>
                <a:spcPts val="5599"/>
              </a:lnSpc>
              <a:spcBef>
                <a:spcPct val="0"/>
              </a:spcBef>
            </a:pPr>
            <a:endParaRPr lang="en-US" sz="3999" b="1" dirty="0">
              <a:solidFill>
                <a:srgbClr val="00AA7F"/>
              </a:solidFill>
              <a:latin typeface="Roboto Bold"/>
              <a:ea typeface="Roboto Bold"/>
              <a:cs typeface="Roboto Bold"/>
              <a:sym typeface="Roboto Bold"/>
            </a:endParaRPr>
          </a:p>
        </p:txBody>
      </p:sp>
      <p:sp>
        <p:nvSpPr>
          <p:cNvPr id="17" name="TextBox 17"/>
          <p:cNvSpPr txBox="1"/>
          <p:nvPr/>
        </p:nvSpPr>
        <p:spPr>
          <a:xfrm>
            <a:off x="222207" y="1427714"/>
            <a:ext cx="4631684" cy="500137"/>
          </a:xfrm>
          <a:prstGeom prst="rect">
            <a:avLst/>
          </a:prstGeom>
        </p:spPr>
        <p:txBody>
          <a:bodyPr lIns="0" tIns="0" rIns="0" bIns="0" rtlCol="0" anchor="t">
            <a:spAutoFit/>
          </a:bodyPr>
          <a:lstStyle/>
          <a:p>
            <a:pPr algn="l">
              <a:lnSpc>
                <a:spcPts val="4200"/>
              </a:lnSpc>
              <a:spcBef>
                <a:spcPct val="0"/>
              </a:spcBef>
            </a:pPr>
            <a:r>
              <a:rPr lang="en-US" sz="3000" dirty="0">
                <a:solidFill>
                  <a:srgbClr val="0F2B3F"/>
                </a:solidFill>
                <a:latin typeface="Roboto"/>
                <a:ea typeface="Roboto"/>
                <a:cs typeface="Roboto"/>
                <a:sym typeface="Roboto"/>
              </a:rPr>
              <a:t>Senior Consultant</a:t>
            </a:r>
          </a:p>
        </p:txBody>
      </p:sp>
      <p:sp>
        <p:nvSpPr>
          <p:cNvPr id="18" name="TextBox 18"/>
          <p:cNvSpPr txBox="1"/>
          <p:nvPr/>
        </p:nvSpPr>
        <p:spPr>
          <a:xfrm>
            <a:off x="222207" y="2020005"/>
            <a:ext cx="3072317" cy="533400"/>
          </a:xfrm>
          <a:prstGeom prst="rect">
            <a:avLst/>
          </a:prstGeom>
        </p:spPr>
        <p:txBody>
          <a:bodyPr lIns="0" tIns="0" rIns="0" bIns="0" rtlCol="0" anchor="t">
            <a:spAutoFit/>
          </a:bodyPr>
          <a:lstStyle/>
          <a:p>
            <a:pPr algn="l">
              <a:lnSpc>
                <a:spcPts val="4200"/>
              </a:lnSpc>
              <a:spcBef>
                <a:spcPct val="0"/>
              </a:spcBef>
            </a:pPr>
            <a:r>
              <a:rPr lang="en-US" sz="3000" b="1" dirty="0">
                <a:solidFill>
                  <a:srgbClr val="00AA7F"/>
                </a:solidFill>
                <a:latin typeface="Roboto Bold"/>
                <a:ea typeface="Roboto Bold"/>
                <a:cs typeface="Roboto Bold"/>
                <a:sym typeface="Roboto Bold"/>
              </a:rPr>
              <a:t>Summary</a:t>
            </a:r>
          </a:p>
        </p:txBody>
      </p:sp>
      <p:sp>
        <p:nvSpPr>
          <p:cNvPr id="19" name="TextBox 19"/>
          <p:cNvSpPr txBox="1"/>
          <p:nvPr/>
        </p:nvSpPr>
        <p:spPr>
          <a:xfrm>
            <a:off x="222207" y="2940122"/>
            <a:ext cx="6593800" cy="3077766"/>
          </a:xfrm>
          <a:prstGeom prst="rect">
            <a:avLst/>
          </a:prstGeom>
        </p:spPr>
        <p:txBody>
          <a:bodyPr wrap="square" lIns="0" tIns="0" rIns="0" bIns="0" rtlCol="0" anchor="t">
            <a:spAutoFit/>
          </a:bodyPr>
          <a:lstStyle/>
          <a:p>
            <a:pPr>
              <a:lnSpc>
                <a:spcPts val="2239"/>
              </a:lnSpc>
            </a:pPr>
            <a:r>
              <a:rPr lang="en-AU" sz="1400" dirty="0">
                <a:solidFill>
                  <a:srgbClr val="0F2B3F"/>
                </a:solidFill>
                <a:latin typeface="Roboto"/>
                <a:ea typeface="Roboto"/>
                <a:cs typeface="Roboto"/>
                <a:sym typeface="Roboto"/>
              </a:rPr>
              <a:t>Xenia is an experienced cloud and infrastructure engineer with over a decade of hands-on success in architecting, securing and optimising cloud environments across GCP, AWS and Azure for enterprise and government organisations.</a:t>
            </a:r>
          </a:p>
          <a:p>
            <a:pPr>
              <a:lnSpc>
                <a:spcPts val="2239"/>
              </a:lnSpc>
            </a:pPr>
            <a:endParaRPr lang="en-AU" sz="1400" dirty="0">
              <a:solidFill>
                <a:srgbClr val="0F2B3F"/>
              </a:solidFill>
              <a:latin typeface="Roboto"/>
              <a:ea typeface="Roboto"/>
              <a:cs typeface="Roboto"/>
              <a:sym typeface="Roboto"/>
            </a:endParaRPr>
          </a:p>
          <a:p>
            <a:pPr>
              <a:lnSpc>
                <a:spcPts val="2239"/>
              </a:lnSpc>
            </a:pPr>
            <a:r>
              <a:rPr lang="en-AU" sz="1400" dirty="0">
                <a:solidFill>
                  <a:srgbClr val="0F2B3F"/>
                </a:solidFill>
                <a:latin typeface="Roboto"/>
                <a:ea typeface="Roboto"/>
                <a:cs typeface="Roboto"/>
                <a:sym typeface="Roboto"/>
              </a:rPr>
              <a:t>Xenia has a proven track record leading end-to-end transformations, regulatory compliance, stakeholder engagement and technical teams in high-stakes projects. She notably led the successful migration of a corporate data warehouse to cloud within 6 months, delivering secure, compliant implementations with zero major incidents. Known for combining deep technical acumen with strong mentoring and strategic thinking to drive efficiency, reduce risk and improve team dynamics and practices across distributed environments.</a:t>
            </a:r>
            <a:endParaRPr lang="en-US" sz="1400" dirty="0">
              <a:solidFill>
                <a:srgbClr val="0F2B3F"/>
              </a:solidFill>
              <a:latin typeface="Roboto"/>
              <a:ea typeface="Roboto"/>
              <a:sym typeface="Roboto"/>
            </a:endParaRPr>
          </a:p>
        </p:txBody>
      </p:sp>
      <p:sp>
        <p:nvSpPr>
          <p:cNvPr id="20" name="TextBox 20"/>
          <p:cNvSpPr txBox="1"/>
          <p:nvPr/>
        </p:nvSpPr>
        <p:spPr>
          <a:xfrm>
            <a:off x="7307963" y="8343900"/>
            <a:ext cx="7982497" cy="1776127"/>
          </a:xfrm>
          <a:prstGeom prst="rect">
            <a:avLst/>
          </a:prstGeom>
        </p:spPr>
        <p:txBody>
          <a:bodyPr wrap="square" lIns="0" tIns="0" rIns="0" bIns="0" rtlCol="0" anchor="t">
            <a:spAutoFit/>
          </a:bodyPr>
          <a:lstStyle/>
          <a:p>
            <a:pPr algn="just">
              <a:lnSpc>
                <a:spcPts val="1960"/>
              </a:lnSpc>
            </a:pPr>
            <a:r>
              <a:rPr lang="en-US" sz="1400" b="1" dirty="0">
                <a:solidFill>
                  <a:srgbClr val="92337A"/>
                </a:solidFill>
                <a:latin typeface="Roboto Bold"/>
                <a:ea typeface="Roboto Bold"/>
                <a:cs typeface="Roboto Bold"/>
                <a:sym typeface="Roboto Bold"/>
              </a:rPr>
              <a:t>Financial Services </a:t>
            </a:r>
            <a:r>
              <a:rPr lang="en-US" sz="1400" b="1" dirty="0" err="1">
                <a:solidFill>
                  <a:srgbClr val="92337A"/>
                </a:solidFill>
                <a:latin typeface="Roboto Bold"/>
                <a:ea typeface="Roboto Bold"/>
                <a:cs typeface="Roboto Bold"/>
                <a:sym typeface="Roboto Bold"/>
              </a:rPr>
              <a:t>Organisation</a:t>
            </a:r>
            <a:r>
              <a:rPr lang="en-US" sz="1400" b="1" dirty="0">
                <a:solidFill>
                  <a:srgbClr val="92337A"/>
                </a:solidFill>
                <a:latin typeface="Roboto Bold"/>
                <a:ea typeface="Roboto Bold"/>
                <a:cs typeface="Roboto Bold"/>
                <a:sym typeface="Roboto Bold"/>
              </a:rPr>
              <a:t> – Senior Systems Specialist</a:t>
            </a:r>
          </a:p>
          <a:p>
            <a:pPr marL="302261" lvl="1" indent="-151130">
              <a:lnSpc>
                <a:spcPts val="1960"/>
              </a:lnSpc>
              <a:buFont typeface="Arial"/>
              <a:buChar char="•"/>
            </a:pPr>
            <a:r>
              <a:rPr lang="en-AU" sz="1400" dirty="0">
                <a:solidFill>
                  <a:srgbClr val="0F2B3F"/>
                </a:solidFill>
                <a:latin typeface="Roboto"/>
                <a:ea typeface="Roboto"/>
                <a:cs typeface="Roboto"/>
                <a:sym typeface="Roboto"/>
              </a:rPr>
              <a:t>Delivered robust data protection and compliance by designing a multi-layered security architecture across identity, encryption, threat detection and network protection.</a:t>
            </a:r>
          </a:p>
          <a:p>
            <a:pPr marL="302261" lvl="1" indent="-151130">
              <a:lnSpc>
                <a:spcPts val="1960"/>
              </a:lnSpc>
              <a:buFont typeface="Arial"/>
              <a:buChar char="•"/>
            </a:pPr>
            <a:r>
              <a:rPr lang="en-AU" sz="1400" dirty="0">
                <a:solidFill>
                  <a:srgbClr val="0F2B3F"/>
                </a:solidFill>
                <a:latin typeface="Roboto"/>
                <a:ea typeface="Roboto"/>
                <a:cs typeface="Roboto"/>
                <a:sym typeface="Roboto"/>
              </a:rPr>
              <a:t>Led multi-cloud vendor selection for an $80M deal, securing 5% below market rates through strategic procurement.</a:t>
            </a:r>
          </a:p>
          <a:p>
            <a:pPr marL="302261" lvl="1" indent="-151130">
              <a:lnSpc>
                <a:spcPts val="1960"/>
              </a:lnSpc>
              <a:buFont typeface="Arial"/>
              <a:buChar char="•"/>
            </a:pPr>
            <a:r>
              <a:rPr lang="en-AU" sz="1400" dirty="0">
                <a:solidFill>
                  <a:srgbClr val="0F2B3F"/>
                </a:solidFill>
                <a:latin typeface="Roboto"/>
                <a:ea typeface="Roboto"/>
                <a:cs typeface="Roboto"/>
                <a:sym typeface="Roboto"/>
              </a:rPr>
              <a:t>Reduced cloud adoption risk by balancing vendor lock-in and multi-cloud complexity in provider evaluation.</a:t>
            </a:r>
            <a:endParaRPr lang="en-US" sz="1400" dirty="0">
              <a:solidFill>
                <a:srgbClr val="0F2B3F"/>
              </a:solidFill>
              <a:latin typeface="Roboto"/>
              <a:ea typeface="Roboto"/>
              <a:cs typeface="Roboto"/>
              <a:sym typeface="Roboto"/>
            </a:endParaRPr>
          </a:p>
        </p:txBody>
      </p:sp>
      <p:sp>
        <p:nvSpPr>
          <p:cNvPr id="23" name="AutoShape 23"/>
          <p:cNvSpPr/>
          <p:nvPr/>
        </p:nvSpPr>
        <p:spPr>
          <a:xfrm>
            <a:off x="460616" y="7080882"/>
            <a:ext cx="3944578" cy="0"/>
          </a:xfrm>
          <a:prstGeom prst="line">
            <a:avLst/>
          </a:prstGeom>
          <a:ln w="19050" cap="flat">
            <a:solidFill>
              <a:srgbClr val="0F2B3F"/>
            </a:solidFill>
            <a:prstDash val="sysDot"/>
            <a:headEnd type="none" w="sm" len="sm"/>
            <a:tailEnd type="none" w="sm" len="sm"/>
          </a:ln>
        </p:spPr>
        <p:txBody>
          <a:bodyPr/>
          <a:lstStyle/>
          <a:p>
            <a:endParaRPr lang="en-AU"/>
          </a:p>
        </p:txBody>
      </p:sp>
      <p:grpSp>
        <p:nvGrpSpPr>
          <p:cNvPr id="24" name="Group 24"/>
          <p:cNvGrpSpPr/>
          <p:nvPr/>
        </p:nvGrpSpPr>
        <p:grpSpPr>
          <a:xfrm>
            <a:off x="200025" y="6502344"/>
            <a:ext cx="6493375" cy="3524877"/>
            <a:chOff x="0" y="0"/>
            <a:chExt cx="1710189" cy="898114"/>
          </a:xfrm>
        </p:grpSpPr>
        <p:sp>
          <p:nvSpPr>
            <p:cNvPr id="25" name="Freeform 25"/>
            <p:cNvSpPr/>
            <p:nvPr/>
          </p:nvSpPr>
          <p:spPr>
            <a:xfrm>
              <a:off x="0" y="0"/>
              <a:ext cx="1710189" cy="898114"/>
            </a:xfrm>
            <a:custGeom>
              <a:avLst/>
              <a:gdLst/>
              <a:ahLst/>
              <a:cxnLst/>
              <a:rect l="l" t="t" r="r" b="b"/>
              <a:pathLst>
                <a:path w="1710189" h="898114">
                  <a:moveTo>
                    <a:pt x="0" y="0"/>
                  </a:moveTo>
                  <a:lnTo>
                    <a:pt x="1710189" y="0"/>
                  </a:lnTo>
                  <a:lnTo>
                    <a:pt x="1710189" y="898114"/>
                  </a:lnTo>
                  <a:lnTo>
                    <a:pt x="0" y="898114"/>
                  </a:lnTo>
                  <a:close/>
                </a:path>
              </a:pathLst>
            </a:custGeom>
            <a:solidFill>
              <a:srgbClr val="0F2B3F"/>
            </a:solidFill>
          </p:spPr>
          <p:txBody>
            <a:bodyPr/>
            <a:lstStyle/>
            <a:p>
              <a:endParaRPr lang="en-AU"/>
            </a:p>
          </p:txBody>
        </p:sp>
        <p:sp>
          <p:nvSpPr>
            <p:cNvPr id="26" name="TextBox 26"/>
            <p:cNvSpPr txBox="1"/>
            <p:nvPr/>
          </p:nvSpPr>
          <p:spPr>
            <a:xfrm>
              <a:off x="0" y="-38100"/>
              <a:ext cx="1710189" cy="936214"/>
            </a:xfrm>
            <a:prstGeom prst="rect">
              <a:avLst/>
            </a:prstGeom>
          </p:spPr>
          <p:txBody>
            <a:bodyPr lIns="50800" tIns="50800" rIns="50800" bIns="50800" rtlCol="0" anchor="ctr"/>
            <a:lstStyle/>
            <a:p>
              <a:pPr algn="ctr">
                <a:lnSpc>
                  <a:spcPts val="2693"/>
                </a:lnSpc>
              </a:pPr>
              <a:endParaRPr/>
            </a:p>
          </p:txBody>
        </p:sp>
      </p:grpSp>
      <p:sp>
        <p:nvSpPr>
          <p:cNvPr id="29" name="TextBox 29"/>
          <p:cNvSpPr txBox="1"/>
          <p:nvPr/>
        </p:nvSpPr>
        <p:spPr>
          <a:xfrm>
            <a:off x="387699" y="6632364"/>
            <a:ext cx="3823490" cy="358775"/>
          </a:xfrm>
          <a:prstGeom prst="rect">
            <a:avLst/>
          </a:prstGeom>
        </p:spPr>
        <p:txBody>
          <a:bodyPr lIns="0" tIns="0" rIns="0" bIns="0" rtlCol="0" anchor="t">
            <a:spAutoFit/>
          </a:bodyPr>
          <a:lstStyle/>
          <a:p>
            <a:pPr algn="l">
              <a:lnSpc>
                <a:spcPts val="2800"/>
              </a:lnSpc>
              <a:spcBef>
                <a:spcPct val="0"/>
              </a:spcBef>
            </a:pPr>
            <a:r>
              <a:rPr lang="en-US" sz="2000" b="1" dirty="0">
                <a:solidFill>
                  <a:srgbClr val="F18018"/>
                </a:solidFill>
                <a:latin typeface="Roboto Bold"/>
                <a:ea typeface="Roboto Bold"/>
                <a:cs typeface="Roboto Bold"/>
                <a:sym typeface="Roboto Bold"/>
              </a:rPr>
              <a:t>Key Skills &amp; Tech</a:t>
            </a:r>
          </a:p>
        </p:txBody>
      </p:sp>
      <p:sp>
        <p:nvSpPr>
          <p:cNvPr id="31" name="Freeform 31"/>
          <p:cNvSpPr/>
          <p:nvPr/>
        </p:nvSpPr>
        <p:spPr>
          <a:xfrm>
            <a:off x="140042" y="-24175"/>
            <a:ext cx="774435" cy="824275"/>
          </a:xfrm>
          <a:custGeom>
            <a:avLst/>
            <a:gdLst/>
            <a:ahLst/>
            <a:cxnLst/>
            <a:rect l="l" t="t" r="r" b="b"/>
            <a:pathLst>
              <a:path w="774435" h="824275">
                <a:moveTo>
                  <a:pt x="0" y="0"/>
                </a:moveTo>
                <a:lnTo>
                  <a:pt x="774435" y="0"/>
                </a:lnTo>
                <a:lnTo>
                  <a:pt x="774435" y="824275"/>
                </a:lnTo>
                <a:lnTo>
                  <a:pt x="0" y="824275"/>
                </a:lnTo>
                <a:lnTo>
                  <a:pt x="0" y="0"/>
                </a:lnTo>
                <a:close/>
              </a:path>
            </a:pathLst>
          </a:custGeom>
          <a:blipFill>
            <a:blip r:embed="rId3"/>
            <a:stretch>
              <a:fillRect/>
            </a:stretch>
          </a:blipFill>
        </p:spPr>
        <p:txBody>
          <a:bodyPr/>
          <a:lstStyle/>
          <a:p>
            <a:endParaRPr lang="en-AU"/>
          </a:p>
        </p:txBody>
      </p:sp>
      <p:sp>
        <p:nvSpPr>
          <p:cNvPr id="32" name="TextBox 32"/>
          <p:cNvSpPr txBox="1"/>
          <p:nvPr/>
        </p:nvSpPr>
        <p:spPr>
          <a:xfrm>
            <a:off x="1001693" y="103852"/>
            <a:ext cx="3570307" cy="556895"/>
          </a:xfrm>
          <a:prstGeom prst="rect">
            <a:avLst/>
          </a:prstGeom>
        </p:spPr>
        <p:txBody>
          <a:bodyPr lIns="0" tIns="0" rIns="0" bIns="0" rtlCol="0" anchor="t">
            <a:spAutoFit/>
          </a:bodyPr>
          <a:lstStyle/>
          <a:p>
            <a:pPr algn="l">
              <a:lnSpc>
                <a:spcPts val="4479"/>
              </a:lnSpc>
              <a:spcBef>
                <a:spcPct val="0"/>
              </a:spcBef>
            </a:pPr>
            <a:r>
              <a:rPr lang="en-US" sz="3199" b="1" dirty="0">
                <a:solidFill>
                  <a:srgbClr val="0F2B3F"/>
                </a:solidFill>
                <a:latin typeface="Roboto Bold"/>
                <a:ea typeface="Roboto Bold"/>
                <a:cs typeface="Roboto Bold"/>
                <a:sym typeface="Roboto Bold"/>
              </a:rPr>
              <a:t>Consultant Profile</a:t>
            </a:r>
          </a:p>
        </p:txBody>
      </p:sp>
      <p:sp>
        <p:nvSpPr>
          <p:cNvPr id="33" name="TextBox 21"/>
          <p:cNvSpPr txBox="1"/>
          <p:nvPr/>
        </p:nvSpPr>
        <p:spPr>
          <a:xfrm>
            <a:off x="7307963" y="1002456"/>
            <a:ext cx="7901355" cy="4084451"/>
          </a:xfrm>
          <a:prstGeom prst="rect">
            <a:avLst/>
          </a:prstGeom>
        </p:spPr>
        <p:txBody>
          <a:bodyPr wrap="square" lIns="0" tIns="0" rIns="0" bIns="0" rtlCol="0" anchor="t">
            <a:spAutoFit/>
          </a:bodyPr>
          <a:lstStyle/>
          <a:p>
            <a:pPr>
              <a:lnSpc>
                <a:spcPts val="1960"/>
              </a:lnSpc>
              <a:spcBef>
                <a:spcPct val="0"/>
              </a:spcBef>
            </a:pPr>
            <a:r>
              <a:rPr lang="en-US" sz="1400" b="1" dirty="0">
                <a:solidFill>
                  <a:srgbClr val="0059FF"/>
                </a:solidFill>
                <a:latin typeface="Roboto Bold"/>
                <a:ea typeface="Roboto Bold"/>
                <a:cs typeface="Roboto Bold"/>
                <a:sym typeface="Roboto Bold"/>
              </a:rPr>
              <a:t>Telecommunications </a:t>
            </a:r>
            <a:r>
              <a:rPr lang="en-US" sz="1400" b="1" dirty="0" err="1">
                <a:solidFill>
                  <a:srgbClr val="0059FF"/>
                </a:solidFill>
                <a:latin typeface="Roboto Bold"/>
                <a:ea typeface="Roboto Bold"/>
                <a:cs typeface="Roboto Bold"/>
                <a:sym typeface="Roboto Bold"/>
              </a:rPr>
              <a:t>Organisation</a:t>
            </a:r>
            <a:r>
              <a:rPr lang="en-US" sz="1400" b="1" dirty="0">
                <a:solidFill>
                  <a:srgbClr val="0059FF"/>
                </a:solidFill>
                <a:latin typeface="Roboto Bold"/>
                <a:ea typeface="Roboto Bold"/>
                <a:cs typeface="Roboto Bold"/>
                <a:sym typeface="Roboto Bold"/>
              </a:rPr>
              <a:t> </a:t>
            </a:r>
            <a:r>
              <a:rPr lang="en-US" sz="1400" b="1" u="none" strike="noStrike" dirty="0">
                <a:solidFill>
                  <a:srgbClr val="0059FF"/>
                </a:solidFill>
                <a:latin typeface="Roboto Bold"/>
                <a:ea typeface="Roboto Bold"/>
                <a:cs typeface="Roboto Bold"/>
                <a:sym typeface="Roboto Bold"/>
              </a:rPr>
              <a:t>– </a:t>
            </a:r>
            <a:r>
              <a:rPr lang="en-US" sz="1400" b="1" dirty="0">
                <a:solidFill>
                  <a:srgbClr val="0059FF"/>
                </a:solidFill>
                <a:latin typeface="Roboto Bold"/>
                <a:ea typeface="Roboto Bold"/>
                <a:cs typeface="Roboto Bold"/>
                <a:sym typeface="Roboto Bold"/>
              </a:rPr>
              <a:t>Senior Cloud Engineer</a:t>
            </a:r>
          </a:p>
          <a:p>
            <a:pPr marL="302261" lvl="1" indent="-151130">
              <a:lnSpc>
                <a:spcPts val="1960"/>
              </a:lnSpc>
              <a:spcBef>
                <a:spcPct val="0"/>
              </a:spcBef>
              <a:buFont typeface="Arial"/>
              <a:buChar char="•"/>
            </a:pPr>
            <a:r>
              <a:rPr lang="en-AU" sz="1400" u="none" strike="noStrike" dirty="0">
                <a:solidFill>
                  <a:srgbClr val="0F2B3F"/>
                </a:solidFill>
                <a:latin typeface="Roboto"/>
                <a:ea typeface="Roboto"/>
                <a:cs typeface="Roboto"/>
                <a:sym typeface="Roboto"/>
              </a:rPr>
              <a:t>Managed and supported AWS and GCP infrastructure in over 100 environments. </a:t>
            </a:r>
          </a:p>
          <a:p>
            <a:pPr marL="302261" lvl="1" indent="-151130">
              <a:lnSpc>
                <a:spcPts val="1960"/>
              </a:lnSpc>
              <a:spcBef>
                <a:spcPct val="0"/>
              </a:spcBef>
              <a:buFont typeface="Arial"/>
              <a:buChar char="•"/>
            </a:pPr>
            <a:r>
              <a:rPr lang="en-AU" sz="1400" u="none" strike="noStrike" dirty="0">
                <a:solidFill>
                  <a:srgbClr val="0F2B3F"/>
                </a:solidFill>
                <a:latin typeface="Roboto"/>
                <a:ea typeface="Roboto"/>
                <a:cs typeface="Roboto"/>
                <a:sym typeface="Roboto"/>
              </a:rPr>
              <a:t>Developed and implemented Cloud Governance to ensure cost efficiency, regulatory compliance and process optimisation. Enhanced DevOps practices with cloud security advice and facilitated code-based rollouts. </a:t>
            </a:r>
          </a:p>
          <a:p>
            <a:pPr marL="302261" lvl="1" indent="-151130">
              <a:lnSpc>
                <a:spcPts val="1960"/>
              </a:lnSpc>
              <a:spcBef>
                <a:spcPct val="0"/>
              </a:spcBef>
              <a:buFont typeface="Arial"/>
              <a:buChar char="•"/>
            </a:pPr>
            <a:r>
              <a:rPr lang="en-AU" sz="1400" u="none" strike="noStrike" dirty="0">
                <a:solidFill>
                  <a:srgbClr val="0F2B3F"/>
                </a:solidFill>
                <a:latin typeface="Roboto"/>
                <a:ea typeface="Roboto"/>
                <a:cs typeface="Roboto"/>
                <a:sym typeface="Roboto"/>
              </a:rPr>
              <a:t>Built a multi-cloud Kubernetes platform across GCP and on-prem, achieving IT’s annual KPI and enabling faster strategic decisions by resolving blockers, bridging skill gaps and accelerating deployment</a:t>
            </a:r>
          </a:p>
          <a:p>
            <a:pPr marL="302261" lvl="1" indent="-151130">
              <a:lnSpc>
                <a:spcPts val="1960"/>
              </a:lnSpc>
              <a:spcBef>
                <a:spcPct val="0"/>
              </a:spcBef>
              <a:buFont typeface="Arial"/>
              <a:buChar char="•"/>
            </a:pPr>
            <a:r>
              <a:rPr lang="en-AU" sz="1400" u="none" strike="noStrike" dirty="0">
                <a:solidFill>
                  <a:srgbClr val="0F2B3F"/>
                </a:solidFill>
                <a:latin typeface="Roboto"/>
                <a:ea typeface="Roboto"/>
                <a:cs typeface="Roboto"/>
                <a:sym typeface="Roboto"/>
              </a:rPr>
              <a:t>Led end-to-end cloud infrastructure delivery for the corporate data platform, orchestrating cross-functional teams to migrate the first data warehouse to AWS within 6 months while overseeing secure, compliant deployments that mitigated breach risks and resulted in zero major incidents.</a:t>
            </a:r>
          </a:p>
          <a:p>
            <a:pPr marL="302261" lvl="1" indent="-151130">
              <a:lnSpc>
                <a:spcPts val="1960"/>
              </a:lnSpc>
              <a:spcBef>
                <a:spcPct val="0"/>
              </a:spcBef>
              <a:buFont typeface="Arial"/>
              <a:buChar char="•"/>
            </a:pPr>
            <a:r>
              <a:rPr lang="en-AU" sz="1400" u="none" strike="noStrike" dirty="0">
                <a:solidFill>
                  <a:srgbClr val="0F2B3F"/>
                </a:solidFill>
                <a:latin typeface="Roboto"/>
                <a:ea typeface="Roboto"/>
                <a:cs typeface="Roboto"/>
                <a:sym typeface="Roboto"/>
              </a:rPr>
              <a:t>Remediated a previously exploited AWS app by securing audit approval with interim controls and defined automated cloud security standards to boost audit readiness and reduce overheads</a:t>
            </a:r>
          </a:p>
          <a:p>
            <a:pPr marL="302261" lvl="1" indent="-151130">
              <a:lnSpc>
                <a:spcPts val="1960"/>
              </a:lnSpc>
              <a:spcBef>
                <a:spcPct val="0"/>
              </a:spcBef>
              <a:buFont typeface="Arial"/>
              <a:buChar char="•"/>
            </a:pPr>
            <a:r>
              <a:rPr lang="en-AU" sz="1400" u="none" strike="noStrike" dirty="0">
                <a:solidFill>
                  <a:srgbClr val="0F2B3F"/>
                </a:solidFill>
                <a:latin typeface="Roboto"/>
                <a:ea typeface="Roboto"/>
                <a:cs typeface="Roboto"/>
                <a:sym typeface="Roboto"/>
              </a:rPr>
              <a:t>Established FinOps data platform and optimised dashboards to present actionable cloud cost insights and drive opportunities for cost optimisation and efficiency, removed 10% of obsolete cloud resources, cut down 1 operation man-day per month</a:t>
            </a:r>
            <a:endParaRPr lang="en-US" sz="1400" u="none" strike="noStrike" dirty="0">
              <a:solidFill>
                <a:srgbClr val="0F2B3F"/>
              </a:solidFill>
              <a:latin typeface="Roboto"/>
              <a:ea typeface="Roboto"/>
              <a:cs typeface="Roboto"/>
              <a:sym typeface="Roboto"/>
            </a:endParaRPr>
          </a:p>
        </p:txBody>
      </p:sp>
      <p:cxnSp>
        <p:nvCxnSpPr>
          <p:cNvPr id="49" name="Straight Connector 48">
            <a:extLst>
              <a:ext uri="{FF2B5EF4-FFF2-40B4-BE49-F238E27FC236}">
                <a16:creationId xmlns:a16="http://schemas.microsoft.com/office/drawing/2014/main" id="{AB2A0672-5AF0-5438-8D24-87E280881A20}"/>
              </a:ext>
            </a:extLst>
          </p:cNvPr>
          <p:cNvCxnSpPr>
            <a:cxnSpLocks/>
          </p:cNvCxnSpPr>
          <p:nvPr/>
        </p:nvCxnSpPr>
        <p:spPr>
          <a:xfrm>
            <a:off x="7179436" y="1002456"/>
            <a:ext cx="0" cy="3436325"/>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65ABFD3B-85BE-9F1D-EBDE-61B80D7CD5F7}"/>
              </a:ext>
            </a:extLst>
          </p:cNvPr>
          <p:cNvCxnSpPr>
            <a:cxnSpLocks/>
          </p:cNvCxnSpPr>
          <p:nvPr/>
        </p:nvCxnSpPr>
        <p:spPr>
          <a:xfrm>
            <a:off x="7179436" y="5218851"/>
            <a:ext cx="0" cy="2398787"/>
          </a:xfrm>
          <a:prstGeom prst="line">
            <a:avLst/>
          </a:prstGeom>
          <a:ln w="19050">
            <a:solidFill>
              <a:srgbClr val="D77432"/>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06FA25F3-F5B1-ADB7-8671-CA98D693BF24}"/>
              </a:ext>
            </a:extLst>
          </p:cNvPr>
          <p:cNvCxnSpPr>
            <a:cxnSpLocks/>
          </p:cNvCxnSpPr>
          <p:nvPr/>
        </p:nvCxnSpPr>
        <p:spPr>
          <a:xfrm>
            <a:off x="7162800" y="8375765"/>
            <a:ext cx="0" cy="1643777"/>
          </a:xfrm>
          <a:prstGeom prst="line">
            <a:avLst/>
          </a:prstGeom>
          <a:ln w="19050">
            <a:solidFill>
              <a:srgbClr val="92337A"/>
            </a:solidFill>
          </a:ln>
        </p:spPr>
        <p:style>
          <a:lnRef idx="1">
            <a:schemeClr val="accent1"/>
          </a:lnRef>
          <a:fillRef idx="0">
            <a:schemeClr val="accent1"/>
          </a:fillRef>
          <a:effectRef idx="0">
            <a:schemeClr val="accent1"/>
          </a:effectRef>
          <a:fontRef idx="minor">
            <a:schemeClr val="tx1"/>
          </a:fontRef>
        </p:style>
      </p:cxnSp>
      <p:sp>
        <p:nvSpPr>
          <p:cNvPr id="35" name="TextBox 22"/>
          <p:cNvSpPr txBox="1"/>
          <p:nvPr/>
        </p:nvSpPr>
        <p:spPr>
          <a:xfrm>
            <a:off x="7307964" y="5179537"/>
            <a:ext cx="8084433" cy="3058530"/>
          </a:xfrm>
          <a:prstGeom prst="rect">
            <a:avLst/>
          </a:prstGeom>
        </p:spPr>
        <p:txBody>
          <a:bodyPr wrap="square" lIns="0" tIns="0" rIns="0" bIns="0" rtlCol="0" anchor="t">
            <a:spAutoFit/>
          </a:bodyPr>
          <a:lstStyle/>
          <a:p>
            <a:pPr>
              <a:lnSpc>
                <a:spcPts val="1960"/>
              </a:lnSpc>
              <a:spcBef>
                <a:spcPct val="0"/>
              </a:spcBef>
            </a:pPr>
            <a:r>
              <a:rPr lang="en-AU" sz="1400" b="1" dirty="0">
                <a:solidFill>
                  <a:srgbClr val="D77432"/>
                </a:solidFill>
                <a:latin typeface="Roboto Bold"/>
                <a:ea typeface="Roboto Bold"/>
                <a:cs typeface="Roboto Bold"/>
                <a:sym typeface="Roboto Bold"/>
              </a:rPr>
              <a:t>Multiple Customers, (Government Financial Services &amp; Retail Organisations) – Manager</a:t>
            </a:r>
          </a:p>
          <a:p>
            <a:pPr marL="302261" lvl="1" indent="-151130">
              <a:lnSpc>
                <a:spcPts val="1960"/>
              </a:lnSpc>
              <a:spcBef>
                <a:spcPct val="0"/>
              </a:spcBef>
              <a:buFont typeface="Arial"/>
              <a:buChar char="•"/>
            </a:pPr>
            <a:r>
              <a:rPr lang="en-AU" sz="1400" u="none" strike="noStrike" dirty="0">
                <a:solidFill>
                  <a:srgbClr val="0F2B3F"/>
                </a:solidFill>
                <a:latin typeface="Roboto"/>
                <a:ea typeface="Roboto"/>
                <a:cs typeface="Roboto"/>
                <a:sym typeface="Roboto"/>
              </a:rPr>
              <a:t>For a </a:t>
            </a:r>
            <a:r>
              <a:rPr lang="en-AU" sz="1400" dirty="0">
                <a:solidFill>
                  <a:srgbClr val="0F2B3F"/>
                </a:solidFill>
                <a:latin typeface="Roboto"/>
                <a:ea typeface="Roboto"/>
                <a:cs typeface="Roboto"/>
                <a:sym typeface="Roboto"/>
              </a:rPr>
              <a:t>Government Financial Services Organisation, d</a:t>
            </a:r>
            <a:r>
              <a:rPr lang="en-AU" sz="1400" u="none" strike="noStrike" dirty="0">
                <a:solidFill>
                  <a:srgbClr val="0F2B3F"/>
                </a:solidFill>
                <a:latin typeface="Roboto"/>
                <a:ea typeface="Roboto"/>
                <a:cs typeface="Roboto"/>
                <a:sym typeface="Roboto"/>
              </a:rPr>
              <a:t>efined objectives and developed a cloud test plan and coordinated the test execution and gap remediation with vendors</a:t>
            </a:r>
          </a:p>
          <a:p>
            <a:pPr marL="302261" lvl="1" indent="-151130">
              <a:lnSpc>
                <a:spcPts val="1960"/>
              </a:lnSpc>
              <a:spcBef>
                <a:spcPct val="0"/>
              </a:spcBef>
              <a:buFont typeface="Arial"/>
              <a:buChar char="•"/>
            </a:pPr>
            <a:r>
              <a:rPr lang="en-AU" sz="1400" u="none" strike="noStrike" dirty="0">
                <a:solidFill>
                  <a:srgbClr val="0F2B3F"/>
                </a:solidFill>
                <a:latin typeface="Roboto"/>
                <a:ea typeface="Roboto"/>
                <a:cs typeface="Roboto"/>
                <a:sym typeface="Roboto"/>
              </a:rPr>
              <a:t>Spearheaded Azure migration for a luxury retail multinational by conducting interview workshops with key stakeholders to analyse the existing tech landscape, define cloud use cases and align cloud adoption objectives</a:t>
            </a:r>
          </a:p>
          <a:p>
            <a:pPr marL="302261" lvl="1" indent="-151130">
              <a:lnSpc>
                <a:spcPts val="1960"/>
              </a:lnSpc>
              <a:spcBef>
                <a:spcPct val="0"/>
              </a:spcBef>
              <a:buFont typeface="Arial"/>
              <a:buChar char="•"/>
            </a:pPr>
            <a:r>
              <a:rPr lang="en-AU" sz="1400" u="none" strike="noStrike" dirty="0">
                <a:solidFill>
                  <a:srgbClr val="0F2B3F"/>
                </a:solidFill>
                <a:latin typeface="Roboto"/>
                <a:ea typeface="Roboto"/>
                <a:cs typeface="Roboto"/>
                <a:sym typeface="Roboto"/>
              </a:rPr>
              <a:t>Developed a 3-year Azure migration roadmap for 100 apps across 4 regions, securing executive buy-in with clear ROI and TCO projections.</a:t>
            </a:r>
          </a:p>
          <a:p>
            <a:pPr marL="302261" lvl="1" indent="-151130">
              <a:lnSpc>
                <a:spcPts val="1960"/>
              </a:lnSpc>
              <a:spcBef>
                <a:spcPct val="0"/>
              </a:spcBef>
              <a:buFont typeface="Arial"/>
              <a:buChar char="•"/>
            </a:pPr>
            <a:r>
              <a:rPr lang="en-AU" sz="1400" u="none" strike="noStrike" dirty="0">
                <a:solidFill>
                  <a:srgbClr val="0F2B3F"/>
                </a:solidFill>
                <a:latin typeface="Roboto"/>
                <a:ea typeface="Roboto"/>
                <a:cs typeface="Roboto"/>
                <a:sym typeface="Roboto"/>
              </a:rPr>
              <a:t>De-risked a multi-million-dollar investment by leading due diligence that secured a compliant private cloud vendor</a:t>
            </a:r>
          </a:p>
          <a:p>
            <a:pPr marL="302261" lvl="1" indent="-151130">
              <a:lnSpc>
                <a:spcPts val="1960"/>
              </a:lnSpc>
              <a:spcBef>
                <a:spcPct val="0"/>
              </a:spcBef>
              <a:buFont typeface="Arial"/>
              <a:buChar char="•"/>
            </a:pPr>
            <a:r>
              <a:rPr lang="en-AU" sz="1400" u="none" strike="noStrike" dirty="0">
                <a:solidFill>
                  <a:srgbClr val="0F2B3F"/>
                </a:solidFill>
                <a:latin typeface="Roboto"/>
                <a:ea typeface="Roboto"/>
                <a:cs typeface="Roboto"/>
                <a:sym typeface="Roboto"/>
              </a:rPr>
              <a:t>Identified and triaged critical authentication flaws and sensitive data leakage via code scanning and manual review</a:t>
            </a:r>
            <a:endParaRPr lang="en-US" sz="1400" u="none" strike="noStrike" dirty="0">
              <a:solidFill>
                <a:srgbClr val="0F2B3F"/>
              </a:solidFill>
              <a:latin typeface="Roboto"/>
              <a:ea typeface="Roboto"/>
              <a:cs typeface="Roboto"/>
              <a:sym typeface="Roboto"/>
            </a:endParaRPr>
          </a:p>
        </p:txBody>
      </p:sp>
      <p:sp>
        <p:nvSpPr>
          <p:cNvPr id="37" name="TextBox 27">
            <a:extLst>
              <a:ext uri="{FF2B5EF4-FFF2-40B4-BE49-F238E27FC236}">
                <a16:creationId xmlns:a16="http://schemas.microsoft.com/office/drawing/2014/main" id="{002D50C6-0F6B-AD41-3505-10D029917A92}"/>
              </a:ext>
            </a:extLst>
          </p:cNvPr>
          <p:cNvSpPr txBox="1"/>
          <p:nvPr/>
        </p:nvSpPr>
        <p:spPr>
          <a:xfrm>
            <a:off x="272023" y="7026062"/>
            <a:ext cx="2543313" cy="2818079"/>
          </a:xfrm>
          <a:prstGeom prst="rect">
            <a:avLst/>
          </a:prstGeom>
        </p:spPr>
        <p:txBody>
          <a:bodyPr lIns="0" tIns="0" rIns="0" bIns="0" rtlCol="0" anchor="t">
            <a:spAutoFit/>
          </a:bodyPr>
          <a:lstStyle/>
          <a:p>
            <a:pPr marL="259078" lvl="1" indent="-129539" algn="l">
              <a:lnSpc>
                <a:spcPts val="1679"/>
              </a:lnSpc>
              <a:buFont typeface="Arial"/>
              <a:buChar char="•"/>
            </a:pPr>
            <a:r>
              <a:rPr lang="en-US" sz="1199" dirty="0">
                <a:solidFill>
                  <a:srgbClr val="FFFFFF"/>
                </a:solidFill>
                <a:latin typeface="Roboto"/>
                <a:ea typeface="Roboto"/>
                <a:cs typeface="Roboto"/>
                <a:sym typeface="Roboto"/>
              </a:rPr>
              <a:t>Data Architecture</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Cloud Infrastructure</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Cloud Security/Governance</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Cloud Computing</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Architectural Design</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Data Engineering</a:t>
            </a:r>
          </a:p>
          <a:p>
            <a:pPr marL="259078" lvl="1" indent="-129539">
              <a:lnSpc>
                <a:spcPts val="1679"/>
              </a:lnSpc>
              <a:buFont typeface="Arial"/>
              <a:buChar char="•"/>
            </a:pPr>
            <a:r>
              <a:rPr lang="en-US" sz="1199" dirty="0">
                <a:solidFill>
                  <a:srgbClr val="FFFFFF"/>
                </a:solidFill>
                <a:latin typeface="Roboto"/>
                <a:ea typeface="Roboto"/>
                <a:cs typeface="Roboto"/>
                <a:sym typeface="Roboto"/>
              </a:rPr>
              <a:t>Data Analytics</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Data Migration</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Data Modeling</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Technical Project Management</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Risk Management</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Stakeholder Engagement</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AI/ML</a:t>
            </a:r>
          </a:p>
        </p:txBody>
      </p:sp>
      <p:sp>
        <p:nvSpPr>
          <p:cNvPr id="38" name="TextBox 28">
            <a:extLst>
              <a:ext uri="{FF2B5EF4-FFF2-40B4-BE49-F238E27FC236}">
                <a16:creationId xmlns:a16="http://schemas.microsoft.com/office/drawing/2014/main" id="{8587052C-2CBA-2939-405C-9B7DDC07F669}"/>
              </a:ext>
            </a:extLst>
          </p:cNvPr>
          <p:cNvSpPr txBox="1"/>
          <p:nvPr/>
        </p:nvSpPr>
        <p:spPr>
          <a:xfrm>
            <a:off x="2810100" y="6991139"/>
            <a:ext cx="1957414" cy="2382062"/>
          </a:xfrm>
          <a:prstGeom prst="rect">
            <a:avLst/>
          </a:prstGeom>
        </p:spPr>
        <p:txBody>
          <a:bodyPr wrap="square" lIns="0" tIns="0" rIns="0" bIns="0" rtlCol="0" anchor="t">
            <a:spAutoFit/>
          </a:bodyPr>
          <a:lstStyle/>
          <a:p>
            <a:pPr algn="l">
              <a:lnSpc>
                <a:spcPts val="1679"/>
              </a:lnSpc>
            </a:pPr>
            <a:r>
              <a:rPr lang="en-US" sz="1199" b="1" dirty="0">
                <a:solidFill>
                  <a:srgbClr val="00AA7F"/>
                </a:solidFill>
                <a:latin typeface="Roboto Bold"/>
                <a:ea typeface="Roboto Bold"/>
                <a:cs typeface="Roboto Bold"/>
                <a:sym typeface="Roboto Bold"/>
              </a:rPr>
              <a:t>Platforms​</a:t>
            </a:r>
          </a:p>
          <a:p>
            <a:pPr marL="259078" lvl="1" indent="-129539">
              <a:lnSpc>
                <a:spcPts val="1679"/>
              </a:lnSpc>
              <a:buFont typeface="Arial"/>
              <a:buChar char="•"/>
            </a:pPr>
            <a:r>
              <a:rPr lang="en-US" sz="1199" dirty="0">
                <a:solidFill>
                  <a:srgbClr val="FFFFFF"/>
                </a:solidFill>
                <a:latin typeface="Roboto"/>
                <a:ea typeface="Roboto"/>
                <a:cs typeface="Roboto"/>
                <a:sym typeface="Roboto"/>
              </a:rPr>
              <a:t>Google Cloud Platform</a:t>
            </a:r>
          </a:p>
          <a:p>
            <a:pPr marL="259078" lvl="1" indent="-129539">
              <a:lnSpc>
                <a:spcPts val="1679"/>
              </a:lnSpc>
              <a:buFont typeface="Arial"/>
              <a:buChar char="•"/>
            </a:pPr>
            <a:r>
              <a:rPr lang="en-US" sz="1199" dirty="0">
                <a:solidFill>
                  <a:srgbClr val="FFFFFF"/>
                </a:solidFill>
                <a:latin typeface="Roboto"/>
                <a:ea typeface="Roboto"/>
                <a:cs typeface="Roboto"/>
                <a:sym typeface="Roboto"/>
              </a:rPr>
              <a:t>AWS</a:t>
            </a:r>
          </a:p>
          <a:p>
            <a:pPr marL="259078" lvl="1" indent="-129539">
              <a:lnSpc>
                <a:spcPts val="1679"/>
              </a:lnSpc>
              <a:buFont typeface="Arial"/>
              <a:buChar char="•"/>
            </a:pPr>
            <a:r>
              <a:rPr lang="en-US" sz="1199" dirty="0">
                <a:solidFill>
                  <a:srgbClr val="FFFFFF"/>
                </a:solidFill>
                <a:latin typeface="Roboto"/>
                <a:ea typeface="Roboto"/>
                <a:cs typeface="Roboto"/>
                <a:sym typeface="Roboto"/>
              </a:rPr>
              <a:t>Microsoft Azure</a:t>
            </a:r>
          </a:p>
          <a:p>
            <a:pPr marL="259078" lvl="1" indent="-129539">
              <a:lnSpc>
                <a:spcPts val="1679"/>
              </a:lnSpc>
              <a:buFont typeface="Arial"/>
              <a:buChar char="•"/>
            </a:pPr>
            <a:endParaRPr lang="en-US" sz="1199" dirty="0">
              <a:solidFill>
                <a:srgbClr val="FFFFFF"/>
              </a:solidFill>
              <a:latin typeface="Roboto"/>
              <a:ea typeface="Roboto"/>
              <a:cs typeface="Roboto"/>
              <a:sym typeface="Roboto"/>
            </a:endParaRPr>
          </a:p>
          <a:p>
            <a:pPr>
              <a:lnSpc>
                <a:spcPts val="1679"/>
              </a:lnSpc>
            </a:pPr>
            <a:r>
              <a:rPr lang="en-AU" sz="1199" b="1" dirty="0">
                <a:solidFill>
                  <a:srgbClr val="00AA7F"/>
                </a:solidFill>
                <a:latin typeface="Roboto Bold"/>
                <a:ea typeface="Roboto Bold"/>
              </a:rPr>
              <a:t>Programming</a:t>
            </a:r>
            <a:endParaRPr lang="en-US" sz="1199" dirty="0">
              <a:solidFill>
                <a:srgbClr val="FFFFFF"/>
              </a:solidFill>
              <a:latin typeface="Roboto"/>
              <a:ea typeface="Roboto"/>
              <a:cs typeface="Roboto"/>
              <a:sym typeface="Roboto"/>
            </a:endParaRPr>
          </a:p>
          <a:p>
            <a:pPr marL="259078" lvl="1" indent="-129539">
              <a:lnSpc>
                <a:spcPts val="1679"/>
              </a:lnSpc>
              <a:buFont typeface="Arial"/>
              <a:buChar char="•"/>
            </a:pPr>
            <a:r>
              <a:rPr lang="en-US" sz="1199" dirty="0">
                <a:solidFill>
                  <a:srgbClr val="FFFFFF"/>
                </a:solidFill>
                <a:latin typeface="Roboto"/>
                <a:ea typeface="Roboto"/>
                <a:cs typeface="Roboto"/>
                <a:sym typeface="Roboto"/>
              </a:rPr>
              <a:t>Python</a:t>
            </a:r>
          </a:p>
          <a:p>
            <a:pPr marL="259078" lvl="1" indent="-129539">
              <a:lnSpc>
                <a:spcPts val="1679"/>
              </a:lnSpc>
              <a:buFont typeface="Arial"/>
              <a:buChar char="•"/>
            </a:pPr>
            <a:r>
              <a:rPr lang="en-US" sz="1199" dirty="0">
                <a:solidFill>
                  <a:srgbClr val="FFFFFF"/>
                </a:solidFill>
                <a:latin typeface="Roboto"/>
                <a:ea typeface="Roboto"/>
                <a:cs typeface="Roboto"/>
                <a:sym typeface="Roboto"/>
              </a:rPr>
              <a:t>R</a:t>
            </a:r>
          </a:p>
          <a:p>
            <a:pPr marL="259078" lvl="1" indent="-129539">
              <a:lnSpc>
                <a:spcPts val="1679"/>
              </a:lnSpc>
              <a:buFont typeface="Arial"/>
              <a:buChar char="•"/>
            </a:pPr>
            <a:r>
              <a:rPr lang="en-US" sz="1199" dirty="0" err="1">
                <a:solidFill>
                  <a:srgbClr val="FFFFFF"/>
                </a:solidFill>
                <a:latin typeface="Roboto"/>
                <a:ea typeface="Roboto"/>
                <a:cs typeface="Roboto"/>
                <a:sym typeface="Roboto"/>
              </a:rPr>
              <a:t>Powershell</a:t>
            </a:r>
            <a:endParaRPr lang="en-US" sz="1199" dirty="0">
              <a:solidFill>
                <a:srgbClr val="FFFFFF"/>
              </a:solidFill>
              <a:latin typeface="Roboto"/>
              <a:ea typeface="Roboto"/>
              <a:cs typeface="Roboto"/>
              <a:sym typeface="Roboto"/>
            </a:endParaRPr>
          </a:p>
          <a:p>
            <a:pPr marL="259078" lvl="1" indent="-129539" algn="l">
              <a:lnSpc>
                <a:spcPts val="1679"/>
              </a:lnSpc>
              <a:buFont typeface="Arial"/>
              <a:buChar char="•"/>
            </a:pPr>
            <a:r>
              <a:rPr lang="en-US" sz="1199" dirty="0">
                <a:solidFill>
                  <a:srgbClr val="FFFFFF"/>
                </a:solidFill>
                <a:latin typeface="Roboto"/>
                <a:ea typeface="Roboto"/>
                <a:cs typeface="Roboto"/>
                <a:sym typeface="Roboto"/>
              </a:rPr>
              <a:t>SQL</a:t>
            </a:r>
          </a:p>
          <a:p>
            <a:pPr marL="259078" lvl="1" indent="-129539" algn="l">
              <a:lnSpc>
                <a:spcPts val="1679"/>
              </a:lnSpc>
              <a:buFont typeface="Arial"/>
              <a:buChar char="•"/>
            </a:pPr>
            <a:endParaRPr lang="en-US" sz="1199" dirty="0">
              <a:solidFill>
                <a:srgbClr val="FFFFFF"/>
              </a:solidFill>
              <a:latin typeface="Roboto"/>
              <a:ea typeface="Roboto"/>
              <a:cs typeface="Roboto"/>
              <a:sym typeface="Roboto"/>
            </a:endParaRPr>
          </a:p>
        </p:txBody>
      </p:sp>
      <p:sp>
        <p:nvSpPr>
          <p:cNvPr id="39" name="TextBox 30">
            <a:extLst>
              <a:ext uri="{FF2B5EF4-FFF2-40B4-BE49-F238E27FC236}">
                <a16:creationId xmlns:a16="http://schemas.microsoft.com/office/drawing/2014/main" id="{D9770108-C379-B724-B371-69BCACDECCA2}"/>
              </a:ext>
            </a:extLst>
          </p:cNvPr>
          <p:cNvSpPr txBox="1"/>
          <p:nvPr/>
        </p:nvSpPr>
        <p:spPr>
          <a:xfrm>
            <a:off x="4838908" y="6991139"/>
            <a:ext cx="1752557" cy="3036088"/>
          </a:xfrm>
          <a:prstGeom prst="rect">
            <a:avLst/>
          </a:prstGeom>
        </p:spPr>
        <p:txBody>
          <a:bodyPr lIns="0" tIns="0" rIns="0" bIns="0" rtlCol="0" anchor="t">
            <a:spAutoFit/>
          </a:bodyPr>
          <a:lstStyle/>
          <a:p>
            <a:pPr indent="-327661">
              <a:lnSpc>
                <a:spcPts val="1679"/>
              </a:lnSpc>
            </a:pPr>
            <a:r>
              <a:rPr lang="en-US" sz="1199" b="1" dirty="0">
                <a:solidFill>
                  <a:srgbClr val="00AA7F"/>
                </a:solidFill>
                <a:latin typeface="Roboto Bold"/>
                <a:ea typeface="Roboto Bold"/>
                <a:cs typeface="Roboto Bold"/>
                <a:sym typeface="Roboto Bold"/>
              </a:rPr>
              <a:t>Tools</a:t>
            </a:r>
            <a:r>
              <a:rPr lang="en-US" sz="1199" b="1" dirty="0">
                <a:solidFill>
                  <a:srgbClr val="0F2B3F"/>
                </a:solidFill>
                <a:latin typeface="Roboto Bold"/>
                <a:ea typeface="Roboto Bold"/>
                <a:cs typeface="Roboto Bold"/>
                <a:sym typeface="Roboto Bold"/>
              </a:rPr>
              <a:t>​</a:t>
            </a:r>
          </a:p>
          <a:p>
            <a:pPr marL="259078" lvl="1" indent="-129539" algn="l">
              <a:lnSpc>
                <a:spcPts val="1679"/>
              </a:lnSpc>
              <a:buFont typeface="Arial"/>
              <a:buChar char="•"/>
            </a:pPr>
            <a:r>
              <a:rPr lang="en-US" sz="1199" dirty="0">
                <a:solidFill>
                  <a:srgbClr val="FFFFFF"/>
                </a:solidFill>
                <a:latin typeface="Roboto"/>
                <a:ea typeface="Roboto"/>
                <a:sym typeface="Roboto"/>
              </a:rPr>
              <a:t>Kubernetes</a:t>
            </a:r>
          </a:p>
          <a:p>
            <a:pPr marL="259078" lvl="1" indent="-129539" algn="l">
              <a:lnSpc>
                <a:spcPts val="1679"/>
              </a:lnSpc>
              <a:buFont typeface="Arial"/>
              <a:buChar char="•"/>
            </a:pPr>
            <a:r>
              <a:rPr lang="en-US" sz="1199" dirty="0" err="1">
                <a:solidFill>
                  <a:srgbClr val="FFFFFF"/>
                </a:solidFill>
                <a:latin typeface="Roboto"/>
                <a:ea typeface="Roboto"/>
                <a:sym typeface="Roboto"/>
              </a:rPr>
              <a:t>BigQuery</a:t>
            </a:r>
            <a:endParaRPr lang="en-US" sz="1199" dirty="0">
              <a:solidFill>
                <a:srgbClr val="FFFFFF"/>
              </a:solidFill>
              <a:latin typeface="Roboto"/>
              <a:ea typeface="Roboto"/>
              <a:sym typeface="Roboto"/>
            </a:endParaRPr>
          </a:p>
          <a:p>
            <a:pPr marL="259078" lvl="1" indent="-129539">
              <a:lnSpc>
                <a:spcPts val="1679"/>
              </a:lnSpc>
              <a:buFont typeface="Arial"/>
              <a:buChar char="•"/>
            </a:pPr>
            <a:r>
              <a:rPr lang="en-US" sz="1199" dirty="0" err="1">
                <a:solidFill>
                  <a:srgbClr val="FFFFFF"/>
                </a:solidFill>
                <a:latin typeface="Roboto"/>
                <a:ea typeface="Roboto"/>
                <a:sym typeface="Roboto"/>
              </a:rPr>
              <a:t>Pubsub</a:t>
            </a:r>
            <a:endParaRPr lang="en-US" sz="1199" dirty="0">
              <a:solidFill>
                <a:srgbClr val="FFFFFF"/>
              </a:solidFill>
              <a:latin typeface="Roboto"/>
              <a:ea typeface="Roboto"/>
              <a:sym typeface="Roboto"/>
            </a:endParaRPr>
          </a:p>
          <a:p>
            <a:pPr marL="259078" lvl="1" indent="-129539">
              <a:lnSpc>
                <a:spcPts val="1679"/>
              </a:lnSpc>
              <a:buFont typeface="Arial"/>
              <a:buChar char="•"/>
            </a:pPr>
            <a:r>
              <a:rPr lang="en-US" sz="1199" dirty="0">
                <a:solidFill>
                  <a:srgbClr val="FFFFFF"/>
                </a:solidFill>
                <a:latin typeface="Roboto"/>
                <a:ea typeface="Roboto"/>
                <a:sym typeface="Roboto"/>
              </a:rPr>
              <a:t>Dataflow</a:t>
            </a:r>
          </a:p>
          <a:p>
            <a:pPr marL="259078" lvl="1" indent="-129539">
              <a:lnSpc>
                <a:spcPts val="1679"/>
              </a:lnSpc>
              <a:buFont typeface="Arial"/>
              <a:buChar char="•"/>
            </a:pPr>
            <a:r>
              <a:rPr lang="en-US" sz="1199" dirty="0">
                <a:solidFill>
                  <a:srgbClr val="FFFFFF"/>
                </a:solidFill>
                <a:latin typeface="Roboto"/>
                <a:ea typeface="Roboto"/>
                <a:sym typeface="Roboto"/>
              </a:rPr>
              <a:t>Redshift</a:t>
            </a:r>
          </a:p>
          <a:p>
            <a:pPr marL="259078" lvl="1" indent="-129539">
              <a:lnSpc>
                <a:spcPts val="1679"/>
              </a:lnSpc>
              <a:buFont typeface="Arial"/>
              <a:buChar char="•"/>
            </a:pPr>
            <a:r>
              <a:rPr lang="en-US" sz="1199">
                <a:solidFill>
                  <a:srgbClr val="FFFFFF"/>
                </a:solidFill>
                <a:latin typeface="Roboto"/>
                <a:ea typeface="Roboto"/>
                <a:sym typeface="Roboto"/>
              </a:rPr>
              <a:t>CloudFormation</a:t>
            </a:r>
            <a:endParaRPr lang="en-US" sz="1199" dirty="0">
              <a:solidFill>
                <a:srgbClr val="FFFFFF"/>
              </a:solidFill>
              <a:latin typeface="Roboto"/>
              <a:ea typeface="Roboto"/>
              <a:sym typeface="Roboto"/>
            </a:endParaRPr>
          </a:p>
          <a:p>
            <a:pPr marL="259078" lvl="1" indent="-129539" algn="l">
              <a:lnSpc>
                <a:spcPts val="1679"/>
              </a:lnSpc>
              <a:buFont typeface="Arial"/>
              <a:buChar char="•"/>
            </a:pPr>
            <a:r>
              <a:rPr lang="en-US" sz="1199" dirty="0">
                <a:solidFill>
                  <a:srgbClr val="FFFFFF"/>
                </a:solidFill>
                <a:latin typeface="Roboto"/>
                <a:ea typeface="Roboto"/>
                <a:sym typeface="Roboto"/>
              </a:rPr>
              <a:t>Terraform</a:t>
            </a:r>
          </a:p>
          <a:p>
            <a:pPr marL="259078" lvl="1" indent="-129539" algn="l">
              <a:lnSpc>
                <a:spcPts val="1679"/>
              </a:lnSpc>
              <a:buFont typeface="Arial"/>
              <a:buChar char="•"/>
            </a:pPr>
            <a:r>
              <a:rPr lang="en-US" sz="1199" dirty="0">
                <a:solidFill>
                  <a:srgbClr val="FFFFFF"/>
                </a:solidFill>
                <a:latin typeface="Roboto"/>
                <a:ea typeface="Roboto"/>
                <a:sym typeface="Roboto"/>
              </a:rPr>
              <a:t>CI/CD</a:t>
            </a:r>
          </a:p>
          <a:p>
            <a:pPr marL="259078" lvl="1" indent="-129539" algn="l">
              <a:lnSpc>
                <a:spcPts val="1679"/>
              </a:lnSpc>
              <a:buFont typeface="Arial"/>
              <a:buChar char="•"/>
            </a:pPr>
            <a:r>
              <a:rPr lang="en-US" sz="1199" dirty="0">
                <a:solidFill>
                  <a:srgbClr val="FFFFFF"/>
                </a:solidFill>
                <a:latin typeface="Roboto"/>
                <a:ea typeface="Roboto"/>
                <a:sym typeface="Roboto"/>
              </a:rPr>
              <a:t>Mongo DB</a:t>
            </a:r>
          </a:p>
          <a:p>
            <a:pPr marL="259078" lvl="1" indent="-129539" algn="l">
              <a:lnSpc>
                <a:spcPts val="1679"/>
              </a:lnSpc>
              <a:buFont typeface="Arial"/>
              <a:buChar char="•"/>
            </a:pPr>
            <a:r>
              <a:rPr lang="en-US" sz="1199" dirty="0" err="1">
                <a:solidFill>
                  <a:srgbClr val="FFFFFF"/>
                </a:solidFill>
                <a:latin typeface="Roboto"/>
                <a:ea typeface="Roboto"/>
                <a:sym typeface="Roboto"/>
              </a:rPr>
              <a:t>Github</a:t>
            </a:r>
            <a:endParaRPr lang="en-US" sz="1199" dirty="0">
              <a:solidFill>
                <a:srgbClr val="FFFFFF"/>
              </a:solidFill>
              <a:latin typeface="Roboto"/>
              <a:ea typeface="Roboto"/>
              <a:sym typeface="Roboto"/>
            </a:endParaRPr>
          </a:p>
          <a:p>
            <a:pPr marL="259078" lvl="1" indent="-129539" algn="l">
              <a:lnSpc>
                <a:spcPts val="1679"/>
              </a:lnSpc>
              <a:buFont typeface="Arial"/>
              <a:buChar char="•"/>
            </a:pPr>
            <a:r>
              <a:rPr lang="en-US" sz="1199" dirty="0">
                <a:solidFill>
                  <a:srgbClr val="FFFFFF"/>
                </a:solidFill>
                <a:latin typeface="Roboto"/>
                <a:ea typeface="Roboto"/>
                <a:sym typeface="Roboto"/>
              </a:rPr>
              <a:t>Airflow</a:t>
            </a:r>
          </a:p>
          <a:p>
            <a:pPr marL="259078" lvl="1" indent="-129539" algn="l">
              <a:lnSpc>
                <a:spcPts val="1679"/>
              </a:lnSpc>
              <a:buFont typeface="Arial"/>
              <a:buChar char="•"/>
            </a:pPr>
            <a:endParaRPr lang="en-US" sz="1199" dirty="0">
              <a:solidFill>
                <a:srgbClr val="FFFFFF"/>
              </a:solidFill>
              <a:latin typeface="Roboto"/>
              <a:ea typeface="Roboto"/>
              <a:sym typeface="Roboto"/>
            </a:endParaRPr>
          </a:p>
          <a:p>
            <a:pPr marL="259078" lvl="1" indent="-129539" algn="l">
              <a:lnSpc>
                <a:spcPts val="1679"/>
              </a:lnSpc>
              <a:buFont typeface="Arial"/>
              <a:buChar char="•"/>
            </a:pPr>
            <a:endParaRPr lang="en-US" sz="1199" dirty="0">
              <a:solidFill>
                <a:srgbClr val="FFFFFF"/>
              </a:solidFill>
              <a:latin typeface="Roboto"/>
              <a:ea typeface="Roboto"/>
              <a:sym typeface="Roboto"/>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49D9FB5-2331-4D49-AB5F-33192D9CC8D7}"/>
</file>

<file path=customXml/itemProps2.xml><?xml version="1.0" encoding="utf-8"?>
<ds:datastoreItem xmlns:ds="http://schemas.openxmlformats.org/officeDocument/2006/customXml" ds:itemID="{BCAE7718-4FBC-46CF-8240-D90018BBBBFC}"/>
</file>

<file path=customXml/itemProps3.xml><?xml version="1.0" encoding="utf-8"?>
<ds:datastoreItem xmlns:ds="http://schemas.openxmlformats.org/officeDocument/2006/customXml" ds:itemID="{7E205BAC-86F4-4DEE-B2A2-15C9F0AE9825}"/>
</file>

<file path=docProps/app.xml><?xml version="1.0" encoding="utf-8"?>
<Properties xmlns="http://schemas.openxmlformats.org/officeDocument/2006/extended-properties" xmlns:vt="http://schemas.openxmlformats.org/officeDocument/2006/docPropsVTypes">
  <TotalTime>7366</TotalTime>
  <Words>605</Words>
  <Application>Microsoft Office PowerPoint</Application>
  <PresentationFormat>Custom</PresentationFormat>
  <Paragraphs>79</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Calibri</vt:lpstr>
      <vt:lpstr>Arial</vt:lpstr>
      <vt:lpstr>Roboto</vt:lpstr>
      <vt:lpstr>Roboto Bold</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Consultant profile templates (Presentation)</dc:title>
  <dc:creator>Darcy Roach</dc:creator>
  <cp:lastModifiedBy>Darcy Roach</cp:lastModifiedBy>
  <cp:revision>8</cp:revision>
  <dcterms:created xsi:type="dcterms:W3CDTF">2006-08-16T00:00:00Z</dcterms:created>
  <dcterms:modified xsi:type="dcterms:W3CDTF">2025-09-25T03:17:38Z</dcterms:modified>
  <dc:identifier>DAGrzN_SXAE</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