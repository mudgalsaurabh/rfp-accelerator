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1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9D032E-4CF8-AD53-2EA9-6B8157BB50F9}" v="84" dt="2023-10-10T03:34:30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94" y="-12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19FC3D36-DA5C-488D-B268-2B6BC277F393}"/>
    <pc:docChg chg="undo custSel modSld">
      <pc:chgData name="Darcy Roach" userId="ba676ee9-e9b4-49e8-a515-8077106c948d" providerId="ADAL" clId="{19FC3D36-DA5C-488D-B268-2B6BC277F393}" dt="2023-09-25T01:44:23.463" v="1040" actId="20577"/>
      <pc:docMkLst>
        <pc:docMk/>
      </pc:docMkLst>
      <pc:sldChg chg="addSp delSp modSp mod">
        <pc:chgData name="Darcy Roach" userId="ba676ee9-e9b4-49e8-a515-8077106c948d" providerId="ADAL" clId="{19FC3D36-DA5C-488D-B268-2B6BC277F393}" dt="2023-09-25T01:44:23.463" v="1040" actId="20577"/>
        <pc:sldMkLst>
          <pc:docMk/>
          <pc:sldMk cId="3618352684" sldId="271"/>
        </pc:sldMkLst>
        <pc:spChg chg="mod">
          <ac:chgData name="Darcy Roach" userId="ba676ee9-e9b4-49e8-a515-8077106c948d" providerId="ADAL" clId="{19FC3D36-DA5C-488D-B268-2B6BC277F393}" dt="2023-09-25T01:35:31.970" v="802" actId="20577"/>
          <ac:spMkLst>
            <pc:docMk/>
            <pc:sldMk cId="3618352684" sldId="271"/>
            <ac:spMk id="2" creationId="{2FA774CA-3857-9308-4D38-9414B0CC2B95}"/>
          </ac:spMkLst>
        </pc:spChg>
        <pc:spChg chg="mod">
          <ac:chgData name="Darcy Roach" userId="ba676ee9-e9b4-49e8-a515-8077106c948d" providerId="ADAL" clId="{19FC3D36-DA5C-488D-B268-2B6BC277F393}" dt="2023-09-22T06:30:22.247" v="301" actId="20577"/>
          <ac:spMkLst>
            <pc:docMk/>
            <pc:sldMk cId="3618352684" sldId="271"/>
            <ac:spMk id="4" creationId="{80F49B2F-21D4-F9EB-049F-717A10CB7D84}"/>
          </ac:spMkLst>
        </pc:spChg>
        <pc:spChg chg="mod">
          <ac:chgData name="Darcy Roach" userId="ba676ee9-e9b4-49e8-a515-8077106c948d" providerId="ADAL" clId="{19FC3D36-DA5C-488D-B268-2B6BC277F393}" dt="2023-09-25T01:22:47.824" v="540" actId="20577"/>
          <ac:spMkLst>
            <pc:docMk/>
            <pc:sldMk cId="3618352684" sldId="271"/>
            <ac:spMk id="6" creationId="{701E125D-B356-8A2A-B86B-AB6567CEABE1}"/>
          </ac:spMkLst>
        </pc:spChg>
        <pc:spChg chg="mod">
          <ac:chgData name="Darcy Roach" userId="ba676ee9-e9b4-49e8-a515-8077106c948d" providerId="ADAL" clId="{19FC3D36-DA5C-488D-B268-2B6BC277F393}" dt="2023-09-25T01:26:42.178" v="614" actId="20577"/>
          <ac:spMkLst>
            <pc:docMk/>
            <pc:sldMk cId="3618352684" sldId="271"/>
            <ac:spMk id="9" creationId="{FC1E3E96-4B11-5242-E07F-7D9FDDBB0190}"/>
          </ac:spMkLst>
        </pc:spChg>
        <pc:spChg chg="mod">
          <ac:chgData name="Darcy Roach" userId="ba676ee9-e9b4-49e8-a515-8077106c948d" providerId="ADAL" clId="{19FC3D36-DA5C-488D-B268-2B6BC277F393}" dt="2023-09-25T01:33:38.884" v="765" actId="20577"/>
          <ac:spMkLst>
            <pc:docMk/>
            <pc:sldMk cId="3618352684" sldId="271"/>
            <ac:spMk id="10" creationId="{06312B81-BCF1-2796-C112-3DBE0E02F483}"/>
          </ac:spMkLst>
        </pc:spChg>
        <pc:spChg chg="mod">
          <ac:chgData name="Darcy Roach" userId="ba676ee9-e9b4-49e8-a515-8077106c948d" providerId="ADAL" clId="{19FC3D36-DA5C-488D-B268-2B6BC277F393}" dt="2023-09-22T04:49:34.540" v="23" actId="20577"/>
          <ac:spMkLst>
            <pc:docMk/>
            <pc:sldMk cId="3618352684" sldId="271"/>
            <ac:spMk id="13" creationId="{FD2720C9-A79F-BD7F-E179-674AD67D7892}"/>
          </ac:spMkLst>
        </pc:spChg>
        <pc:spChg chg="mod">
          <ac:chgData name="Darcy Roach" userId="ba676ee9-e9b4-49e8-a515-8077106c948d" providerId="ADAL" clId="{19FC3D36-DA5C-488D-B268-2B6BC277F393}" dt="2023-09-22T05:01:03.456" v="145" actId="20577"/>
          <ac:spMkLst>
            <pc:docMk/>
            <pc:sldMk cId="3618352684" sldId="271"/>
            <ac:spMk id="17" creationId="{1BDE5051-9F34-F139-742D-4450E5D6591E}"/>
          </ac:spMkLst>
        </pc:spChg>
        <pc:spChg chg="mod">
          <ac:chgData name="Darcy Roach" userId="ba676ee9-e9b4-49e8-a515-8077106c948d" providerId="ADAL" clId="{19FC3D36-DA5C-488D-B268-2B6BC277F393}" dt="2023-09-25T01:42:51.099" v="1009" actId="20577"/>
          <ac:spMkLst>
            <pc:docMk/>
            <pc:sldMk cId="3618352684" sldId="271"/>
            <ac:spMk id="19" creationId="{7513C49A-2DF2-8111-FED4-FC07A8EAD258}"/>
          </ac:spMkLst>
        </pc:spChg>
        <pc:spChg chg="mod">
          <ac:chgData name="Darcy Roach" userId="ba676ee9-e9b4-49e8-a515-8077106c948d" providerId="ADAL" clId="{19FC3D36-DA5C-488D-B268-2B6BC277F393}" dt="2023-09-22T04:49:40.239" v="30" actId="20577"/>
          <ac:spMkLst>
            <pc:docMk/>
            <pc:sldMk cId="3618352684" sldId="271"/>
            <ac:spMk id="22" creationId="{9D4E289E-1D52-CBDD-E381-40963429D7F1}"/>
          </ac:spMkLst>
        </pc:spChg>
        <pc:spChg chg="mod">
          <ac:chgData name="Darcy Roach" userId="ba676ee9-e9b4-49e8-a515-8077106c948d" providerId="ADAL" clId="{19FC3D36-DA5C-488D-B268-2B6BC277F393}" dt="2023-09-22T06:26:16.920" v="245" actId="20577"/>
          <ac:spMkLst>
            <pc:docMk/>
            <pc:sldMk cId="3618352684" sldId="271"/>
            <ac:spMk id="26" creationId="{1A3D666D-00C8-D106-73C3-9FF300F8618C}"/>
          </ac:spMkLst>
        </pc:spChg>
        <pc:spChg chg="mod ord">
          <ac:chgData name="Darcy Roach" userId="ba676ee9-e9b4-49e8-a515-8077106c948d" providerId="ADAL" clId="{19FC3D36-DA5C-488D-B268-2B6BC277F393}" dt="2023-09-25T01:44:16.127" v="1036" actId="20577"/>
          <ac:spMkLst>
            <pc:docMk/>
            <pc:sldMk cId="3618352684" sldId="271"/>
            <ac:spMk id="28" creationId="{6059F888-3BDF-A1C0-65E5-CB6FDD43D97C}"/>
          </ac:spMkLst>
        </pc:spChg>
        <pc:spChg chg="add del">
          <ac:chgData name="Darcy Roach" userId="ba676ee9-e9b4-49e8-a515-8077106c948d" providerId="ADAL" clId="{19FC3D36-DA5C-488D-B268-2B6BC277F393}" dt="2023-09-25T01:38:21.653" v="899" actId="22"/>
          <ac:spMkLst>
            <pc:docMk/>
            <pc:sldMk cId="3618352684" sldId="271"/>
            <ac:spMk id="30" creationId="{55C677AD-A01F-B7B8-8D4E-8BA4F1585129}"/>
          </ac:spMkLst>
        </pc:spChg>
        <pc:spChg chg="mod">
          <ac:chgData name="Darcy Roach" userId="ba676ee9-e9b4-49e8-a515-8077106c948d" providerId="ADAL" clId="{19FC3D36-DA5C-488D-B268-2B6BC277F393}" dt="2023-09-25T01:44:23.463" v="1040" actId="20577"/>
          <ac:spMkLst>
            <pc:docMk/>
            <pc:sldMk cId="3618352684" sldId="271"/>
            <ac:spMk id="38" creationId="{AB47A2EE-BF0B-DB05-8B7C-DB6594B2B3D5}"/>
          </ac:spMkLst>
        </pc:spChg>
        <pc:grpChg chg="mod">
          <ac:chgData name="Darcy Roach" userId="ba676ee9-e9b4-49e8-a515-8077106c948d" providerId="ADAL" clId="{19FC3D36-DA5C-488D-B268-2B6BC277F393}" dt="2023-09-25T01:35:09.795" v="767" actId="1076"/>
          <ac:grpSpMkLst>
            <pc:docMk/>
            <pc:sldMk cId="3618352684" sldId="271"/>
            <ac:grpSpMk id="18" creationId="{E0B3FDFC-4A78-346F-E1D4-E183BEB90A60}"/>
          </ac:grpSpMkLst>
        </pc:grpChg>
        <pc:grpChg chg="mod">
          <ac:chgData name="Darcy Roach" userId="ba676ee9-e9b4-49e8-a515-8077106c948d" providerId="ADAL" clId="{19FC3D36-DA5C-488D-B268-2B6BC277F393}" dt="2023-09-25T01:27:28.887" v="617" actId="1076"/>
          <ac:grpSpMkLst>
            <pc:docMk/>
            <pc:sldMk cId="3618352684" sldId="271"/>
            <ac:grpSpMk id="163" creationId="{E52FDF9F-B084-9074-7DB9-539AD5456487}"/>
          </ac:grpSpMkLst>
        </pc:grpChg>
        <pc:cxnChg chg="mod">
          <ac:chgData name="Darcy Roach" userId="ba676ee9-e9b4-49e8-a515-8077106c948d" providerId="ADAL" clId="{19FC3D36-DA5C-488D-B268-2B6BC277F393}" dt="2023-09-25T01:27:20.454" v="616" actId="14100"/>
          <ac:cxnSpMkLst>
            <pc:docMk/>
            <pc:sldMk cId="3618352684" sldId="271"/>
            <ac:cxnSpMk id="3" creationId="{67C34E10-2CF8-9BCA-1CC6-D78A3FF9CA80}"/>
          </ac:cxnSpMkLst>
        </pc:cxnChg>
        <pc:cxnChg chg="mod">
          <ac:chgData name="Darcy Roach" userId="ba676ee9-e9b4-49e8-a515-8077106c948d" providerId="ADAL" clId="{19FC3D36-DA5C-488D-B268-2B6BC277F393}" dt="2023-09-25T01:35:01.191" v="766" actId="14100"/>
          <ac:cxnSpMkLst>
            <pc:docMk/>
            <pc:sldMk cId="3618352684" sldId="271"/>
            <ac:cxnSpMk id="15" creationId="{F87F05F2-DA4C-4F55-A5D0-1887110DF155}"/>
          </ac:cxnSpMkLst>
        </pc:cxnChg>
      </pc:sldChg>
    </pc:docChg>
  </pc:docChgLst>
  <pc:docChgLst>
    <pc:chgData name="Paul Martinico" userId="S::paul.martinico@intelia.com.au::05e381d2-80b7-43e8-b915-faa146d84a0f" providerId="AD" clId="Web-{C09D032E-4CF8-AD53-2EA9-6B8157BB50F9}"/>
    <pc:docChg chg="modSld">
      <pc:chgData name="Paul Martinico" userId="S::paul.martinico@intelia.com.au::05e381d2-80b7-43e8-b915-faa146d84a0f" providerId="AD" clId="Web-{C09D032E-4CF8-AD53-2EA9-6B8157BB50F9}" dt="2023-10-10T03:34:30.730" v="45" actId="20577"/>
      <pc:docMkLst>
        <pc:docMk/>
      </pc:docMkLst>
      <pc:sldChg chg="modSp">
        <pc:chgData name="Paul Martinico" userId="S::paul.martinico@intelia.com.au::05e381d2-80b7-43e8-b915-faa146d84a0f" providerId="AD" clId="Web-{C09D032E-4CF8-AD53-2EA9-6B8157BB50F9}" dt="2023-10-10T03:34:30.730" v="45" actId="20577"/>
        <pc:sldMkLst>
          <pc:docMk/>
          <pc:sldMk cId="3618352684" sldId="271"/>
        </pc:sldMkLst>
        <pc:spChg chg="mod">
          <ac:chgData name="Paul Martinico" userId="S::paul.martinico@intelia.com.au::05e381d2-80b7-43e8-b915-faa146d84a0f" providerId="AD" clId="Web-{C09D032E-4CF8-AD53-2EA9-6B8157BB50F9}" dt="2023-10-10T03:34:30.730" v="45" actId="20577"/>
          <ac:spMkLst>
            <pc:docMk/>
            <pc:sldMk cId="3618352684" sldId="271"/>
            <ac:spMk id="38" creationId="{AB47A2EE-BF0B-DB05-8B7C-DB6594B2B3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5490323"/>
            <a:ext cx="4782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Software Organisation – Business Analyst</a:t>
            </a:r>
          </a:p>
          <a:p>
            <a:endParaRPr lang="en-AU" sz="1200" b="1" dirty="0">
              <a:solidFill>
                <a:srgbClr val="A9358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E3E96-4B11-5242-E07F-7D9FDDBB0190}"/>
              </a:ext>
            </a:extLst>
          </p:cNvPr>
          <p:cNvSpPr txBox="1"/>
          <p:nvPr/>
        </p:nvSpPr>
        <p:spPr>
          <a:xfrm>
            <a:off x="3463961" y="1312085"/>
            <a:ext cx="4488473" cy="270843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sz="1000" dirty="0">
                <a:solidFill>
                  <a:schemeClr val="bg1"/>
                </a:solidFill>
              </a:rPr>
              <a:t>Created detailed business requirements and functional specification documents for review by business and development teams</a:t>
            </a:r>
          </a:p>
          <a:p>
            <a:r>
              <a:rPr lang="en-AU" sz="1000" dirty="0">
                <a:solidFill>
                  <a:schemeClr val="bg1"/>
                </a:solidFill>
              </a:rPr>
              <a:t>Performed UAT on whilst also working on ALM testing environment</a:t>
            </a:r>
          </a:p>
          <a:p>
            <a:r>
              <a:rPr lang="en-AU" sz="1000" dirty="0">
                <a:solidFill>
                  <a:schemeClr val="bg1"/>
                </a:solidFill>
              </a:rPr>
              <a:t>Attended daily stand-ups, weekly team reflections and retrospective sessions with the project team</a:t>
            </a:r>
          </a:p>
          <a:p>
            <a:r>
              <a:rPr lang="en-AU" sz="1000" dirty="0">
                <a:solidFill>
                  <a:schemeClr val="bg1"/>
                </a:solidFill>
              </a:rPr>
              <a:t>Acted as an implementation manager on projects and created detailed implementation run sheets</a:t>
            </a:r>
          </a:p>
          <a:p>
            <a:r>
              <a:rPr lang="en-AU" sz="1000" dirty="0">
                <a:solidFill>
                  <a:schemeClr val="bg1"/>
                </a:solidFill>
              </a:rPr>
              <a:t>Managed projects and served as primary liaison between client and multiple internal groups to clarify goals, meet standards and deadlines</a:t>
            </a:r>
          </a:p>
          <a:p>
            <a:r>
              <a:rPr lang="en-AU" sz="1000" dirty="0">
                <a:solidFill>
                  <a:schemeClr val="bg1"/>
                </a:solidFill>
              </a:rPr>
              <a:t>Led ongoing business process reviews to optimise strategies </a:t>
            </a:r>
          </a:p>
          <a:p>
            <a:r>
              <a:rPr lang="en-AU" sz="1000" dirty="0">
                <a:solidFill>
                  <a:schemeClr val="bg1"/>
                </a:solidFill>
              </a:rPr>
              <a:t>Defined functional requirements and system interfaces to improve efficiency and usability</a:t>
            </a:r>
          </a:p>
          <a:p>
            <a:r>
              <a:rPr lang="en-AU" sz="1000" dirty="0">
                <a:solidFill>
                  <a:schemeClr val="bg1"/>
                </a:solidFill>
              </a:rPr>
              <a:t>Facilitated meetings and prepared presentations to share ideas and findings</a:t>
            </a:r>
          </a:p>
          <a:p>
            <a:r>
              <a:rPr lang="en-AU" sz="1000" dirty="0">
                <a:solidFill>
                  <a:schemeClr val="bg1"/>
                </a:solidFill>
              </a:rPr>
              <a:t>Collaborated with key stakeholders to develop project schedules </a:t>
            </a:r>
          </a:p>
          <a:p>
            <a:r>
              <a:rPr lang="en-AU" sz="1000" dirty="0">
                <a:solidFill>
                  <a:schemeClr val="bg1"/>
                </a:solidFill>
              </a:rPr>
              <a:t>Identified process inefficiencies through gap analysis and outlined sensible solutions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8595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Aruba Rizwan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92375" y="1589600"/>
            <a:ext cx="2944517" cy="3446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</a:t>
            </a:r>
            <a:r>
              <a:rPr lang="en-AU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ruba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is a results-driven Business Analyst with industry experience, specialising in data analysis, business process improvement, and effective stakeholder communication. Aruba has a proven track record of leveraging analytical insights to drive strategic decisions and optimise operational efficiency. 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Adept at collaborating across departments to gather and prioritise business requirements and ensure alignment with organisational goals. Aruba is also well-versed in different types of project working methodologies such as Agile, Waterfall, Scrum and Kanban. Aruba recently received an award at intelia for 'Delivery Excellence' - 'FY23 winner as voted by peers' as having gone above and beyond to deliver brilliant outcome(s) in a critical project function. </a:t>
            </a: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84993" y="1239722"/>
            <a:ext cx="3162388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3113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42327" y="5737801"/>
            <a:ext cx="1510046" cy="244682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Jira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Power BI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Confluence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Trello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Salesforce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 </a:t>
            </a: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++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Java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Visio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Wordpress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Shopify</a:t>
            </a:r>
          </a:p>
          <a:p>
            <a:pPr>
              <a:buClr>
                <a:srgbClr val="00AB80"/>
              </a:buClr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90956"/>
            <a:ext cx="0" cy="2495244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52FDF9F-B084-9074-7DB9-539AD5456487}"/>
              </a:ext>
            </a:extLst>
          </p:cNvPr>
          <p:cNvGrpSpPr/>
          <p:nvPr/>
        </p:nvGrpSpPr>
        <p:grpSpPr>
          <a:xfrm>
            <a:off x="3428144" y="4252288"/>
            <a:ext cx="4536321" cy="1169551"/>
            <a:chOff x="5030740" y="1885572"/>
            <a:chExt cx="4845492" cy="116955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5059475" y="1885572"/>
              <a:ext cx="4816757" cy="1169551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sz="1000" dirty="0"/>
                <a:t>Ran test scenarios unassisted and followed up with delivery teams on issues encountered.</a:t>
              </a:r>
            </a:p>
            <a:p>
              <a:r>
                <a:rPr lang="en-AU" sz="1000" dirty="0"/>
                <a:t>Ran SQL scripts to identify any data changes going into the reporting environment &amp; assessed the changes with the delivery teams to determine defects or intentional changes for remediation/further impact assessment</a:t>
              </a:r>
            </a:p>
            <a:p>
              <a:r>
                <a:rPr lang="en-AU" sz="1000" dirty="0"/>
                <a:t>Identified additional functional defects within the feature builds and reported them back to delivery teams for remediation.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30740" y="1967574"/>
              <a:ext cx="0" cy="1051883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030771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6"/>
            <a:ext cx="0" cy="492696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246215"/>
            <a:ext cx="1951941" cy="3416320"/>
            <a:chOff x="8106458" y="2681447"/>
            <a:chExt cx="1951941" cy="341632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41632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Collibra – Certified Workflow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 dirty="0">
                <a:solidFill>
                  <a:srgbClr val="00AB80"/>
                </a:solidFill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Collibra – Certified Data Steward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 dirty="0">
                <a:solidFill>
                  <a:srgbClr val="00AB80"/>
                </a:solidFill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Master </a:t>
              </a:r>
              <a:r>
                <a:rPr lang="en-GB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– Business Information Systems, Monash University</a:t>
              </a:r>
              <a:endParaRPr lang="en-GB"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Bachelor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-</a:t>
              </a:r>
              <a:r>
                <a:rPr lang="en-AU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Technology Electronics and Communications Engineering,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National Institute of Technology Delhi</a:t>
              </a: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3999307"/>
            <a:ext cx="4616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Leading Australian Logistics Organisation – Business Analyst</a:t>
            </a:r>
          </a:p>
          <a:p>
            <a:endParaRPr lang="en-AU" sz="1200" b="1" dirty="0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711189"/>
            <a:ext cx="1470851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Dashboards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Risk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Agile Methodology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Project Coordination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Requirements Gathering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Team Player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6" y="1044151"/>
            <a:ext cx="4894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Leading Australian Logistics </a:t>
            </a:r>
            <a:r>
              <a:rPr lang="en-US" sz="1200" b="1" dirty="0" err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Organisation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– Business Analyst</a:t>
            </a:r>
            <a:endParaRPr lang="en-AU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B3FDFC-4A78-346F-E1D4-E183BEB90A60}"/>
              </a:ext>
            </a:extLst>
          </p:cNvPr>
          <p:cNvGrpSpPr/>
          <p:nvPr/>
        </p:nvGrpSpPr>
        <p:grpSpPr>
          <a:xfrm>
            <a:off x="3428144" y="5762870"/>
            <a:ext cx="4678313" cy="1938992"/>
            <a:chOff x="5023753" y="4106685"/>
            <a:chExt cx="4854376" cy="193899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13C49A-2DF2-8111-FED4-FC07A8EAD258}"/>
                </a:ext>
              </a:extLst>
            </p:cNvPr>
            <p:cNvSpPr txBox="1"/>
            <p:nvPr/>
          </p:nvSpPr>
          <p:spPr>
            <a:xfrm>
              <a:off x="5059474" y="4106685"/>
              <a:ext cx="4818655" cy="1938992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sz="1000" dirty="0"/>
                <a:t>Ran</a:t>
              </a:r>
              <a:r>
                <a:rPr lang="en-AU" sz="1000" dirty="0">
                  <a:solidFill>
                    <a:schemeClr val="bg1"/>
                  </a:solidFill>
                </a:rPr>
                <a:t> analysis of client's business operations to uncover areas of improvement.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Implemented solutions to address future growth and requirements</a:t>
              </a:r>
            </a:p>
            <a:p>
              <a:r>
                <a:rPr lang="en-AU" sz="1000" dirty="0"/>
                <a:t>Creat</a:t>
              </a:r>
              <a:r>
                <a:rPr lang="en-AU" sz="1000" dirty="0">
                  <a:solidFill>
                    <a:schemeClr val="bg1"/>
                  </a:solidFill>
                </a:rPr>
                <a:t>ed excel spreadsheets to estimate costs of future projects for clients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Worked with IT team members on systems automation and advancement initiatives.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Reviewed product utilisation processes and developed optimisation strategies.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Surveyed clients to ascertain requirements and expectations.</a:t>
              </a:r>
            </a:p>
            <a:p>
              <a:r>
                <a:rPr lang="en-AU" sz="1000" dirty="0">
                  <a:solidFill>
                    <a:schemeClr val="bg1"/>
                  </a:solidFill>
                </a:rPr>
                <a:t>Recommended actions based on synthesised business intelligence and trend data</a:t>
              </a:r>
            </a:p>
            <a:p>
              <a:endParaRPr lang="en-AU" sz="1000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198160"/>
              <a:ext cx="0" cy="1448608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A53ACAB-BBC9-A3AA-740D-EB947374392F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Energy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  <a:latin typeface="Roboto Light"/>
                <a:ea typeface="Roboto Light"/>
                <a:cs typeface="Roboto Light"/>
              </a:rPr>
              <a:t>Higher Education</a:t>
            </a:r>
            <a:endParaRPr lang="en-GB" sz="1200" dirty="0">
              <a:solidFill>
                <a:srgbClr val="00AB80"/>
              </a:solidFill>
              <a:cs typeface="Roboto Ligh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Banking &amp; Insurance</a:t>
            </a:r>
          </a:p>
        </p:txBody>
      </p:sp>
    </p:spTree>
    <p:extLst>
      <p:ext uri="{BB962C8B-B14F-4D97-AF65-F5344CB8AC3E}">
        <p14:creationId xmlns:p14="http://schemas.microsoft.com/office/powerpoint/2010/main" val="3618352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EDE27A-5D3F-48EC-A4D1-3F35063BDC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BCFD15-CFFF-49AE-B6C5-12DE46320969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daf93972-1964-4522-aa34-640805a01c3a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52cd9e7-35e5-4bd3-9cab-ca6a63c31e5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F135EB9-2F48-4044-8258-494898AAFB8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7547</TotalTime>
  <Words>480</Words>
  <Application>Microsoft Office PowerPoint</Application>
  <PresentationFormat>Custom</PresentationFormat>
  <Paragraphs>70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32</cp:revision>
  <dcterms:created xsi:type="dcterms:W3CDTF">2019-12-03T01:50:37Z</dcterms:created>
  <dcterms:modified xsi:type="dcterms:W3CDTF">2023-10-10T03:34:31Z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