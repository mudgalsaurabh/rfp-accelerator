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2"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FAD5D-0A71-4D26-A2BB-89D3E4C7E285}" v="1" dt="2023-10-26T00:55:19.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440" y="28"/>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10/26/2023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329" b="0" i="0" u="none" strike="noStrike" kern="1200" cap="none" spc="0" normalizeH="0" baseline="0" noProof="0">
              <a:ln>
                <a:noFill/>
              </a:ln>
              <a:solidFill>
                <a:srgbClr val="4472C4">
                  <a:lumMod val="20000"/>
                  <a:lumOff val="80000"/>
                </a:srgbClr>
              </a:solidFill>
              <a:effectLst/>
              <a:uLnTx/>
              <a:uFillTx/>
              <a:latin typeface="Calibri" panose="020F0502020204030204"/>
              <a:ea typeface="+mn-ea"/>
              <a:cs typeface="+mn-cs"/>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Roshan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Edirisinghe</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1" y="1659475"/>
            <a:ext cx="2956548" cy="2869375"/>
          </a:xfrm>
          <a:prstGeom prst="rect">
            <a:avLst/>
          </a:prstGeom>
          <a:noFill/>
        </p:spPr>
        <p:txBody>
          <a:bodyPr wrap="square" lIns="0" tIns="0" rIns="0" bIns="0" rtlCol="0" anchor="t">
            <a:spAutoFit/>
          </a:bodyPr>
          <a:lstStyle/>
          <a:p>
            <a:pPr marL="0" marR="0" lvl="0" indent="0" algn="l" defTabSz="457200" rtl="0" eaLnBrk="1" fontAlgn="auto" latinLnBrk="0" hangingPunct="1">
              <a:lnSpc>
                <a:spcPts val="1500"/>
              </a:lnSpc>
              <a:spcBef>
                <a:spcPts val="0"/>
              </a:spcBef>
              <a:spcAft>
                <a:spcPts val="0"/>
              </a:spcAft>
              <a:buClrTx/>
              <a:buSzTx/>
              <a:buFontTx/>
              <a:buNone/>
              <a:tabLst/>
              <a:defRPr/>
            </a:pP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Roshan is a motivated and result-driven Data Architect &amp; BI developer with 15+ years of experience and a proven track record in Business Intelligence, Data warehousing, and Data Analytics-related consulting.</a:t>
            </a:r>
          </a:p>
          <a:p>
            <a:pPr marL="0" marR="0" lvl="0" indent="0" algn="l" defTabSz="457200" rtl="0" eaLnBrk="1" fontAlgn="auto" latinLnBrk="0" hangingPunct="1">
              <a:lnSpc>
                <a:spcPts val="1500"/>
              </a:lnSpc>
              <a:spcBef>
                <a:spcPts val="0"/>
              </a:spcBef>
              <a:spcAft>
                <a:spcPts val="0"/>
              </a:spcAft>
              <a:buClrTx/>
              <a:buSzTx/>
              <a:buFontTx/>
              <a:buNone/>
              <a:tabLst/>
              <a:defRPr/>
            </a:pPr>
            <a:endPar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endParaRPr>
          </a:p>
          <a:p>
            <a:pPr>
              <a:lnSpc>
                <a:spcPts val="1500"/>
              </a:lnSpc>
              <a:defRPr/>
            </a:pP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With experience in various industries including Energy, Finance, Health Care, Retail Mining and Metal, Roshan has developed excellent skills in identifying business needs and developing valuable solutions to drive accuracy and process efficiency. Roshan has delivered small and large-scale projects as a team member, team lead, and independent consultant where he has displayed his excellent communication and leadership skills.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5029200" cy="310341"/>
          </a:xfrm>
          <a:prstGeom prst="rect">
            <a:avLst/>
          </a:prstGeom>
          <a:noFill/>
        </p:spPr>
        <p:txBody>
          <a:bodyPr wrap="square">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rPr>
              <a:t>Profile</a:t>
            </a:r>
            <a:endParaRPr kumimoji="0" lang="en-US" sz="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58595" y="1007347"/>
            <a:ext cx="2489720" cy="218008"/>
          </a:xfrm>
          <a:prstGeom prst="rect">
            <a:avLst/>
          </a:prstGeom>
          <a:noFill/>
        </p:spPr>
        <p:txBody>
          <a:bodyPr wrap="square" lIns="0" tIns="0" rIns="0" bIns="0" rtlCol="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0" i="0" u="none" strike="noStrike" kern="1200" cap="none" spc="13" normalizeH="0" baseline="0" noProof="0" dirty="0">
                <a:ln>
                  <a:noFill/>
                </a:ln>
                <a:solidFill>
                  <a:prstClr val="white">
                    <a:lumMod val="50000"/>
                  </a:prstClr>
                </a:solidFill>
                <a:effectLst/>
                <a:uLnTx/>
                <a:uFillTx/>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585323"/>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Google Cloud Platform</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Snowflake</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Microsoft Azure</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Amazon Web Services</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err="1">
                <a:ln>
                  <a:noFill/>
                </a:ln>
                <a:solidFill>
                  <a:prstClr val="black"/>
                </a:solidFill>
                <a:effectLst/>
                <a:uLnTx/>
                <a:uFillTx/>
                <a:latin typeface="Roboto Light" panose="02000000000000000000" pitchFamily="2" charset="0"/>
                <a:ea typeface="Roboto Light" panose="02000000000000000000" pitchFamily="2" charset="0"/>
                <a:cs typeface="+mn-cs"/>
              </a:rPr>
              <a:t>Matillion</a:t>
            </a: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Windows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SQL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ETL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T-SQL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Tableau</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Linux</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Talend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SAP</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201010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968340"/>
            <a:ext cx="4598396" cy="1631216"/>
            <a:chOff x="5030740" y="2268038"/>
            <a:chExt cx="4911798" cy="1631216"/>
          </a:xfrm>
        </p:grpSpPr>
        <p:sp>
          <p:nvSpPr>
            <p:cNvPr id="10" name="TextBox 9">
              <a:extLst>
                <a:ext uri="{FF2B5EF4-FFF2-40B4-BE49-F238E27FC236}">
                  <a16:creationId xmlns:a16="http://schemas.microsoft.com/office/drawing/2014/main" id="{06312B81-BCF1-2796-C112-3DBE0E02F483}"/>
                </a:ext>
              </a:extLst>
            </p:cNvPr>
            <p:cNvSpPr txBox="1"/>
            <p:nvPr/>
          </p:nvSpPr>
          <p:spPr>
            <a:xfrm>
              <a:off x="5059473" y="2268038"/>
              <a:ext cx="4883065"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Data modelling for hierarchical SAP HANA ECC “Accounts” and “Cost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Center</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and build of dimension moulding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Built Discount Calculator for home builder based on estimation department figures and government rebates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Built generic pattern to ingest data from REST API to Snowflake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Data modelling for MYOSH health safety system</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Used Snowflake, Power BI , Talend, JSON and SQL server as a key technologies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356080"/>
              <a:ext cx="0" cy="119793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599467"/>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dirty="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68418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Industry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814911"/>
            <a:ext cx="1951941" cy="3046988"/>
            <a:chOff x="8106458" y="2681447"/>
            <a:chExt cx="1951941"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0469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Microsoft</a:t>
              </a:r>
              <a:r>
                <a:rPr lang="en-GB" sz="1200" dirty="0">
                  <a:solidFill>
                    <a:srgbClr val="00AB80"/>
                  </a:solidFill>
                  <a:effectLst/>
                  <a:latin typeface="Roboto Light" panose="02000000000000000000" pitchFamily="2" charset="0"/>
                  <a:ea typeface="Calibri" panose="020F0502020204030204" pitchFamily="34" charset="0"/>
                </a:rPr>
                <a:t> Certified | Professional </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Data Engineering on Google Cloud Platform</a:t>
              </a: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Big Data and Machine Learning Fundamentals on Google Cloud Platform</a:t>
              </a:r>
            </a:p>
            <a:p>
              <a:pPr>
                <a:tabLst>
                  <a:tab pos="3819525" algn="l"/>
                  <a:tab pos="3895725" algn="l"/>
                </a:tabLst>
                <a:defRPr/>
              </a:pPr>
              <a:endParaRPr lang="en-US" sz="1200" dirty="0">
                <a:solidFill>
                  <a:srgbClr val="00AB80"/>
                </a:solidFill>
                <a:latin typeface="Roboto Light" panose="02000000000000000000" pitchFamily="2" charset="0"/>
                <a:ea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lang="en-US" sz="1200" dirty="0">
                  <a:solidFill>
                    <a:srgbClr val="00AB80"/>
                  </a:solidFill>
                  <a:latin typeface="Roboto Light" panose="02000000000000000000" pitchFamily="2" charset="0"/>
                  <a:ea typeface="Calibri" panose="020F0502020204030204" pitchFamily="34" charset="0"/>
                </a:rPr>
                <a:t>Masters Degree</a:t>
              </a:r>
              <a:r>
                <a:rPr kumimoji="0" lang="en-US"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 </a:t>
              </a: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a:t>
              </a:r>
              <a:r>
                <a:rPr lang="en-GB" sz="1200" dirty="0">
                  <a:solidFill>
                    <a:srgbClr val="00AB80"/>
                  </a:solidFill>
                  <a:latin typeface="Roboto Light" panose="02000000000000000000" pitchFamily="2" charset="0"/>
                  <a:ea typeface="Calibri" panose="020F0502020204030204" pitchFamily="34" charset="0"/>
                </a:rPr>
                <a:t>Business Administration, University of Southern Queensland</a:t>
              </a:r>
              <a:endPar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691341"/>
            <a:ext cx="352696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ED7D31"/>
                </a:solidFill>
                <a:latin typeface="Roboto" panose="02000000000000000000" pitchFamily="2" charset="0"/>
                <a:ea typeface="Roboto" panose="02000000000000000000" pitchFamily="2" charset="0"/>
              </a:rPr>
              <a:t>Leading Logistics</a:t>
            </a:r>
            <a:r>
              <a:rPr lang="en-AU" sz="1200" b="1" dirty="0">
                <a:solidFill>
                  <a:srgbClr val="ED7D31"/>
                </a:solidFill>
                <a:latin typeface="Roboto" panose="02000000000000000000" pitchFamily="2" charset="0"/>
                <a:ea typeface="Roboto" panose="02000000000000000000" pitchFamily="2" charset="0"/>
              </a:rPr>
              <a:t> Organisation – Data Modeller</a:t>
            </a:r>
            <a:endParaRPr kumimoji="0" lang="en-AU" sz="1200" b="1" i="0" u="none" strike="noStrike" kern="1200" cap="none" spc="0" normalizeH="0" baseline="0" noProof="0" dirty="0">
              <a:ln>
                <a:noFill/>
              </a:ln>
              <a:solidFill>
                <a:srgbClr val="ED7D31"/>
              </a:solidFill>
              <a:effectLst/>
              <a:uLnTx/>
              <a:uFillTx/>
              <a:latin typeface="Roboto" panose="02000000000000000000" pitchFamily="2" charset="0"/>
              <a:ea typeface="Roboto" panose="02000000000000000000" pitchFamily="2" charset="0"/>
              <a:cs typeface="+mn-cs"/>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Architecture</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Analytics</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Warehousing</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Wrangling</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Integration</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Migration</a:t>
            </a:r>
          </a:p>
          <a:p>
            <a:pPr marL="171450" indent="-171450">
              <a:buClr>
                <a:srgbClr val="00AB80"/>
              </a:buClr>
              <a:buFont typeface="Arial" panose="020B0604020202020204" pitchFamily="34" charset="0"/>
              <a:buChar char="•"/>
              <a:defRPr/>
            </a:pPr>
            <a:r>
              <a:rPr lang="en-US" sz="900" dirty="0">
                <a:solidFill>
                  <a:prstClr val="black"/>
                </a:solidFill>
                <a:latin typeface="Roboto Light" panose="02000000000000000000" pitchFamily="2" charset="0"/>
                <a:ea typeface="Roboto Light" panose="02000000000000000000" pitchFamily="2" charset="0"/>
              </a:rPr>
              <a:t>Software Development</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indent="-171450">
              <a:buClr>
                <a:srgbClr val="00AB80"/>
              </a:buClr>
              <a:buFont typeface="Arial" panose="020B0604020202020204" pitchFamily="34" charset="0"/>
              <a:buChar char="•"/>
              <a:defRPr/>
            </a:pPr>
            <a:r>
              <a:rPr lang="en-US" sz="900" dirty="0">
                <a:solidFill>
                  <a:prstClr val="black"/>
                </a:solidFill>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Risk Management</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Machine Learning</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Project Management</a:t>
            </a: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Agile </a:t>
            </a:r>
            <a:r>
              <a:rPr lang="en-US" sz="900" dirty="0">
                <a:solidFill>
                  <a:prstClr val="black"/>
                </a:solidFill>
                <a:latin typeface="Roboto Light" panose="02000000000000000000" pitchFamily="2" charset="0"/>
                <a:ea typeface="Roboto Light" panose="02000000000000000000" pitchFamily="2" charset="0"/>
              </a:rPr>
              <a:t>M</a:t>
            </a:r>
            <a:r>
              <a:rPr kumimoji="0" lang="en-US" sz="900" b="0" i="0" u="none" strike="noStrike" kern="1200" cap="none" spc="0" normalizeH="0" baseline="0" noProof="0" dirty="0" err="1">
                <a:ln>
                  <a:noFill/>
                </a:ln>
                <a:solidFill>
                  <a:prstClr val="black"/>
                </a:solidFill>
                <a:effectLst/>
                <a:uLnTx/>
                <a:uFillTx/>
                <a:latin typeface="Roboto Light" panose="02000000000000000000" pitchFamily="2" charset="0"/>
                <a:ea typeface="Roboto Light" panose="02000000000000000000" pitchFamily="2" charset="0"/>
                <a:cs typeface="+mn-cs"/>
              </a:rPr>
              <a:t>ethodologies</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Scrum</a:t>
            </a:r>
          </a:p>
          <a:p>
            <a:pPr marL="171450" indent="-171450">
              <a:buClr>
                <a:srgbClr val="00AB80"/>
              </a:buClr>
              <a:buFont typeface="Arial" panose="020B0604020202020204" pitchFamily="34" charset="0"/>
              <a:buChar char="•"/>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96904"/>
            <a:ext cx="416475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59FF"/>
                </a:solidFill>
                <a:latin typeface="Roboto" panose="02000000000000000000" pitchFamily="2" charset="0"/>
                <a:ea typeface="Roboto" panose="02000000000000000000" pitchFamily="2" charset="0"/>
              </a:rPr>
              <a:t>Leading Australian University</a:t>
            </a:r>
            <a:r>
              <a:rPr kumimoji="0" lang="en-AU" sz="1200" b="1" i="0" u="none" strike="noStrike" kern="1200" cap="none" spc="0" normalizeH="0" baseline="0" noProof="0" dirty="0">
                <a:ln>
                  <a:noFill/>
                </a:ln>
                <a:solidFill>
                  <a:srgbClr val="0059FF"/>
                </a:solidFill>
                <a:effectLst/>
                <a:uLnTx/>
                <a:uFillTx/>
                <a:latin typeface="Roboto" panose="02000000000000000000" pitchFamily="2" charset="0"/>
                <a:ea typeface="Roboto" panose="02000000000000000000" pitchFamily="2" charset="0"/>
                <a:cs typeface="+mn-cs"/>
              </a:rPr>
              <a:t> – </a:t>
            </a:r>
            <a:r>
              <a:rPr lang="en-AU" sz="1200" b="1" dirty="0">
                <a:solidFill>
                  <a:srgbClr val="0059FF"/>
                </a:solidFill>
                <a:latin typeface="Roboto" panose="02000000000000000000" pitchFamily="2" charset="0"/>
                <a:ea typeface="Roboto" panose="02000000000000000000" pitchFamily="2" charset="0"/>
              </a:rPr>
              <a:t>Business Process Analyst</a:t>
            </a:r>
            <a:endParaRPr kumimoji="0" lang="en-AU" sz="1200" b="1" i="0" u="none" strike="noStrike" kern="1200" cap="none" spc="0" normalizeH="0" baseline="0" noProof="0" dirty="0">
              <a:ln>
                <a:noFill/>
              </a:ln>
              <a:solidFill>
                <a:srgbClr val="0059FF"/>
              </a:solidFill>
              <a:effectLst/>
              <a:uLnTx/>
              <a:uFillTx/>
              <a:latin typeface="Roboto" panose="02000000000000000000" pitchFamily="2" charset="0"/>
              <a:ea typeface="Roboto" panose="02000000000000000000" pitchFamily="2" charset="0"/>
              <a:cs typeface="+mn-cs"/>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73630"/>
            <a:ext cx="4571499"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Data Modelling Specialist for Data Migration</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Primary Lead for the Higher Degree and Research (HDR) program's data integration</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Oversaw the entire data migration process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Analysed and developed an understanding of the current system's business processes to ensure smooth data migration</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Modelled data based on the current system's operational needs and prepared it for future migration</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Undertook detailed analysis and discovery of source models.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Handled data migration for the "Research Online Profiles" system along with integration from various other sources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Managed data from approximately nine distinct source systems.</a:t>
            </a:r>
          </a:p>
          <a:p>
            <a:pPr>
              <a:defRPr/>
            </a:pP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Ensured integration of multiple data sources into a unified model for migration purposes</a:t>
            </a:r>
          </a:p>
          <a:p>
            <a:pPr>
              <a:defRPr/>
            </a:pPr>
            <a:endPar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646675"/>
            <a:ext cx="4524290" cy="1938992"/>
            <a:chOff x="5023753" y="4247510"/>
            <a:chExt cx="4694557"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5" y="4247510"/>
              <a:ext cx="4658835"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defRPr/>
              </a:pPr>
              <a:r>
                <a:rPr lang="en-AU" sz="1000" dirty="0">
                  <a:solidFill>
                    <a:prstClr val="white"/>
                  </a:solidFill>
                </a:rPr>
                <a:t>Lead a BI team to migrate existing Data Warehouse from SSIS and SQL Server to </a:t>
              </a:r>
              <a:r>
                <a:rPr lang="en-AU" sz="1000" dirty="0" err="1">
                  <a:solidFill>
                    <a:prstClr val="white"/>
                  </a:solidFill>
                </a:rPr>
                <a:t>Matillion</a:t>
              </a:r>
              <a:r>
                <a:rPr lang="en-AU" sz="1000" dirty="0">
                  <a:solidFill>
                    <a:prstClr val="white"/>
                  </a:solidFill>
                </a:rPr>
                <a:t> and Snowflake</a:t>
              </a:r>
            </a:p>
            <a:p>
              <a:pPr>
                <a:defRPr/>
              </a:pPr>
              <a:r>
                <a:rPr lang="en-AU" sz="1000" dirty="0">
                  <a:solidFill>
                    <a:prstClr val="white"/>
                  </a:solidFill>
                </a:rPr>
                <a:t>Consulted with stakeholders and subject matter experts to develop requirements specifications </a:t>
              </a:r>
            </a:p>
            <a:p>
              <a:pPr>
                <a:defRPr/>
              </a:pPr>
              <a:r>
                <a:rPr lang="en-AU" sz="1000" dirty="0">
                  <a:solidFill>
                    <a:prstClr val="white"/>
                  </a:solidFill>
                </a:rPr>
                <a:t>Architected data model and designed new Data Warehouse technical flow </a:t>
              </a:r>
            </a:p>
            <a:p>
              <a:pPr>
                <a:defRPr/>
              </a:pPr>
              <a:r>
                <a:rPr lang="en-AU" sz="1000" dirty="0">
                  <a:solidFill>
                    <a:prstClr val="white"/>
                  </a:solidFill>
                </a:rPr>
                <a:t>Designed Snowflake middleware integration using Azure Service Bus to integrate with other Microservice.</a:t>
              </a:r>
            </a:p>
            <a:p>
              <a:pPr>
                <a:defRPr/>
              </a:pPr>
              <a:r>
                <a:rPr lang="en-AU" sz="1000" dirty="0">
                  <a:solidFill>
                    <a:prstClr val="white"/>
                  </a:solidFill>
                </a:rPr>
                <a:t>Mentored team on Python, </a:t>
              </a:r>
              <a:r>
                <a:rPr lang="en-AU" sz="1000" dirty="0" err="1">
                  <a:solidFill>
                    <a:prstClr val="white"/>
                  </a:solidFill>
                </a:rPr>
                <a:t>Matillion</a:t>
              </a:r>
              <a:r>
                <a:rPr lang="en-AU" sz="1000" dirty="0">
                  <a:solidFill>
                    <a:prstClr val="white"/>
                  </a:solidFill>
                </a:rPr>
                <a:t>, Snow-SQL, </a:t>
              </a:r>
              <a:r>
                <a:rPr lang="en-AU" sz="1000" dirty="0" err="1">
                  <a:solidFill>
                    <a:prstClr val="white"/>
                  </a:solidFill>
                </a:rPr>
                <a:t>Javascript</a:t>
              </a:r>
              <a:r>
                <a:rPr lang="en-AU" sz="1000" dirty="0">
                  <a:solidFill>
                    <a:prstClr val="white"/>
                  </a:solidFill>
                </a:rPr>
                <a:t>, and Power BI</a:t>
              </a:r>
            </a:p>
            <a:p>
              <a:pPr>
                <a:defRPr/>
              </a:pPr>
              <a:r>
                <a:rPr lang="en-AU" sz="1000" dirty="0">
                  <a:solidFill>
                    <a:prstClr val="white"/>
                  </a:solidFill>
                </a:rPr>
                <a:t>Designed and built Snowflake Git auto-synchronization and deployment</a:t>
              </a:r>
            </a:p>
            <a:p>
              <a:pPr>
                <a:defRPr/>
              </a:pPr>
              <a:r>
                <a:rPr lang="en-AU" sz="1000" dirty="0">
                  <a:solidFill>
                    <a:prstClr val="white"/>
                  </a:solidFill>
                </a:rPr>
                <a:t>Built ingestion pipelines (SFTP, REST API, Webservice in both XML and JSON)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GB"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62367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369676"/>
            <a:ext cx="352696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200" b="1" dirty="0">
                <a:solidFill>
                  <a:srgbClr val="A93584"/>
                </a:solidFill>
                <a:latin typeface="Roboto" panose="02000000000000000000" pitchFamily="2" charset="0"/>
                <a:ea typeface="Roboto" panose="02000000000000000000" pitchFamily="2" charset="0"/>
              </a:rPr>
              <a:t>Logistics</a:t>
            </a:r>
            <a:r>
              <a:rPr kumimoji="0" lang="en-AU" sz="1200" b="1" i="0" u="none" strike="noStrike" kern="1200" cap="none" spc="0" normalizeH="0" baseline="0" noProof="0" dirty="0">
                <a:ln>
                  <a:noFill/>
                </a:ln>
                <a:solidFill>
                  <a:srgbClr val="A93584"/>
                </a:solidFill>
                <a:effectLst/>
                <a:uLnTx/>
                <a:uFillTx/>
                <a:latin typeface="Roboto" panose="02000000000000000000" pitchFamily="2" charset="0"/>
                <a:ea typeface="Roboto" panose="02000000000000000000" pitchFamily="2" charset="0"/>
                <a:cs typeface="+mn-cs"/>
              </a:rPr>
              <a:t> Organisation – Data Engineer</a:t>
            </a:r>
          </a:p>
        </p:txBody>
      </p:sp>
      <p:sp>
        <p:nvSpPr>
          <p:cNvPr id="9" name="TextBox 8">
            <a:extLst>
              <a:ext uri="{FF2B5EF4-FFF2-40B4-BE49-F238E27FC236}">
                <a16:creationId xmlns:a16="http://schemas.microsoft.com/office/drawing/2014/main" id="{DF2E6420-466B-9D77-B09F-7F5104668CF1}"/>
              </a:ext>
            </a:extLst>
          </p:cNvPr>
          <p:cNvSpPr txBox="1"/>
          <p:nvPr/>
        </p:nvSpPr>
        <p:spPr>
          <a:xfrm>
            <a:off x="8118489" y="1456630"/>
            <a:ext cx="1951941" cy="20005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Education</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dirty="0">
                <a:solidFill>
                  <a:srgbClr val="00AB80"/>
                </a:solidFill>
              </a:rPr>
              <a:t>Energy</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Financial Services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dirty="0">
                <a:solidFill>
                  <a:srgbClr val="00AB80"/>
                </a:solidFill>
              </a:rPr>
              <a:t>Healthcare</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Retail</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dirty="0">
                <a:solidFill>
                  <a:srgbClr val="00AB80"/>
                </a:solidFill>
              </a:rPr>
              <a:t>Mining</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Manufacturing</a:t>
            </a:r>
          </a:p>
        </p:txBody>
      </p:sp>
    </p:spTree>
    <p:extLst>
      <p:ext uri="{BB962C8B-B14F-4D97-AF65-F5344CB8AC3E}">
        <p14:creationId xmlns:p14="http://schemas.microsoft.com/office/powerpoint/2010/main" val="21443066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202322-7895-4F4E-BDC3-9E5B84FEE8F7}"/>
</file>

<file path=customXml/itemProps2.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BEDE27A-5D3F-48EC-A4D1-3F35063BDC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1382</TotalTime>
  <Words>482</Words>
  <Application>Microsoft Office PowerPoint</Application>
  <PresentationFormat>Custom</PresentationFormat>
  <Paragraphs>81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cp:revision>
  <dcterms:created xsi:type="dcterms:W3CDTF">2019-12-03T01:50:37Z</dcterms:created>
  <dcterms:modified xsi:type="dcterms:W3CDTF">2023-10-26T01:24:07Z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