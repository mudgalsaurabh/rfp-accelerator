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3584"/>
    <a:srgbClr val="0F2B3F"/>
    <a:srgbClr val="0059FF"/>
    <a:srgbClr val="ED7D31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E43B9E-76DD-4F1B-B960-00C0AF8BFACE}" v="8" dt="2025-08-20T00:45:26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878" y="6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F1E43B9E-76DD-4F1B-B960-00C0AF8BFACE}"/>
    <pc:docChg chg="undo custSel modSld">
      <pc:chgData name="Darcy Roach" userId="ba676ee9-e9b4-49e8-a515-8077106c948d" providerId="ADAL" clId="{F1E43B9E-76DD-4F1B-B960-00C0AF8BFACE}" dt="2025-08-20T00:49:11.684" v="1389" actId="1076"/>
      <pc:docMkLst>
        <pc:docMk/>
      </pc:docMkLst>
      <pc:sldChg chg="addSp delSp modSp mod">
        <pc:chgData name="Darcy Roach" userId="ba676ee9-e9b4-49e8-a515-8077106c948d" providerId="ADAL" clId="{F1E43B9E-76DD-4F1B-B960-00C0AF8BFACE}" dt="2025-08-20T00:49:11.684" v="1389" actId="1076"/>
        <pc:sldMkLst>
          <pc:docMk/>
          <pc:sldMk cId="2009923557" sldId="270"/>
        </pc:sldMkLst>
        <pc:spChg chg="mod ord">
          <ac:chgData name="Darcy Roach" userId="ba676ee9-e9b4-49e8-a515-8077106c948d" providerId="ADAL" clId="{F1E43B9E-76DD-4F1B-B960-00C0AF8BFACE}" dt="2025-08-20T00:18:42.877" v="951" actId="20577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F1E43B9E-76DD-4F1B-B960-00C0AF8BFACE}" dt="2025-08-19T23:49:26.466" v="600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F1E43B9E-76DD-4F1B-B960-00C0AF8BFACE}" dt="2025-08-19T23:14:58.947" v="24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F1E43B9E-76DD-4F1B-B960-00C0AF8BFACE}" dt="2025-08-19T23:28:46.400" v="230" actId="20577"/>
          <ac:spMkLst>
            <pc:docMk/>
            <pc:sldMk cId="2009923557" sldId="270"/>
            <ac:spMk id="17" creationId="{1BDE5051-9F34-F139-742D-4450E5D6591E}"/>
          </ac:spMkLst>
        </pc:spChg>
        <pc:spChg chg="add del">
          <ac:chgData name="Darcy Roach" userId="ba676ee9-e9b4-49e8-a515-8077106c948d" providerId="ADAL" clId="{F1E43B9E-76DD-4F1B-B960-00C0AF8BFACE}" dt="2025-08-20T00:37:40.648" v="1096" actId="22"/>
          <ac:spMkLst>
            <pc:docMk/>
            <pc:sldMk cId="2009923557" sldId="270"/>
            <ac:spMk id="21" creationId="{E8B78D75-0F5E-BD2A-781D-D983D9041491}"/>
          </ac:spMkLst>
        </pc:spChg>
        <pc:spChg chg="mod">
          <ac:chgData name="Darcy Roach" userId="ba676ee9-e9b4-49e8-a515-8077106c948d" providerId="ADAL" clId="{F1E43B9E-76DD-4F1B-B960-00C0AF8BFACE}" dt="2025-08-19T23:15:16.337" v="31" actId="20577"/>
          <ac:spMkLst>
            <pc:docMk/>
            <pc:sldMk cId="2009923557" sldId="270"/>
            <ac:spMk id="22" creationId="{9D4E289E-1D52-CBDD-E381-40963429D7F1}"/>
          </ac:spMkLst>
        </pc:spChg>
        <pc:spChg chg="mod">
          <ac:chgData name="Darcy Roach" userId="ba676ee9-e9b4-49e8-a515-8077106c948d" providerId="ADAL" clId="{F1E43B9E-76DD-4F1B-B960-00C0AF8BFACE}" dt="2025-08-19T23:58:04.387" v="695" actId="20577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F1E43B9E-76DD-4F1B-B960-00C0AF8BFACE}" dt="2025-08-20T00:43:47.189" v="1161" actId="20577"/>
          <ac:spMkLst>
            <pc:docMk/>
            <pc:sldMk cId="2009923557" sldId="270"/>
            <ac:spMk id="28" creationId="{EBBC22E4-5519-D14B-68E0-8DFCD11654ED}"/>
          </ac:spMkLst>
        </pc:spChg>
        <pc:spChg chg="mod">
          <ac:chgData name="Darcy Roach" userId="ba676ee9-e9b4-49e8-a515-8077106c948d" providerId="ADAL" clId="{F1E43B9E-76DD-4F1B-B960-00C0AF8BFACE}" dt="2025-08-20T00:39:14.844" v="1131" actId="20577"/>
          <ac:spMkLst>
            <pc:docMk/>
            <pc:sldMk cId="2009923557" sldId="270"/>
            <ac:spMk id="29" creationId="{C58259C0-1D0D-A3D2-7E43-4C9F4A101E98}"/>
          </ac:spMkLst>
        </pc:spChg>
        <pc:spChg chg="mod">
          <ac:chgData name="Darcy Roach" userId="ba676ee9-e9b4-49e8-a515-8077106c948d" providerId="ADAL" clId="{F1E43B9E-76DD-4F1B-B960-00C0AF8BFACE}" dt="2025-08-20T00:08:50.234" v="862" actId="20577"/>
          <ac:spMkLst>
            <pc:docMk/>
            <pc:sldMk cId="2009923557" sldId="270"/>
            <ac:spMk id="31" creationId="{5D644C1D-FE62-9752-27C7-42A94F729A86}"/>
          </ac:spMkLst>
        </pc:spChg>
        <pc:spChg chg="mod">
          <ac:chgData name="Darcy Roach" userId="ba676ee9-e9b4-49e8-a515-8077106c948d" providerId="ADAL" clId="{F1E43B9E-76DD-4F1B-B960-00C0AF8BFACE}" dt="2025-08-20T00:48:30.468" v="1388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F1E43B9E-76DD-4F1B-B960-00C0AF8BFACE}" dt="2025-08-20T00:49:11.684" v="1389" actId="1076"/>
          <ac:spMkLst>
            <pc:docMk/>
            <pc:sldMk cId="2009923557" sldId="270"/>
            <ac:spMk id="39" creationId="{3EA81938-6A76-B850-B0E8-A5F905AEBA98}"/>
          </ac:spMkLst>
        </pc:spChg>
        <pc:spChg chg="mod">
          <ac:chgData name="Darcy Roach" userId="ba676ee9-e9b4-49e8-a515-8077106c948d" providerId="ADAL" clId="{F1E43B9E-76DD-4F1B-B960-00C0AF8BFACE}" dt="2025-08-20T00:44:10.594" v="1209" actId="20577"/>
          <ac:spMkLst>
            <pc:docMk/>
            <pc:sldMk cId="2009923557" sldId="270"/>
            <ac:spMk id="48" creationId="{2E936835-C132-4204-2E91-FE9D8E6EC671}"/>
          </ac:spMkLst>
        </pc:spChg>
        <pc:spChg chg="mod">
          <ac:chgData name="Darcy Roach" userId="ba676ee9-e9b4-49e8-a515-8077106c948d" providerId="ADAL" clId="{F1E43B9E-76DD-4F1B-B960-00C0AF8BFACE}" dt="2025-08-20T00:36:49.295" v="1094" actId="20577"/>
          <ac:spMkLst>
            <pc:docMk/>
            <pc:sldMk cId="2009923557" sldId="270"/>
            <ac:spMk id="54" creationId="{4F1DF6EC-2D10-1310-483C-35027A70DDA1}"/>
          </ac:spMkLst>
        </pc:spChg>
        <pc:spChg chg="mod">
          <ac:chgData name="Darcy Roach" userId="ba676ee9-e9b4-49e8-a515-8077106c948d" providerId="ADAL" clId="{F1E43B9E-76DD-4F1B-B960-00C0AF8BFACE}" dt="2025-08-20T00:21:30.211" v="1028" actId="20577"/>
          <ac:spMkLst>
            <pc:docMk/>
            <pc:sldMk cId="2009923557" sldId="270"/>
            <ac:spMk id="55" creationId="{20D856C0-6C6C-30D2-8947-79D3F4B5FE07}"/>
          </ac:spMkLst>
        </pc:spChg>
        <pc:grpChg chg="mod">
          <ac:chgData name="Darcy Roach" userId="ba676ee9-e9b4-49e8-a515-8077106c948d" providerId="ADAL" clId="{F1E43B9E-76DD-4F1B-B960-00C0AF8BFACE}" dt="2025-08-20T00:49:11.684" v="1389" actId="1076"/>
          <ac:grpSpMkLst>
            <pc:docMk/>
            <pc:sldMk cId="2009923557" sldId="270"/>
            <ac:grpSpMk id="5" creationId="{980A06B1-0A2F-7DF6-91DB-0F6DFA896A23}"/>
          </ac:grpSpMkLst>
        </pc:grpChg>
        <pc:grpChg chg="del">
          <ac:chgData name="Darcy Roach" userId="ba676ee9-e9b4-49e8-a515-8077106c948d" providerId="ADAL" clId="{F1E43B9E-76DD-4F1B-B960-00C0AF8BFACE}" dt="2025-08-20T00:33:32.547" v="1036" actId="21"/>
          <ac:grpSpMkLst>
            <pc:docMk/>
            <pc:sldMk cId="2009923557" sldId="270"/>
            <ac:grpSpMk id="8" creationId="{DE3D58D9-6281-AE94-8BBE-46BBE0DC65C7}"/>
          </ac:grpSpMkLst>
        </pc:grpChg>
        <pc:grpChg chg="add mod">
          <ac:chgData name="Darcy Roach" userId="ba676ee9-e9b4-49e8-a515-8077106c948d" providerId="ADAL" clId="{F1E43B9E-76DD-4F1B-B960-00C0AF8BFACE}" dt="2025-08-20T00:37:53.858" v="1098" actId="1076"/>
          <ac:grpSpMkLst>
            <pc:docMk/>
            <pc:sldMk cId="2009923557" sldId="270"/>
            <ac:grpSpMk id="24" creationId="{3E278291-F3EB-A60E-05BF-BDC6A488994B}"/>
          </ac:grpSpMkLst>
        </pc:grpChg>
        <pc:grpChg chg="mod">
          <ac:chgData name="Darcy Roach" userId="ba676ee9-e9b4-49e8-a515-8077106c948d" providerId="ADAL" clId="{F1E43B9E-76DD-4F1B-B960-00C0AF8BFACE}" dt="2025-08-20T00:41:00.199" v="1133" actId="1076"/>
          <ac:grpSpMkLst>
            <pc:docMk/>
            <pc:sldMk cId="2009923557" sldId="270"/>
            <ac:grpSpMk id="30" creationId="{A04F5F41-3A2D-4DD1-FE07-979FAD2578E8}"/>
          </ac:grpSpMkLst>
        </pc:grpChg>
        <pc:cxnChg chg="mod">
          <ac:chgData name="Darcy Roach" userId="ba676ee9-e9b4-49e8-a515-8077106c948d" providerId="ADAL" clId="{F1E43B9E-76DD-4F1B-B960-00C0AF8BFACE}" dt="2025-08-20T00:09:09.152" v="863" actId="14100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F1E43B9E-76DD-4F1B-B960-00C0AF8BFACE}" dt="2025-08-20T00:39:26.427" v="1132" actId="14100"/>
          <ac:cxnSpMkLst>
            <pc:docMk/>
            <pc:sldMk cId="2009923557" sldId="270"/>
            <ac:cxnSpMk id="32" creationId="{51487191-2C16-66F9-8149-52C26D0B398E}"/>
          </ac:cxnSpMkLst>
        </pc:cxnChg>
        <pc:cxnChg chg="mod">
          <ac:chgData name="Darcy Roach" userId="ba676ee9-e9b4-49e8-a515-8077106c948d" providerId="ADAL" clId="{F1E43B9E-76DD-4F1B-B960-00C0AF8BFACE}" dt="2025-08-20T00:36:18.699" v="1084" actId="1038"/>
          <ac:cxnSpMkLst>
            <pc:docMk/>
            <pc:sldMk cId="2009923557" sldId="270"/>
            <ac:cxnSpMk id="56" creationId="{C0271841-9AD2-76A9-36A3-77AD3CD1ED1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8CEFB-2E98-46AE-A91E-7FB7C1AF1DAA}" type="datetimeFigureOut">
              <a:rPr lang="en-AU" smtClean="0"/>
              <a:t>20/08/2025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57250"/>
            <a:ext cx="29940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A2614-3F04-499D-A579-E1D6397146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02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Higher Education Organisation – Senior Data Engineer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Liaised with stakeholders for requirements with regards to development/enhancement, defect testing and ticket updates and signoffs.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Contributed with technical expertise in design phase, developing and maintaining broad range of reports in OBIEE/BI Publisher, ETL jobs and mappings.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Undertook BAU activities, monitoring and maintaining scheduled ETL loads.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Managed defects worked through tickets from incident management system.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Worked on enhancements related to legacy and/or complex issues. Carried out thorough root cause analysis and developed fixes.</a:t>
            </a:r>
          </a:p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A2614-3F04-499D-A579-E1D639714650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7274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A04F5F41-3A2D-4DD1-FE07-979FAD2578E8}"/>
              </a:ext>
            </a:extLst>
          </p:cNvPr>
          <p:cNvGrpSpPr/>
          <p:nvPr/>
        </p:nvGrpSpPr>
        <p:grpSpPr>
          <a:xfrm>
            <a:off x="3335752" y="3706487"/>
            <a:ext cx="4782734" cy="2561136"/>
            <a:chOff x="3335752" y="5822449"/>
            <a:chExt cx="4782734" cy="351380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0D856C0-6C6C-30D2-8947-79D3F4B5FE07}"/>
                </a:ext>
              </a:extLst>
            </p:cNvPr>
            <p:cNvSpPr txBox="1"/>
            <p:nvPr/>
          </p:nvSpPr>
          <p:spPr>
            <a:xfrm>
              <a:off x="3335752" y="5822449"/>
              <a:ext cx="4782734" cy="633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Healthcare Organisation – Data/Cloud Engineer</a:t>
              </a:r>
            </a:p>
            <a:p>
              <a:endPara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F1DF6EC-2D10-1310-483C-35027A70DDA1}"/>
                </a:ext>
              </a:extLst>
            </p:cNvPr>
            <p:cNvSpPr txBox="1"/>
            <p:nvPr/>
          </p:nvSpPr>
          <p:spPr>
            <a:xfrm>
              <a:off x="3436577" y="6148186"/>
              <a:ext cx="4520232" cy="3188063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10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>
                <a:spcBef>
                  <a:spcPts val="300"/>
                </a:spcBef>
              </a:pPr>
              <a:r>
                <a:rPr lang="en-AU" dirty="0">
                  <a:latin typeface="Roboto Light"/>
                  <a:ea typeface="Roboto Light"/>
                  <a:cs typeface="Roboto Light"/>
                </a:rPr>
                <a:t>Designed &amp; Implemented Cloud Solutions including compute, storage, networking, identity management, and security</a:t>
              </a:r>
            </a:p>
            <a:p>
              <a:pPr>
                <a:spcBef>
                  <a:spcPts val="300"/>
                </a:spcBef>
              </a:pPr>
              <a:r>
                <a:rPr lang="en-AU" dirty="0">
                  <a:latin typeface="Roboto Light"/>
                  <a:ea typeface="Roboto Light"/>
                  <a:cs typeface="Roboto Light"/>
                </a:rPr>
                <a:t>Automated Deployments &amp; Infrastructure using CI/CD tools, Terraform, and ARM templates</a:t>
              </a:r>
            </a:p>
            <a:p>
              <a:pPr>
                <a:spcBef>
                  <a:spcPts val="300"/>
                </a:spcBef>
              </a:pPr>
              <a:r>
                <a:rPr lang="en-AU" dirty="0">
                  <a:latin typeface="Roboto Light"/>
                  <a:ea typeface="Roboto Light"/>
                  <a:cs typeface="Roboto Light"/>
                </a:rPr>
                <a:t>Implemented Cloud Security, Monitoring, &amp; Compliance to ensure governance and reliability</a:t>
              </a:r>
            </a:p>
            <a:p>
              <a:pPr>
                <a:spcBef>
                  <a:spcPts val="300"/>
                </a:spcBef>
              </a:pPr>
              <a:r>
                <a:rPr lang="en-AU" dirty="0">
                  <a:latin typeface="Roboto Light"/>
                  <a:ea typeface="Roboto Light"/>
                  <a:cs typeface="Roboto Light"/>
                </a:rPr>
                <a:t>Collaborated with stakeholders to design scalable, cloud-native solutions, aligning technical architecture with business needs</a:t>
              </a:r>
            </a:p>
            <a:p>
              <a:pPr>
                <a:spcBef>
                  <a:spcPts val="300"/>
                </a:spcBef>
              </a:pPr>
              <a:r>
                <a:rPr lang="en-AU" dirty="0">
                  <a:latin typeface="Roboto Light"/>
                  <a:ea typeface="Roboto Light"/>
                  <a:cs typeface="Roboto Light"/>
                </a:rPr>
                <a:t>Led the migration from SQL to </a:t>
              </a:r>
              <a:r>
                <a:rPr lang="en-AU" dirty="0" err="1">
                  <a:latin typeface="Roboto Light"/>
                  <a:ea typeface="Roboto Light"/>
                  <a:cs typeface="Roboto Light"/>
                </a:rPr>
                <a:t>Deltalake</a:t>
              </a:r>
              <a:r>
                <a:rPr lang="en-AU" dirty="0">
                  <a:latin typeface="Roboto Light"/>
                  <a:ea typeface="Roboto Light"/>
                  <a:cs typeface="Roboto Light"/>
                </a:rPr>
                <a:t> architecture, increasing the efficiency by 50% Design</a:t>
              </a:r>
            </a:p>
            <a:p>
              <a:pPr>
                <a:spcBef>
                  <a:spcPts val="300"/>
                </a:spcBef>
              </a:pPr>
              <a:r>
                <a:rPr lang="en-AU" dirty="0">
                  <a:latin typeface="Roboto Light"/>
                  <a:ea typeface="Roboto Light"/>
                  <a:cs typeface="Roboto Light"/>
                </a:rPr>
                <a:t>Designed and Implemented </a:t>
              </a:r>
              <a:r>
                <a:rPr lang="en-AU" dirty="0" err="1">
                  <a:latin typeface="Roboto Light"/>
                  <a:ea typeface="Roboto Light"/>
                  <a:cs typeface="Roboto Light"/>
                </a:rPr>
                <a:t>Bronze,Silver</a:t>
              </a:r>
              <a:r>
                <a:rPr lang="en-AU" dirty="0">
                  <a:latin typeface="Roboto Light"/>
                  <a:ea typeface="Roboto Light"/>
                  <a:cs typeface="Roboto Light"/>
                </a:rPr>
                <a:t> and Gold layer architecture for 10+ sources using Databricks and synapse. </a:t>
              </a:r>
            </a:p>
            <a:p>
              <a:pPr>
                <a:spcBef>
                  <a:spcPts val="300"/>
                </a:spcBef>
              </a:pPr>
              <a:r>
                <a:rPr lang="en-AU" dirty="0">
                  <a:latin typeface="Roboto Light"/>
                  <a:ea typeface="Roboto Light"/>
                  <a:cs typeface="Roboto Light"/>
                </a:rPr>
                <a:t>Decreased failure rate in ETL pipelines from 60% to 20%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0271841-9AD2-76A9-36A3-77AD3CD1ED17}"/>
                </a:ext>
              </a:extLst>
            </p:cNvPr>
            <p:cNvCxnSpPr>
              <a:cxnSpLocks/>
            </p:cNvCxnSpPr>
            <p:nvPr/>
          </p:nvCxnSpPr>
          <p:spPr>
            <a:xfrm>
              <a:off x="3439955" y="6245127"/>
              <a:ext cx="0" cy="2967458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Rinki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Shekhawat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50510" y="1665146"/>
            <a:ext cx="2852780" cy="338554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AU" sz="1000" spc="13" dirty="0">
                <a:latin typeface="Roboto Light"/>
                <a:ea typeface="Roboto Light"/>
                <a:cs typeface="Lato"/>
              </a:rPr>
              <a:t>Rinki is an experienced Data Engineer with over 3 years of professional experience delivering end-to-end data solutions across cloud and modern data platforms. She brings expertise in ETL, data pipelines, data warehousing, data lakes, and big data technologies, with hands-on experience across Azure, AWS, and Databricks.</a:t>
            </a:r>
          </a:p>
          <a:p>
            <a:pPr algn="l"/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pPr algn="l"/>
            <a:r>
              <a:rPr lang="en-AU" sz="1000" spc="13" dirty="0">
                <a:latin typeface="Roboto Light"/>
                <a:ea typeface="Roboto Light"/>
                <a:cs typeface="Lato"/>
              </a:rPr>
              <a:t>She has successfully designed and built scalable, cloud-based data pipelines and robust data architectures that empower organisations to unlock insights and make informed, data-driven decisions. Rinki is highly skilled in SQL, Python, </a:t>
            </a:r>
            <a:r>
              <a:rPr lang="en-AU" sz="1000" spc="13" dirty="0" err="1">
                <a:latin typeface="Roboto Light"/>
                <a:ea typeface="Roboto Light"/>
                <a:cs typeface="Lato"/>
              </a:rPr>
              <a:t>PySpark</a:t>
            </a:r>
            <a:r>
              <a:rPr lang="en-AU" sz="1000" spc="13" dirty="0">
                <a:latin typeface="Roboto Light"/>
                <a:ea typeface="Roboto Light"/>
                <a:cs typeface="Lato"/>
              </a:rPr>
              <a:t>, data modelling, and data loading, with a proven ability to translate complex business requirements into practical, actionable solutions. Rinki is a fast learner, adaptable, and effective at bridging the gap between technical implementation and business outcomes. Rinki is well-positioned to support organisations in harnessing the full potential of their data and cloud ecosystems.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56153" y="5292185"/>
            <a:ext cx="2995859" cy="24103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37875" y="5633699"/>
            <a:ext cx="1510046" cy="230832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/>
                <a:ea typeface="Roboto Light"/>
                <a:cs typeface="Roboto Light"/>
              </a:rPr>
              <a:t>PySpark</a:t>
            </a:r>
            <a:endParaRPr lang="en-US" sz="900" dirty="0">
              <a:latin typeface="Roboto Light"/>
              <a:ea typeface="Roboto Light"/>
              <a:cs typeface="Roboto Light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Apache Spark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Azure Data Factory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Azure Synapse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Azure DevOps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Microsoft Fabric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Power BI</a:t>
            </a:r>
            <a:endParaRPr lang="en-US" dirty="0">
              <a:latin typeface="Roboto Light"/>
              <a:ea typeface="Roboto Light"/>
              <a:cs typeface="Roboto Light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Teradata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CI/CD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/>
                <a:ea typeface="Roboto Light"/>
                <a:cs typeface="Roboto Light"/>
              </a:rPr>
              <a:t>Deltalake</a:t>
            </a:r>
            <a:endParaRPr lang="en-US" sz="900" dirty="0">
              <a:latin typeface="Roboto Light"/>
              <a:ea typeface="Roboto Light"/>
              <a:cs typeface="Roboto Light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solidFill>
                <a:srgbClr val="000000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9743" y="2737466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7192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13496" y="2952910"/>
            <a:ext cx="1951941" cy="3231654"/>
            <a:chOff x="8106458" y="2681447"/>
            <a:chExt cx="1951941" cy="3231654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23165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Microsoft Certified | Azure Data Engineer Associate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LinkedIn | ETL in Python &amp; SQL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LinkedIn | SQL for Data Analysis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</a:rPr>
                <a:t>Bachelor – Technology, Computer Science &amp; Engineering | </a:t>
              </a:r>
              <a:r>
                <a:rPr lang="en-AU" sz="1200" dirty="0">
                  <a:solidFill>
                    <a:srgbClr val="00AB80"/>
                  </a:solidFill>
                  <a:latin typeface="Roboto Light" panose="02000000000000000000" pitchFamily="2" charset="0"/>
                </a:rPr>
                <a:t>College of Engineering &amp; Technology, Bikaner</a:t>
              </a: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51286" y="5633607"/>
            <a:ext cx="1570024" cy="230832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Microsoft 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Databricks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AWS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Modelling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Pipelines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Storage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Architecture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Big Data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Machine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/>
                <a:ea typeface="Roboto Light"/>
                <a:cs typeface="Roboto Light"/>
              </a:rPr>
              <a:t>ETL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402" y="5339826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C004A0F-26FD-81BE-0DC7-EDCD01D4194B}"/>
              </a:ext>
            </a:extLst>
          </p:cNvPr>
          <p:cNvGrpSpPr/>
          <p:nvPr/>
        </p:nvGrpSpPr>
        <p:grpSpPr>
          <a:xfrm>
            <a:off x="3335752" y="1068346"/>
            <a:ext cx="5029198" cy="2663431"/>
            <a:chOff x="3335753" y="2997642"/>
            <a:chExt cx="5029198" cy="266343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2997642"/>
              <a:ext cx="502919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AU" sz="1200" b="1" dirty="0">
                  <a:solidFill>
                    <a:srgbClr val="0059FF"/>
                  </a:solidFill>
                  <a:latin typeface="Roboto"/>
                  <a:ea typeface="Roboto"/>
                  <a:cs typeface="Roboto"/>
                </a:rPr>
                <a:t>Healthcare Organisation – Data Engineer/Analytics Engineer</a:t>
              </a:r>
            </a:p>
            <a:p>
              <a:endPara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644C1D-FE62-9752-27C7-42A94F729A86}"/>
                </a:ext>
              </a:extLst>
            </p:cNvPr>
            <p:cNvSpPr txBox="1"/>
            <p:nvPr/>
          </p:nvSpPr>
          <p:spPr>
            <a:xfrm>
              <a:off x="3436506" y="3106528"/>
              <a:ext cx="4545540" cy="25545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endParaRPr lang="en-US" sz="1000" dirty="0">
                <a:cs typeface="Roboto Light"/>
              </a:endParaRPr>
            </a:p>
            <a:p>
              <a:r>
                <a:rPr lang="en-AU" sz="1000" dirty="0">
                  <a:latin typeface="Roboto Light"/>
                  <a:ea typeface="Roboto"/>
                  <a:cs typeface="Roboto"/>
                </a:rPr>
                <a:t>Designed and Automated ETL Data Pipelines, using Azure Data Factory, Databricks, Synapse Analytics, and Spark, transforming raw data into analytics-ready datasets</a:t>
              </a:r>
            </a:p>
            <a:p>
              <a:r>
                <a:rPr lang="en-AU" sz="1000" dirty="0">
                  <a:latin typeface="Roboto Light"/>
                  <a:ea typeface="Roboto"/>
                  <a:cs typeface="Roboto"/>
                </a:rPr>
                <a:t>Designed and optimised data models and Delta Lakes to support near real-time analytics, BI dashboard, and Self-service reporting</a:t>
              </a:r>
            </a:p>
            <a:p>
              <a:r>
                <a:rPr lang="en-AU" sz="1000" dirty="0">
                  <a:latin typeface="Roboto Light"/>
                  <a:ea typeface="Roboto"/>
                  <a:cs typeface="Roboto"/>
                </a:rPr>
                <a:t>Ensured Data Reliability and Governance through quality checks, lineage tracking, and secure cloud data practices.</a:t>
              </a:r>
            </a:p>
            <a:p>
              <a:r>
                <a:rPr lang="en-AU" sz="1000" dirty="0">
                  <a:latin typeface="Roboto Light"/>
                  <a:ea typeface="Roboto"/>
                  <a:cs typeface="Roboto"/>
                </a:rPr>
                <a:t>Translated analytical requirements into scalable data solutions, enabling data-driven decision-making</a:t>
              </a:r>
            </a:p>
            <a:p>
              <a:r>
                <a:rPr lang="en-AU" sz="1000" dirty="0">
                  <a:latin typeface="Roboto Light"/>
                  <a:ea typeface="Roboto"/>
                  <a:cs typeface="Roboto"/>
                </a:rPr>
                <a:t>Developed a parameter invoke framework to dynamically pass parameters and trigger Azure Data Factory pipelines from CI/CD, decreasing manual dependencies from input files through Azure </a:t>
              </a:r>
              <a:r>
                <a:rPr lang="en-AU" sz="1000" dirty="0" err="1">
                  <a:latin typeface="Roboto Light"/>
                  <a:ea typeface="Roboto"/>
                  <a:cs typeface="Roboto"/>
                </a:rPr>
                <a:t>Devops</a:t>
              </a:r>
              <a:r>
                <a:rPr lang="en-AU" sz="1000" dirty="0">
                  <a:latin typeface="Roboto Light"/>
                  <a:ea typeface="Roboto"/>
                  <a:cs typeface="Roboto"/>
                </a:rPr>
                <a:t>, and Databricks</a:t>
              </a:r>
            </a:p>
            <a:p>
              <a:r>
                <a:rPr lang="en-AU" sz="1000" dirty="0">
                  <a:latin typeface="Roboto Light"/>
                  <a:ea typeface="Roboto"/>
                  <a:cs typeface="Roboto"/>
                </a:rPr>
                <a:t>Built secure, scalable data pipelines using Databricks and </a:t>
              </a:r>
              <a:r>
                <a:rPr lang="en-AU" sz="1000" dirty="0" err="1">
                  <a:latin typeface="Roboto Light"/>
                  <a:ea typeface="Roboto"/>
                  <a:cs typeface="Roboto"/>
                </a:rPr>
                <a:t>PySpark</a:t>
              </a:r>
              <a:endParaRPr lang="en-AU" sz="1000" dirty="0">
                <a:latin typeface="Roboto Light"/>
                <a:ea typeface="Roboto"/>
                <a:cs typeface="Roboto"/>
              </a:endParaRPr>
            </a:p>
            <a:p>
              <a:r>
                <a:rPr lang="en-AU" sz="1000" dirty="0">
                  <a:latin typeface="Roboto Light"/>
                  <a:ea typeface="Roboto"/>
                  <a:cs typeface="Roboto"/>
                </a:rPr>
                <a:t>Automated ETL processes to streamline data transfer between systems, reducing manual effort by 45%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3432779" y="3312266"/>
              <a:ext cx="0" cy="2252859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E936835-C132-4204-2E91-FE9D8E6EC671}"/>
              </a:ext>
            </a:extLst>
          </p:cNvPr>
          <p:cNvSpPr txBox="1"/>
          <p:nvPr/>
        </p:nvSpPr>
        <p:spPr>
          <a:xfrm>
            <a:off x="8118489" y="1456630"/>
            <a:ext cx="1951941" cy="89255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Healthcare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Consulting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278291-F3EB-A60E-05BF-BDC6A488994B}"/>
              </a:ext>
            </a:extLst>
          </p:cNvPr>
          <p:cNvGrpSpPr/>
          <p:nvPr/>
        </p:nvGrpSpPr>
        <p:grpSpPr>
          <a:xfrm>
            <a:off x="3347609" y="6287228"/>
            <a:ext cx="4782734" cy="1368502"/>
            <a:chOff x="3335752" y="5822449"/>
            <a:chExt cx="4782734" cy="187754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BBC22E4-5519-D14B-68E0-8DFCD11654ED}"/>
                </a:ext>
              </a:extLst>
            </p:cNvPr>
            <p:cNvSpPr txBox="1"/>
            <p:nvPr/>
          </p:nvSpPr>
          <p:spPr>
            <a:xfrm>
              <a:off x="3335752" y="5822449"/>
              <a:ext cx="4782734" cy="6333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Financial Services Organisation – Data/Cloud Engineer</a:t>
              </a:r>
            </a:p>
            <a:p>
              <a:endPara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58259C0-1D0D-A3D2-7E43-4C9F4A101E98}"/>
                </a:ext>
              </a:extLst>
            </p:cNvPr>
            <p:cNvSpPr txBox="1"/>
            <p:nvPr/>
          </p:nvSpPr>
          <p:spPr>
            <a:xfrm>
              <a:off x="3436577" y="6148186"/>
              <a:ext cx="4520232" cy="1551806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10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>
                <a:spcBef>
                  <a:spcPts val="300"/>
                </a:spcBef>
              </a:pPr>
              <a:r>
                <a:rPr lang="en-AU" dirty="0">
                  <a:latin typeface="Roboto Light"/>
                  <a:ea typeface="Roboto Light"/>
                  <a:cs typeface="Roboto Light"/>
                </a:rPr>
                <a:t>Worked on large-scale Teradata databases to extract, transform, and load enterprise data for reporting and analysis</a:t>
              </a:r>
            </a:p>
            <a:p>
              <a:pPr>
                <a:spcBef>
                  <a:spcPts val="300"/>
                </a:spcBef>
              </a:pPr>
              <a:r>
                <a:rPr lang="en-AU" dirty="0">
                  <a:latin typeface="Roboto Light"/>
                  <a:ea typeface="Roboto Light"/>
                  <a:cs typeface="Roboto Light"/>
                </a:rPr>
                <a:t>Extensive experience in SQL and performing data operations for business consumption and confidential tasks</a:t>
              </a:r>
            </a:p>
            <a:p>
              <a:pPr>
                <a:spcBef>
                  <a:spcPts val="300"/>
                </a:spcBef>
              </a:pPr>
              <a:r>
                <a:rPr lang="en-AU" dirty="0">
                  <a:latin typeface="Roboto Light"/>
                  <a:ea typeface="Roboto Light"/>
                  <a:cs typeface="Roboto Light"/>
                </a:rPr>
                <a:t>Responsible for designing the architecture and implementing the database management system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1487191-2C16-66F9-8149-52C26D0B398E}"/>
                </a:ext>
              </a:extLst>
            </p:cNvPr>
            <p:cNvCxnSpPr>
              <a:cxnSpLocks/>
            </p:cNvCxnSpPr>
            <p:nvPr/>
          </p:nvCxnSpPr>
          <p:spPr>
            <a:xfrm>
              <a:off x="3439955" y="6245127"/>
              <a:ext cx="0" cy="1304822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Joel Collins</DisplayName>
        <AccountId>13</AccountId>
        <AccountType/>
      </UserInfo>
      <UserInfo>
        <DisplayName>Darcy Roach</DisplayName>
        <AccountId>14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9DDFC6-124A-4859-BB62-4C7039BA48C0}">
  <ds:schemaRefs>
    <ds:schemaRef ds:uri="daf93972-1964-4522-aa34-640805a01c3a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e52cd9e7-35e5-4bd3-9cab-ca6a63c31e52"/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EAAB431-6FA9-4678-BFEA-63CD1CAD6F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3C178A-0D52-4698-811A-6187C64FC68C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</TotalTime>
  <Words>662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Libre Caslon Text</vt:lpstr>
      <vt:lpstr>Roboto</vt:lpstr>
      <vt:lpstr>Roboto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2</cp:revision>
  <dcterms:created xsi:type="dcterms:W3CDTF">2019-12-03T01:50:37Z</dcterms:created>
  <dcterms:modified xsi:type="dcterms:W3CDTF">2025-08-20T00:49:20Z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