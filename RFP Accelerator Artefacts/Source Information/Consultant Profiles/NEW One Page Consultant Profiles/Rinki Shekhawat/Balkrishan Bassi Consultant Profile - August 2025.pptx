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notesMasterIdLst>
    <p:notesMasterId r:id="rId6"/>
  </p:notes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3584"/>
    <a:srgbClr val="0F2B3F"/>
    <a:srgbClr val="0059FF"/>
    <a:srgbClr val="ED7D31"/>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7780B5-0319-4E05-83CF-A1EBF53DFD5C}" v="2" dt="2025-08-20T01:57:48.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1878" y="9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3D7780B5-0319-4E05-83CF-A1EBF53DFD5C}"/>
    <pc:docChg chg="undo redo custSel modSld">
      <pc:chgData name="Darcy Roach" userId="ba676ee9-e9b4-49e8-a515-8077106c948d" providerId="ADAL" clId="{3D7780B5-0319-4E05-83CF-A1EBF53DFD5C}" dt="2025-08-20T02:45:00.164" v="993" actId="1076"/>
      <pc:docMkLst>
        <pc:docMk/>
      </pc:docMkLst>
      <pc:sldChg chg="modSp mod">
        <pc:chgData name="Darcy Roach" userId="ba676ee9-e9b4-49e8-a515-8077106c948d" providerId="ADAL" clId="{3D7780B5-0319-4E05-83CF-A1EBF53DFD5C}" dt="2025-08-20T02:45:00.164" v="993" actId="1076"/>
        <pc:sldMkLst>
          <pc:docMk/>
          <pc:sldMk cId="2009923557" sldId="270"/>
        </pc:sldMkLst>
        <pc:spChg chg="mod">
          <ac:chgData name="Darcy Roach" userId="ba676ee9-e9b4-49e8-a515-8077106c948d" providerId="ADAL" clId="{3D7780B5-0319-4E05-83CF-A1EBF53DFD5C}" dt="2025-08-20T02:11:25.807" v="640" actId="20577"/>
          <ac:spMkLst>
            <pc:docMk/>
            <pc:sldMk cId="2009923557" sldId="270"/>
            <ac:spMk id="2" creationId="{2FA774CA-3857-9308-4D38-9414B0CC2B95}"/>
          </ac:spMkLst>
        </pc:spChg>
        <pc:spChg chg="mod">
          <ac:chgData name="Darcy Roach" userId="ba676ee9-e9b4-49e8-a515-8077106c948d" providerId="ADAL" clId="{3D7780B5-0319-4E05-83CF-A1EBF53DFD5C}" dt="2025-08-20T02:04:33.638" v="437" actId="20577"/>
          <ac:spMkLst>
            <pc:docMk/>
            <pc:sldMk cId="2009923557" sldId="270"/>
            <ac:spMk id="4" creationId="{80F49B2F-21D4-F9EB-049F-717A10CB7D84}"/>
          </ac:spMkLst>
        </pc:spChg>
        <pc:spChg chg="mod">
          <ac:chgData name="Darcy Roach" userId="ba676ee9-e9b4-49e8-a515-8077106c948d" providerId="ADAL" clId="{3D7780B5-0319-4E05-83CF-A1EBF53DFD5C}" dt="2025-08-20T01:44:51.662" v="31" actId="20577"/>
          <ac:spMkLst>
            <pc:docMk/>
            <pc:sldMk cId="2009923557" sldId="270"/>
            <ac:spMk id="13" creationId="{FD2720C9-A79F-BD7F-E179-674AD67D7892}"/>
          </ac:spMkLst>
        </pc:spChg>
        <pc:spChg chg="mod">
          <ac:chgData name="Darcy Roach" userId="ba676ee9-e9b4-49e8-a515-8077106c948d" providerId="ADAL" clId="{3D7780B5-0319-4E05-83CF-A1EBF53DFD5C}" dt="2025-08-20T01:54:50.422" v="168" actId="14100"/>
          <ac:spMkLst>
            <pc:docMk/>
            <pc:sldMk cId="2009923557" sldId="270"/>
            <ac:spMk id="17" creationId="{1BDE5051-9F34-F139-742D-4450E5D6591E}"/>
          </ac:spMkLst>
        </pc:spChg>
        <pc:spChg chg="mod">
          <ac:chgData name="Darcy Roach" userId="ba676ee9-e9b4-49e8-a515-8077106c948d" providerId="ADAL" clId="{3D7780B5-0319-4E05-83CF-A1EBF53DFD5C}" dt="2025-08-20T01:44:58.651" v="38" actId="20577"/>
          <ac:spMkLst>
            <pc:docMk/>
            <pc:sldMk cId="2009923557" sldId="270"/>
            <ac:spMk id="22" creationId="{9D4E289E-1D52-CBDD-E381-40963429D7F1}"/>
          </ac:spMkLst>
        </pc:spChg>
        <pc:spChg chg="mod">
          <ac:chgData name="Darcy Roach" userId="ba676ee9-e9b4-49e8-a515-8077106c948d" providerId="ADAL" clId="{3D7780B5-0319-4E05-83CF-A1EBF53DFD5C}" dt="2025-08-20T02:09:29.170" v="549" actId="20577"/>
          <ac:spMkLst>
            <pc:docMk/>
            <pc:sldMk cId="2009923557" sldId="270"/>
            <ac:spMk id="26" creationId="{1A3D666D-00C8-D106-73C3-9FF300F8618C}"/>
          </ac:spMkLst>
        </pc:spChg>
        <pc:spChg chg="mod">
          <ac:chgData name="Darcy Roach" userId="ba676ee9-e9b4-49e8-a515-8077106c948d" providerId="ADAL" clId="{3D7780B5-0319-4E05-83CF-A1EBF53DFD5C}" dt="2025-08-20T02:26:25.445" v="931" actId="20577"/>
          <ac:spMkLst>
            <pc:docMk/>
            <pc:sldMk cId="2009923557" sldId="270"/>
            <ac:spMk id="29" creationId="{C58259C0-1D0D-A3D2-7E43-4C9F4A101E98}"/>
          </ac:spMkLst>
        </pc:spChg>
        <pc:spChg chg="mod ord">
          <ac:chgData name="Darcy Roach" userId="ba676ee9-e9b4-49e8-a515-8077106c948d" providerId="ADAL" clId="{3D7780B5-0319-4E05-83CF-A1EBF53DFD5C}" dt="2025-08-20T02:44:56.029" v="992" actId="167"/>
          <ac:spMkLst>
            <pc:docMk/>
            <pc:sldMk cId="2009923557" sldId="270"/>
            <ac:spMk id="31" creationId="{5D644C1D-FE62-9752-27C7-42A94F729A86}"/>
          </ac:spMkLst>
        </pc:spChg>
        <pc:spChg chg="mod">
          <ac:chgData name="Darcy Roach" userId="ba676ee9-e9b4-49e8-a515-8077106c948d" providerId="ADAL" clId="{3D7780B5-0319-4E05-83CF-A1EBF53DFD5C}" dt="2025-08-20T02:29:15.307" v="989" actId="1076"/>
          <ac:spMkLst>
            <pc:docMk/>
            <pc:sldMk cId="2009923557" sldId="270"/>
            <ac:spMk id="39" creationId="{3EA81938-6A76-B850-B0E8-A5F905AEBA98}"/>
          </ac:spMkLst>
        </pc:spChg>
        <pc:spChg chg="mod">
          <ac:chgData name="Darcy Roach" userId="ba676ee9-e9b4-49e8-a515-8077106c948d" providerId="ADAL" clId="{3D7780B5-0319-4E05-83CF-A1EBF53DFD5C}" dt="2025-08-20T02:29:54.572" v="990" actId="20577"/>
          <ac:spMkLst>
            <pc:docMk/>
            <pc:sldMk cId="2009923557" sldId="270"/>
            <ac:spMk id="48" creationId="{2E936835-C132-4204-2E91-FE9D8E6EC671}"/>
          </ac:spMkLst>
        </pc:spChg>
        <pc:spChg chg="mod">
          <ac:chgData name="Darcy Roach" userId="ba676ee9-e9b4-49e8-a515-8077106c948d" providerId="ADAL" clId="{3D7780B5-0319-4E05-83CF-A1EBF53DFD5C}" dt="2025-08-20T02:20:52.503" v="847" actId="20577"/>
          <ac:spMkLst>
            <pc:docMk/>
            <pc:sldMk cId="2009923557" sldId="270"/>
            <ac:spMk id="54" creationId="{4F1DF6EC-2D10-1310-483C-35027A70DDA1}"/>
          </ac:spMkLst>
        </pc:spChg>
        <pc:spChg chg="mod">
          <ac:chgData name="Darcy Roach" userId="ba676ee9-e9b4-49e8-a515-8077106c948d" providerId="ADAL" clId="{3D7780B5-0319-4E05-83CF-A1EBF53DFD5C}" dt="2025-08-20T02:15:45.229" v="702" actId="20577"/>
          <ac:spMkLst>
            <pc:docMk/>
            <pc:sldMk cId="2009923557" sldId="270"/>
            <ac:spMk id="55" creationId="{20D856C0-6C6C-30D2-8947-79D3F4B5FE07}"/>
          </ac:spMkLst>
        </pc:spChg>
        <pc:grpChg chg="mod">
          <ac:chgData name="Darcy Roach" userId="ba676ee9-e9b4-49e8-a515-8077106c948d" providerId="ADAL" clId="{3D7780B5-0319-4E05-83CF-A1EBF53DFD5C}" dt="2025-08-20T02:29:15.307" v="989" actId="1076"/>
          <ac:grpSpMkLst>
            <pc:docMk/>
            <pc:sldMk cId="2009923557" sldId="270"/>
            <ac:grpSpMk id="5" creationId="{980A06B1-0A2F-7DF6-91DB-0F6DFA896A23}"/>
          </ac:grpSpMkLst>
        </pc:grpChg>
        <pc:grpChg chg="mod">
          <ac:chgData name="Darcy Roach" userId="ba676ee9-e9b4-49e8-a515-8077106c948d" providerId="ADAL" clId="{3D7780B5-0319-4E05-83CF-A1EBF53DFD5C}" dt="2025-08-20T02:28:23.363" v="934" actId="1076"/>
          <ac:grpSpMkLst>
            <pc:docMk/>
            <pc:sldMk cId="2009923557" sldId="270"/>
            <ac:grpSpMk id="30" creationId="{A04F5F41-3A2D-4DD1-FE07-979FAD2578E8}"/>
          </ac:grpSpMkLst>
        </pc:grpChg>
        <pc:grpChg chg="mod">
          <ac:chgData name="Darcy Roach" userId="ba676ee9-e9b4-49e8-a515-8077106c948d" providerId="ADAL" clId="{3D7780B5-0319-4E05-83CF-A1EBF53DFD5C}" dt="2025-08-20T02:45:00.164" v="993" actId="1076"/>
          <ac:grpSpMkLst>
            <pc:docMk/>
            <pc:sldMk cId="2009923557" sldId="270"/>
            <ac:grpSpMk id="45" creationId="{7C004A0F-26FD-81BE-0DC7-EDCD01D4194B}"/>
          </ac:grpSpMkLst>
        </pc:grpChg>
        <pc:cxnChg chg="mod">
          <ac:chgData name="Darcy Roach" userId="ba676ee9-e9b4-49e8-a515-8077106c948d" providerId="ADAL" clId="{3D7780B5-0319-4E05-83CF-A1EBF53DFD5C}" dt="2025-08-20T02:13:48.719" v="684" actId="14100"/>
          <ac:cxnSpMkLst>
            <pc:docMk/>
            <pc:sldMk cId="2009923557" sldId="270"/>
            <ac:cxnSpMk id="15" creationId="{F87F05F2-DA4C-4F55-A5D0-1887110DF155}"/>
          </ac:cxnSpMkLst>
        </pc:cxnChg>
        <pc:cxnChg chg="mod">
          <ac:chgData name="Darcy Roach" userId="ba676ee9-e9b4-49e8-a515-8077106c948d" providerId="ADAL" clId="{3D7780B5-0319-4E05-83CF-A1EBF53DFD5C}" dt="2025-08-20T02:28:16.918" v="933" actId="14100"/>
          <ac:cxnSpMkLst>
            <pc:docMk/>
            <pc:sldMk cId="2009923557" sldId="270"/>
            <ac:cxnSpMk id="32" creationId="{51487191-2C16-66F9-8149-52C26D0B398E}"/>
          </ac:cxnSpMkLst>
        </pc:cxnChg>
        <pc:cxnChg chg="mod">
          <ac:chgData name="Darcy Roach" userId="ba676ee9-e9b4-49e8-a515-8077106c948d" providerId="ADAL" clId="{3D7780B5-0319-4E05-83CF-A1EBF53DFD5C}" dt="2025-08-20T02:28:01.844" v="932" actId="1036"/>
          <ac:cxnSpMkLst>
            <pc:docMk/>
            <pc:sldMk cId="2009923557" sldId="270"/>
            <ac:cxnSpMk id="56" creationId="{C0271841-9AD2-76A9-36A3-77AD3CD1ED17}"/>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198CEFB-2E98-46AE-A91E-7FB7C1AF1DAA}" type="datetimeFigureOut">
              <a:rPr lang="en-AU" smtClean="0"/>
              <a:t>20/08/2025</a:t>
            </a:fld>
            <a:endParaRPr lang="en-AU"/>
          </a:p>
        </p:txBody>
      </p:sp>
      <p:sp>
        <p:nvSpPr>
          <p:cNvPr id="4" name="Slide Image Placeholder 3"/>
          <p:cNvSpPr>
            <a:spLocks noGrp="1" noRot="1" noChangeAspect="1"/>
          </p:cNvSpPr>
          <p:nvPr>
            <p:ph type="sldImg" idx="2"/>
          </p:nvPr>
        </p:nvSpPr>
        <p:spPr>
          <a:xfrm>
            <a:off x="3074988" y="857250"/>
            <a:ext cx="2994025" cy="231457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359A2614-3F04-499D-A579-E1D639714650}" type="slidenum">
              <a:rPr lang="en-AU" smtClean="0"/>
              <a:t>‹#›</a:t>
            </a:fld>
            <a:endParaRPr lang="en-AU"/>
          </a:p>
        </p:txBody>
      </p:sp>
    </p:spTree>
    <p:extLst>
      <p:ext uri="{BB962C8B-B14F-4D97-AF65-F5344CB8AC3E}">
        <p14:creationId xmlns:p14="http://schemas.microsoft.com/office/powerpoint/2010/main" val="28502305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ED7D31"/>
                </a:solidFill>
                <a:effectLst/>
                <a:uLnTx/>
                <a:uFillTx/>
                <a:latin typeface="Roboto" panose="02000000000000000000" pitchFamily="2" charset="0"/>
                <a:ea typeface="Roboto" panose="02000000000000000000" pitchFamily="2" charset="0"/>
                <a:cs typeface="+mn-cs"/>
              </a:rPr>
              <a:t>Higher Education Organisation – Senior Data Engineer</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Liaised with stakeholders for requirements with regards to development/enhancement, defect testing and ticket updates and signoffs.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Contributed with technical expertise in design phase, developing and maintaining broad range of reports in OBIEE/BI Publisher, ETL jobs and mappings.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Undertook BAU activities, monitoring and maintaining scheduled ETL loads.</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Managed defects worked through tickets from incident management system.</a:t>
            </a:r>
          </a:p>
          <a:p>
            <a:pPr marL="171450" marR="0" lvl="0" indent="-171450" algn="l" defTabSz="457200" rtl="0" eaLnBrk="1" fontAlgn="auto" latinLnBrk="0" hangingPunct="1">
              <a:lnSpc>
                <a:spcPct val="100000"/>
              </a:lnSpc>
              <a:spcBef>
                <a:spcPts val="0"/>
              </a:spcBef>
              <a:spcAft>
                <a:spcPts val="0"/>
              </a:spcAft>
              <a:buClr>
                <a:srgbClr val="00AB80"/>
              </a:buClr>
              <a:buSzTx/>
              <a:buFont typeface="Arial" panose="020B0604020202020204" pitchFamily="34" charset="0"/>
              <a:buChar char="•"/>
              <a:tabLst/>
              <a:defRPr/>
            </a:pPr>
            <a:r>
              <a:rPr kumimoji="0" lang="en-AU" sz="1200" b="0" i="0" u="none" strike="noStrike" kern="1200" cap="none" spc="0" normalizeH="0" baseline="0" noProof="0">
                <a:ln>
                  <a:noFill/>
                </a:ln>
                <a:solidFill>
                  <a:prstClr val="white"/>
                </a:solidFill>
                <a:effectLst/>
                <a:uLnTx/>
                <a:uFillTx/>
                <a:latin typeface="Roboto Light" panose="02000000000000000000" pitchFamily="2" charset="0"/>
                <a:ea typeface="Roboto Light" panose="02000000000000000000" pitchFamily="2" charset="0"/>
                <a:cs typeface="+mn-cs"/>
              </a:rPr>
              <a:t>Worked on enhancements related to legacy and/or complex issues. Carried out thorough root cause analysis and developed fixes.</a:t>
            </a:r>
          </a:p>
          <a:p>
            <a:endParaRPr lang="en-AU"/>
          </a:p>
        </p:txBody>
      </p:sp>
      <p:sp>
        <p:nvSpPr>
          <p:cNvPr id="4" name="Slide Number Placeholder 3"/>
          <p:cNvSpPr>
            <a:spLocks noGrp="1"/>
          </p:cNvSpPr>
          <p:nvPr>
            <p:ph type="sldNum" sz="quarter" idx="5"/>
          </p:nvPr>
        </p:nvSpPr>
        <p:spPr/>
        <p:txBody>
          <a:bodyPr/>
          <a:lstStyle/>
          <a:p>
            <a:fld id="{359A2614-3F04-499D-A579-E1D639714650}" type="slidenum">
              <a:rPr lang="en-AU" smtClean="0"/>
              <a:t>1</a:t>
            </a:fld>
            <a:endParaRPr lang="en-AU"/>
          </a:p>
        </p:txBody>
      </p:sp>
    </p:spTree>
    <p:extLst>
      <p:ext uri="{BB962C8B-B14F-4D97-AF65-F5344CB8AC3E}">
        <p14:creationId xmlns:p14="http://schemas.microsoft.com/office/powerpoint/2010/main" val="34372746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8/20/2025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8/20/2025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8/20/2025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8/20/2025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8/20/2025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8/20/2025</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A04F5F41-3A2D-4DD1-FE07-979FAD2578E8}"/>
              </a:ext>
            </a:extLst>
          </p:cNvPr>
          <p:cNvGrpSpPr/>
          <p:nvPr/>
        </p:nvGrpSpPr>
        <p:grpSpPr>
          <a:xfrm>
            <a:off x="3335752" y="3630019"/>
            <a:ext cx="4782734" cy="2791968"/>
            <a:chOff x="3335752" y="5822449"/>
            <a:chExt cx="4782734" cy="3830495"/>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822449"/>
              <a:ext cx="4782734" cy="633390"/>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Wagering Organisation – Data/Cloud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36577" y="6148186"/>
              <a:ext cx="4520232" cy="350475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pPr>
                <a:spcBef>
                  <a:spcPts val="300"/>
                </a:spcBef>
              </a:pPr>
              <a:r>
                <a:rPr lang="en-AU" dirty="0">
                  <a:latin typeface="Roboto Light"/>
                  <a:ea typeface="Roboto Light"/>
                  <a:cs typeface="Roboto Light"/>
                </a:rPr>
                <a:t>Setup and maintain the existing AWS infrastructure for Wagering portals</a:t>
              </a:r>
            </a:p>
            <a:p>
              <a:pPr>
                <a:spcBef>
                  <a:spcPts val="300"/>
                </a:spcBef>
              </a:pPr>
              <a:r>
                <a:rPr lang="en-AU" dirty="0">
                  <a:latin typeface="Roboto Light"/>
                  <a:ea typeface="Roboto Light"/>
                  <a:cs typeface="Roboto Light"/>
                </a:rPr>
                <a:t>Migration of AWS  services (Database from Aurora v2 serverless) to Big Query, Cloud SQL in GCP</a:t>
              </a:r>
            </a:p>
            <a:p>
              <a:pPr>
                <a:spcBef>
                  <a:spcPts val="300"/>
                </a:spcBef>
              </a:pPr>
              <a:r>
                <a:rPr lang="en-AU" dirty="0">
                  <a:latin typeface="Roboto Light"/>
                  <a:ea typeface="Roboto Light"/>
                  <a:cs typeface="Roboto Light"/>
                </a:rPr>
                <a:t>Migration of AWS Aurora v1 serverless to GCP Big Query by setting the tunnels and GCP Cloud Interconnect.</a:t>
              </a:r>
            </a:p>
            <a:p>
              <a:pPr>
                <a:spcBef>
                  <a:spcPts val="300"/>
                </a:spcBef>
              </a:pPr>
              <a:r>
                <a:rPr lang="en-AU" dirty="0">
                  <a:latin typeface="Roboto Light"/>
                  <a:ea typeface="Roboto Light"/>
                  <a:cs typeface="Roboto Light"/>
                </a:rPr>
                <a:t>Setup of organisation-wide VPN Setup for prod and non-prod environments to add a layer of extra security.</a:t>
              </a:r>
            </a:p>
            <a:p>
              <a:pPr>
                <a:spcBef>
                  <a:spcPts val="300"/>
                </a:spcBef>
              </a:pPr>
              <a:r>
                <a:rPr lang="en-AU" dirty="0">
                  <a:latin typeface="Roboto Light"/>
                  <a:ea typeface="Roboto Light"/>
                  <a:cs typeface="Roboto Light"/>
                </a:rPr>
                <a:t>Worked with the Head of SRE &amp; </a:t>
              </a:r>
              <a:r>
                <a:rPr lang="en-AU" dirty="0" err="1">
                  <a:latin typeface="Roboto Light"/>
                  <a:ea typeface="Roboto Light"/>
                  <a:cs typeface="Roboto Light"/>
                </a:rPr>
                <a:t>DevSecOps</a:t>
              </a:r>
              <a:r>
                <a:rPr lang="en-AU" dirty="0">
                  <a:latin typeface="Roboto Light"/>
                  <a:ea typeface="Roboto Light"/>
                  <a:cs typeface="Roboto Light"/>
                </a:rPr>
                <a:t> to setup and secure infrastructure and perform the Migration to GCP</a:t>
              </a:r>
            </a:p>
            <a:p>
              <a:pPr>
                <a:spcBef>
                  <a:spcPts val="300"/>
                </a:spcBef>
              </a:pPr>
              <a:r>
                <a:rPr lang="en-AU" dirty="0">
                  <a:latin typeface="Roboto Light"/>
                  <a:ea typeface="Roboto Light"/>
                  <a:cs typeface="Roboto Light"/>
                </a:rPr>
                <a:t>Supported the security team on pen tests and ISO certification goals</a:t>
              </a:r>
            </a:p>
            <a:p>
              <a:pPr>
                <a:spcBef>
                  <a:spcPts val="300"/>
                </a:spcBef>
              </a:pPr>
              <a:r>
                <a:rPr lang="en-AU" dirty="0">
                  <a:latin typeface="Roboto Light"/>
                  <a:ea typeface="Roboto Light"/>
                  <a:cs typeface="Roboto Light"/>
                </a:rPr>
                <a:t>Designed and developed ETL processes in AWS Glue to migrate Employee data from external sources like S3 into AWS Redshift</a:t>
              </a:r>
            </a:p>
            <a:p>
              <a:pPr>
                <a:spcBef>
                  <a:spcPts val="300"/>
                </a:spcBef>
              </a:pPr>
              <a:r>
                <a:rPr lang="en-AU" dirty="0">
                  <a:latin typeface="Roboto Light"/>
                  <a:ea typeface="Roboto Light"/>
                  <a:cs typeface="Roboto Light"/>
                </a:rPr>
                <a:t>Independently handled the global data warehouse of Workforce Analytics</a:t>
              </a:r>
            </a:p>
            <a:p>
              <a:pPr>
                <a:spcBef>
                  <a:spcPts val="300"/>
                </a:spcBef>
              </a:pPr>
              <a:endParaRPr lang="en-AU" dirty="0">
                <a:latin typeface="Roboto Light"/>
                <a:ea typeface="Roboto Light"/>
                <a:cs typeface="Roboto Light"/>
              </a:endParaRP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9955" y="6259715"/>
              <a:ext cx="0" cy="2987586"/>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3"/>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Balkrishan </a:t>
            </a:r>
          </a:p>
          <a:p>
            <a:r>
              <a:rPr lang="en-US" sz="2800" b="1" dirty="0">
                <a:solidFill>
                  <a:srgbClr val="00AB80"/>
                </a:solidFill>
                <a:latin typeface="Roboto" panose="02000000000000000000" pitchFamily="2" charset="0"/>
                <a:ea typeface="Roboto" panose="02000000000000000000" pitchFamily="2" charset="0"/>
              </a:rPr>
              <a:t>Bassi</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10" y="1665146"/>
            <a:ext cx="2904480" cy="3231654"/>
          </a:xfrm>
          <a:prstGeom prst="rect">
            <a:avLst/>
          </a:prstGeom>
          <a:noFill/>
        </p:spPr>
        <p:txBody>
          <a:bodyPr wrap="square" lIns="0" tIns="0" rIns="0" bIns="0" rtlCol="0" anchor="t">
            <a:spAutoFit/>
          </a:bodyPr>
          <a:lstStyle/>
          <a:p>
            <a:r>
              <a:rPr lang="en-AU" sz="1000" spc="13" dirty="0" err="1">
                <a:latin typeface="Roboto Light"/>
                <a:ea typeface="Roboto Light"/>
                <a:cs typeface="Lato"/>
              </a:rPr>
              <a:t>Bulkrishan</a:t>
            </a:r>
            <a:r>
              <a:rPr lang="en-AU" sz="1000" spc="13" dirty="0">
                <a:latin typeface="Roboto Light"/>
                <a:ea typeface="Roboto Light"/>
                <a:cs typeface="Lato"/>
              </a:rPr>
              <a:t> is a highly skilled Senior Cloud DevOps Engineer with extensive experience driving cloud-native transformation initiatives in large-scale, mission-critical environments. </a:t>
            </a:r>
          </a:p>
          <a:p>
            <a:endParaRPr lang="en-AU" sz="1000" spc="13" dirty="0">
              <a:latin typeface="Roboto Light"/>
              <a:ea typeface="Roboto Light"/>
              <a:cs typeface="Lato"/>
            </a:endParaRPr>
          </a:p>
          <a:p>
            <a:r>
              <a:rPr lang="en-AU" sz="1000" spc="13" dirty="0">
                <a:latin typeface="Roboto Light"/>
                <a:ea typeface="Roboto Light"/>
                <a:cs typeface="Lato"/>
              </a:rPr>
              <a:t>As a multi-cloud practitioner, </a:t>
            </a:r>
            <a:r>
              <a:rPr lang="en-AU" sz="1000" spc="13" dirty="0" err="1">
                <a:latin typeface="Roboto Light"/>
                <a:ea typeface="Roboto Light"/>
                <a:cs typeface="Lato"/>
              </a:rPr>
              <a:t>Bulkrishan</a:t>
            </a:r>
            <a:r>
              <a:rPr lang="en-AU" sz="1000" spc="13" dirty="0">
                <a:latin typeface="Roboto Light"/>
                <a:ea typeface="Roboto Light"/>
                <a:cs typeface="Lato"/>
              </a:rPr>
              <a:t> has hands-on expertise across AWS, GCP, and Azure, with a strong track record in cloud architecture, migration, automation, and hybrid environments. He is AWS and GCP certified, with proven success in designing and deploying scalable, secure solutions for industries including banking, wagering, telecommunications, and data analytics.</a:t>
            </a:r>
          </a:p>
          <a:p>
            <a:endParaRPr lang="en-AU" sz="1000" spc="13" dirty="0">
              <a:latin typeface="Roboto Light"/>
              <a:ea typeface="Roboto Light"/>
              <a:cs typeface="Lato"/>
            </a:endParaRPr>
          </a:p>
          <a:p>
            <a:pPr algn="l"/>
            <a:r>
              <a:rPr lang="en-AU" sz="1000" spc="13" dirty="0">
                <a:latin typeface="Roboto Light"/>
                <a:ea typeface="Roboto Light"/>
                <a:cs typeface="Lato"/>
              </a:rPr>
              <a:t>His expertise extends into AI/ML DevOps, where he has supported the deployment of machine learning pipelines and AI workloads. With his technical depth and proven delivery track record, </a:t>
            </a:r>
            <a:r>
              <a:rPr lang="en-AU" sz="1000" spc="13" dirty="0" err="1">
                <a:latin typeface="Roboto Light"/>
                <a:ea typeface="Roboto Light"/>
                <a:cs typeface="Lato"/>
              </a:rPr>
              <a:t>Bulkrishan</a:t>
            </a:r>
            <a:r>
              <a:rPr lang="en-AU" sz="1000" spc="13" dirty="0">
                <a:latin typeface="Roboto Light"/>
                <a:ea typeface="Roboto Light"/>
                <a:cs typeface="Lato"/>
              </a:rPr>
              <a:t> brings the expertise required to design, deploy, and scale modern cloud-native platforms that unlock business agility and long-term value.</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56153" y="5292185"/>
            <a:ext cx="2995859" cy="24103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637875" y="5633699"/>
            <a:ext cx="1510046" cy="21698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Python</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Bash</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Terraform</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SQL</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NoSQL</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Ansible</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Jenkins</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GitLab</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Argo CD</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Kubeflow</a:t>
            </a:r>
          </a:p>
          <a:p>
            <a:pPr marL="171450" indent="-171450">
              <a:buClr>
                <a:srgbClr val="00AB80"/>
              </a:buClr>
              <a:buFont typeface="Arial" panose="020B0604020202020204" pitchFamily="34" charset="0"/>
              <a:buChar char="•"/>
            </a:pPr>
            <a:r>
              <a:rPr lang="en-US" sz="900" dirty="0">
                <a:solidFill>
                  <a:srgbClr val="000000"/>
                </a:solidFill>
                <a:latin typeface="Roboto Light"/>
                <a:ea typeface="Roboto Light"/>
                <a:cs typeface="Roboto Light" panose="02000000000000000000" pitchFamily="2" charset="0"/>
              </a:rPr>
              <a:t>TensorFlow</a:t>
            </a:r>
          </a:p>
          <a:p>
            <a:pPr marL="171450" indent="-171450">
              <a:buClr>
                <a:srgbClr val="00AB80"/>
              </a:buClr>
              <a:buFont typeface="Arial" panose="020B0604020202020204" pitchFamily="34" charset="0"/>
              <a:buChar char="•"/>
            </a:pPr>
            <a:r>
              <a:rPr lang="en-AU" sz="900" dirty="0">
                <a:solidFill>
                  <a:srgbClr val="000000"/>
                </a:solidFill>
                <a:latin typeface="Roboto Light" panose="02000000000000000000" pitchFamily="2" charset="0"/>
                <a:ea typeface="Roboto Light" panose="02000000000000000000" pitchFamily="2" charset="0"/>
                <a:cs typeface="Roboto Light" panose="02000000000000000000" pitchFamily="2" charset="0"/>
              </a:rPr>
              <a:t>Prometheus</a:t>
            </a:r>
          </a:p>
          <a:p>
            <a:pPr marL="171450" indent="-171450">
              <a:buClr>
                <a:srgbClr val="00AB80"/>
              </a:buClr>
              <a:buFont typeface="Arial" panose="020B0604020202020204" pitchFamily="34" charset="0"/>
              <a:buChar char="•"/>
            </a:pPr>
            <a:r>
              <a:rPr lang="en-AU" sz="900" dirty="0">
                <a:solidFill>
                  <a:srgbClr val="000000"/>
                </a:solidFill>
                <a:latin typeface="Roboto Light" panose="02000000000000000000" pitchFamily="2" charset="0"/>
                <a:ea typeface="Roboto Light" panose="02000000000000000000" pitchFamily="2" charset="0"/>
                <a:cs typeface="Roboto Light" panose="02000000000000000000" pitchFamily="2" charset="0"/>
              </a:rPr>
              <a:t>Cloud IAM</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cs typeface="Roboto Light" panose="02000000000000000000" pitchFamily="2" charset="0"/>
              </a:rPr>
              <a:t>GKE</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cs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4"/>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9743" y="3148212"/>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71924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13496" y="3363656"/>
            <a:ext cx="1951941" cy="3231654"/>
            <a:chOff x="8106458" y="2681447"/>
            <a:chExt cx="1951941" cy="3231654"/>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231654"/>
            </a:xfrm>
            <a:prstGeom prst="rect">
              <a:avLst/>
            </a:prstGeom>
            <a:noFill/>
          </p:spPr>
          <p:txBody>
            <a:bodyPr wrap="square" lIns="91440" tIns="45720" rIns="91440" bIns="45720" anchor="t">
              <a:spAutoFit/>
            </a:bodyPr>
            <a:lstStyle/>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Microsoft Certified | Azure Data Engineer Associate</a:t>
              </a:r>
            </a:p>
            <a:p>
              <a:pPr>
                <a:tabLst>
                  <a:tab pos="3819525" algn="l"/>
                  <a:tab pos="3895725" algn="l"/>
                </a:tabLst>
              </a:pPr>
              <a:endParaRPr lang="en-AU"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LinkedIn | ETL in Python &amp; SQL</a:t>
              </a:r>
            </a:p>
            <a:p>
              <a:pPr>
                <a:tabLst>
                  <a:tab pos="3819525" algn="l"/>
                  <a:tab pos="3895725" algn="l"/>
                </a:tabLst>
              </a:pPr>
              <a:endParaRPr lang="en-AU"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latin typeface="Roboto Light" panose="02000000000000000000" pitchFamily="2" charset="0"/>
                  <a:ea typeface="Calibri" panose="020F0502020204030204" pitchFamily="34" charset="0"/>
                </a:rPr>
                <a:t>LinkedIn | SQL for Data Analysis</a:t>
              </a:r>
            </a:p>
            <a:p>
              <a:pPr>
                <a:tabLst>
                  <a:tab pos="3819525" algn="l"/>
                  <a:tab pos="3895725" algn="l"/>
                </a:tabLst>
              </a:pPr>
              <a:endParaRPr lang="en-GB" sz="1200" dirty="0">
                <a:solidFill>
                  <a:srgbClr val="00AB80"/>
                </a:solidFill>
                <a:latin typeface="Roboto Light" panose="02000000000000000000" pitchFamily="2" charset="0"/>
              </a:endParaRPr>
            </a:p>
            <a:p>
              <a:pPr>
                <a:tabLst>
                  <a:tab pos="3819525" algn="l"/>
                  <a:tab pos="3895725" algn="l"/>
                </a:tabLst>
              </a:pPr>
              <a:r>
                <a:rPr lang="en-GB" sz="1200" dirty="0">
                  <a:solidFill>
                    <a:srgbClr val="00AB80"/>
                  </a:solidFill>
                  <a:latin typeface="Roboto Light" panose="02000000000000000000" pitchFamily="2" charset="0"/>
                </a:rPr>
                <a:t>Bachelor – Technology, Computer Science &amp; Engineering | </a:t>
              </a:r>
              <a:r>
                <a:rPr lang="en-AU" sz="1200" dirty="0">
                  <a:solidFill>
                    <a:srgbClr val="00AB80"/>
                  </a:solidFill>
                  <a:latin typeface="Roboto Light" panose="02000000000000000000" pitchFamily="2" charset="0"/>
                </a:rPr>
                <a:t>College of Engineering &amp; Technology, Bikaner</a:t>
              </a:r>
              <a:endParaRPr lang="en-US" sz="1200" dirty="0">
                <a:solidFill>
                  <a:srgbClr val="00AB80"/>
                </a:solidFill>
                <a:latin typeface="Roboto Light" panose="02000000000000000000" pitchFamily="2"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51286" y="5633607"/>
            <a:ext cx="1570024" cy="2031325"/>
          </a:xfrm>
          <a:prstGeom prst="rect">
            <a:avLst/>
          </a:prstGeom>
          <a:noFill/>
        </p:spPr>
        <p:txBody>
          <a:bodyPr wrap="square" lIns="91440" tIns="45720" rIns="91440" bIns="45720" numCol="1" rtlCol="0" anchor="t">
            <a:spAutoFit/>
          </a:bodyPr>
          <a:lstStyle/>
          <a:p>
            <a:pPr marL="171450" indent="-171450">
              <a:buClr>
                <a:srgbClr val="00AB80"/>
              </a:buClr>
              <a:buFont typeface="Arial" panose="020B0604020202020204" pitchFamily="34" charset="0"/>
              <a:buChar char="•"/>
            </a:pPr>
            <a:r>
              <a:rPr lang="en-US" sz="900" dirty="0">
                <a:latin typeface="Roboto Light"/>
                <a:ea typeface="Roboto Light"/>
                <a:cs typeface="Roboto Light"/>
              </a:rPr>
              <a:t>Google Cloud</a:t>
            </a:r>
          </a:p>
          <a:p>
            <a:pPr marL="171450" indent="-171450">
              <a:buClr>
                <a:srgbClr val="00AB80"/>
              </a:buClr>
              <a:buFont typeface="Arial" panose="020B0604020202020204" pitchFamily="34" charset="0"/>
              <a:buChar char="•"/>
            </a:pPr>
            <a:r>
              <a:rPr lang="en-US" sz="900" dirty="0">
                <a:latin typeface="Roboto Light"/>
                <a:ea typeface="Roboto Light"/>
                <a:cs typeface="Roboto Light"/>
              </a:rPr>
              <a:t>Microsoft Azure</a:t>
            </a:r>
          </a:p>
          <a:p>
            <a:pPr marL="171450" indent="-171450">
              <a:buClr>
                <a:srgbClr val="00AB80"/>
              </a:buClr>
              <a:buFont typeface="Arial" panose="020B0604020202020204" pitchFamily="34" charset="0"/>
              <a:buChar char="•"/>
            </a:pPr>
            <a:r>
              <a:rPr lang="en-US" sz="900" dirty="0">
                <a:latin typeface="Roboto Light"/>
                <a:ea typeface="Roboto Light"/>
                <a:cs typeface="Roboto Light"/>
              </a:rPr>
              <a:t>AWS</a:t>
            </a:r>
          </a:p>
          <a:p>
            <a:pPr marL="171450" indent="-171450">
              <a:buClr>
                <a:srgbClr val="00AB80"/>
              </a:buClr>
              <a:buFont typeface="Arial" panose="020B0604020202020204" pitchFamily="34" charset="0"/>
              <a:buChar char="•"/>
            </a:pPr>
            <a:r>
              <a:rPr lang="en-AU" sz="900" dirty="0">
                <a:latin typeface="Roboto Light"/>
                <a:ea typeface="Roboto Light"/>
                <a:cs typeface="Roboto Light"/>
              </a:rPr>
              <a:t>Cloud Architecture</a:t>
            </a:r>
          </a:p>
          <a:p>
            <a:pPr marL="171450" indent="-171450">
              <a:buClr>
                <a:srgbClr val="00AB80"/>
              </a:buClr>
              <a:buFont typeface="Arial" panose="020B0604020202020204" pitchFamily="34" charset="0"/>
              <a:buChar char="•"/>
            </a:pPr>
            <a:r>
              <a:rPr lang="en-AU" sz="900" dirty="0">
                <a:latin typeface="Roboto Light"/>
                <a:ea typeface="Roboto Light"/>
                <a:cs typeface="Roboto Light"/>
              </a:rPr>
              <a:t>Cloud Migration</a:t>
            </a:r>
          </a:p>
          <a:p>
            <a:pPr marL="171450" indent="-171450">
              <a:buClr>
                <a:srgbClr val="00AB80"/>
              </a:buClr>
              <a:buFont typeface="Arial" panose="020B0604020202020204" pitchFamily="34" charset="0"/>
              <a:buChar char="•"/>
            </a:pPr>
            <a:r>
              <a:rPr lang="en-AU" sz="900" dirty="0">
                <a:latin typeface="Roboto Light"/>
                <a:ea typeface="Roboto Light"/>
                <a:cs typeface="Roboto Light"/>
              </a:rPr>
              <a:t>Cloud Infrastructure</a:t>
            </a:r>
          </a:p>
          <a:p>
            <a:pPr marL="171450" indent="-171450">
              <a:buClr>
                <a:srgbClr val="00AB80"/>
              </a:buClr>
              <a:buFont typeface="Arial" panose="020B0604020202020204" pitchFamily="34" charset="0"/>
              <a:buChar char="•"/>
            </a:pPr>
            <a:r>
              <a:rPr lang="en-AU" sz="900" dirty="0">
                <a:latin typeface="Roboto Light"/>
                <a:ea typeface="Roboto Light"/>
                <a:cs typeface="Roboto Light"/>
              </a:rPr>
              <a:t>Hybrid Cloud</a:t>
            </a:r>
          </a:p>
          <a:p>
            <a:pPr marL="171450" indent="-171450">
              <a:buClr>
                <a:srgbClr val="00AB80"/>
              </a:buClr>
              <a:buFont typeface="Arial" panose="020B0604020202020204" pitchFamily="34" charset="0"/>
              <a:buChar char="•"/>
            </a:pPr>
            <a:r>
              <a:rPr lang="en-AU" sz="900" dirty="0">
                <a:latin typeface="Roboto Light"/>
                <a:ea typeface="Roboto Light"/>
                <a:cs typeface="Roboto Light"/>
              </a:rPr>
              <a:t>Solution Architecture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Security</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Visualisation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Leadership</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Data Architecture</a:t>
            </a:r>
          </a:p>
          <a:p>
            <a:pPr marL="171450" indent="-171450">
              <a:buClr>
                <a:srgbClr val="00AB80"/>
              </a:buClr>
              <a:buFont typeface="Arial" panose="020B0604020202020204" pitchFamily="34" charset="0"/>
              <a:buChar char="•"/>
            </a:pPr>
            <a:r>
              <a:rPr lang="en-AU" sz="900" dirty="0">
                <a:latin typeface="Roboto Light"/>
                <a:ea typeface="Roboto Light"/>
                <a:cs typeface="Roboto Light"/>
              </a:rPr>
              <a:t>AI/ML</a:t>
            </a:r>
            <a:endParaRPr lang="en-AU"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402" y="5339826"/>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2" y="693988"/>
            <a:ext cx="5029198" cy="2817320"/>
            <a:chOff x="3335753" y="2997642"/>
            <a:chExt cx="5029198" cy="2817320"/>
          </a:xfrm>
        </p:grpSpPr>
        <p:sp>
          <p:nvSpPr>
            <p:cNvPr id="31" name="TextBox 30">
              <a:extLst>
                <a:ext uri="{FF2B5EF4-FFF2-40B4-BE49-F238E27FC236}">
                  <a16:creationId xmlns:a16="http://schemas.microsoft.com/office/drawing/2014/main" id="{5D644C1D-FE62-9752-27C7-42A94F729A86}"/>
                </a:ext>
              </a:extLst>
            </p:cNvPr>
            <p:cNvSpPr txBox="1"/>
            <p:nvPr/>
          </p:nvSpPr>
          <p:spPr>
            <a:xfrm>
              <a:off x="3436506" y="3106528"/>
              <a:ext cx="4545540" cy="2708434"/>
            </a:xfrm>
            <a:prstGeom prst="rect">
              <a:avLst/>
            </a:prstGeom>
            <a:noFill/>
            <a:ln>
              <a:noFill/>
            </a:ln>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1000" dirty="0">
                <a:cs typeface="Roboto Light"/>
              </a:endParaRPr>
            </a:p>
            <a:p>
              <a:r>
                <a:rPr lang="en-AU" sz="1000" dirty="0">
                  <a:latin typeface="Roboto Light"/>
                  <a:ea typeface="Roboto"/>
                  <a:cs typeface="Roboto"/>
                </a:rPr>
                <a:t>Responsible for cloud-native enablement across multiple banking platforms</a:t>
              </a:r>
            </a:p>
            <a:p>
              <a:r>
                <a:rPr lang="en-AU" sz="1000" dirty="0">
                  <a:latin typeface="Roboto Light"/>
                  <a:ea typeface="Roboto"/>
                  <a:cs typeface="Roboto"/>
                </a:rPr>
                <a:t>Led migration of on-premises and legacy systems to containerised microservices on Kubernetes</a:t>
              </a:r>
            </a:p>
            <a:p>
              <a:r>
                <a:rPr lang="en-AU" sz="1000" dirty="0">
                  <a:latin typeface="Roboto Light"/>
                  <a:ea typeface="Roboto"/>
                  <a:cs typeface="Roboto"/>
                </a:rPr>
                <a:t>Architected CI/CD pipelines with security and compliance controls built-in using GitLab and Argo CD</a:t>
              </a:r>
            </a:p>
            <a:p>
              <a:r>
                <a:rPr lang="en-AU" sz="1000" dirty="0">
                  <a:latin typeface="Roboto Light"/>
                  <a:ea typeface="Roboto"/>
                  <a:cs typeface="Roboto"/>
                </a:rPr>
                <a:t>Led the migration of Open Banking and DIA teams' infrastructure from AWS CloudFormation to Terraform Enterprise, streamlining infrastructure as code (</a:t>
              </a:r>
              <a:r>
                <a:rPr lang="en-AU" sz="1000" dirty="0" err="1">
                  <a:latin typeface="Roboto Light"/>
                  <a:ea typeface="Roboto"/>
                  <a:cs typeface="Roboto"/>
                </a:rPr>
                <a:t>IaC</a:t>
              </a:r>
              <a:r>
                <a:rPr lang="en-AU" sz="1000" dirty="0">
                  <a:latin typeface="Roboto Light"/>
                  <a:ea typeface="Roboto"/>
                  <a:cs typeface="Roboto"/>
                </a:rPr>
                <a:t>) management and enhancing maintainability and scalability</a:t>
              </a:r>
            </a:p>
            <a:p>
              <a:r>
                <a:rPr lang="en-AU" sz="1000" dirty="0">
                  <a:latin typeface="Roboto Light"/>
                  <a:ea typeface="Roboto"/>
                  <a:cs typeface="Roboto"/>
                </a:rPr>
                <a:t>Spearheaded the decommissioning of legacy Jenkins pipelines and successfully transitioned CI/CD workflows to Harness, resulting in improved deployment efficiency, governance, and visibility</a:t>
              </a:r>
            </a:p>
            <a:p>
              <a:r>
                <a:rPr lang="en-AU" sz="1000" dirty="0">
                  <a:latin typeface="Roboto Light"/>
                  <a:ea typeface="Roboto"/>
                  <a:cs typeface="Roboto"/>
                </a:rPr>
                <a:t>Implemented 12 enterprise-grade security and compliance controls across CI/CD pipelines, ensuring adherence to organisational standards, audit readiness, and secure software delivery practices.</a:t>
              </a:r>
            </a:p>
            <a:p>
              <a:endParaRPr lang="en-AU" sz="1000" dirty="0">
                <a:latin typeface="Roboto Light"/>
                <a:ea typeface="Roboto"/>
                <a:cs typeface="Roboto"/>
              </a:endParaRPr>
            </a:p>
            <a:p>
              <a:endParaRPr lang="en-AU" sz="1000" dirty="0">
                <a:latin typeface="Roboto Light"/>
                <a:ea typeface="Roboto"/>
                <a:cs typeface="Roboto"/>
              </a:endParaRPr>
            </a:p>
          </p:txBody>
        </p: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61665"/>
            </a:xfrm>
            <a:prstGeom prst="rect">
              <a:avLst/>
            </a:prstGeom>
            <a:noFill/>
          </p:spPr>
          <p:txBody>
            <a:bodyPr wrap="square" lIns="91440" tIns="45720" rIns="91440" bIns="45720" rtlCol="0" anchor="t">
              <a:spAutoFit/>
            </a:bodyPr>
            <a:lstStyle/>
            <a:p>
              <a:r>
                <a:rPr lang="en-AU" sz="1200" b="1" dirty="0">
                  <a:solidFill>
                    <a:srgbClr val="0059FF"/>
                  </a:solidFill>
                  <a:latin typeface="Roboto"/>
                  <a:ea typeface="Roboto"/>
                  <a:cs typeface="Roboto"/>
                </a:rPr>
                <a:t>Financial Services Organisation – Senior Cloud DevOps Engineer</a:t>
              </a:r>
            </a:p>
            <a:p>
              <a:endParaRPr lang="en-AU" sz="1200" b="1" dirty="0">
                <a:solidFill>
                  <a:srgbClr val="0059FF"/>
                </a:solidFill>
                <a:latin typeface="Roboto" panose="02000000000000000000" pitchFamily="2" charset="0"/>
                <a:ea typeface="Roboto" panose="02000000000000000000" pitchFamily="2" charset="0"/>
                <a:cs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32779" y="3312266"/>
              <a:ext cx="0" cy="2083244"/>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Big 4 Banks</a:t>
            </a:r>
          </a:p>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Wagering</a:t>
            </a:r>
          </a:p>
          <a:p>
            <a:pPr marL="0" indent="0">
              <a:lnSpc>
                <a:spcPct val="150000"/>
              </a:lnSpc>
              <a:buNone/>
            </a:pPr>
            <a:r>
              <a:rPr lang="en-GB" sz="1200" dirty="0">
                <a:solidFill>
                  <a:srgbClr val="00AB80"/>
                </a:solidFill>
              </a:rPr>
              <a:t>Telecommunications</a:t>
            </a:r>
          </a:p>
          <a:p>
            <a:pPr marL="0" indent="0">
              <a:lnSpc>
                <a:spcPct val="150000"/>
              </a:lnSpc>
              <a:buNone/>
            </a:pPr>
            <a:endParaRPr lang="en-GB" sz="1200" dirty="0">
              <a:solidFill>
                <a:srgbClr val="00AB80"/>
              </a:solidFill>
            </a:endParaRPr>
          </a:p>
        </p:txBody>
      </p:sp>
      <p:grpSp>
        <p:nvGrpSpPr>
          <p:cNvPr id="24" name="Group 23">
            <a:extLst>
              <a:ext uri="{FF2B5EF4-FFF2-40B4-BE49-F238E27FC236}">
                <a16:creationId xmlns:a16="http://schemas.microsoft.com/office/drawing/2014/main" id="{3E278291-F3EB-A60E-05BF-BDC6A488994B}"/>
              </a:ext>
            </a:extLst>
          </p:cNvPr>
          <p:cNvGrpSpPr/>
          <p:nvPr/>
        </p:nvGrpSpPr>
        <p:grpSpPr>
          <a:xfrm>
            <a:off x="3347609" y="6287229"/>
            <a:ext cx="4782734" cy="1406974"/>
            <a:chOff x="3335752" y="5822449"/>
            <a:chExt cx="4782734" cy="1930325"/>
          </a:xfrm>
        </p:grpSpPr>
        <p:sp>
          <p:nvSpPr>
            <p:cNvPr id="28" name="TextBox 27">
              <a:extLst>
                <a:ext uri="{FF2B5EF4-FFF2-40B4-BE49-F238E27FC236}">
                  <a16:creationId xmlns:a16="http://schemas.microsoft.com/office/drawing/2014/main" id="{EBBC22E4-5519-D14B-68E0-8DFCD11654ED}"/>
                </a:ext>
              </a:extLst>
            </p:cNvPr>
            <p:cNvSpPr txBox="1"/>
            <p:nvPr/>
          </p:nvSpPr>
          <p:spPr>
            <a:xfrm>
              <a:off x="3335752" y="5822449"/>
              <a:ext cx="4782734" cy="633390"/>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Financial Services Organisation – Data/Cloud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29" name="TextBox 28">
              <a:extLst>
                <a:ext uri="{FF2B5EF4-FFF2-40B4-BE49-F238E27FC236}">
                  <a16:creationId xmlns:a16="http://schemas.microsoft.com/office/drawing/2014/main" id="{C58259C0-1D0D-A3D2-7E43-4C9F4A101E98}"/>
                </a:ext>
              </a:extLst>
            </p:cNvPr>
            <p:cNvSpPr txBox="1"/>
            <p:nvPr/>
          </p:nvSpPr>
          <p:spPr>
            <a:xfrm>
              <a:off x="3436577" y="6148186"/>
              <a:ext cx="4520232" cy="160458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pPr>
                <a:spcBef>
                  <a:spcPts val="300"/>
                </a:spcBef>
              </a:pPr>
              <a:r>
                <a:rPr lang="en-AU" dirty="0">
                  <a:latin typeface="Roboto Light"/>
                  <a:ea typeface="Roboto Light"/>
                  <a:cs typeface="Roboto Light"/>
                </a:rPr>
                <a:t>Setup and maintained AWS EKS clusters for legacy platforms</a:t>
              </a:r>
            </a:p>
            <a:p>
              <a:pPr>
                <a:spcBef>
                  <a:spcPts val="300"/>
                </a:spcBef>
              </a:pPr>
              <a:r>
                <a:rPr lang="en-AU" dirty="0">
                  <a:latin typeface="Roboto Light"/>
                  <a:ea typeface="Roboto Light"/>
                  <a:cs typeface="Roboto Light"/>
                </a:rPr>
                <a:t>Implemented the Tier2 Core platform Uplift (Design and Implementation)</a:t>
              </a:r>
            </a:p>
            <a:p>
              <a:pPr>
                <a:spcBef>
                  <a:spcPts val="300"/>
                </a:spcBef>
              </a:pPr>
              <a:r>
                <a:rPr lang="en-AU" dirty="0">
                  <a:latin typeface="Roboto Light"/>
                  <a:ea typeface="Roboto Light"/>
                  <a:cs typeface="Roboto Light"/>
                </a:rPr>
                <a:t>Management of EKS clusters, along with responsibility for Splunk and SNOW integration for the existing patterns</a:t>
              </a:r>
            </a:p>
            <a:p>
              <a:pPr>
                <a:spcBef>
                  <a:spcPts val="300"/>
                </a:spcBef>
              </a:pPr>
              <a:r>
                <a:rPr lang="en-AU" dirty="0">
                  <a:latin typeface="Roboto Light"/>
                  <a:ea typeface="Roboto Light"/>
                  <a:cs typeface="Roboto Light"/>
                </a:rPr>
                <a:t>Implemented and Published the patterns</a:t>
              </a:r>
            </a:p>
            <a:p>
              <a:pPr>
                <a:spcBef>
                  <a:spcPts val="300"/>
                </a:spcBef>
              </a:pPr>
              <a:endParaRPr lang="en-AU" dirty="0">
                <a:latin typeface="Roboto Light"/>
                <a:ea typeface="Roboto Light"/>
                <a:cs typeface="Roboto Light"/>
              </a:endParaRPr>
            </a:p>
          </p:txBody>
        </p:sp>
        <p:cxnSp>
          <p:nvCxnSpPr>
            <p:cNvPr id="32" name="Straight Connector 31">
              <a:extLst>
                <a:ext uri="{FF2B5EF4-FFF2-40B4-BE49-F238E27FC236}">
                  <a16:creationId xmlns:a16="http://schemas.microsoft.com/office/drawing/2014/main" id="{51487191-2C16-66F9-8149-52C26D0B398E}"/>
                </a:ext>
              </a:extLst>
            </p:cNvPr>
            <p:cNvCxnSpPr>
              <a:cxnSpLocks/>
            </p:cNvCxnSpPr>
            <p:nvPr/>
          </p:nvCxnSpPr>
          <p:spPr>
            <a:xfrm>
              <a:off x="3439955" y="6245127"/>
              <a:ext cx="0" cy="113354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purl.org/dc/terms/"/>
    <ds:schemaRef ds:uri="http://purl.org/dc/dcmitype/"/>
    <ds:schemaRef ds:uri="http://schemas.microsoft.com/office/2006/documentManagement/types"/>
    <ds:schemaRef ds:uri="http://schemas.microsoft.com/office/infopath/2007/PartnerControls"/>
    <ds:schemaRef ds:uri="http://schemas.microsoft.com/office/2006/metadata/properties"/>
    <ds:schemaRef ds:uri="http://schemas.openxmlformats.org/package/2006/metadata/core-properties"/>
    <ds:schemaRef ds:uri="http://www.w3.org/XML/1998/namespace"/>
    <ds:schemaRef ds:uri="e52cd9e7-35e5-4bd3-9cab-ca6a63c31e52"/>
    <ds:schemaRef ds:uri="daf93972-1964-4522-aa34-640805a01c3a"/>
    <ds:schemaRef ds:uri="http://purl.org/dc/elements/1.1/"/>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8E3C178A-0D52-4698-811A-6187C64FC68C}">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Office Theme</Template>
  <TotalTime>210</TotalTime>
  <Words>656</Words>
  <Application>Microsoft Office PowerPoint</Application>
  <PresentationFormat>Custom</PresentationFormat>
  <Paragraphs>84</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Aptos</vt:lpstr>
      <vt:lpstr>Arial</vt:lpstr>
      <vt:lpstr>Calibri</vt:lpstr>
      <vt:lpstr>Calibri Light</vt:lpstr>
      <vt:lpstr>Libre Caslon Text</vt:lpstr>
      <vt:lpstr>Roboto</vt:lpstr>
      <vt:lpstr>Roboto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3</cp:revision>
  <dcterms:created xsi:type="dcterms:W3CDTF">2019-12-03T01:50:37Z</dcterms:created>
  <dcterms:modified xsi:type="dcterms:W3CDTF">2025-08-20T02:45:09Z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