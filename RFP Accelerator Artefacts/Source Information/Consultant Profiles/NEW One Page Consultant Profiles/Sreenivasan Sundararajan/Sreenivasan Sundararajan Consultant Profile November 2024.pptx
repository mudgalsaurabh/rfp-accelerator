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68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9FF"/>
    <a:srgbClr val="A93584"/>
    <a:srgbClr val="ED7D31"/>
    <a:srgbClr val="00AB80"/>
    <a:srgbClr val="0F2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9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C1955DBC-59A7-4CDC-BA38-CAF1A5FE8ACE}"/>
    <pc:docChg chg="undo custSel modSld">
      <pc:chgData name="Darcy Roach" userId="ba676ee9-e9b4-49e8-a515-8077106c948d" providerId="ADAL" clId="{C1955DBC-59A7-4CDC-BA38-CAF1A5FE8ACE}" dt="2024-11-11T04:18:10.274" v="943" actId="1076"/>
      <pc:docMkLst>
        <pc:docMk/>
      </pc:docMkLst>
      <pc:sldChg chg="delSp modSp mod">
        <pc:chgData name="Darcy Roach" userId="ba676ee9-e9b4-49e8-a515-8077106c948d" providerId="ADAL" clId="{C1955DBC-59A7-4CDC-BA38-CAF1A5FE8ACE}" dt="2024-11-11T04:18:10.274" v="943" actId="1076"/>
        <pc:sldMkLst>
          <pc:docMk/>
          <pc:sldMk cId="292016949" sldId="268"/>
        </pc:sldMkLst>
        <pc:spChg chg="mod">
          <ac:chgData name="Darcy Roach" userId="ba676ee9-e9b4-49e8-a515-8077106c948d" providerId="ADAL" clId="{C1955DBC-59A7-4CDC-BA38-CAF1A5FE8ACE}" dt="2024-11-11T03:13:41.791" v="15" actId="1076"/>
          <ac:spMkLst>
            <pc:docMk/>
            <pc:sldMk cId="292016949" sldId="268"/>
            <ac:spMk id="4" creationId="{0CA1106F-7AEC-25A1-55A8-188EDF5EED3E}"/>
          </ac:spMkLst>
        </pc:spChg>
        <pc:spChg chg="mod">
          <ac:chgData name="Darcy Roach" userId="ba676ee9-e9b4-49e8-a515-8077106c948d" providerId="ADAL" clId="{C1955DBC-59A7-4CDC-BA38-CAF1A5FE8ACE}" dt="2024-11-11T03:29:48.323" v="369" actId="20577"/>
          <ac:spMkLst>
            <pc:docMk/>
            <pc:sldMk cId="292016949" sldId="268"/>
            <ac:spMk id="12" creationId="{A66396D8-FB35-5C0A-F8E9-453C263854BF}"/>
          </ac:spMkLst>
        </pc:spChg>
        <pc:spChg chg="mod">
          <ac:chgData name="Darcy Roach" userId="ba676ee9-e9b4-49e8-a515-8077106c948d" providerId="ADAL" clId="{C1955DBC-59A7-4CDC-BA38-CAF1A5FE8ACE}" dt="2024-11-11T03:11:19.314" v="3" actId="20577"/>
          <ac:spMkLst>
            <pc:docMk/>
            <pc:sldMk cId="292016949" sldId="268"/>
            <ac:spMk id="13" creationId="{FD2720C9-A79F-BD7F-E179-674AD67D7892}"/>
          </ac:spMkLst>
        </pc:spChg>
        <pc:spChg chg="mod">
          <ac:chgData name="Darcy Roach" userId="ba676ee9-e9b4-49e8-a515-8077106c948d" providerId="ADAL" clId="{C1955DBC-59A7-4CDC-BA38-CAF1A5FE8ACE}" dt="2024-11-11T04:17:57.765" v="942" actId="20577"/>
          <ac:spMkLst>
            <pc:docMk/>
            <pc:sldMk cId="292016949" sldId="268"/>
            <ac:spMk id="16" creationId="{BED88831-66E6-E9EC-E1A5-875B0478B9C5}"/>
          </ac:spMkLst>
        </pc:spChg>
        <pc:spChg chg="mod">
          <ac:chgData name="Darcy Roach" userId="ba676ee9-e9b4-49e8-a515-8077106c948d" providerId="ADAL" clId="{C1955DBC-59A7-4CDC-BA38-CAF1A5FE8ACE}" dt="2024-11-11T04:18:10.274" v="943" actId="1076"/>
          <ac:spMkLst>
            <pc:docMk/>
            <pc:sldMk cId="292016949" sldId="268"/>
            <ac:spMk id="18" creationId="{58BF8C21-ED5A-BA0E-18B1-1DE2682A5497}"/>
          </ac:spMkLst>
        </pc:spChg>
        <pc:spChg chg="mod">
          <ac:chgData name="Darcy Roach" userId="ba676ee9-e9b4-49e8-a515-8077106c948d" providerId="ADAL" clId="{C1955DBC-59A7-4CDC-BA38-CAF1A5FE8ACE}" dt="2024-11-11T03:11:26.548" v="4" actId="1076"/>
          <ac:spMkLst>
            <pc:docMk/>
            <pc:sldMk cId="292016949" sldId="268"/>
            <ac:spMk id="22" creationId="{9D4E289E-1D52-CBDD-E381-40963429D7F1}"/>
          </ac:spMkLst>
        </pc:spChg>
        <pc:spChg chg="mod">
          <ac:chgData name="Darcy Roach" userId="ba676ee9-e9b4-49e8-a515-8077106c948d" providerId="ADAL" clId="{C1955DBC-59A7-4CDC-BA38-CAF1A5FE8ACE}" dt="2024-11-11T03:16:03.698" v="80" actId="21"/>
          <ac:spMkLst>
            <pc:docMk/>
            <pc:sldMk cId="292016949" sldId="268"/>
            <ac:spMk id="26" creationId="{1A3D666D-00C8-D106-73C3-9FF300F8618C}"/>
          </ac:spMkLst>
        </pc:spChg>
        <pc:spChg chg="mod">
          <ac:chgData name="Darcy Roach" userId="ba676ee9-e9b4-49e8-a515-8077106c948d" providerId="ADAL" clId="{C1955DBC-59A7-4CDC-BA38-CAF1A5FE8ACE}" dt="2024-11-11T03:30:48.740" v="440" actId="20577"/>
          <ac:spMkLst>
            <pc:docMk/>
            <pc:sldMk cId="292016949" sldId="268"/>
            <ac:spMk id="28" creationId="{40710181-8A8D-B1D8-4355-3623991D3D91}"/>
          </ac:spMkLst>
        </pc:spChg>
        <pc:spChg chg="mod">
          <ac:chgData name="Darcy Roach" userId="ba676ee9-e9b4-49e8-a515-8077106c948d" providerId="ADAL" clId="{C1955DBC-59A7-4CDC-BA38-CAF1A5FE8ACE}" dt="2024-11-11T04:06:26.651" v="578" actId="20577"/>
          <ac:spMkLst>
            <pc:docMk/>
            <pc:sldMk cId="292016949" sldId="268"/>
            <ac:spMk id="32" creationId="{0F249814-33C0-B670-218F-31302BFE2960}"/>
          </ac:spMkLst>
        </pc:spChg>
        <pc:spChg chg="mod">
          <ac:chgData name="Darcy Roach" userId="ba676ee9-e9b4-49e8-a515-8077106c948d" providerId="ADAL" clId="{C1955DBC-59A7-4CDC-BA38-CAF1A5FE8ACE}" dt="2024-11-11T04:10:30.728" v="661" actId="20577"/>
          <ac:spMkLst>
            <pc:docMk/>
            <pc:sldMk cId="292016949" sldId="268"/>
            <ac:spMk id="41" creationId="{43CC98C9-C464-89B7-6A99-A5273F6259AB}"/>
          </ac:spMkLst>
        </pc:spChg>
        <pc:spChg chg="mod">
          <ac:chgData name="Darcy Roach" userId="ba676ee9-e9b4-49e8-a515-8077106c948d" providerId="ADAL" clId="{C1955DBC-59A7-4CDC-BA38-CAF1A5FE8ACE}" dt="2024-11-11T04:14:58.986" v="822" actId="20577"/>
          <ac:spMkLst>
            <pc:docMk/>
            <pc:sldMk cId="292016949" sldId="268"/>
            <ac:spMk id="42" creationId="{3534AD08-B109-DFDF-B2BE-31CEBA74C899}"/>
          </ac:spMkLst>
        </pc:spChg>
        <pc:spChg chg="mod">
          <ac:chgData name="Darcy Roach" userId="ba676ee9-e9b4-49e8-a515-8077106c948d" providerId="ADAL" clId="{C1955DBC-59A7-4CDC-BA38-CAF1A5FE8ACE}" dt="2024-11-11T03:29:25.019" v="348" actId="20577"/>
          <ac:spMkLst>
            <pc:docMk/>
            <pc:sldMk cId="292016949" sldId="268"/>
            <ac:spMk id="45" creationId="{557D6438-C644-FAAE-4B96-313C24B3C21B}"/>
          </ac:spMkLst>
        </pc:spChg>
        <pc:spChg chg="del">
          <ac:chgData name="Darcy Roach" userId="ba676ee9-e9b4-49e8-a515-8077106c948d" providerId="ADAL" clId="{C1955DBC-59A7-4CDC-BA38-CAF1A5FE8ACE}" dt="2024-11-11T03:11:59.024" v="5" actId="478"/>
          <ac:spMkLst>
            <pc:docMk/>
            <pc:sldMk cId="292016949" sldId="268"/>
            <ac:spMk id="46" creationId="{08888713-B39B-A29F-7CEF-D59A3FF8E3F5}"/>
          </ac:spMkLst>
        </pc:spChg>
        <pc:spChg chg="mod">
          <ac:chgData name="Darcy Roach" userId="ba676ee9-e9b4-49e8-a515-8077106c948d" providerId="ADAL" clId="{C1955DBC-59A7-4CDC-BA38-CAF1A5FE8ACE}" dt="2024-11-11T04:18:10.274" v="943" actId="1076"/>
          <ac:spMkLst>
            <pc:docMk/>
            <pc:sldMk cId="292016949" sldId="268"/>
            <ac:spMk id="47" creationId="{623A5386-B590-F059-8B85-485C3E1D1E72}"/>
          </ac:spMkLst>
        </pc:spChg>
        <pc:spChg chg="mod">
          <ac:chgData name="Darcy Roach" userId="ba676ee9-e9b4-49e8-a515-8077106c948d" providerId="ADAL" clId="{C1955DBC-59A7-4CDC-BA38-CAF1A5FE8ACE}" dt="2024-11-11T03:20:45.508" v="85" actId="1076"/>
          <ac:spMkLst>
            <pc:docMk/>
            <pc:sldMk cId="292016949" sldId="268"/>
            <ac:spMk id="57" creationId="{864E5747-5E1E-FC22-4333-19623D15B478}"/>
          </ac:spMkLst>
        </pc:spChg>
        <pc:grpChg chg="mod">
          <ac:chgData name="Darcy Roach" userId="ba676ee9-e9b4-49e8-a515-8077106c948d" providerId="ADAL" clId="{C1955DBC-59A7-4CDC-BA38-CAF1A5FE8ACE}" dt="2024-11-11T04:15:11.383" v="823" actId="1076"/>
          <ac:grpSpMkLst>
            <pc:docMk/>
            <pc:sldMk cId="292016949" sldId="268"/>
            <ac:grpSpMk id="19" creationId="{B5F41F4C-D94E-5412-64EB-C01EF08F3FC7}"/>
          </ac:grpSpMkLst>
        </pc:grpChg>
        <pc:grpChg chg="mod">
          <ac:chgData name="Darcy Roach" userId="ba676ee9-e9b4-49e8-a515-8077106c948d" providerId="ADAL" clId="{C1955DBC-59A7-4CDC-BA38-CAF1A5FE8ACE}" dt="2024-11-11T04:15:23.867" v="824" actId="1076"/>
          <ac:grpSpMkLst>
            <pc:docMk/>
            <pc:sldMk cId="292016949" sldId="268"/>
            <ac:grpSpMk id="36" creationId="{D743579E-5672-6DC2-35A5-2DED215E734F}"/>
          </ac:grpSpMkLst>
        </pc:grpChg>
        <pc:cxnChg chg="mod">
          <ac:chgData name="Darcy Roach" userId="ba676ee9-e9b4-49e8-a515-8077106c948d" providerId="ADAL" clId="{C1955DBC-59A7-4CDC-BA38-CAF1A5FE8ACE}" dt="2024-11-11T03:29:54.423" v="370" actId="14100"/>
          <ac:cxnSpMkLst>
            <pc:docMk/>
            <pc:sldMk cId="292016949" sldId="268"/>
            <ac:cxnSpMk id="14" creationId="{FEBE86C6-C118-6CC2-068C-9B2E10977CA7}"/>
          </ac:cxnSpMkLst>
        </pc:cxnChg>
        <pc:cxnChg chg="mod">
          <ac:chgData name="Darcy Roach" userId="ba676ee9-e9b4-49e8-a515-8077106c948d" providerId="ADAL" clId="{C1955DBC-59A7-4CDC-BA38-CAF1A5FE8ACE}" dt="2024-11-11T04:06:31.817" v="579" actId="14100"/>
          <ac:cxnSpMkLst>
            <pc:docMk/>
            <pc:sldMk cId="292016949" sldId="268"/>
            <ac:cxnSpMk id="35" creationId="{36892423-C7ED-E20D-EE03-3E4185823836}"/>
          </ac:cxnSpMkLst>
        </pc:cxnChg>
        <pc:cxnChg chg="mod">
          <ac:chgData name="Darcy Roach" userId="ba676ee9-e9b4-49e8-a515-8077106c948d" providerId="ADAL" clId="{C1955DBC-59A7-4CDC-BA38-CAF1A5FE8ACE}" dt="2024-11-11T04:15:29.723" v="825" actId="14100"/>
          <ac:cxnSpMkLst>
            <pc:docMk/>
            <pc:sldMk cId="292016949" sldId="268"/>
            <ac:cxnSpMk id="44" creationId="{C0EF4CAA-5099-AB18-442D-44AA814D04CD}"/>
          </ac:cxnSpMkLst>
        </pc:cxnChg>
        <pc:cxnChg chg="mod">
          <ac:chgData name="Darcy Roach" userId="ba676ee9-e9b4-49e8-a515-8077106c948d" providerId="ADAL" clId="{C1955DBC-59A7-4CDC-BA38-CAF1A5FE8ACE}" dt="2024-11-11T04:18:10.274" v="943" actId="1076"/>
          <ac:cxnSpMkLst>
            <pc:docMk/>
            <pc:sldMk cId="292016949" sldId="268"/>
            <ac:cxnSpMk id="48" creationId="{754030A1-24B1-1BF9-AEF3-3F9F443F8EA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Sreenivasan Sundararajan</a:t>
            </a:r>
          </a:p>
          <a:p>
            <a:endParaRPr lang="en-US" sz="28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79529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51390" y="5693950"/>
            <a:ext cx="1510046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dirty="0"/>
              <a:t>Google Cloud Platform</a:t>
            </a:r>
          </a:p>
          <a:p>
            <a:r>
              <a:rPr lang="en-AU" dirty="0"/>
              <a:t>Data Warehousing</a:t>
            </a:r>
          </a:p>
          <a:p>
            <a:r>
              <a:rPr lang="en-AU" dirty="0"/>
              <a:t>Data Integration</a:t>
            </a:r>
          </a:p>
          <a:p>
            <a:r>
              <a:rPr lang="en-AU" dirty="0"/>
              <a:t>Data Engineering</a:t>
            </a:r>
          </a:p>
          <a:p>
            <a:r>
              <a:rPr lang="en-AU" dirty="0" err="1"/>
              <a:t>MLOps</a:t>
            </a:r>
            <a:endParaRPr lang="en-AU" dirty="0"/>
          </a:p>
          <a:p>
            <a:r>
              <a:rPr lang="en-AU" dirty="0"/>
              <a:t>Data Modelling</a:t>
            </a:r>
          </a:p>
          <a:p>
            <a:r>
              <a:rPr lang="en-AU" dirty="0"/>
              <a:t>ETL/ELT framework development</a:t>
            </a:r>
          </a:p>
          <a:p>
            <a:r>
              <a:rPr lang="en-AU" dirty="0"/>
              <a:t>Reporting</a:t>
            </a:r>
          </a:p>
          <a:p>
            <a:r>
              <a:rPr lang="en-AU" dirty="0"/>
              <a:t>Analytics</a:t>
            </a:r>
          </a:p>
          <a:p>
            <a:r>
              <a:rPr lang="en-AU" dirty="0"/>
              <a:t>CI/CD Pipeline</a:t>
            </a:r>
          </a:p>
          <a:p>
            <a:r>
              <a:rPr lang="en-AU" dirty="0"/>
              <a:t>SAP</a:t>
            </a:r>
          </a:p>
          <a:p>
            <a:endParaRPr lang="en-AU" dirty="0"/>
          </a:p>
        </p:txBody>
      </p: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64E5747-5E1E-FC22-4333-19623D15B478}"/>
              </a:ext>
            </a:extLst>
          </p:cNvPr>
          <p:cNvSpPr txBox="1"/>
          <p:nvPr/>
        </p:nvSpPr>
        <p:spPr>
          <a:xfrm>
            <a:off x="1748656" y="5693950"/>
            <a:ext cx="1327414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dirty="0"/>
              <a:t>Databricks</a:t>
            </a:r>
          </a:p>
          <a:p>
            <a:r>
              <a:rPr lang="en-AU" dirty="0"/>
              <a:t>AWS</a:t>
            </a:r>
          </a:p>
          <a:p>
            <a:r>
              <a:rPr lang="en-AU" dirty="0"/>
              <a:t>HANA</a:t>
            </a:r>
          </a:p>
          <a:p>
            <a:r>
              <a:rPr lang="en-AU" dirty="0"/>
              <a:t>Teradata</a:t>
            </a:r>
          </a:p>
          <a:p>
            <a:r>
              <a:rPr lang="en-AU" dirty="0"/>
              <a:t>Vertex AI </a:t>
            </a:r>
          </a:p>
          <a:p>
            <a:r>
              <a:rPr lang="en-AU" dirty="0"/>
              <a:t>Python</a:t>
            </a:r>
          </a:p>
          <a:p>
            <a:r>
              <a:rPr lang="en-AU" dirty="0"/>
              <a:t>SQL</a:t>
            </a:r>
          </a:p>
          <a:p>
            <a:r>
              <a:rPr lang="en-AU" dirty="0"/>
              <a:t>Collibra</a:t>
            </a:r>
          </a:p>
          <a:p>
            <a:r>
              <a:rPr lang="en-AU" dirty="0" err="1"/>
              <a:t>Dataform</a:t>
            </a:r>
            <a:endParaRPr lang="en-AU" dirty="0"/>
          </a:p>
          <a:p>
            <a:r>
              <a:rPr lang="en-AU" dirty="0"/>
              <a:t>Terraform</a:t>
            </a:r>
          </a:p>
          <a:p>
            <a:r>
              <a:rPr lang="en-AU" dirty="0"/>
              <a:t>DBT</a:t>
            </a:r>
          </a:p>
          <a:p>
            <a:r>
              <a:rPr lang="en-AU" dirty="0"/>
              <a:t>Tableau</a:t>
            </a:r>
          </a:p>
          <a:p>
            <a:endParaRPr lang="en-AU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13036" y="957777"/>
            <a:ext cx="0" cy="611612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578FEE8-8C19-8665-3283-8CC554270635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F20BEF-6600-1F08-56D8-EBF9453B6D9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A1106F-7AEC-25A1-55A8-188EDF5EED3E}"/>
              </a:ext>
            </a:extLst>
          </p:cNvPr>
          <p:cNvSpPr txBox="1"/>
          <p:nvPr/>
        </p:nvSpPr>
        <p:spPr>
          <a:xfrm>
            <a:off x="250509" y="1671342"/>
            <a:ext cx="2856904" cy="29751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Sreenivasan is a dedicated Data and Analytics Engineer with a proven track record in cloud-based data engineering and 15+ years of ETL experience across Retail, Utilities, FMCG, Telecom, and Airline industries. </a:t>
            </a:r>
          </a:p>
          <a:p>
            <a:pPr>
              <a:lnSpc>
                <a:spcPts val="1812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812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is skilled in implementing enterprise-scale Cloud Datawarehouse/BI solutions utilising GCP, AWS Big Data stack, Databricks, DBT, and Tableau. Sreenivasan is passionate about leveraging machine learning and conversational AI technologies to drive business impact</a:t>
            </a:r>
          </a:p>
          <a:p>
            <a:pPr>
              <a:lnSpc>
                <a:spcPts val="1812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CF0E79-8C1B-C602-4BED-4BB3DEAA36BB}"/>
              </a:ext>
            </a:extLst>
          </p:cNvPr>
          <p:cNvGrpSpPr/>
          <p:nvPr/>
        </p:nvGrpSpPr>
        <p:grpSpPr>
          <a:xfrm>
            <a:off x="3428142" y="1456630"/>
            <a:ext cx="4584894" cy="1323439"/>
            <a:chOff x="5021215" y="814987"/>
            <a:chExt cx="4897377" cy="132343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6396D8-FB35-5C0A-F8E9-453C263854BF}"/>
                </a:ext>
              </a:extLst>
            </p:cNvPr>
            <p:cNvSpPr txBox="1"/>
            <p:nvPr/>
          </p:nvSpPr>
          <p:spPr>
            <a:xfrm>
              <a:off x="5059478" y="814987"/>
              <a:ext cx="4859114" cy="132343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 dirty="0">
                  <a:solidFill>
                    <a:schemeClr val="bg1"/>
                  </a:solidFill>
                </a:rPr>
                <a:t>Database design, management, and administration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Map out the current process and dataflows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Identify functional and non-functional requirements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Design solutions to meet business, technical and user requirements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Documented target state in the form of use cases and sequence diagrams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Develop pipelines for data staging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Build data models, ETL/ ELT routines and dashboards</a:t>
              </a:r>
            </a:p>
            <a:p>
              <a:endParaRPr lang="en-AU" sz="1000" dirty="0">
                <a:solidFill>
                  <a:schemeClr val="bg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EBE86C6-C118-6CC2-068C-9B2E10977CA7}"/>
                </a:ext>
              </a:extLst>
            </p:cNvPr>
            <p:cNvCxnSpPr>
              <a:cxnSpLocks/>
            </p:cNvCxnSpPr>
            <p:nvPr/>
          </p:nvCxnSpPr>
          <p:spPr>
            <a:xfrm>
              <a:off x="5021215" y="891854"/>
              <a:ext cx="0" cy="1028950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ED88831-66E6-E9EC-E1A5-875B0478B9C5}"/>
              </a:ext>
            </a:extLst>
          </p:cNvPr>
          <p:cNvSpPr txBox="1"/>
          <p:nvPr/>
        </p:nvSpPr>
        <p:spPr>
          <a:xfrm>
            <a:off x="8118490" y="1456630"/>
            <a:ext cx="1668754" cy="249299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Utilities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FMCG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Airline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  <a:p>
            <a:pPr marL="0" indent="0">
              <a:buNone/>
            </a:pPr>
            <a:endParaRPr lang="en-AU" sz="1200" dirty="0">
              <a:solidFill>
                <a:srgbClr val="00AB8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BF8C21-ED5A-BA0E-18B1-1DE2682A5497}"/>
              </a:ext>
            </a:extLst>
          </p:cNvPr>
          <p:cNvSpPr txBox="1"/>
          <p:nvPr/>
        </p:nvSpPr>
        <p:spPr>
          <a:xfrm>
            <a:off x="8106458" y="3841042"/>
            <a:ext cx="19519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19525" algn="l"/>
                <a:tab pos="3895725" algn="l"/>
              </a:tabLst>
            </a:pPr>
            <a:endParaRPr lang="en-AU" sz="1200" dirty="0">
              <a:solidFill>
                <a:srgbClr val="00AB8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tabLst>
                <a:tab pos="3819525" algn="l"/>
                <a:tab pos="3895725" algn="l"/>
              </a:tabLst>
            </a:pPr>
            <a:r>
              <a:rPr lang="en-AU" sz="1200" dirty="0">
                <a:solidFill>
                  <a:srgbClr val="00AB80"/>
                </a:solidFill>
                <a:latin typeface="Roboto Light" panose="02000000000000000000" pitchFamily="2" charset="0"/>
              </a:rPr>
              <a:t>Databricks Certified - Data Engineer Associate</a:t>
            </a:r>
          </a:p>
          <a:p>
            <a:pPr>
              <a:tabLst>
                <a:tab pos="3819525" algn="l"/>
                <a:tab pos="3895725" algn="l"/>
              </a:tabLst>
            </a:pPr>
            <a:endParaRPr lang="en-AU" sz="1200" dirty="0">
              <a:solidFill>
                <a:srgbClr val="00AB80"/>
              </a:solidFill>
              <a:latin typeface="Roboto Light" panose="02000000000000000000" pitchFamily="2" charset="0"/>
            </a:endParaRPr>
          </a:p>
          <a:p>
            <a:pPr>
              <a:tabLst>
                <a:tab pos="3819525" algn="l"/>
                <a:tab pos="3895725" algn="l"/>
              </a:tabLst>
            </a:pPr>
            <a:r>
              <a:rPr lang="en-AU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rPr>
              <a:t>Databricks Certified – Machine Learning Engineer Associate</a:t>
            </a:r>
          </a:p>
          <a:p>
            <a:pPr>
              <a:tabLst>
                <a:tab pos="3819525" algn="l"/>
                <a:tab pos="3895725" algn="l"/>
              </a:tabLst>
            </a:pPr>
            <a:endParaRPr lang="en-GB" sz="1200" dirty="0">
              <a:solidFill>
                <a:srgbClr val="00AB80"/>
              </a:solidFill>
              <a:latin typeface="Roboto Light" panose="02000000000000000000" pitchFamily="2" charset="0"/>
              <a:ea typeface="Calibri" panose="020F0502020204030204" pitchFamily="34" charset="0"/>
            </a:endParaRPr>
          </a:p>
          <a:p>
            <a:pPr>
              <a:tabLst>
                <a:tab pos="3819525" algn="l"/>
                <a:tab pos="3895725" algn="l"/>
              </a:tabLst>
            </a:pPr>
            <a:r>
              <a: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rPr>
              <a:t>SAP Certified – ETL &amp; Memory Database Developer</a:t>
            </a:r>
          </a:p>
          <a:p>
            <a:pPr>
              <a:tabLst>
                <a:tab pos="3819525" algn="l"/>
                <a:tab pos="3895725" algn="l"/>
              </a:tabLst>
            </a:pPr>
            <a:endParaRPr lang="en-AU" sz="1200" dirty="0">
              <a:solidFill>
                <a:srgbClr val="00AB8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spcAft>
                <a:spcPts val="835"/>
              </a:spcAft>
            </a:pPr>
            <a:r>
              <a: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rPr>
              <a:t>Bachelor's Degree </a:t>
            </a:r>
            <a:r>
              <a: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rPr>
              <a:t>– Production Engineering, Anna University, India </a:t>
            </a:r>
            <a:endParaRPr lang="en-GB" sz="1200" dirty="0">
              <a:solidFill>
                <a:srgbClr val="00AB80"/>
              </a:solidFill>
              <a:effectLst/>
              <a:latin typeface="Roboto Light" panose="02000000000000000000" pitchFamily="2" charset="0"/>
              <a:ea typeface="Calibri" panose="020F050202020403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F41F4C-D94E-5412-64EB-C01EF08F3FC7}"/>
              </a:ext>
            </a:extLst>
          </p:cNvPr>
          <p:cNvGrpSpPr/>
          <p:nvPr/>
        </p:nvGrpSpPr>
        <p:grpSpPr>
          <a:xfrm>
            <a:off x="3324259" y="2675968"/>
            <a:ext cx="4891965" cy="2856068"/>
            <a:chOff x="3324259" y="2800881"/>
            <a:chExt cx="4891965" cy="285606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390D72A-5A5C-8A29-8C67-C702BD18EE15}"/>
                </a:ext>
              </a:extLst>
            </p:cNvPr>
            <p:cNvGrpSpPr/>
            <p:nvPr/>
          </p:nvGrpSpPr>
          <p:grpSpPr>
            <a:xfrm>
              <a:off x="3447294" y="3102404"/>
              <a:ext cx="4473597" cy="2554545"/>
              <a:chOff x="5030740" y="2373425"/>
              <a:chExt cx="4778493" cy="2554545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F249814-33C0-B670-218F-31302BFE2960}"/>
                  </a:ext>
                </a:extLst>
              </p:cNvPr>
              <p:cNvSpPr txBox="1"/>
              <p:nvPr/>
            </p:nvSpPr>
            <p:spPr>
              <a:xfrm>
                <a:off x="5068016" y="2373425"/>
                <a:ext cx="4741217" cy="2554545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Led the design and development of the Finance foundation data models on GCP, leveraging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, Dataflow, and Cloud Composer</a:t>
                </a:r>
              </a:p>
              <a:p>
                <a:r>
                  <a:rPr lang="en-AU" sz="1000" dirty="0"/>
                  <a:t>Implemented streaming Dataflow pipeline on Pub/Sub for complex JSON formatted messages and enhanced real-time data processing</a:t>
                </a:r>
              </a:p>
              <a:p>
                <a:r>
                  <a:rPr lang="en-AU" sz="1000" dirty="0"/>
                  <a:t>Managed and optimised Cloud Composer environments, Implemented Generic DAGs triggered by cloud functions for Data Ingestion and orchestrated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, Spark and Tableau hyper extract generation</a:t>
                </a:r>
              </a:p>
              <a:p>
                <a:r>
                  <a:rPr lang="en-AU" sz="1000" dirty="0"/>
                  <a:t>Adopted </a:t>
                </a:r>
                <a:r>
                  <a:rPr lang="en-AU" sz="1000" dirty="0" err="1"/>
                  <a:t>Dataform</a:t>
                </a:r>
                <a:r>
                  <a:rPr lang="en-AU" sz="1000" dirty="0"/>
                  <a:t> using SQLX and </a:t>
                </a:r>
                <a:r>
                  <a:rPr lang="en-AU" sz="1000" dirty="0" err="1"/>
                  <a:t>Javascript</a:t>
                </a:r>
                <a:r>
                  <a:rPr lang="en-AU" sz="1000" dirty="0"/>
                  <a:t> for deploying reusable transformation logic in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 and employed ML jobs using </a:t>
                </a:r>
                <a:r>
                  <a:rPr lang="en-AU" sz="1000" dirty="0" err="1"/>
                  <a:t>PySpark</a:t>
                </a:r>
                <a:r>
                  <a:rPr lang="en-AU" sz="1000" dirty="0"/>
                  <a:t> in </a:t>
                </a:r>
                <a:r>
                  <a:rPr lang="en-AU" sz="1000" dirty="0" err="1"/>
                  <a:t>Dataproc</a:t>
                </a:r>
                <a:r>
                  <a:rPr lang="en-AU" sz="1000" dirty="0"/>
                  <a:t> serverless</a:t>
                </a:r>
              </a:p>
              <a:p>
                <a:r>
                  <a:rPr lang="en-AU" sz="1000" dirty="0"/>
                  <a:t>Pioneered the use of </a:t>
                </a:r>
                <a:r>
                  <a:rPr lang="en-AU" sz="1000" dirty="0" err="1"/>
                  <a:t>Dialogflow</a:t>
                </a:r>
                <a:r>
                  <a:rPr lang="en-AU" sz="1000" dirty="0"/>
                  <a:t> to create a conversational bot on Google Chat and Google AI Assistant, provided instant access to key finance metrics with drill-down capabilities</a:t>
                </a:r>
              </a:p>
              <a:p>
                <a:r>
                  <a:rPr lang="en-AU" sz="1000" dirty="0"/>
                  <a:t>Designed and implemented the Looker semantic layer using </a:t>
                </a:r>
                <a:r>
                  <a:rPr lang="en-AU" sz="1000" dirty="0" err="1"/>
                  <a:t>LookML</a:t>
                </a:r>
                <a:r>
                  <a:rPr lang="en-AU" sz="1000" dirty="0"/>
                  <a:t>, transforming integrated reporting platform and enabling users to explore data with greater ease and flexibility</a:t>
                </a: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6892423-C7ED-E20D-EE03-3E4185823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441046"/>
                <a:ext cx="0" cy="2381132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710181-8A8D-B1D8-4355-3623991D3D91}"/>
                </a:ext>
              </a:extLst>
            </p:cNvPr>
            <p:cNvSpPr txBox="1"/>
            <p:nvPr/>
          </p:nvSpPr>
          <p:spPr>
            <a:xfrm>
              <a:off x="3324259" y="2800881"/>
              <a:ext cx="4891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Australian Supermarket – Senior Data Engineer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43579E-5672-6DC2-35A5-2DED215E734F}"/>
              </a:ext>
            </a:extLst>
          </p:cNvPr>
          <p:cNvGrpSpPr/>
          <p:nvPr/>
        </p:nvGrpSpPr>
        <p:grpSpPr>
          <a:xfrm>
            <a:off x="3335752" y="5540061"/>
            <a:ext cx="4557783" cy="2215991"/>
            <a:chOff x="3335752" y="4957505"/>
            <a:chExt cx="4557783" cy="221599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77A5904-A083-26DE-C58A-67397B13F721}"/>
                </a:ext>
              </a:extLst>
            </p:cNvPr>
            <p:cNvGrpSpPr/>
            <p:nvPr/>
          </p:nvGrpSpPr>
          <p:grpSpPr>
            <a:xfrm>
              <a:off x="3447294" y="5234504"/>
              <a:ext cx="4446241" cy="1938992"/>
              <a:chOff x="5044207" y="4415671"/>
              <a:chExt cx="4749273" cy="1938992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534AD08-B109-DFDF-B2BE-31CEBA74C899}"/>
                  </a:ext>
                </a:extLst>
              </p:cNvPr>
              <p:cNvSpPr txBox="1"/>
              <p:nvPr/>
            </p:nvSpPr>
            <p:spPr>
              <a:xfrm>
                <a:off x="5071764" y="4415671"/>
                <a:ext cx="4721716" cy="1938992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Developed Datawarehouse schema on Oracle</a:t>
                </a:r>
              </a:p>
              <a:p>
                <a:r>
                  <a:rPr lang="en-AU" sz="1000" dirty="0"/>
                  <a:t>Managed extensive data extraction with SAP Data services and developed a consumption data model based upon complex apportionment logic</a:t>
                </a:r>
              </a:p>
              <a:p>
                <a:r>
                  <a:rPr lang="en-AU" sz="1000" dirty="0"/>
                  <a:t>Implemented a metadata driven ETL framework for master data tables, and connected with cloud services Azure Blob Storage for Databricks to enable the organisations Big Data strategy</a:t>
                </a:r>
              </a:p>
              <a:p>
                <a:r>
                  <a:rPr lang="en-AU" sz="1000" dirty="0"/>
                  <a:t>Enabled Spark structured streaming for incoming JSON files, with deployment of Smart Metering to enable near real time updates</a:t>
                </a:r>
              </a:p>
              <a:p>
                <a:r>
                  <a:rPr lang="en-AU" sz="1000" dirty="0"/>
                  <a:t>Developed Reconciliation dataflow using python modules for Consumption data model in Databricks Notebook.</a:t>
                </a:r>
              </a:p>
              <a:p>
                <a:endParaRPr lang="en-AU" sz="1000" dirty="0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0EF4CAA-5099-AB18-442D-44AA814D04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44207" y="4466477"/>
                <a:ext cx="0" cy="1593090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CC98C9-C464-89B7-6A99-A5273F6259AB}"/>
                </a:ext>
              </a:extLst>
            </p:cNvPr>
            <p:cNvSpPr txBox="1"/>
            <p:nvPr/>
          </p:nvSpPr>
          <p:spPr>
            <a:xfrm>
              <a:off x="3335752" y="4957505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Utilities Organisation – Senior Data Engineer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57D6438-C644-FAAE-4B96-313C24B3C21B}"/>
              </a:ext>
            </a:extLst>
          </p:cNvPr>
          <p:cNvSpPr txBox="1"/>
          <p:nvPr/>
        </p:nvSpPr>
        <p:spPr>
          <a:xfrm>
            <a:off x="3324260" y="1134742"/>
            <a:ext cx="4626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</a:rPr>
              <a:t>Major Australian Retail &amp; Logistics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</a:rPr>
              <a:t> – Data Engineer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3A5386-B590-F059-8B85-485C3E1D1E72}"/>
              </a:ext>
            </a:extLst>
          </p:cNvPr>
          <p:cNvSpPr txBox="1"/>
          <p:nvPr/>
        </p:nvSpPr>
        <p:spPr>
          <a:xfrm>
            <a:off x="8192705" y="3571309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4030A1-24B1-1BF9-AEF3-3F9F443F8EA5}"/>
              </a:ext>
            </a:extLst>
          </p:cNvPr>
          <p:cNvCxnSpPr>
            <a:cxnSpLocks/>
          </p:cNvCxnSpPr>
          <p:nvPr/>
        </p:nvCxnSpPr>
        <p:spPr>
          <a:xfrm>
            <a:off x="8192160" y="3878614"/>
            <a:ext cx="17347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1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Darcy Roach</DisplayName>
        <AccountId>14</AccountId>
        <AccountType/>
      </UserInfo>
      <UserInfo>
        <DisplayName>Mason Jam</DisplayName>
        <AccountId>28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694E399-8B2F-40E6-8803-B8093461C9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E4800C-4E63-4436-BF96-83EF234E3A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9A4802-9F70-483A-BDD1-DB600634ECB8}">
  <ds:schemaRefs>
    <ds:schemaRef ds:uri="e52cd9e7-35e5-4bd3-9cab-ca6a63c31e52"/>
    <ds:schemaRef ds:uri="http://purl.org/dc/elements/1.1/"/>
    <ds:schemaRef ds:uri="daf93972-1964-4522-aa34-640805a01c3a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477</Words>
  <Application>Microsoft Office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2</cp:revision>
  <dcterms:created xsi:type="dcterms:W3CDTF">2019-12-03T01:50:37Z</dcterms:created>
  <dcterms:modified xsi:type="dcterms:W3CDTF">2024-11-11T04:18:21Z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