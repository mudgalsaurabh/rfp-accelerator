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notesMasterIdLst>
    <p:notesMasterId r:id="rId6"/>
  </p:notes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9FF"/>
    <a:srgbClr val="0F2B3F"/>
    <a:srgbClr val="00AB80"/>
    <a:srgbClr val="A935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0CA285-35A2-FAD8-517B-86D1C61F4D75}" v="43" dt="2025-03-07T00:22:31.613"/>
    <p1510:client id="{ECC17F94-EF2D-4AE8-BF2B-81B4ED849ED3}" v="224" dt="2025-03-07T02:26:07.9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F8BDCB15-132A-464C-AFCB-FCDE35E6473D}"/>
    <pc:docChg chg="undo custSel modSld">
      <pc:chgData name="Darcy Roach" userId="ba676ee9-e9b4-49e8-a515-8077106c948d" providerId="ADAL" clId="{F8BDCB15-132A-464C-AFCB-FCDE35E6473D}" dt="2024-06-04T05:17:09.601" v="267" actId="1037"/>
      <pc:docMkLst>
        <pc:docMk/>
      </pc:docMkLst>
      <pc:sldChg chg="addSp delSp modSp mod">
        <pc:chgData name="Darcy Roach" userId="ba676ee9-e9b4-49e8-a515-8077106c948d" providerId="ADAL" clId="{F8BDCB15-132A-464C-AFCB-FCDE35E6473D}" dt="2024-06-04T05:17:09.601" v="267" actId="1037"/>
        <pc:sldMkLst>
          <pc:docMk/>
          <pc:sldMk cId="2009923557" sldId="270"/>
        </pc:sldMkLst>
      </pc:sldChg>
    </pc:docChg>
  </pc:docChgLst>
  <pc:docChgLst>
    <pc:chgData name="Darcy Roach" userId="ba676ee9-e9b4-49e8-a515-8077106c948d" providerId="ADAL" clId="{D8E765F8-E205-4AB9-BBA0-852FF945C760}"/>
    <pc:docChg chg="undo custSel modSld">
      <pc:chgData name="Darcy Roach" userId="ba676ee9-e9b4-49e8-a515-8077106c948d" providerId="ADAL" clId="{D8E765F8-E205-4AB9-BBA0-852FF945C760}" dt="2023-12-11T05:18:02.564" v="1202" actId="14100"/>
      <pc:docMkLst>
        <pc:docMk/>
      </pc:docMkLst>
      <pc:sldChg chg="addSp delSp modSp mod">
        <pc:chgData name="Darcy Roach" userId="ba676ee9-e9b4-49e8-a515-8077106c948d" providerId="ADAL" clId="{D8E765F8-E205-4AB9-BBA0-852FF945C760}" dt="2023-12-11T05:18:02.564" v="1202" actId="14100"/>
        <pc:sldMkLst>
          <pc:docMk/>
          <pc:sldMk cId="2009923557" sldId="270"/>
        </pc:sldMkLst>
      </pc:sldChg>
    </pc:docChg>
  </pc:docChgLst>
  <pc:docChgLst>
    <pc:chgData name="Darcy Roach" userId="ba676ee9-e9b4-49e8-a515-8077106c948d" providerId="ADAL" clId="{ECC17F94-EF2D-4AE8-BF2B-81B4ED849ED3}"/>
    <pc:docChg chg="custSel modSld">
      <pc:chgData name="Darcy Roach" userId="ba676ee9-e9b4-49e8-a515-8077106c948d" providerId="ADAL" clId="{ECC17F94-EF2D-4AE8-BF2B-81B4ED849ED3}" dt="2025-03-07T02:26:07.985" v="490" actId="14100"/>
      <pc:docMkLst>
        <pc:docMk/>
      </pc:docMkLst>
      <pc:sldChg chg="addSp delSp modSp mod modNotesTx">
        <pc:chgData name="Darcy Roach" userId="ba676ee9-e9b4-49e8-a515-8077106c948d" providerId="ADAL" clId="{ECC17F94-EF2D-4AE8-BF2B-81B4ED849ED3}" dt="2025-03-07T02:26:07.985" v="490" actId="14100"/>
        <pc:sldMkLst>
          <pc:docMk/>
          <pc:sldMk cId="2009923557" sldId="270"/>
        </pc:sldMkLst>
        <pc:spChg chg="mod">
          <ac:chgData name="Darcy Roach" userId="ba676ee9-e9b4-49e8-a515-8077106c948d" providerId="ADAL" clId="{ECC17F94-EF2D-4AE8-BF2B-81B4ED849ED3}" dt="2025-03-07T02:15:12.673" v="485" actId="207"/>
          <ac:spMkLst>
            <pc:docMk/>
            <pc:sldMk cId="2009923557" sldId="270"/>
            <ac:spMk id="2" creationId="{2FA774CA-3857-9308-4D38-9414B0CC2B95}"/>
          </ac:spMkLst>
        </pc:spChg>
        <pc:spChg chg="mod">
          <ac:chgData name="Darcy Roach" userId="ba676ee9-e9b4-49e8-a515-8077106c948d" providerId="ADAL" clId="{ECC17F94-EF2D-4AE8-BF2B-81B4ED849ED3}" dt="2025-03-07T00:49:53.469" v="177" actId="20577"/>
          <ac:spMkLst>
            <pc:docMk/>
            <pc:sldMk cId="2009923557" sldId="270"/>
            <ac:spMk id="4" creationId="{80F49B2F-21D4-F9EB-049F-717A10CB7D84}"/>
          </ac:spMkLst>
        </pc:spChg>
        <pc:spChg chg="del mod">
          <ac:chgData name="Darcy Roach" userId="ba676ee9-e9b4-49e8-a515-8077106c948d" providerId="ADAL" clId="{ECC17F94-EF2D-4AE8-BF2B-81B4ED849ED3}" dt="2025-03-07T02:14:34.620" v="479" actId="21"/>
          <ac:spMkLst>
            <pc:docMk/>
            <pc:sldMk cId="2009923557" sldId="270"/>
            <ac:spMk id="6" creationId="{701E125D-B356-8A2A-B86B-AB6567CEABE1}"/>
          </ac:spMkLst>
        </pc:spChg>
        <pc:spChg chg="del mod">
          <ac:chgData name="Darcy Roach" userId="ba676ee9-e9b4-49e8-a515-8077106c948d" providerId="ADAL" clId="{ECC17F94-EF2D-4AE8-BF2B-81B4ED849ED3}" dt="2025-03-07T02:14:34.620" v="479" actId="21"/>
          <ac:spMkLst>
            <pc:docMk/>
            <pc:sldMk cId="2009923557" sldId="270"/>
            <ac:spMk id="8" creationId="{59FEB941-5146-6B10-4E4D-8A4ADE918AEF}"/>
          </ac:spMkLst>
        </pc:spChg>
        <pc:spChg chg="mod">
          <ac:chgData name="Darcy Roach" userId="ba676ee9-e9b4-49e8-a515-8077106c948d" providerId="ADAL" clId="{ECC17F94-EF2D-4AE8-BF2B-81B4ED849ED3}" dt="2025-03-07T00:39:41.439" v="14" actId="20577"/>
          <ac:spMkLst>
            <pc:docMk/>
            <pc:sldMk cId="2009923557" sldId="270"/>
            <ac:spMk id="10" creationId="{06312B81-BCF1-2796-C112-3DBE0E02F483}"/>
          </ac:spMkLst>
        </pc:spChg>
        <pc:spChg chg="mod">
          <ac:chgData name="Darcy Roach" userId="ba676ee9-e9b4-49e8-a515-8077106c948d" providerId="ADAL" clId="{ECC17F94-EF2D-4AE8-BF2B-81B4ED849ED3}" dt="2025-03-07T00:46:17.527" v="142" actId="20577"/>
          <ac:spMkLst>
            <pc:docMk/>
            <pc:sldMk cId="2009923557" sldId="270"/>
            <ac:spMk id="16" creationId="{7E35B594-218B-9758-86B8-379A2D52014C}"/>
          </ac:spMkLst>
        </pc:spChg>
        <pc:spChg chg="mod">
          <ac:chgData name="Darcy Roach" userId="ba676ee9-e9b4-49e8-a515-8077106c948d" providerId="ADAL" clId="{ECC17F94-EF2D-4AE8-BF2B-81B4ED849ED3}" dt="2025-03-07T02:13:18.294" v="389"/>
          <ac:spMkLst>
            <pc:docMk/>
            <pc:sldMk cId="2009923557" sldId="270"/>
            <ac:spMk id="29" creationId="{6059F888-3BDF-A1C0-65E5-CB6FDD43D97C}"/>
          </ac:spMkLst>
        </pc:spChg>
        <pc:spChg chg="mod">
          <ac:chgData name="Darcy Roach" userId="ba676ee9-e9b4-49e8-a515-8077106c948d" providerId="ADAL" clId="{ECC17F94-EF2D-4AE8-BF2B-81B4ED849ED3}" dt="2025-03-07T02:13:18.294" v="389"/>
          <ac:spMkLst>
            <pc:docMk/>
            <pc:sldMk cId="2009923557" sldId="270"/>
            <ac:spMk id="30" creationId="{7513C49A-2DF2-8111-FED4-FC07A8EAD258}"/>
          </ac:spMkLst>
        </pc:spChg>
        <pc:spChg chg="mod">
          <ac:chgData name="Darcy Roach" userId="ba676ee9-e9b4-49e8-a515-8077106c948d" providerId="ADAL" clId="{ECC17F94-EF2D-4AE8-BF2B-81B4ED849ED3}" dt="2025-03-07T00:45:49.520" v="125" actId="20577"/>
          <ac:spMkLst>
            <pc:docMk/>
            <pc:sldMk cId="2009923557" sldId="270"/>
            <ac:spMk id="34" creationId="{918A7F92-3316-08FB-509F-21C3938C9792}"/>
          </ac:spMkLst>
        </pc:spChg>
        <pc:spChg chg="add mod">
          <ac:chgData name="Darcy Roach" userId="ba676ee9-e9b4-49e8-a515-8077106c948d" providerId="ADAL" clId="{ECC17F94-EF2D-4AE8-BF2B-81B4ED849ED3}" dt="2025-03-07T02:15:55.718" v="488" actId="1076"/>
          <ac:spMkLst>
            <pc:docMk/>
            <pc:sldMk cId="2009923557" sldId="270"/>
            <ac:spMk id="35" creationId="{701E125D-B356-8A2A-B86B-AB6567CEABE1}"/>
          </ac:spMkLst>
        </pc:spChg>
        <pc:spChg chg="add mod">
          <ac:chgData name="Darcy Roach" userId="ba676ee9-e9b4-49e8-a515-8077106c948d" providerId="ADAL" clId="{ECC17F94-EF2D-4AE8-BF2B-81B4ED849ED3}" dt="2025-03-07T02:15:55.718" v="488" actId="1076"/>
          <ac:spMkLst>
            <pc:docMk/>
            <pc:sldMk cId="2009923557" sldId="270"/>
            <ac:spMk id="36" creationId="{59FEB941-5146-6B10-4E4D-8A4ADE918AEF}"/>
          </ac:spMkLst>
        </pc:spChg>
        <pc:grpChg chg="del">
          <ac:chgData name="Darcy Roach" userId="ba676ee9-e9b4-49e8-a515-8077106c948d" providerId="ADAL" clId="{ECC17F94-EF2D-4AE8-BF2B-81B4ED849ED3}" dt="2025-03-07T02:08:48.066" v="323" actId="21"/>
          <ac:grpSpMkLst>
            <pc:docMk/>
            <pc:sldMk cId="2009923557" sldId="270"/>
            <ac:grpSpMk id="9" creationId="{E7DD910D-15D0-5CBC-B70B-D2480ECA3DCA}"/>
          </ac:grpSpMkLst>
        </pc:grpChg>
        <pc:grpChg chg="mod">
          <ac:chgData name="Darcy Roach" userId="ba676ee9-e9b4-49e8-a515-8077106c948d" providerId="ADAL" clId="{ECC17F94-EF2D-4AE8-BF2B-81B4ED849ED3}" dt="2025-03-07T02:15:55.718" v="488" actId="1076"/>
          <ac:grpSpMkLst>
            <pc:docMk/>
            <pc:sldMk cId="2009923557" sldId="270"/>
            <ac:grpSpMk id="12" creationId="{C465E181-1D5D-D878-8A71-F5848AAF858F}"/>
          </ac:grpSpMkLst>
        </pc:grpChg>
        <pc:grpChg chg="add mod">
          <ac:chgData name="Darcy Roach" userId="ba676ee9-e9b4-49e8-a515-8077106c948d" providerId="ADAL" clId="{ECC17F94-EF2D-4AE8-BF2B-81B4ED849ED3}" dt="2025-03-07T02:15:55.718" v="488" actId="1076"/>
          <ac:grpSpMkLst>
            <pc:docMk/>
            <pc:sldMk cId="2009923557" sldId="270"/>
            <ac:grpSpMk id="17" creationId="{E7DD910D-15D0-5CBC-B70B-D2480ECA3DCA}"/>
          </ac:grpSpMkLst>
        </pc:grpChg>
        <pc:grpChg chg="mod">
          <ac:chgData name="Darcy Roach" userId="ba676ee9-e9b4-49e8-a515-8077106c948d" providerId="ADAL" clId="{ECC17F94-EF2D-4AE8-BF2B-81B4ED849ED3}" dt="2025-03-07T02:13:18.294" v="389"/>
          <ac:grpSpMkLst>
            <pc:docMk/>
            <pc:sldMk cId="2009923557" sldId="270"/>
            <ac:grpSpMk id="24" creationId="{E0B3FDFC-4A78-346F-E1D4-E183BEB90A60}"/>
          </ac:grpSpMkLst>
        </pc:grpChg>
        <pc:cxnChg chg="del mod">
          <ac:chgData name="Darcy Roach" userId="ba676ee9-e9b4-49e8-a515-8077106c948d" providerId="ADAL" clId="{ECC17F94-EF2D-4AE8-BF2B-81B4ED849ED3}" dt="2025-03-07T02:14:34.620" v="479" actId="21"/>
          <ac:cxnSpMkLst>
            <pc:docMk/>
            <pc:sldMk cId="2009923557" sldId="270"/>
            <ac:cxnSpMk id="3" creationId="{67C34E10-2CF8-9BCA-1CC6-D78A3FF9CA80}"/>
          </ac:cxnSpMkLst>
        </pc:cxnChg>
        <pc:cxnChg chg="mod">
          <ac:chgData name="Darcy Roach" userId="ba676ee9-e9b4-49e8-a515-8077106c948d" providerId="ADAL" clId="{ECC17F94-EF2D-4AE8-BF2B-81B4ED849ED3}" dt="2025-03-07T02:17:07.720" v="489" actId="14100"/>
          <ac:cxnSpMkLst>
            <pc:docMk/>
            <pc:sldMk cId="2009923557" sldId="270"/>
            <ac:cxnSpMk id="15" creationId="{F87F05F2-DA4C-4F55-A5D0-1887110DF155}"/>
          </ac:cxnSpMkLst>
        </pc:cxnChg>
        <pc:cxnChg chg="mod">
          <ac:chgData name="Darcy Roach" userId="ba676ee9-e9b4-49e8-a515-8077106c948d" providerId="ADAL" clId="{ECC17F94-EF2D-4AE8-BF2B-81B4ED849ED3}" dt="2025-03-07T02:13:18.294" v="389"/>
          <ac:cxnSpMkLst>
            <pc:docMk/>
            <pc:sldMk cId="2009923557" sldId="270"/>
            <ac:cxnSpMk id="31" creationId="{B0913DE4-461D-CE43-AABC-C4B3D7D22F45}"/>
          </ac:cxnSpMkLst>
        </pc:cxnChg>
        <pc:cxnChg chg="add mod">
          <ac:chgData name="Darcy Roach" userId="ba676ee9-e9b4-49e8-a515-8077106c948d" providerId="ADAL" clId="{ECC17F94-EF2D-4AE8-BF2B-81B4ED849ED3}" dt="2025-03-07T02:26:07.985" v="490" actId="14100"/>
          <ac:cxnSpMkLst>
            <pc:docMk/>
            <pc:sldMk cId="2009923557" sldId="270"/>
            <ac:cxnSpMk id="32" creationId="{67C34E10-2CF8-9BCA-1CC6-D78A3FF9CA80}"/>
          </ac:cxnSpMkLst>
        </pc:cxnChg>
      </pc:sldChg>
    </pc:docChg>
  </pc:docChgLst>
  <pc:docChgLst>
    <pc:chgData name="Tara Pourhabibi" userId="S::tara.pourhabibi@intelia.com.au::af5b7939-e589-4ee8-9ec0-45a6029cecb6" providerId="AD" clId="Web-{B90CA285-35A2-FAD8-517B-86D1C61F4D75}"/>
    <pc:docChg chg="addSld delSld modSld">
      <pc:chgData name="Tara Pourhabibi" userId="S::tara.pourhabibi@intelia.com.au::af5b7939-e589-4ee8-9ec0-45a6029cecb6" providerId="AD" clId="Web-{B90CA285-35A2-FAD8-517B-86D1C61F4D75}" dt="2025-03-07T00:22:31.613" v="27"/>
      <pc:docMkLst>
        <pc:docMk/>
      </pc:docMkLst>
      <pc:sldChg chg="modSp add del replId">
        <pc:chgData name="Tara Pourhabibi" userId="S::tara.pourhabibi@intelia.com.au::af5b7939-e589-4ee8-9ec0-45a6029cecb6" providerId="AD" clId="Web-{B90CA285-35A2-FAD8-517B-86D1C61F4D75}" dt="2025-03-07T00:22:31.613" v="27"/>
        <pc:sldMkLst>
          <pc:docMk/>
          <pc:sldMk cId="3961445186" sldId="271"/>
        </pc:sldMkLst>
        <pc:spChg chg="mod">
          <ac:chgData name="Tara Pourhabibi" userId="S::tara.pourhabibi@intelia.com.au::af5b7939-e589-4ee8-9ec0-45a6029cecb6" providerId="AD" clId="Web-{B90CA285-35A2-FAD8-517B-86D1C61F4D75}" dt="2025-03-07T00:20:11.594" v="26" actId="20577"/>
          <ac:spMkLst>
            <pc:docMk/>
            <pc:sldMk cId="3961445186" sldId="271"/>
            <ac:spMk id="4" creationId="{B0C20B9F-9F5A-B0B1-659C-38B7D31C5E6D}"/>
          </ac:spMkLst>
        </pc:spChg>
      </pc:sldChg>
    </pc:docChg>
  </pc:docChgLst>
  <pc:docChgLst>
    <pc:chgData name="Byron Roach" userId="25e30f7e-864e-405f-afe9-792085100f60" providerId="ADAL" clId="{AA535015-E8AE-4FF6-9980-D4C2470D76EA}"/>
    <pc:docChg chg="modSld">
      <pc:chgData name="Byron Roach" userId="25e30f7e-864e-405f-afe9-792085100f60" providerId="ADAL" clId="{AA535015-E8AE-4FF6-9980-D4C2470D76EA}" dt="2024-06-04T07:03:54.815" v="94" actId="20577"/>
      <pc:docMkLst>
        <pc:docMk/>
      </pc:docMkLst>
      <pc:sldChg chg="modSp mod">
        <pc:chgData name="Byron Roach" userId="25e30f7e-864e-405f-afe9-792085100f60" providerId="ADAL" clId="{AA535015-E8AE-4FF6-9980-D4C2470D76EA}" dt="2024-06-04T07:03:54.815" v="94" actId="20577"/>
        <pc:sldMkLst>
          <pc:docMk/>
          <pc:sldMk cId="2009923557"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DC437BC-98DB-4F3C-A077-43C917A53430}" type="datetimeFigureOut">
              <a:rPr lang="en-AU" smtClean="0"/>
              <a:t>6/03/2025</a:t>
            </a:fld>
            <a:endParaRPr lang="en-AU"/>
          </a:p>
        </p:txBody>
      </p:sp>
      <p:sp>
        <p:nvSpPr>
          <p:cNvPr id="4" name="Slide Image Placeholder 3"/>
          <p:cNvSpPr>
            <a:spLocks noGrp="1" noRot="1" noChangeAspect="1"/>
          </p:cNvSpPr>
          <p:nvPr>
            <p:ph type="sldImg" idx="2"/>
          </p:nvPr>
        </p:nvSpPr>
        <p:spPr>
          <a:xfrm>
            <a:off x="3074988" y="857250"/>
            <a:ext cx="2994025"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B4BDD32F-01A9-4C21-8E84-B3D4D1E589EF}" type="slidenum">
              <a:rPr lang="en-AU" smtClean="0"/>
              <a:t>‹#›</a:t>
            </a:fld>
            <a:endParaRPr lang="en-AU"/>
          </a:p>
        </p:txBody>
      </p:sp>
    </p:spTree>
    <p:extLst>
      <p:ext uri="{BB962C8B-B14F-4D97-AF65-F5344CB8AC3E}">
        <p14:creationId xmlns:p14="http://schemas.microsoft.com/office/powerpoint/2010/main" val="2070596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Australian Transport Authority – Data Engineer</a:t>
            </a:r>
          </a:p>
          <a:p>
            <a:pPr marL="171450" indent="-171450">
              <a:buFont typeface="Arial" panose="020B0604020202020204" pitchFamily="34" charset="0"/>
              <a:buChar char="•"/>
            </a:pPr>
            <a:r>
              <a:rPr lang="en-AU" sz="1200">
                <a:solidFill>
                  <a:schemeClr val="bg1"/>
                </a:solidFill>
              </a:rPr>
              <a:t>Built Medallion Architecture for Data Storage- designed a robust architecture that facilitated data processing, storage, and analysis efficiently </a:t>
            </a:r>
          </a:p>
          <a:p>
            <a:pPr marL="171450" indent="-171450">
              <a:buFont typeface="Arial" panose="020B0604020202020204" pitchFamily="34" charset="0"/>
              <a:buChar char="•"/>
            </a:pPr>
            <a:r>
              <a:rPr lang="en-AU" sz="1200">
                <a:solidFill>
                  <a:schemeClr val="bg1"/>
                </a:solidFill>
              </a:rPr>
              <a:t>Designed a 3-layer data lake in Microsoft Fabric, using the latest Microsoft analytics solution</a:t>
            </a:r>
          </a:p>
          <a:p>
            <a:pPr marL="171450" indent="-171450">
              <a:buFont typeface="Arial" panose="020B0604020202020204" pitchFamily="34" charset="0"/>
              <a:buChar char="•"/>
            </a:pPr>
            <a:r>
              <a:rPr lang="en-AU" sz="1200">
                <a:solidFill>
                  <a:schemeClr val="bg1"/>
                </a:solidFill>
              </a:rPr>
              <a:t>Data Sourcing and Data Ingestion Pipeline Design- developed automated pipelines to streamline the data sourcing, data flow, and ensured timely and accurate data delivery using the Azure Data Factory</a:t>
            </a:r>
          </a:p>
          <a:p>
            <a:pPr marL="171450" indent="-171450">
              <a:buFont typeface="Arial" panose="020B0604020202020204" pitchFamily="34" charset="0"/>
              <a:buChar char="•"/>
            </a:pPr>
            <a:r>
              <a:rPr lang="en-AU" sz="1200">
                <a:solidFill>
                  <a:schemeClr val="bg1"/>
                </a:solidFill>
              </a:rPr>
              <a:t>Launched Power BI Dashboard- applied required adjustments on the </a:t>
            </a:r>
            <a:r>
              <a:rPr lang="en-AU" sz="1200" err="1">
                <a:solidFill>
                  <a:schemeClr val="bg1"/>
                </a:solidFill>
              </a:rPr>
              <a:t>PowerBI</a:t>
            </a:r>
            <a:r>
              <a:rPr lang="en-AU" sz="1200">
                <a:solidFill>
                  <a:schemeClr val="bg1"/>
                </a:solidFill>
              </a:rPr>
              <a:t> dashboard</a:t>
            </a:r>
          </a:p>
          <a:p>
            <a:pPr marL="171450" indent="-171450">
              <a:buFont typeface="Arial" panose="020B0604020202020204" pitchFamily="34" charset="0"/>
              <a:buChar char="•"/>
            </a:pPr>
            <a:r>
              <a:rPr lang="en-AU" sz="1200">
                <a:solidFill>
                  <a:schemeClr val="bg1"/>
                </a:solidFill>
              </a:rPr>
              <a:t>Created </a:t>
            </a:r>
            <a:r>
              <a:rPr lang="en-AU" sz="1200" err="1">
                <a:solidFill>
                  <a:schemeClr val="bg1"/>
                </a:solidFill>
              </a:rPr>
              <a:t>DirectLake</a:t>
            </a:r>
            <a:r>
              <a:rPr lang="en-AU" sz="1200">
                <a:solidFill>
                  <a:schemeClr val="bg1"/>
                </a:solidFill>
              </a:rPr>
              <a:t> connections to the developed data lake and deployed the dashboard to the target environment in Microsoft Fabric, making it accessible to the intended users, and provided necessary training and supporting documents for its use</a:t>
            </a:r>
          </a:p>
          <a:p>
            <a:endParaRPr lang="en-AU"/>
          </a:p>
        </p:txBody>
      </p:sp>
      <p:sp>
        <p:nvSpPr>
          <p:cNvPr id="4" name="Slide Number Placeholder 3"/>
          <p:cNvSpPr>
            <a:spLocks noGrp="1"/>
          </p:cNvSpPr>
          <p:nvPr>
            <p:ph type="sldNum" sz="quarter" idx="5"/>
          </p:nvPr>
        </p:nvSpPr>
        <p:spPr/>
        <p:txBody>
          <a:bodyPr/>
          <a:lstStyle/>
          <a:p>
            <a:fld id="{B4BDD32F-01A9-4C21-8E84-B3D4D1E589EF}" type="slidenum">
              <a:rPr lang="en-AU" smtClean="0"/>
              <a:t>1</a:t>
            </a:fld>
            <a:endParaRPr lang="en-AU"/>
          </a:p>
        </p:txBody>
      </p:sp>
    </p:spTree>
    <p:extLst>
      <p:ext uri="{BB962C8B-B14F-4D97-AF65-F5344CB8AC3E}">
        <p14:creationId xmlns:p14="http://schemas.microsoft.com/office/powerpoint/2010/main" val="427135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3/6/2025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3/6/2025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3/6/2025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3"/>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003221"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Tara</a:t>
            </a:r>
          </a:p>
          <a:p>
            <a:r>
              <a:rPr lang="en-US" sz="2800" b="1" err="1">
                <a:solidFill>
                  <a:srgbClr val="00AB80"/>
                </a:solidFill>
                <a:latin typeface="Roboto" panose="02000000000000000000" pitchFamily="2" charset="0"/>
                <a:ea typeface="Roboto" panose="02000000000000000000" pitchFamily="2" charset="0"/>
              </a:rPr>
              <a:t>Pourhabibi</a:t>
            </a:r>
            <a:endParaRPr lang="en-US" sz="2800" b="1">
              <a:solidFill>
                <a:srgbClr val="00AB80"/>
              </a:solidFill>
              <a:latin typeface="Roboto" panose="02000000000000000000" pitchFamily="2" charset="0"/>
              <a:ea typeface="Roboto" panose="02000000000000000000" pitchFamily="2"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66854"/>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1018029"/>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256920"/>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37162" y="5661603"/>
            <a:ext cx="1510046"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AWS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Databricks</a:t>
            </a:r>
          </a:p>
          <a:p>
            <a:pPr marL="171450" indent="-171450">
              <a:buClr>
                <a:srgbClr val="00AB80"/>
              </a:buClr>
              <a:buFont typeface="Arial" panose="020B0604020202020204" pitchFamily="34" charset="0"/>
              <a:buChar char="•"/>
            </a:pPr>
            <a:r>
              <a:rPr lang="en-US" sz="900" err="1">
                <a:latin typeface="Roboto Light" panose="02000000000000000000" pitchFamily="2" charset="0"/>
                <a:ea typeface="Roboto Light" panose="02000000000000000000" pitchFamily="2" charset="0"/>
              </a:rPr>
              <a:t>PowerBI</a:t>
            </a: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JSON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CSS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Linux</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Git</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555416"/>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4"/>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301516"/>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07802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516960"/>
            <a:ext cx="1963972" cy="3785652"/>
            <a:chOff x="8106458" y="2681447"/>
            <a:chExt cx="1963972" cy="3785652"/>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63972" cy="3785652"/>
            </a:xfrm>
            <a:prstGeom prst="rect">
              <a:avLst/>
            </a:prstGeom>
            <a:noFill/>
          </p:spPr>
          <p:txBody>
            <a:bodyPr wrap="square">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Google Cloud Certified | Professional Data Engineer </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Databricks</a:t>
              </a:r>
              <a:r>
                <a:rPr lang="en-GB" sz="1200">
                  <a:solidFill>
                    <a:srgbClr val="00AB80"/>
                  </a:solidFill>
                  <a:effectLst/>
                  <a:latin typeface="Roboto Light" panose="02000000000000000000" pitchFamily="2" charset="0"/>
                  <a:ea typeface="Calibri" panose="020F0502020204030204" pitchFamily="34" charset="0"/>
                </a:rPr>
                <a:t> | Lakehouse Fundamentals</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PhD – Business Information Systems</a:t>
              </a: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RMIT University</a:t>
              </a: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Masters – Artificial Intelligence, </a:t>
              </a:r>
              <a:r>
                <a:rPr lang="en-GB" sz="1200" err="1">
                  <a:solidFill>
                    <a:srgbClr val="00AB80"/>
                  </a:solidFill>
                  <a:latin typeface="Roboto Light" panose="02000000000000000000" pitchFamily="2" charset="0"/>
                  <a:ea typeface="Calibri" panose="020F0502020204030204" pitchFamily="34" charset="0"/>
                </a:rPr>
                <a:t>Alzahra</a:t>
              </a:r>
              <a:r>
                <a:rPr lang="en-GB" sz="1200">
                  <a:solidFill>
                    <a:srgbClr val="00AB80"/>
                  </a:solidFill>
                  <a:latin typeface="Roboto Light" panose="02000000000000000000" pitchFamily="2" charset="0"/>
                  <a:ea typeface="Calibri" panose="020F0502020204030204" pitchFamily="34" charset="0"/>
                </a:rPr>
                <a:t> </a:t>
              </a:r>
              <a:r>
                <a:rPr lang="en-GB" sz="1200">
                  <a:solidFill>
                    <a:srgbClr val="00AB80"/>
                  </a:solidFill>
                  <a:effectLst/>
                  <a:latin typeface="Roboto Light" panose="02000000000000000000" pitchFamily="2" charset="0"/>
                  <a:ea typeface="Calibri" panose="020F0502020204030204" pitchFamily="34" charset="0"/>
                </a:rPr>
                <a:t>University</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Bachelor – Computer Software Engineering,</a:t>
              </a: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Shahid Beheshti University</a:t>
              </a: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p:txBody>
        </p:sp>
      </p:grpSp>
      <p:grpSp>
        <p:nvGrpSpPr>
          <p:cNvPr id="12" name="Group 11">
            <a:extLst>
              <a:ext uri="{FF2B5EF4-FFF2-40B4-BE49-F238E27FC236}">
                <a16:creationId xmlns:a16="http://schemas.microsoft.com/office/drawing/2014/main" id="{C465E181-1D5D-D878-8A71-F5848AAF858F}"/>
              </a:ext>
            </a:extLst>
          </p:cNvPr>
          <p:cNvGrpSpPr/>
          <p:nvPr/>
        </p:nvGrpSpPr>
        <p:grpSpPr>
          <a:xfrm>
            <a:off x="3340413" y="3612758"/>
            <a:ext cx="4642274" cy="1889165"/>
            <a:chOff x="3335753" y="5068700"/>
            <a:chExt cx="4642274" cy="1889165"/>
          </a:xfrm>
        </p:grpSpPr>
        <p:sp>
          <p:nvSpPr>
            <p:cNvPr id="2" name="TextBox 1">
              <a:extLst>
                <a:ext uri="{FF2B5EF4-FFF2-40B4-BE49-F238E27FC236}">
                  <a16:creationId xmlns:a16="http://schemas.microsoft.com/office/drawing/2014/main" id="{2FA774CA-3857-9308-4D38-9414B0CC2B95}"/>
                </a:ext>
              </a:extLst>
            </p:cNvPr>
            <p:cNvSpPr txBox="1"/>
            <p:nvPr/>
          </p:nvSpPr>
          <p:spPr>
            <a:xfrm>
              <a:off x="3335753" y="5068700"/>
              <a:ext cx="3933897" cy="461665"/>
            </a:xfrm>
            <a:prstGeom prst="rect">
              <a:avLst/>
            </a:prstGeom>
            <a:noFill/>
          </p:spPr>
          <p:txBody>
            <a:bodyPr wrap="square" rtlCol="0">
              <a:spAutoFit/>
            </a:bodyPr>
            <a:lstStyle/>
            <a:p>
              <a:r>
                <a:rPr lang="en-US" sz="1200" b="1">
                  <a:solidFill>
                    <a:srgbClr val="ED7D31"/>
                  </a:solidFill>
                  <a:latin typeface="Roboto" panose="02000000000000000000" pitchFamily="2" charset="0"/>
                  <a:ea typeface="Roboto" panose="02000000000000000000" pitchFamily="2" charset="0"/>
                </a:rPr>
                <a:t>Australian Big 4 Bank – Data Engineering Specialist</a:t>
              </a:r>
              <a:endParaRPr lang="en-AU" sz="1200" b="1">
                <a:solidFill>
                  <a:srgbClr val="ED7D31"/>
                </a:solidFill>
                <a:latin typeface="Roboto" panose="02000000000000000000" pitchFamily="2" charset="0"/>
                <a:ea typeface="Roboto" panose="02000000000000000000" pitchFamily="2" charset="0"/>
              </a:endParaRPr>
            </a:p>
            <a:p>
              <a:endParaRPr lang="en-AU" sz="1200" b="1">
                <a:solidFill>
                  <a:srgbClr val="ED7D31"/>
                </a:solidFill>
                <a:latin typeface="Roboto" panose="02000000000000000000" pitchFamily="2" charset="0"/>
                <a:ea typeface="Roboto" panose="02000000000000000000" pitchFamily="2" charset="0"/>
              </a:endParaRPr>
            </a:p>
          </p:txBody>
        </p:sp>
        <p:grpSp>
          <p:nvGrpSpPr>
            <p:cNvPr id="163" name="Group 162">
              <a:extLst>
                <a:ext uri="{FF2B5EF4-FFF2-40B4-BE49-F238E27FC236}">
                  <a16:creationId xmlns:a16="http://schemas.microsoft.com/office/drawing/2014/main" id="{E52FDF9F-B084-9074-7DB9-539AD5456487}"/>
                </a:ext>
              </a:extLst>
            </p:cNvPr>
            <p:cNvGrpSpPr/>
            <p:nvPr/>
          </p:nvGrpSpPr>
          <p:grpSpPr>
            <a:xfrm>
              <a:off x="3428144" y="5326649"/>
              <a:ext cx="4549883" cy="1631216"/>
              <a:chOff x="5030740" y="2225627"/>
              <a:chExt cx="4859978" cy="1631216"/>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225627"/>
                <a:ext cx="4831244" cy="163121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a:t>Delivered impactful end-to-end data-driven solutions, with a focus on data </a:t>
                </a:r>
                <a:r>
                  <a:rPr lang="en-AU" sz="1000" err="1"/>
                  <a:t>modeling</a:t>
                </a:r>
                <a:r>
                  <a:rPr lang="en-AU" sz="1000"/>
                  <a:t>, data transformation and ETL processes</a:t>
                </a:r>
              </a:p>
              <a:p>
                <a:r>
                  <a:rPr lang="en-AU" sz="1000"/>
                  <a:t>Collaborated with cross-functional stakeholders to align data engineering projects with business goals</a:t>
                </a:r>
              </a:p>
              <a:p>
                <a:r>
                  <a:rPr lang="en-AU" sz="1000"/>
                  <a:t>Designed and managed data quality frameworks and automated data validation processes</a:t>
                </a:r>
              </a:p>
              <a:p>
                <a:r>
                  <a:rPr lang="en-AU" sz="1000"/>
                  <a:t>Leveraged big data and cloud technologies to support data processing and analysis</a:t>
                </a:r>
              </a:p>
              <a:p>
                <a:r>
                  <a:rPr lang="en-AU" sz="1000"/>
                  <a:t>Played a key role in developing data processing and analytics pipelines for actionable insights using NLP and text analysis</a:t>
                </a: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294036"/>
                <a:ext cx="0" cy="1472856"/>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grpSp>
      </p:grpSp>
      <p:sp>
        <p:nvSpPr>
          <p:cNvPr id="4" name="TextBox 3">
            <a:extLst>
              <a:ext uri="{FF2B5EF4-FFF2-40B4-BE49-F238E27FC236}">
                <a16:creationId xmlns:a16="http://schemas.microsoft.com/office/drawing/2014/main" id="{80F49B2F-21D4-F9EB-049F-717A10CB7D84}"/>
              </a:ext>
            </a:extLst>
          </p:cNvPr>
          <p:cNvSpPr txBox="1"/>
          <p:nvPr/>
        </p:nvSpPr>
        <p:spPr>
          <a:xfrm>
            <a:off x="131065" y="5661603"/>
            <a:ext cx="1528457"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AI &amp; </a:t>
            </a:r>
            <a:r>
              <a:rPr lang="en-US" sz="900" err="1">
                <a:latin typeface="Roboto Light" panose="02000000000000000000" pitchFamily="2" charset="0"/>
                <a:ea typeface="Roboto Light" panose="02000000000000000000" pitchFamily="2" charset="0"/>
              </a:rPr>
              <a:t>GenAI</a:t>
            </a: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a:t>
            </a:r>
            <a:r>
              <a:rPr lang="en-AU" sz="900" err="1">
                <a:latin typeface="Roboto Light" panose="02000000000000000000" pitchFamily="2" charset="0"/>
                <a:ea typeface="Roboto Light" panose="02000000000000000000" pitchFamily="2" charset="0"/>
              </a:rPr>
              <a:t>takeholder</a:t>
            </a:r>
            <a:r>
              <a:rPr lang="en-AU" sz="900">
                <a:latin typeface="Roboto Light" panose="02000000000000000000" pitchFamily="2" charset="0"/>
                <a:ea typeface="Roboto Light" panose="02000000000000000000" pitchFamily="2" charset="0"/>
              </a:rPr>
              <a:t> Management</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Mentoring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Problem Solving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Leadership</a:t>
            </a: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299927"/>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16" name="TextBox 15">
            <a:extLst>
              <a:ext uri="{FF2B5EF4-FFF2-40B4-BE49-F238E27FC236}">
                <a16:creationId xmlns:a16="http://schemas.microsoft.com/office/drawing/2014/main" id="{7E35B594-218B-9758-86B8-379A2D52014C}"/>
              </a:ext>
            </a:extLst>
          </p:cNvPr>
          <p:cNvSpPr txBox="1"/>
          <p:nvPr/>
        </p:nvSpPr>
        <p:spPr>
          <a:xfrm>
            <a:off x="234577" y="1588088"/>
            <a:ext cx="2905928" cy="3638817"/>
          </a:xfrm>
          <a:prstGeom prst="rect">
            <a:avLst/>
          </a:prstGeom>
          <a:noFill/>
        </p:spPr>
        <p:txBody>
          <a:bodyPr wrap="square" lIns="0" tIns="0" rIns="0" bIns="0" rtlCol="0" anchor="t">
            <a:spAutoFit/>
          </a:bodyPr>
          <a:lstStyle/>
          <a:p>
            <a:pPr>
              <a:lnSpc>
                <a:spcPts val="1500"/>
              </a:lnSpc>
            </a:pPr>
            <a:r>
              <a:rPr lang="en-AU" sz="1000" spc="13">
                <a:latin typeface="Roboto Light" panose="02000000000000000000" pitchFamily="2" charset="0"/>
                <a:ea typeface="Roboto Light" panose="02000000000000000000" pitchFamily="2" charset="0"/>
                <a:cs typeface="Lato" panose="020F0502020204030203" pitchFamily="34" charset="0"/>
              </a:rPr>
              <a:t>Tara is a results-driven Solutions Lead /Google Cloud Certified Data Engineer, with more than 15 years of experience and a strong track record of leading teams and delivering data engineering solutions in diverse industries including entertainment, retail, automotive manufacturing, education, and finance.</a:t>
            </a:r>
          </a:p>
          <a:p>
            <a:pPr>
              <a:lnSpc>
                <a:spcPts val="1500"/>
              </a:lnSpc>
            </a:pPr>
            <a:endParaRPr lang="en-AU" sz="300" spc="13">
              <a:latin typeface="Roboto Light" panose="02000000000000000000" pitchFamily="2" charset="0"/>
              <a:ea typeface="Roboto Light" panose="02000000000000000000" pitchFamily="2" charset="0"/>
              <a:cs typeface="Lato" panose="020F0502020204030203" pitchFamily="34" charset="0"/>
            </a:endParaRPr>
          </a:p>
          <a:p>
            <a:pPr>
              <a:lnSpc>
                <a:spcPts val="1500"/>
              </a:lnSpc>
            </a:pPr>
            <a:r>
              <a:rPr lang="en-AU" sz="1000" spc="13">
                <a:latin typeface="Roboto Light" panose="02000000000000000000" pitchFamily="2" charset="0"/>
                <a:ea typeface="Roboto Light" panose="02000000000000000000" pitchFamily="2" charset="0"/>
                <a:cs typeface="Lato" panose="020F0502020204030203" pitchFamily="34" charset="0"/>
              </a:rPr>
              <a:t>Experienced in the fields of data science, advanced analytics and AI, software business analysis, software development, and data engineering, Tara is a dedicated team player and specialises in data </a:t>
            </a:r>
            <a:r>
              <a:rPr lang="en-AU" sz="1000" spc="13" err="1">
                <a:latin typeface="Roboto Light" panose="02000000000000000000" pitchFamily="2" charset="0"/>
                <a:ea typeface="Roboto Light" panose="02000000000000000000" pitchFamily="2" charset="0"/>
                <a:cs typeface="Lato" panose="020F0502020204030203" pitchFamily="34" charset="0"/>
              </a:rPr>
              <a:t>modeling</a:t>
            </a:r>
            <a:r>
              <a:rPr lang="en-AU" sz="1000" spc="13">
                <a:latin typeface="Roboto Light" panose="02000000000000000000" pitchFamily="2" charset="0"/>
                <a:ea typeface="Roboto Light" panose="02000000000000000000" pitchFamily="2" charset="0"/>
                <a:cs typeface="Lato" panose="020F0502020204030203" pitchFamily="34" charset="0"/>
              </a:rPr>
              <a:t>, data transformation, ETL processes, and data pipeline development to support reporting, advanced analytics and AI initiatives.</a:t>
            </a:r>
          </a:p>
          <a:p>
            <a:pPr>
              <a:lnSpc>
                <a:spcPts val="1500"/>
              </a:lnSpc>
            </a:pPr>
            <a:endParaRPr lang="en-AU" sz="1000" spc="13">
              <a:latin typeface="Roboto Light" panose="02000000000000000000" pitchFamily="2" charset="0"/>
              <a:ea typeface="Roboto Light" panose="02000000000000000000" pitchFamily="2" charset="0"/>
              <a:cs typeface="Lato" panose="020F0502020204030203" pitchFamily="34" charset="0"/>
            </a:endParaRPr>
          </a:p>
          <a:p>
            <a:pPr>
              <a:lnSpc>
                <a:spcPts val="1500"/>
              </a:lnSpc>
            </a:pPr>
            <a:r>
              <a:rPr lang="en-US" sz="1000" spc="13">
                <a:latin typeface="Roboto Light" panose="02000000000000000000" pitchFamily="2" charset="0"/>
                <a:ea typeface="Roboto Light" panose="02000000000000000000" pitchFamily="2" charset="0"/>
                <a:cs typeface="Lato" panose="020F0502020204030203" pitchFamily="34" charset="0"/>
              </a:rPr>
              <a:t>Tara demonstrates high-level interpersonal skills and excellence to solve complex problems with excellent communication.</a:t>
            </a:r>
            <a:endParaRPr lang="en-AU" sz="1000" spc="13">
              <a:latin typeface="Roboto Light" panose="02000000000000000000" pitchFamily="2" charset="0"/>
              <a:ea typeface="Roboto Light" panose="02000000000000000000" pitchFamily="2" charset="0"/>
              <a:cs typeface="Lato" panose="020F0502020204030203" pitchFamily="34" charset="0"/>
            </a:endParaRPr>
          </a:p>
        </p:txBody>
      </p:sp>
      <p:sp>
        <p:nvSpPr>
          <p:cNvPr id="34" name="TextBox 33">
            <a:extLst>
              <a:ext uri="{FF2B5EF4-FFF2-40B4-BE49-F238E27FC236}">
                <a16:creationId xmlns:a16="http://schemas.microsoft.com/office/drawing/2014/main" id="{918A7F92-3316-08FB-509F-21C3938C9792}"/>
              </a:ext>
            </a:extLst>
          </p:cNvPr>
          <p:cNvSpPr txBox="1"/>
          <p:nvPr/>
        </p:nvSpPr>
        <p:spPr>
          <a:xfrm>
            <a:off x="8118489" y="1456630"/>
            <a:ext cx="1951941" cy="2000548"/>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Entertainment &amp; Media</a:t>
            </a:r>
          </a:p>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rPr>
              <a:t>Retail</a:t>
            </a:r>
          </a:p>
          <a:p>
            <a:pPr marL="0" indent="0">
              <a:lnSpc>
                <a:spcPct val="150000"/>
              </a:lnSpc>
              <a:buNone/>
            </a:pPr>
            <a:r>
              <a:rPr lang="en-GB" sz="1200">
                <a:solidFill>
                  <a:srgbClr val="00AB80"/>
                </a:solidFill>
              </a:rPr>
              <a:t>Education</a:t>
            </a:r>
          </a:p>
          <a:p>
            <a:pPr marL="0" indent="0">
              <a:lnSpc>
                <a:spcPct val="150000"/>
              </a:lnSpc>
              <a:buNone/>
            </a:pPr>
            <a:r>
              <a:rPr lang="en-GB" sz="1200">
                <a:solidFill>
                  <a:srgbClr val="00AB80"/>
                </a:solidFill>
              </a:rPr>
              <a:t>Automotive</a:t>
            </a:r>
          </a:p>
          <a:p>
            <a:pPr marL="0" indent="0">
              <a:lnSpc>
                <a:spcPct val="150000"/>
              </a:lnSpc>
              <a:buNone/>
            </a:pPr>
            <a:r>
              <a:rPr lang="en-GB" sz="1200">
                <a:solidFill>
                  <a:srgbClr val="00AB80"/>
                </a:solidFill>
              </a:rPr>
              <a:t>Government</a:t>
            </a:r>
          </a:p>
          <a:p>
            <a:pPr marL="0" indent="0">
              <a:lnSpc>
                <a:spcPct val="150000"/>
              </a:lnSpc>
              <a:buNone/>
            </a:pPr>
            <a:endParaRPr lang="en-GB" sz="1200">
              <a:solidFill>
                <a:srgbClr val="00AB80"/>
              </a:solidFill>
            </a:endParaRPr>
          </a:p>
        </p:txBody>
      </p:sp>
      <p:grpSp>
        <p:nvGrpSpPr>
          <p:cNvPr id="17" name="Group 16">
            <a:extLst>
              <a:ext uri="{FF2B5EF4-FFF2-40B4-BE49-F238E27FC236}">
                <a16:creationId xmlns:a16="http://schemas.microsoft.com/office/drawing/2014/main" id="{E7DD910D-15D0-5CBC-B70B-D2480ECA3DCA}"/>
              </a:ext>
            </a:extLst>
          </p:cNvPr>
          <p:cNvGrpSpPr/>
          <p:nvPr/>
        </p:nvGrpSpPr>
        <p:grpSpPr>
          <a:xfrm>
            <a:off x="3327379" y="5665825"/>
            <a:ext cx="4588330" cy="1724396"/>
            <a:chOff x="3303046" y="6194352"/>
            <a:chExt cx="4588330" cy="1724396"/>
          </a:xfrm>
        </p:grpSpPr>
        <p:grpSp>
          <p:nvGrpSpPr>
            <p:cNvPr id="24" name="Group 23">
              <a:extLst>
                <a:ext uri="{FF2B5EF4-FFF2-40B4-BE49-F238E27FC236}">
                  <a16:creationId xmlns:a16="http://schemas.microsoft.com/office/drawing/2014/main" id="{E0B3FDFC-4A78-346F-E1D4-E183BEB90A60}"/>
                </a:ext>
              </a:extLst>
            </p:cNvPr>
            <p:cNvGrpSpPr/>
            <p:nvPr/>
          </p:nvGrpSpPr>
          <p:grpSpPr>
            <a:xfrm>
              <a:off x="3412332" y="6441420"/>
              <a:ext cx="4479044" cy="1477328"/>
              <a:chOff x="5007346" y="4494578"/>
              <a:chExt cx="4647607" cy="1477328"/>
            </a:xfrm>
          </p:grpSpPr>
          <p:sp>
            <p:nvSpPr>
              <p:cNvPr id="30" name="TextBox 29">
                <a:extLst>
                  <a:ext uri="{FF2B5EF4-FFF2-40B4-BE49-F238E27FC236}">
                    <a16:creationId xmlns:a16="http://schemas.microsoft.com/office/drawing/2014/main" id="{7513C49A-2DF2-8111-FED4-FC07A8EAD258}"/>
                  </a:ext>
                </a:extLst>
              </p:cNvPr>
              <p:cNvSpPr txBox="1"/>
              <p:nvPr/>
            </p:nvSpPr>
            <p:spPr>
              <a:xfrm>
                <a:off x="5059474" y="4494578"/>
                <a:ext cx="4595479" cy="1477328"/>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a:t>Designed an efficient data model and data transformation pipeline that enabled the near real-time loading of data from diverse sources, supporting quick and timely data acquisition for anomaly detection in journal entries and customer accounts</a:t>
                </a:r>
              </a:p>
              <a:p>
                <a:r>
                  <a:rPr lang="en-AU" sz="1000"/>
                  <a:t>Mentored data engineering team in implementing high-performing data models</a:t>
                </a:r>
              </a:p>
              <a:p>
                <a:r>
                  <a:rPr lang="en-AU" sz="1000"/>
                  <a:t>Collaborated closely with stakeholders to effectively communicate and translate complex analytics findings within the derived data into actionable business insights using Tableau.</a:t>
                </a:r>
              </a:p>
            </p:txBody>
          </p:sp>
          <p:cxnSp>
            <p:nvCxnSpPr>
              <p:cNvPr id="31" name="Straight Connector 30">
                <a:extLst>
                  <a:ext uri="{FF2B5EF4-FFF2-40B4-BE49-F238E27FC236}">
                    <a16:creationId xmlns:a16="http://schemas.microsoft.com/office/drawing/2014/main" id="{B0913DE4-461D-CE43-AABC-C4B3D7D22F45}"/>
                  </a:ext>
                </a:extLst>
              </p:cNvPr>
              <p:cNvCxnSpPr>
                <a:cxnSpLocks/>
              </p:cNvCxnSpPr>
              <p:nvPr/>
            </p:nvCxnSpPr>
            <p:spPr>
              <a:xfrm>
                <a:off x="5007346" y="4579160"/>
                <a:ext cx="0" cy="1307840"/>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6059F888-3BDF-A1C0-65E5-CB6FDD43D97C}"/>
                </a:ext>
              </a:extLst>
            </p:cNvPr>
            <p:cNvSpPr txBox="1"/>
            <p:nvPr/>
          </p:nvSpPr>
          <p:spPr>
            <a:xfrm>
              <a:off x="3303046" y="6194352"/>
              <a:ext cx="4278378" cy="276999"/>
            </a:xfrm>
            <a:prstGeom prst="rect">
              <a:avLst/>
            </a:prstGeom>
            <a:noFill/>
          </p:spPr>
          <p:txBody>
            <a:bodyPr wrap="square" rtlCol="0">
              <a:spAutoFit/>
            </a:bodyPr>
            <a:lstStyle/>
            <a:p>
              <a:r>
                <a:rPr lang="en-US" sz="1200" b="1">
                  <a:solidFill>
                    <a:srgbClr val="A93584"/>
                  </a:solidFill>
                  <a:latin typeface="Roboto" panose="02000000000000000000" pitchFamily="2" charset="0"/>
                  <a:ea typeface="Roboto" panose="02000000000000000000" pitchFamily="2" charset="0"/>
                </a:rPr>
                <a:t>Financial Services </a:t>
              </a:r>
              <a:r>
                <a:rPr lang="en-US" sz="1200" b="1" err="1">
                  <a:solidFill>
                    <a:srgbClr val="A93584"/>
                  </a:solidFill>
                  <a:latin typeface="Roboto" panose="02000000000000000000" pitchFamily="2" charset="0"/>
                  <a:ea typeface="Roboto" panose="02000000000000000000" pitchFamily="2" charset="0"/>
                </a:rPr>
                <a:t>Organisation</a:t>
              </a:r>
              <a:r>
                <a:rPr lang="en-US" sz="1200" b="1">
                  <a:solidFill>
                    <a:srgbClr val="A93584"/>
                  </a:solidFill>
                  <a:latin typeface="Roboto" panose="02000000000000000000" pitchFamily="2" charset="0"/>
                  <a:ea typeface="Roboto" panose="02000000000000000000" pitchFamily="2" charset="0"/>
                </a:rPr>
                <a:t> – Lead Analytics Engineer</a:t>
              </a:r>
              <a:endParaRPr lang="en-AU" sz="1200" b="1">
                <a:solidFill>
                  <a:srgbClr val="A93584"/>
                </a:solidFill>
                <a:latin typeface="Roboto" panose="02000000000000000000" pitchFamily="2" charset="0"/>
                <a:ea typeface="Roboto" panose="02000000000000000000" pitchFamily="2" charset="0"/>
              </a:endParaRPr>
            </a:p>
          </p:txBody>
        </p:sp>
      </p:grpSp>
      <p:cxnSp>
        <p:nvCxnSpPr>
          <p:cNvPr id="32" name="Straight Connector 31">
            <a:extLst>
              <a:ext uri="{FF2B5EF4-FFF2-40B4-BE49-F238E27FC236}">
                <a16:creationId xmlns:a16="http://schemas.microsoft.com/office/drawing/2014/main" id="{67C34E10-2CF8-9BCA-1CC6-D78A3FF9CA80}"/>
              </a:ext>
            </a:extLst>
          </p:cNvPr>
          <p:cNvCxnSpPr>
            <a:cxnSpLocks/>
          </p:cNvCxnSpPr>
          <p:nvPr/>
        </p:nvCxnSpPr>
        <p:spPr>
          <a:xfrm>
            <a:off x="3428143" y="1391955"/>
            <a:ext cx="0" cy="2065223"/>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01E125D-B356-8A2A-B86B-AB6567CEABE1}"/>
              </a:ext>
            </a:extLst>
          </p:cNvPr>
          <p:cNvSpPr txBox="1"/>
          <p:nvPr/>
        </p:nvSpPr>
        <p:spPr>
          <a:xfrm>
            <a:off x="3300000" y="1086170"/>
            <a:ext cx="4870887" cy="461665"/>
          </a:xfrm>
          <a:prstGeom prst="rect">
            <a:avLst/>
          </a:prstGeom>
          <a:noFill/>
        </p:spPr>
        <p:txBody>
          <a:bodyPr wrap="square" rtlCol="0">
            <a:spAutoFit/>
          </a:bodyPr>
          <a:lstStyle/>
          <a:p>
            <a:r>
              <a:rPr lang="en-US" sz="1200" b="1">
                <a:solidFill>
                  <a:srgbClr val="0059FF"/>
                </a:solidFill>
                <a:latin typeface="Roboto" panose="02000000000000000000" pitchFamily="2" charset="0"/>
                <a:ea typeface="Roboto" panose="02000000000000000000" pitchFamily="2" charset="0"/>
              </a:rPr>
              <a:t>Leading Media &amp; Entertainment </a:t>
            </a:r>
            <a:r>
              <a:rPr lang="en-US" sz="1200" b="1" err="1">
                <a:solidFill>
                  <a:srgbClr val="0059FF"/>
                </a:solidFill>
                <a:latin typeface="Roboto" panose="02000000000000000000" pitchFamily="2" charset="0"/>
                <a:ea typeface="Roboto" panose="02000000000000000000" pitchFamily="2" charset="0"/>
              </a:rPr>
              <a:t>Organisation</a:t>
            </a:r>
            <a:r>
              <a:rPr lang="en-US" sz="1200" b="1">
                <a:solidFill>
                  <a:srgbClr val="0059FF"/>
                </a:solidFill>
                <a:latin typeface="Roboto" panose="02000000000000000000" pitchFamily="2" charset="0"/>
                <a:ea typeface="Roboto" panose="02000000000000000000" pitchFamily="2" charset="0"/>
              </a:rPr>
              <a:t> – Lead Data Engineer </a:t>
            </a:r>
            <a:endParaRPr lang="en-AU" sz="1200" b="1">
              <a:solidFill>
                <a:srgbClr val="0059FF"/>
              </a:solidFill>
              <a:latin typeface="Roboto" panose="02000000000000000000" pitchFamily="2" charset="0"/>
              <a:ea typeface="Roboto" panose="02000000000000000000" pitchFamily="2" charset="0"/>
            </a:endParaRPr>
          </a:p>
          <a:p>
            <a:endParaRPr lang="en-AU" sz="1200" b="1">
              <a:solidFill>
                <a:srgbClr val="0059FF"/>
              </a:solidFill>
              <a:latin typeface="Roboto" panose="02000000000000000000" pitchFamily="2" charset="0"/>
              <a:ea typeface="Roboto" panose="02000000000000000000" pitchFamily="2" charset="0"/>
            </a:endParaRPr>
          </a:p>
        </p:txBody>
      </p:sp>
      <p:sp>
        <p:nvSpPr>
          <p:cNvPr id="36" name="TextBox 35">
            <a:extLst>
              <a:ext uri="{FF2B5EF4-FFF2-40B4-BE49-F238E27FC236}">
                <a16:creationId xmlns:a16="http://schemas.microsoft.com/office/drawing/2014/main" id="{59FEB941-5146-6B10-4E4D-8A4ADE918AEF}"/>
              </a:ext>
            </a:extLst>
          </p:cNvPr>
          <p:cNvSpPr txBox="1"/>
          <p:nvPr/>
        </p:nvSpPr>
        <p:spPr>
          <a:xfrm>
            <a:off x="3463961" y="1316252"/>
            <a:ext cx="4566838" cy="224676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r>
              <a:rPr lang="en-AU" sz="1000">
                <a:solidFill>
                  <a:schemeClr val="bg1"/>
                </a:solidFill>
              </a:rPr>
              <a:t>Technically led and mentored project team, and oversaw the execution of tasks, to ensure smooth collaboration, and coordinated efforts across various technical areas to deliver the GCP solution efficiently</a:t>
            </a:r>
          </a:p>
          <a:p>
            <a:r>
              <a:rPr lang="en-AU" sz="1000">
                <a:solidFill>
                  <a:schemeClr val="bg1"/>
                </a:solidFill>
              </a:rPr>
              <a:t>Designed and developed a cost-efficient </a:t>
            </a:r>
            <a:r>
              <a:rPr lang="en-AU" sz="1000" err="1">
                <a:solidFill>
                  <a:schemeClr val="bg1"/>
                </a:solidFill>
              </a:rPr>
              <a:t>GenerativeAI</a:t>
            </a:r>
            <a:r>
              <a:rPr lang="en-AU" sz="1000">
                <a:solidFill>
                  <a:schemeClr val="bg1"/>
                </a:solidFill>
              </a:rPr>
              <a:t>-powered solution on GCP which included data pre-processing (i.e. metadata enrichment through content </a:t>
            </a:r>
            <a:r>
              <a:rPr lang="en-AU" sz="1000" err="1">
                <a:solidFill>
                  <a:schemeClr val="bg1"/>
                </a:solidFill>
              </a:rPr>
              <a:t>generation,text</a:t>
            </a:r>
            <a:r>
              <a:rPr lang="en-AU" sz="1000">
                <a:solidFill>
                  <a:schemeClr val="bg1"/>
                </a:solidFill>
              </a:rPr>
              <a:t> and multimodal embeddings) and developed retrieval APIs for semantic search and content generation within an enormous repository of media</a:t>
            </a:r>
          </a:p>
          <a:p>
            <a:r>
              <a:rPr lang="en-AU" sz="1000">
                <a:solidFill>
                  <a:schemeClr val="bg1"/>
                </a:solidFill>
              </a:rPr>
              <a:t>Architected the data flow and data model to for efficient processing, categorisation, and retrieval of media assets, allowing the system to scale with growing content</a:t>
            </a:r>
          </a:p>
          <a:p>
            <a:r>
              <a:rPr lang="en-AU" sz="1000">
                <a:solidFill>
                  <a:schemeClr val="bg1"/>
                </a:solidFill>
              </a:rPr>
              <a:t>Integrated various components of the system, including AI models, data storage, and other technical components, to ensure seamless operation across the platform</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8404738-B430-4EA4-9F77-CD985C1EDC50}">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5604DA7-C5E1-49DD-8C41-CCB449994644}">
  <ds:schemaRefs>
    <ds:schemaRef ds:uri="http://schemas.microsoft.com/sharepoint/v3/contenttype/forms"/>
  </ds:schemaRefs>
</ds:datastoreItem>
</file>

<file path=customXml/itemProps3.xml><?xml version="1.0" encoding="utf-8"?>
<ds:datastoreItem xmlns:ds="http://schemas.openxmlformats.org/officeDocument/2006/customXml" ds:itemID="{5DED3751-8046-450E-BBF0-0C652FE3CD2B}">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2025-03-07T02:26:09Z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