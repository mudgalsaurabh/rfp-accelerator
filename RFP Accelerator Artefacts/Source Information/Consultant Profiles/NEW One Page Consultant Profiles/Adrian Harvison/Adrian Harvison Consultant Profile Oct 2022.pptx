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92" d="100"/>
          <a:sy n="92" d="100"/>
        </p:scale>
        <p:origin x="2412" y="84"/>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AC583016-0717-4A2F-B1C6-126E7A42BABF}"/>
    <pc:docChg chg="custSel modSld">
      <pc:chgData name="Darcy Roach" userId="ba676ee9-e9b4-49e8-a515-8077106c948d" providerId="ADAL" clId="{AC583016-0717-4A2F-B1C6-126E7A42BABF}" dt="2022-11-09T05:01:27.904" v="0" actId="478"/>
      <pc:docMkLst>
        <pc:docMk/>
      </pc:docMkLst>
      <pc:sldChg chg="delSp mod">
        <pc:chgData name="Darcy Roach" userId="ba676ee9-e9b4-49e8-a515-8077106c948d" providerId="ADAL" clId="{AC583016-0717-4A2F-B1C6-126E7A42BABF}" dt="2022-11-09T05:01:27.904" v="0" actId="478"/>
        <pc:sldMkLst>
          <pc:docMk/>
          <pc:sldMk cId="2009923557" sldId="270"/>
        </pc:sldMkLst>
        <pc:spChg chg="del">
          <ac:chgData name="Darcy Roach" userId="ba676ee9-e9b4-49e8-a515-8077106c948d" providerId="ADAL" clId="{AC583016-0717-4A2F-B1C6-126E7A42BABF}" dt="2022-11-09T05:01:27.904" v="0" actId="478"/>
          <ac:spMkLst>
            <pc:docMk/>
            <pc:sldMk cId="2009923557" sldId="270"/>
            <ac:spMk id="16" creationId="{01C2CA4E-CFDF-1014-1457-77DA9A4A17F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11/9/2022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11/9/2022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11/9/2022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11/9/2022</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Adrian Harvison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44603" y="1550519"/>
            <a:ext cx="2794374" cy="1715213"/>
          </a:xfrm>
          <a:prstGeom prst="rect">
            <a:avLst/>
          </a:prstGeom>
          <a:noFill/>
        </p:spPr>
        <p:txBody>
          <a:bodyPr wrap="square" lIns="0" tIns="0" rIns="0" bIns="0" rtlCol="0" anchor="t">
            <a:spAutoFit/>
          </a:bodyPr>
          <a:lstStyle/>
          <a:p>
            <a:pPr>
              <a:lnSpc>
                <a:spcPts val="1500"/>
              </a:lnSpc>
            </a:pPr>
            <a:r>
              <a:rPr lang="en-US" sz="1000" spc="13" dirty="0">
                <a:latin typeface="Roboto Light" panose="02000000000000000000" pitchFamily="2" charset="0"/>
                <a:ea typeface="Roboto Light" panose="02000000000000000000" pitchFamily="2" charset="0"/>
                <a:cs typeface="Lato" panose="020F0502020204030203" pitchFamily="34" charset="0"/>
              </a:rPr>
              <a:t>Adrian is a seasoned and highly skilled Technical Project Manager with over 25 years of enterprise  experience delivering small, medium, and large corporate data solutions. Working in partnership with large organisations, Adrian has successfully driven organisational transformation whilst managing customer expectations and delivering exceptional results built on deep industry knowledge and delivery acumen.</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Teradata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COGNOS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Sybase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CSS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802"/>
            <a:ext cx="0" cy="2033589"/>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872079"/>
            <a:ext cx="4549884" cy="1785104"/>
            <a:chOff x="5030740" y="2268038"/>
            <a:chExt cx="4859979" cy="1785104"/>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68038"/>
              <a:ext cx="4831245"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t>Defined and implemented execution roadmaps, Identified and architected decision points, continuous delivery frameworks, risk, and </a:t>
              </a:r>
              <a:r>
                <a:rPr lang="en-US" sz="1000" dirty="0" err="1"/>
                <a:t>prioritisation</a:t>
              </a:r>
              <a:r>
                <a:rPr lang="en-US" sz="1000" dirty="0"/>
                <a:t> management.</a:t>
              </a:r>
            </a:p>
            <a:p>
              <a:r>
                <a:rPr lang="en-US" sz="1000" dirty="0"/>
                <a:t>Established effective strategic relationship management across business partners, technology, and suppliers to deliver improved results.</a:t>
              </a:r>
            </a:p>
            <a:p>
              <a:r>
                <a:rPr lang="en-US" sz="1000" dirty="0"/>
                <a:t>Conducted vendor selection, pricing, development, and established vendor performance standards, </a:t>
              </a:r>
            </a:p>
            <a:p>
              <a:r>
                <a:rPr lang="en-US" sz="1000" dirty="0"/>
                <a:t>Planned and executed delivery strategy meetings to brainstorm new ideas and deliver program and milestone updates.</a:t>
              </a:r>
            </a:p>
            <a:p>
              <a:r>
                <a:rPr lang="en-US" sz="1000" dirty="0"/>
                <a:t>Refined program efforts to meet defined objectives by implementing timelines, budgets, monitoring and quality assurance frameworks.</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164198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329588"/>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45365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545032"/>
            <a:ext cx="1951941" cy="3231654"/>
            <a:chOff x="8106458" y="2681447"/>
            <a:chExt cx="1951941" cy="323165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231654"/>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Certified Scrum Master –  Axis Agile</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PRINCE2 Practitioner – ILX Group</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Project Management Professional – AIPM</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Diploma –  Entrepreneurial Management </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Australian Institute of Business</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545032"/>
            <a:ext cx="3526969" cy="276999"/>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Leading Logistics Organisation</a:t>
            </a:r>
          </a:p>
        </p:txBody>
      </p:sp>
      <p:sp>
        <p:nvSpPr>
          <p:cNvPr id="4" name="TextBox 3">
            <a:extLst>
              <a:ext uri="{FF2B5EF4-FFF2-40B4-BE49-F238E27FC236}">
                <a16:creationId xmlns:a16="http://schemas.microsoft.com/office/drawing/2014/main" id="{80F49B2F-21D4-F9EB-049F-717A10CB7D84}"/>
              </a:ext>
            </a:extLst>
          </p:cNvPr>
          <p:cNvSpPr txBox="1"/>
          <p:nvPr/>
        </p:nvSpPr>
        <p:spPr>
          <a:xfrm>
            <a:off x="146652" y="5747849"/>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Program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Solution Architecture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Application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Improvement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2" name="TextBox 11">
            <a:extLst>
              <a:ext uri="{FF2B5EF4-FFF2-40B4-BE49-F238E27FC236}">
                <a16:creationId xmlns:a16="http://schemas.microsoft.com/office/drawing/2014/main" id="{4C564B5F-C81D-1622-FD73-F33FA259FDC6}"/>
              </a:ext>
            </a:extLst>
          </p:cNvPr>
          <p:cNvSpPr txBox="1"/>
          <p:nvPr/>
        </p:nvSpPr>
        <p:spPr>
          <a:xfrm>
            <a:off x="236020" y="3347737"/>
            <a:ext cx="2844308" cy="2099934"/>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US" dirty="0"/>
              <a:t>Focused on building capability, reducing costs, streamlining processes and maximising resource utilisation, Adrian's collaborative style has effectively brought stakeholders together to analyse businesses, identify opportunities for improvement, and deliver optimised customer centric solutions. Being a critical thinker, Adrian cultivates rapport with individuals to optimise goals and output, resolve complex problems and deliver innovative improvement strategies.</a:t>
            </a:r>
            <a:br>
              <a:rPr lang="en-GB" dirty="0"/>
            </a:br>
            <a:endParaRPr lang="en-US" dirty="0"/>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3734"/>
            <a:ext cx="3526969" cy="276999"/>
          </a:xfrm>
          <a:prstGeom prst="rect">
            <a:avLst/>
          </a:prstGeom>
          <a:noFill/>
        </p:spPr>
        <p:txBody>
          <a:bodyPr wrap="square" rtlCol="0">
            <a:spAutoFit/>
          </a:bodyPr>
          <a:lstStyle/>
          <a:p>
            <a:r>
              <a:rPr lang="en-AU" sz="1200" b="1" dirty="0">
                <a:solidFill>
                  <a:srgbClr val="0059FF"/>
                </a:solidFill>
                <a:latin typeface="Roboto" panose="02000000000000000000" pitchFamily="2" charset="0"/>
                <a:ea typeface="Roboto" panose="02000000000000000000" pitchFamily="2" charset="0"/>
              </a:rPr>
              <a:t>Entertainment &amp; Gaming Organisation</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00460"/>
            <a:ext cx="4549073" cy="244682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rPr>
              <a:t>Lead a team of Senior Data Engineers to establish and manage Corporate Data Warehouse migration from an on-premise Sybase IQ database to the Google Cloud Platform. Responsibilities of this role included:</a:t>
            </a:r>
          </a:p>
          <a:p>
            <a:pPr marL="0" indent="0">
              <a:buNone/>
            </a:pPr>
            <a:endParaRPr lang="en-US" sz="200" dirty="0">
              <a:solidFill>
                <a:schemeClr val="bg1"/>
              </a:solidFill>
            </a:endParaRPr>
          </a:p>
          <a:p>
            <a:r>
              <a:rPr lang="en-US" sz="1000" dirty="0">
                <a:solidFill>
                  <a:schemeClr val="bg1"/>
                </a:solidFill>
              </a:rPr>
              <a:t>Architect, solution design and build a robust daily data ingestion pipeline from Crown source system data repositories to GCP</a:t>
            </a:r>
          </a:p>
          <a:p>
            <a:r>
              <a:rPr lang="en-US" sz="1000" dirty="0">
                <a:solidFill>
                  <a:schemeClr val="bg1"/>
                </a:solidFill>
              </a:rPr>
              <a:t>Build GCP data schemas</a:t>
            </a:r>
          </a:p>
          <a:p>
            <a:r>
              <a:rPr lang="en-US" sz="1000" dirty="0">
                <a:solidFill>
                  <a:schemeClr val="bg1"/>
                </a:solidFill>
              </a:rPr>
              <a:t>Migration of ~750 Sybase Stored Procedures and &gt;700 Tables and Views from Sybase to </a:t>
            </a:r>
            <a:r>
              <a:rPr lang="en-US" sz="1000" dirty="0" err="1">
                <a:solidFill>
                  <a:schemeClr val="bg1"/>
                </a:solidFill>
              </a:rPr>
              <a:t>BigQuery</a:t>
            </a:r>
            <a:endParaRPr lang="en-US" sz="1000" dirty="0">
              <a:solidFill>
                <a:schemeClr val="bg1"/>
              </a:solidFill>
            </a:endParaRPr>
          </a:p>
          <a:p>
            <a:r>
              <a:rPr lang="en-US" sz="1000" dirty="0">
                <a:solidFill>
                  <a:schemeClr val="bg1"/>
                </a:solidFill>
              </a:rPr>
              <a:t>Configure ~2,600 Informatica workflow and worklet objects to execute ETL processes in GCP rather than Sybase</a:t>
            </a:r>
          </a:p>
          <a:p>
            <a:r>
              <a:rPr lang="en-US" sz="1000" dirty="0">
                <a:solidFill>
                  <a:schemeClr val="bg1"/>
                </a:solidFill>
              </a:rPr>
              <a:t>Mass historical data migration from Sybase to </a:t>
            </a:r>
            <a:r>
              <a:rPr lang="en-US" sz="1000" dirty="0" err="1">
                <a:solidFill>
                  <a:schemeClr val="bg1"/>
                </a:solidFill>
              </a:rPr>
              <a:t>BigQuery</a:t>
            </a:r>
            <a:endParaRPr lang="en-US" sz="1000" dirty="0">
              <a:solidFill>
                <a:schemeClr val="bg1"/>
              </a:solidFill>
            </a:endParaRPr>
          </a:p>
          <a:p>
            <a:r>
              <a:rPr lang="en-US" sz="1000" dirty="0">
                <a:solidFill>
                  <a:schemeClr val="bg1"/>
                </a:solidFill>
              </a:rPr>
              <a:t>Integrate existing Cognos 10 reporting layers with GCP</a:t>
            </a:r>
          </a:p>
          <a:p>
            <a:r>
              <a:rPr lang="en-US" sz="1000" dirty="0">
                <a:solidFill>
                  <a:schemeClr val="bg1"/>
                </a:solidFill>
              </a:rPr>
              <a:t>Plan for execution of extended parallel runs between the CDW on Sybase and the new CDW on GCP. </a:t>
            </a:r>
          </a:p>
          <a:p>
            <a:endParaRPr lang="en-US" sz="1000" dirty="0">
              <a:solidFill>
                <a:schemeClr val="bg1"/>
              </a:solidFill>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893106"/>
            <a:ext cx="4584890" cy="1631216"/>
            <a:chOff x="5023753" y="4247510"/>
            <a:chExt cx="4757437" cy="1631216"/>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t>Developed Business Case and managed funding submissions.</a:t>
              </a:r>
            </a:p>
            <a:p>
              <a:r>
                <a:rPr lang="en-US" sz="1000" dirty="0" err="1"/>
                <a:t>Mobilised</a:t>
              </a:r>
              <a:r>
                <a:rPr lang="en-US" sz="1000" dirty="0"/>
                <a:t> project teams consisting of internal and external </a:t>
              </a:r>
              <a:r>
                <a:rPr lang="en-US" sz="1000" dirty="0" err="1"/>
                <a:t>labour</a:t>
              </a:r>
              <a:r>
                <a:rPr lang="en-US" sz="1000" dirty="0"/>
                <a:t> resources.</a:t>
              </a:r>
            </a:p>
            <a:p>
              <a:r>
                <a:rPr lang="en-US" sz="1000" dirty="0"/>
                <a:t>Managed supplier contracts, licensing and user training.</a:t>
              </a:r>
            </a:p>
            <a:p>
              <a:r>
                <a:rPr lang="en-US" sz="1000" dirty="0"/>
                <a:t>Worked in partnership with Google to enable GCP PaaS services within the Australian domain and achieve Information Security Registered Assessors Program (IRAP) certification.</a:t>
              </a:r>
            </a:p>
            <a:p>
              <a:r>
                <a:rPr lang="en-US" sz="1000" dirty="0"/>
                <a:t>Migrated legacy SAP analytics lab data and data management processes to GCP, with automated data ingestion and user access controls via IAM.</a:t>
              </a:r>
            </a:p>
            <a:p>
              <a:r>
                <a:rPr lang="en-US" sz="1000" dirty="0" err="1"/>
                <a:t>Productionised</a:t>
              </a:r>
              <a:r>
                <a:rPr lang="en-US" sz="1000" dirty="0"/>
                <a:t> GCP as an IT service into multiple support domains.</a:t>
              </a:r>
              <a:endParaRPr lang="en-GB"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430319"/>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616107"/>
            <a:ext cx="3526969"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Leading Logistics Organisation</a:t>
            </a:r>
          </a:p>
        </p:txBody>
      </p:sp>
      <p:sp>
        <p:nvSpPr>
          <p:cNvPr id="32" name="TextBox 31">
            <a:extLst>
              <a:ext uri="{FF2B5EF4-FFF2-40B4-BE49-F238E27FC236}">
                <a16:creationId xmlns:a16="http://schemas.microsoft.com/office/drawing/2014/main" id="{2BB131CB-F34C-0D89-4684-BD31B041F534}"/>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Entertainment &amp; Gaming</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Mining</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05D935-75B7-4B08-B895-10F3259FB2A7}">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daf93972-1964-4522-aa34-640805a01c3a"/>
    <ds:schemaRef ds:uri="e52cd9e7-35e5-4bd3-9cab-ca6a63c31e52"/>
    <ds:schemaRef ds:uri="http://www.w3.org/XML/1998/namespace"/>
    <ds:schemaRef ds:uri="http://purl.org/dc/dcmitype/"/>
  </ds:schemaRefs>
</ds:datastoreItem>
</file>

<file path=customXml/itemProps2.xml><?xml version="1.0" encoding="utf-8"?>
<ds:datastoreItem xmlns:ds="http://schemas.openxmlformats.org/officeDocument/2006/customXml" ds:itemID="{809EB321-575B-41B5-900E-4FBC92E9BCE2}">
  <ds:schemaRefs>
    <ds:schemaRef ds:uri="http://schemas.microsoft.com/sharepoint/v3/contenttype/forms"/>
  </ds:schemaRefs>
</ds:datastoreItem>
</file>

<file path=customXml/itemProps3.xml><?xml version="1.0" encoding="utf-8"?>
<ds:datastoreItem xmlns:ds="http://schemas.openxmlformats.org/officeDocument/2006/customXml" ds:itemID="{5E62D49C-B7D6-4BD1-9B90-76809AD3CB4F}"/>
</file>

<file path=docProps/app.xml><?xml version="1.0" encoding="utf-8"?>
<Properties xmlns="http://schemas.openxmlformats.org/officeDocument/2006/extended-properties" xmlns:vt="http://schemas.openxmlformats.org/officeDocument/2006/docPropsVTypes">
  <Template>Office Theme</Template>
  <TotalTime>3569</TotalTime>
  <Words>523</Words>
  <Application>Microsoft Office PowerPoint</Application>
  <PresentationFormat>Custom</PresentationFormat>
  <Paragraphs>71</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91</cp:revision>
  <dcterms:created xsi:type="dcterms:W3CDTF">2019-12-03T01:50:37Z</dcterms:created>
  <dcterms:modified xsi:type="dcterms:W3CDTF">2022-11-09T05:01:33Z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