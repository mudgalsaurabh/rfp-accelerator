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1"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DA5AF3-1833-4890-88A0-9F7C4823C0D4}" v="1" dt="2023-03-08T23:52:07.8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1440" y="16"/>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93DA5AF3-1833-4890-88A0-9F7C4823C0D4}"/>
    <pc:docChg chg="undo custSel modSld">
      <pc:chgData name="Darcy Roach" userId="ba676ee9-e9b4-49e8-a515-8077106c948d" providerId="ADAL" clId="{93DA5AF3-1833-4890-88A0-9F7C4823C0D4}" dt="2023-03-09T00:23:00.174" v="800" actId="20577"/>
      <pc:docMkLst>
        <pc:docMk/>
      </pc:docMkLst>
      <pc:sldChg chg="addSp delSp modSp mod">
        <pc:chgData name="Darcy Roach" userId="ba676ee9-e9b4-49e8-a515-8077106c948d" providerId="ADAL" clId="{93DA5AF3-1833-4890-88A0-9F7C4823C0D4}" dt="2023-03-09T00:23:00.174" v="800" actId="20577"/>
        <pc:sldMkLst>
          <pc:docMk/>
          <pc:sldMk cId="3618352684" sldId="271"/>
        </pc:sldMkLst>
        <pc:spChg chg="mod">
          <ac:chgData name="Darcy Roach" userId="ba676ee9-e9b4-49e8-a515-8077106c948d" providerId="ADAL" clId="{93DA5AF3-1833-4890-88A0-9F7C4823C0D4}" dt="2023-03-09T00:08:03.472" v="526" actId="1076"/>
          <ac:spMkLst>
            <pc:docMk/>
            <pc:sldMk cId="3618352684" sldId="271"/>
            <ac:spMk id="2" creationId="{2FA774CA-3857-9308-4D38-9414B0CC2B95}"/>
          </ac:spMkLst>
        </pc:spChg>
        <pc:spChg chg="mod">
          <ac:chgData name="Darcy Roach" userId="ba676ee9-e9b4-49e8-a515-8077106c948d" providerId="ADAL" clId="{93DA5AF3-1833-4890-88A0-9F7C4823C0D4}" dt="2023-03-09T00:21:25.770" v="780" actId="20577"/>
          <ac:spMkLst>
            <pc:docMk/>
            <pc:sldMk cId="3618352684" sldId="271"/>
            <ac:spMk id="4" creationId="{80F49B2F-21D4-F9EB-049F-717A10CB7D84}"/>
          </ac:spMkLst>
        </pc:spChg>
        <pc:spChg chg="mod">
          <ac:chgData name="Darcy Roach" userId="ba676ee9-e9b4-49e8-a515-8077106c948d" providerId="ADAL" clId="{93DA5AF3-1833-4890-88A0-9F7C4823C0D4}" dt="2023-03-09T00:03:43.896" v="453" actId="20577"/>
          <ac:spMkLst>
            <pc:docMk/>
            <pc:sldMk cId="3618352684" sldId="271"/>
            <ac:spMk id="6" creationId="{701E125D-B356-8A2A-B86B-AB6567CEABE1}"/>
          </ac:spMkLst>
        </pc:spChg>
        <pc:spChg chg="del mod">
          <ac:chgData name="Darcy Roach" userId="ba676ee9-e9b4-49e8-a515-8077106c948d" providerId="ADAL" clId="{93DA5AF3-1833-4890-88A0-9F7C4823C0D4}" dt="2023-03-08T23:51:54.627" v="379" actId="21"/>
          <ac:spMkLst>
            <pc:docMk/>
            <pc:sldMk cId="3618352684" sldId="271"/>
            <ac:spMk id="8" creationId="{59FEB941-5146-6B10-4E4D-8A4ADE918AEF}"/>
          </ac:spMkLst>
        </pc:spChg>
        <pc:spChg chg="add mod">
          <ac:chgData name="Darcy Roach" userId="ba676ee9-e9b4-49e8-a515-8077106c948d" providerId="ADAL" clId="{93DA5AF3-1833-4890-88A0-9F7C4823C0D4}" dt="2023-03-08T23:53:54.616" v="420" actId="20577"/>
          <ac:spMkLst>
            <pc:docMk/>
            <pc:sldMk cId="3618352684" sldId="271"/>
            <ac:spMk id="9" creationId="{FC1E3E96-4B11-5242-E07F-7D9FDDBB0190}"/>
          </ac:spMkLst>
        </pc:spChg>
        <pc:spChg chg="mod">
          <ac:chgData name="Darcy Roach" userId="ba676ee9-e9b4-49e8-a515-8077106c948d" providerId="ADAL" clId="{93DA5AF3-1833-4890-88A0-9F7C4823C0D4}" dt="2023-03-09T00:09:51.332" v="557" actId="20577"/>
          <ac:spMkLst>
            <pc:docMk/>
            <pc:sldMk cId="3618352684" sldId="271"/>
            <ac:spMk id="10" creationId="{06312B81-BCF1-2796-C112-3DBE0E02F483}"/>
          </ac:spMkLst>
        </pc:spChg>
        <pc:spChg chg="mod">
          <ac:chgData name="Darcy Roach" userId="ba676ee9-e9b4-49e8-a515-8077106c948d" providerId="ADAL" clId="{93DA5AF3-1833-4890-88A0-9F7C4823C0D4}" dt="2023-03-07T05:11:47.260" v="58" actId="20577"/>
          <ac:spMkLst>
            <pc:docMk/>
            <pc:sldMk cId="3618352684" sldId="271"/>
            <ac:spMk id="16" creationId="{7A53ACAB-BBC9-A3AA-740D-EB947374392F}"/>
          </ac:spMkLst>
        </pc:spChg>
        <pc:spChg chg="mod">
          <ac:chgData name="Darcy Roach" userId="ba676ee9-e9b4-49e8-a515-8077106c948d" providerId="ADAL" clId="{93DA5AF3-1833-4890-88A0-9F7C4823C0D4}" dt="2023-03-09T00:16:49.091" v="711" actId="1035"/>
          <ac:spMkLst>
            <pc:docMk/>
            <pc:sldMk cId="3618352684" sldId="271"/>
            <ac:spMk id="19" creationId="{7513C49A-2DF2-8111-FED4-FC07A8EAD258}"/>
          </ac:spMkLst>
        </pc:spChg>
        <pc:spChg chg="mod">
          <ac:chgData name="Darcy Roach" userId="ba676ee9-e9b4-49e8-a515-8077106c948d" providerId="ADAL" clId="{93DA5AF3-1833-4890-88A0-9F7C4823C0D4}" dt="2023-03-09T00:23:00.174" v="800" actId="20577"/>
          <ac:spMkLst>
            <pc:docMk/>
            <pc:sldMk cId="3618352684" sldId="271"/>
            <ac:spMk id="26" creationId="{1A3D666D-00C8-D106-73C3-9FF300F8618C}"/>
          </ac:spMkLst>
        </pc:spChg>
        <pc:spChg chg="mod">
          <ac:chgData name="Darcy Roach" userId="ba676ee9-e9b4-49e8-a515-8077106c948d" providerId="ADAL" clId="{93DA5AF3-1833-4890-88A0-9F7C4823C0D4}" dt="2023-03-09T00:14:00.802" v="636" actId="1076"/>
          <ac:spMkLst>
            <pc:docMk/>
            <pc:sldMk cId="3618352684" sldId="271"/>
            <ac:spMk id="28" creationId="{6059F888-3BDF-A1C0-65E5-CB6FDD43D97C}"/>
          </ac:spMkLst>
        </pc:spChg>
        <pc:spChg chg="mod">
          <ac:chgData name="Darcy Roach" userId="ba676ee9-e9b4-49e8-a515-8077106c948d" providerId="ADAL" clId="{93DA5AF3-1833-4890-88A0-9F7C4823C0D4}" dt="2023-03-08T23:41:20.419" v="106" actId="20577"/>
          <ac:spMkLst>
            <pc:docMk/>
            <pc:sldMk cId="3618352684" sldId="271"/>
            <ac:spMk id="38" creationId="{AB47A2EE-BF0B-DB05-8B7C-DB6594B2B3D5}"/>
          </ac:spMkLst>
        </pc:spChg>
        <pc:grpChg chg="mod">
          <ac:chgData name="Darcy Roach" userId="ba676ee9-e9b4-49e8-a515-8077106c948d" providerId="ADAL" clId="{93DA5AF3-1833-4890-88A0-9F7C4823C0D4}" dt="2023-03-09T00:14:10.499" v="637" actId="1076"/>
          <ac:grpSpMkLst>
            <pc:docMk/>
            <pc:sldMk cId="3618352684" sldId="271"/>
            <ac:grpSpMk id="18" creationId="{E0B3FDFC-4A78-346F-E1D4-E183BEB90A60}"/>
          </ac:grpSpMkLst>
        </pc:grpChg>
        <pc:grpChg chg="mod">
          <ac:chgData name="Darcy Roach" userId="ba676ee9-e9b4-49e8-a515-8077106c948d" providerId="ADAL" clId="{93DA5AF3-1833-4890-88A0-9F7C4823C0D4}" dt="2023-03-09T00:08:03.472" v="526" actId="1076"/>
          <ac:grpSpMkLst>
            <pc:docMk/>
            <pc:sldMk cId="3618352684" sldId="271"/>
            <ac:grpSpMk id="163" creationId="{E52FDF9F-B084-9074-7DB9-539AD5456487}"/>
          </ac:grpSpMkLst>
        </pc:grpChg>
        <pc:cxnChg chg="mod">
          <ac:chgData name="Darcy Roach" userId="ba676ee9-e9b4-49e8-a515-8077106c948d" providerId="ADAL" clId="{93DA5AF3-1833-4890-88A0-9F7C4823C0D4}" dt="2023-03-09T00:10:04.144" v="558" actId="14100"/>
          <ac:cxnSpMkLst>
            <pc:docMk/>
            <pc:sldMk cId="3618352684" sldId="271"/>
            <ac:cxnSpMk id="3" creationId="{67C34E10-2CF8-9BCA-1CC6-D78A3FF9CA80}"/>
          </ac:cxnSpMkLst>
        </pc:cxnChg>
        <pc:cxnChg chg="mod">
          <ac:chgData name="Darcy Roach" userId="ba676ee9-e9b4-49e8-a515-8077106c948d" providerId="ADAL" clId="{93DA5AF3-1833-4890-88A0-9F7C4823C0D4}" dt="2023-03-09T00:16:57.295" v="712" actId="14100"/>
          <ac:cxnSpMkLst>
            <pc:docMk/>
            <pc:sldMk cId="3618352684" sldId="271"/>
            <ac:cxnSpMk id="21" creationId="{B0913DE4-461D-CE43-AABC-C4B3D7D22F45}"/>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3/9/2023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3/9/2023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3/9/2023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3/9/2023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3/9/2023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3/9/2023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3/9/2023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3/9/2023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3/9/2023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3/9/2023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3/9/2023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3/9/2023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158595"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Peter Maguire</a:t>
            </a:r>
          </a:p>
        </p:txBody>
      </p:sp>
      <p:sp>
        <p:nvSpPr>
          <p:cNvPr id="17" name="TextBox 16">
            <a:extLst>
              <a:ext uri="{FF2B5EF4-FFF2-40B4-BE49-F238E27FC236}">
                <a16:creationId xmlns:a16="http://schemas.microsoft.com/office/drawing/2014/main" id="{1BDE5051-9F34-F139-742D-4450E5D6591E}"/>
              </a:ext>
            </a:extLst>
          </p:cNvPr>
          <p:cNvSpPr txBox="1"/>
          <p:nvPr/>
        </p:nvSpPr>
        <p:spPr>
          <a:xfrm>
            <a:off x="162231" y="1550519"/>
            <a:ext cx="3036907" cy="2292294"/>
          </a:xfrm>
          <a:prstGeom prst="rect">
            <a:avLst/>
          </a:prstGeom>
          <a:noFill/>
        </p:spPr>
        <p:txBody>
          <a:bodyPr wrap="square" lIns="0" tIns="0" rIns="0" bIns="0" rtlCol="0" anchor="t">
            <a:spAutoFit/>
          </a:bodyPr>
          <a:lstStyle/>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Peter is a highly capable Senior Project Manager with experience delivering project outcomes across a range of enterprise environments for over 15 years. He is skilled in operating with different project management methodologies and accurately applying risk and issues management, status and budgetary reporting plus resources scheduling throughout the project lifecycle. Peter adopts a flexible and adaptive approach to the projects he is engaged on, with emphasis on delivering the required project outcomes and meeting expectations.</a:t>
            </a:r>
          </a:p>
          <a:p>
            <a:pPr>
              <a:lnSpc>
                <a:spcPts val="1500"/>
              </a:lnSpc>
            </a:pPr>
            <a:endParaRPr lang="en-US" sz="1000" spc="13" dirty="0">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84993"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13113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 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42327" y="5747849"/>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Risk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Problem Solver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Team Leadership</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Mentoring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SDLC</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SaaS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SAP</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MS Project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Salesforce</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59151"/>
            <a:ext cx="0" cy="2159582"/>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nvGrpSpPr>
          <p:cNvPr id="163" name="Group 162">
            <a:extLst>
              <a:ext uri="{FF2B5EF4-FFF2-40B4-BE49-F238E27FC236}">
                <a16:creationId xmlns:a16="http://schemas.microsoft.com/office/drawing/2014/main" id="{E52FDF9F-B084-9074-7DB9-539AD5456487}"/>
              </a:ext>
            </a:extLst>
          </p:cNvPr>
          <p:cNvGrpSpPr/>
          <p:nvPr/>
        </p:nvGrpSpPr>
        <p:grpSpPr>
          <a:xfrm>
            <a:off x="3428144" y="3934083"/>
            <a:ext cx="4549884" cy="2092881"/>
            <a:chOff x="5030740" y="2285622"/>
            <a:chExt cx="4859979" cy="2092881"/>
          </a:xfrm>
        </p:grpSpPr>
        <p:sp>
          <p:nvSpPr>
            <p:cNvPr id="10" name="TextBox 9">
              <a:extLst>
                <a:ext uri="{FF2B5EF4-FFF2-40B4-BE49-F238E27FC236}">
                  <a16:creationId xmlns:a16="http://schemas.microsoft.com/office/drawing/2014/main" id="{06312B81-BCF1-2796-C112-3DBE0E02F483}"/>
                </a:ext>
              </a:extLst>
            </p:cNvPr>
            <p:cNvSpPr txBox="1"/>
            <p:nvPr/>
          </p:nvSpPr>
          <p:spPr>
            <a:xfrm>
              <a:off x="5059474" y="2285622"/>
              <a:ext cx="4831245" cy="209288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r>
                <a:rPr lang="en-US" sz="1000" dirty="0">
                  <a:solidFill>
                    <a:schemeClr val="bg1"/>
                  </a:solidFill>
                </a:rPr>
                <a:t>Lead a team </a:t>
              </a:r>
              <a:r>
                <a:rPr lang="en-AU" sz="1000" dirty="0">
                  <a:solidFill>
                    <a:schemeClr val="bg1"/>
                  </a:solidFill>
                </a:rPr>
                <a:t>running an RFP for a Workload Placement Assessment across the business. </a:t>
              </a:r>
              <a:r>
                <a:rPr lang="en-US" sz="1000" dirty="0">
                  <a:solidFill>
                    <a:schemeClr val="bg1"/>
                  </a:solidFill>
                </a:rPr>
                <a:t>Responsibilities of this role included:</a:t>
              </a:r>
              <a:endParaRPr lang="en-AU" sz="1000" dirty="0">
                <a:solidFill>
                  <a:schemeClr val="bg1"/>
                </a:solidFill>
              </a:endParaRPr>
            </a:p>
            <a:p>
              <a:r>
                <a:rPr lang="en-AU" sz="1000" dirty="0"/>
                <a:t>Defined and built the RFP proposal with the client Vendor Manager to ensure the request met the needs of the project.</a:t>
              </a:r>
            </a:p>
            <a:p>
              <a:r>
                <a:rPr lang="en-AU" sz="1000" dirty="0"/>
                <a:t>Worked at length to clearly identify the applications that were in-scope and out of scope of the project, ensuring attention was given to applications that already had a roadmap or had a known termination date.</a:t>
              </a:r>
            </a:p>
            <a:p>
              <a:r>
                <a:rPr lang="en-AU" sz="1000" dirty="0"/>
                <a:t>Developed a ‘score card criteria’ to assess each vendor submission.</a:t>
              </a:r>
            </a:p>
            <a:p>
              <a:r>
                <a:rPr lang="en-AU" sz="1000" dirty="0"/>
                <a:t>Managed multiple reviewers and assessments to provide a summary and select a vendor.</a:t>
              </a:r>
            </a:p>
            <a:p>
              <a:r>
                <a:rPr lang="en-AU" sz="1000" dirty="0"/>
                <a:t>Managed vendors and updated on selection process, reviews and additional meetings held with short-listed vendors.</a:t>
              </a:r>
            </a:p>
            <a:p>
              <a:endParaRPr lang="en-US" sz="1000" dirty="0"/>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2325935"/>
              <a:ext cx="0" cy="17280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518733"/>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6"/>
            <a:ext cx="0" cy="5004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734177"/>
            <a:ext cx="1951941" cy="2123658"/>
            <a:chOff x="8106458" y="2681447"/>
            <a:chExt cx="1951941" cy="212365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2123658"/>
            </a:xfrm>
            <a:prstGeom prst="rect">
              <a:avLst/>
            </a:prstGeom>
            <a:noFill/>
          </p:spPr>
          <p:txBody>
            <a:bodyPr wrap="square">
              <a:spAutoFit/>
            </a:bodyPr>
            <a:lstStyle/>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Google Cloud – Certified Cloud Digital Leader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Prince 2 – Certified Project Manager</a:t>
              </a:r>
            </a:p>
            <a:p>
              <a:pPr>
                <a:tabLst>
                  <a:tab pos="3819525" algn="l"/>
                  <a:tab pos="3895725" algn="l"/>
                </a:tabLst>
              </a:pPr>
              <a:endParaRPr lang="en-US"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US" sz="1200" dirty="0">
                  <a:solidFill>
                    <a:srgbClr val="00AB80"/>
                  </a:solidFill>
                  <a:latin typeface="Roboto Light" panose="02000000000000000000" pitchFamily="2" charset="0"/>
                  <a:ea typeface="Calibri" panose="020F0502020204030204" pitchFamily="34" charset="0"/>
                </a:rPr>
                <a:t>Bachelor </a:t>
              </a:r>
              <a:r>
                <a:rPr lang="en-GB" sz="1200" dirty="0">
                  <a:solidFill>
                    <a:srgbClr val="00AB80"/>
                  </a:solidFill>
                  <a:latin typeface="Roboto Light" panose="02000000000000000000" pitchFamily="2" charset="0"/>
                  <a:ea typeface="Calibri" panose="020F0502020204030204" pitchFamily="34" charset="0"/>
                </a:rPr>
                <a:t>– Bachelor of Information Technology</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Victoria University </a:t>
              </a:r>
              <a:endParaRPr lang="en-US"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2" name="TextBox 1">
            <a:extLst>
              <a:ext uri="{FF2B5EF4-FFF2-40B4-BE49-F238E27FC236}">
                <a16:creationId xmlns:a16="http://schemas.microsoft.com/office/drawing/2014/main" id="{2FA774CA-3857-9308-4D38-9414B0CC2B95}"/>
              </a:ext>
            </a:extLst>
          </p:cNvPr>
          <p:cNvSpPr txBox="1"/>
          <p:nvPr/>
        </p:nvSpPr>
        <p:spPr>
          <a:xfrm>
            <a:off x="3335753" y="3661994"/>
            <a:ext cx="3526969" cy="276999"/>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Leading Australian Logistics Organisation</a:t>
            </a:r>
          </a:p>
        </p:txBody>
      </p:sp>
      <p:sp>
        <p:nvSpPr>
          <p:cNvPr id="4" name="TextBox 3">
            <a:extLst>
              <a:ext uri="{FF2B5EF4-FFF2-40B4-BE49-F238E27FC236}">
                <a16:creationId xmlns:a16="http://schemas.microsoft.com/office/drawing/2014/main" id="{80F49B2F-21D4-F9EB-049F-717A10CB7D84}"/>
              </a:ext>
            </a:extLst>
          </p:cNvPr>
          <p:cNvSpPr txBox="1"/>
          <p:nvPr/>
        </p:nvSpPr>
        <p:spPr>
          <a:xfrm>
            <a:off x="146652" y="5747849"/>
            <a:ext cx="1510044" cy="1892826"/>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Business Analysis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Agile Project Delivery</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Analysis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Mapping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Governance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Change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IT Strategy</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Process Improvement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Requirements Analysis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Requirements Gathering</a:t>
            </a: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6" y="1044151"/>
            <a:ext cx="4894951"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Leading Australian Logistics </a:t>
            </a:r>
            <a:r>
              <a:rPr lang="en-US" sz="1200" b="1" dirty="0" err="1">
                <a:solidFill>
                  <a:srgbClr val="0059FF"/>
                </a:solidFill>
                <a:latin typeface="Roboto" panose="02000000000000000000" pitchFamily="2" charset="0"/>
                <a:ea typeface="Roboto" panose="02000000000000000000" pitchFamily="2" charset="0"/>
              </a:rPr>
              <a:t>Organisation</a:t>
            </a:r>
            <a:endParaRPr lang="en-AU" sz="1200" b="1" dirty="0">
              <a:solidFill>
                <a:srgbClr val="0059FF"/>
              </a:solidFill>
              <a:latin typeface="Roboto" panose="02000000000000000000" pitchFamily="2" charset="0"/>
              <a:ea typeface="Roboto" panose="02000000000000000000" pitchFamily="2" charset="0"/>
            </a:endParaRP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6076203"/>
            <a:ext cx="4584890" cy="1631216"/>
            <a:chOff x="5023753" y="4259085"/>
            <a:chExt cx="4757437" cy="1631216"/>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259085"/>
              <a:ext cx="4721716" cy="1631216"/>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r>
                <a:rPr lang="en-AU" sz="1000" dirty="0"/>
                <a:t>Due to a major upgrade / change to the ATO VPN Solution, the customer were required to implement an VPN Solution to meet the new Australian Tax Office VPN solution.</a:t>
              </a:r>
            </a:p>
            <a:p>
              <a:r>
                <a:rPr lang="en-AU" sz="1000" dirty="0"/>
                <a:t>End to End project management including, scheduling, Risk and Issue management, resource management and reporting</a:t>
              </a:r>
            </a:p>
            <a:p>
              <a:r>
                <a:rPr lang="en-AU" sz="1000" dirty="0"/>
                <a:t>Manage internal resource and Third-Party vendor to install new VPN hardware and configure connection.</a:t>
              </a:r>
            </a:p>
            <a:p>
              <a:r>
                <a:rPr lang="en-AU" sz="1000" dirty="0"/>
                <a:t>Co-ordinated network changes on the Australia Post and Australian Tax Office network. </a:t>
              </a:r>
            </a:p>
            <a:p>
              <a:r>
                <a:rPr lang="en-AU" sz="1000" dirty="0"/>
                <a:t>Conducted testing of the new solution</a:t>
              </a:r>
              <a:r>
                <a:rPr lang="en-US" sz="1000" dirty="0"/>
                <a:t> to ensure functionality and stability</a:t>
              </a:r>
              <a:endParaRPr lang="en-AU"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312460"/>
              <a:ext cx="0" cy="1511097"/>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2" y="5820091"/>
            <a:ext cx="3526969"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Leading Australian Logistics Organisation</a:t>
            </a:r>
          </a:p>
          <a:p>
            <a:endParaRPr lang="en-AU" sz="1200" b="1" dirty="0">
              <a:solidFill>
                <a:srgbClr val="A93584"/>
              </a:solidFill>
              <a:latin typeface="Roboto" panose="02000000000000000000" pitchFamily="2" charset="0"/>
              <a:ea typeface="Roboto" panose="02000000000000000000" pitchFamily="2" charset="0"/>
            </a:endParaRPr>
          </a:p>
        </p:txBody>
      </p:sp>
      <p:sp>
        <p:nvSpPr>
          <p:cNvPr id="12" name="TextBox 11">
            <a:extLst>
              <a:ext uri="{FF2B5EF4-FFF2-40B4-BE49-F238E27FC236}">
                <a16:creationId xmlns:a16="http://schemas.microsoft.com/office/drawing/2014/main" id="{4B603A15-41C4-326D-80E1-2AE004C51B50}"/>
              </a:ext>
            </a:extLst>
          </p:cNvPr>
          <p:cNvSpPr txBox="1"/>
          <p:nvPr/>
        </p:nvSpPr>
        <p:spPr>
          <a:xfrm>
            <a:off x="158594" y="3734177"/>
            <a:ext cx="3059029" cy="1522853"/>
          </a:xfrm>
          <a:prstGeom prst="rect">
            <a:avLst/>
          </a:prstGeom>
          <a:noFill/>
        </p:spPr>
        <p:txBody>
          <a:bodyPr wrap="square" lIns="0" tIns="0" rIns="0" bIns="0" rtlCol="0" anchor="t">
            <a:spAutoFit/>
          </a:bodyPr>
          <a:lstStyle>
            <a:defPPr>
              <a:defRPr lang="en-US"/>
            </a:defPPr>
            <a:lvl1pPr>
              <a:lnSpc>
                <a:spcPts val="1500"/>
              </a:lnSpc>
              <a:defRPr sz="1000" spc="13">
                <a:latin typeface="Roboto Light" panose="02000000000000000000" pitchFamily="2" charset="0"/>
                <a:ea typeface="Roboto Light" panose="02000000000000000000" pitchFamily="2" charset="0"/>
                <a:cs typeface="Lato" panose="020F0502020204030203" pitchFamily="34" charset="0"/>
              </a:defRPr>
            </a:lvl1pPr>
          </a:lstStyle>
          <a:p>
            <a:r>
              <a:rPr lang="en-AU" dirty="0"/>
              <a:t>Peter uses a highly collaborative approach with strengths in ensuring that all involved parties, both internal and external, agree and support the requirements of the project plan and deliverables. Peter is often praised for his effective communication with all stakeholders and his ability to provide clarity on technical aspects of a project that can be easily understood by non-technical stakeholders.</a:t>
            </a:r>
            <a:endParaRPr lang="en-US" dirty="0"/>
          </a:p>
        </p:txBody>
      </p:sp>
      <p:sp>
        <p:nvSpPr>
          <p:cNvPr id="16" name="TextBox 15">
            <a:extLst>
              <a:ext uri="{FF2B5EF4-FFF2-40B4-BE49-F238E27FC236}">
                <a16:creationId xmlns:a16="http://schemas.microsoft.com/office/drawing/2014/main" id="{7A53ACAB-BBC9-A3AA-740D-EB947374392F}"/>
              </a:ext>
            </a:extLst>
          </p:cNvPr>
          <p:cNvSpPr txBox="1"/>
          <p:nvPr/>
        </p:nvSpPr>
        <p:spPr>
          <a:xfrm>
            <a:off x="8118489" y="1456630"/>
            <a:ext cx="1951941" cy="227754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Logistics</a:t>
            </a:r>
          </a:p>
          <a:p>
            <a:pPr marL="0" indent="0">
              <a:lnSpc>
                <a:spcPct val="150000"/>
              </a:lnSpc>
              <a:buNone/>
            </a:pPr>
            <a:r>
              <a:rPr lang="en-GB" sz="1200" dirty="0">
                <a:solidFill>
                  <a:srgbClr val="00AB80"/>
                </a:solidFill>
              </a:rPr>
              <a:t>Retail</a:t>
            </a:r>
          </a:p>
          <a:p>
            <a:pPr marL="0" indent="0">
              <a:lnSpc>
                <a:spcPct val="150000"/>
              </a:lnSpc>
              <a:buNone/>
            </a:pPr>
            <a:r>
              <a:rPr lang="en-GB" sz="1200" dirty="0">
                <a:solidFill>
                  <a:srgbClr val="00AB80"/>
                </a:solidFill>
              </a:rPr>
              <a:t>Education</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Healthcare</a:t>
            </a:r>
          </a:p>
          <a:p>
            <a:pPr marL="0" indent="0">
              <a:lnSpc>
                <a:spcPct val="150000"/>
              </a:lnSpc>
              <a:buNone/>
            </a:pPr>
            <a:r>
              <a:rPr lang="en-GB" sz="1200" dirty="0">
                <a:solidFill>
                  <a:srgbClr val="00AB80"/>
                </a:solidFill>
              </a:rPr>
              <a:t>Insurance</a:t>
            </a:r>
          </a:p>
          <a:p>
            <a:pPr marL="0" indent="0">
              <a:lnSpc>
                <a:spcPct val="150000"/>
              </a:lnSpc>
              <a:buNone/>
            </a:pPr>
            <a:r>
              <a:rPr lang="en-GB" sz="1200">
                <a:solidFill>
                  <a:srgbClr val="00AB80"/>
                </a:solidFill>
              </a:rPr>
              <a:t>FMCG</a:t>
            </a:r>
            <a:endParaRPr lang="en-GB" sz="1200" dirty="0">
              <a:solidFill>
                <a:srgbClr val="00AB80"/>
              </a:solidFill>
            </a:endParaRPr>
          </a:p>
          <a:p>
            <a:pPr marL="0" indent="0">
              <a:lnSpc>
                <a:spcPct val="150000"/>
              </a:lnSpc>
              <a:buNone/>
            </a:pPr>
            <a:endParaRPr lang="en-GB" sz="1200" dirty="0">
              <a:solidFill>
                <a:srgbClr val="00AB80"/>
              </a:solidFill>
            </a:endParaRPr>
          </a:p>
        </p:txBody>
      </p:sp>
      <p:sp>
        <p:nvSpPr>
          <p:cNvPr id="9" name="TextBox 8">
            <a:extLst>
              <a:ext uri="{FF2B5EF4-FFF2-40B4-BE49-F238E27FC236}">
                <a16:creationId xmlns:a16="http://schemas.microsoft.com/office/drawing/2014/main" id="{FC1E3E96-4B11-5242-E07F-7D9FDDBB0190}"/>
              </a:ext>
            </a:extLst>
          </p:cNvPr>
          <p:cNvSpPr txBox="1"/>
          <p:nvPr/>
        </p:nvSpPr>
        <p:spPr>
          <a:xfrm>
            <a:off x="3463961" y="1312085"/>
            <a:ext cx="4457043" cy="2554545"/>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r>
              <a:rPr lang="en-US" sz="1000" dirty="0">
                <a:solidFill>
                  <a:schemeClr val="bg1"/>
                </a:solidFill>
              </a:rPr>
              <a:t>Lead a team </a:t>
            </a:r>
            <a:r>
              <a:rPr lang="en-AU" sz="1000" dirty="0">
                <a:solidFill>
                  <a:schemeClr val="bg1"/>
                </a:solidFill>
              </a:rPr>
              <a:t>to install new IBM Power 10 Infrastructure and migrate the SAP System to the new Infrastructure to a new single Storage Platform.</a:t>
            </a:r>
            <a:r>
              <a:rPr lang="en-US" sz="1000" dirty="0">
                <a:solidFill>
                  <a:schemeClr val="bg1"/>
                </a:solidFill>
              </a:rPr>
              <a:t> Responsibilities of this role included:</a:t>
            </a:r>
            <a:endParaRPr lang="en-AU" sz="1000" dirty="0">
              <a:solidFill>
                <a:schemeClr val="bg1"/>
              </a:solidFill>
            </a:endParaRPr>
          </a:p>
          <a:p>
            <a:r>
              <a:rPr lang="en-AU" sz="1000" dirty="0">
                <a:solidFill>
                  <a:schemeClr val="bg1"/>
                </a:solidFill>
              </a:rPr>
              <a:t>End to End project management including, scheduling, Risk and Issue management, resource management and reporting</a:t>
            </a:r>
          </a:p>
          <a:p>
            <a:r>
              <a:rPr lang="en-AU" sz="1000" dirty="0">
                <a:solidFill>
                  <a:schemeClr val="bg1"/>
                </a:solidFill>
              </a:rPr>
              <a:t>Built Business Case to combine 2 Projects into a single delivery project.</a:t>
            </a:r>
          </a:p>
          <a:p>
            <a:r>
              <a:rPr lang="en-AU" sz="1000" dirty="0">
                <a:solidFill>
                  <a:schemeClr val="bg1"/>
                </a:solidFill>
              </a:rPr>
              <a:t>Defined and procured new Frames and Storage Platform to meet business needs in the now and in the future.</a:t>
            </a:r>
          </a:p>
          <a:p>
            <a:r>
              <a:rPr lang="en-AU" sz="1000" dirty="0">
                <a:solidFill>
                  <a:schemeClr val="bg1"/>
                </a:solidFill>
              </a:rPr>
              <a:t>Planned and managed migration of SAP Services (Test, DEV and Production) to the new IBM Power Frames and Storage.</a:t>
            </a:r>
          </a:p>
          <a:p>
            <a:r>
              <a:rPr lang="en-AU" sz="1000" dirty="0">
                <a:solidFill>
                  <a:schemeClr val="bg1"/>
                </a:solidFill>
              </a:rPr>
              <a:t>Planed and managed migration of other systems using the old storage Platforms to new Storage (Windows VM, Oracle, Linux)</a:t>
            </a:r>
          </a:p>
          <a:p>
            <a:r>
              <a:rPr lang="en-AU" sz="1000" dirty="0">
                <a:solidFill>
                  <a:schemeClr val="bg1"/>
                </a:solidFill>
              </a:rPr>
              <a:t>Managed stakeholder reporting from team through to Project Board</a:t>
            </a:r>
          </a:p>
          <a:p>
            <a:r>
              <a:rPr lang="en-AU" sz="1000" dirty="0">
                <a:solidFill>
                  <a:schemeClr val="bg1"/>
                </a:solidFill>
              </a:rPr>
              <a:t>Managed Project-related Risks, Issues, Schedule, internal resources and External Third-Party Vendors</a:t>
            </a:r>
          </a:p>
          <a:p>
            <a:endParaRPr lang="en-US" sz="1000" dirty="0">
              <a:solidFill>
                <a:schemeClr val="bg1"/>
              </a:solidFill>
            </a:endParaRPr>
          </a:p>
        </p:txBody>
      </p:sp>
    </p:spTree>
    <p:extLst>
      <p:ext uri="{BB962C8B-B14F-4D97-AF65-F5344CB8AC3E}">
        <p14:creationId xmlns:p14="http://schemas.microsoft.com/office/powerpoint/2010/main" val="361835268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5F4C7B2-C1C3-4840-AD36-E7C2A48FDCDC}"/>
</file>

<file path=customXml/itemProps2.xml><?xml version="1.0" encoding="utf-8"?>
<ds:datastoreItem xmlns:ds="http://schemas.openxmlformats.org/officeDocument/2006/customXml" ds:itemID="{7BEDE27A-5D3F-48EC-A4D1-3F35063BDCD3}">
  <ds:schemaRefs>
    <ds:schemaRef ds:uri="http://schemas.microsoft.com/sharepoint/v3/contenttype/forms"/>
  </ds:schemaRefs>
</ds:datastoreItem>
</file>

<file path=customXml/itemProps3.xml><?xml version="1.0" encoding="utf-8"?>
<ds:datastoreItem xmlns:ds="http://schemas.openxmlformats.org/officeDocument/2006/customXml" ds:itemID="{2CBCFD15-CFFF-49AE-B6C5-12DE46320969}">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88</TotalTime>
  <Words>611</Words>
  <Application>Microsoft Office PowerPoint</Application>
  <PresentationFormat>Custom</PresentationFormat>
  <Paragraphs>73</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2</cp:revision>
  <dcterms:created xsi:type="dcterms:W3CDTF">2019-12-03T01:50:37Z</dcterms:created>
  <dcterms:modified xsi:type="dcterms:W3CDTF">2023-03-09T00:23:02Z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