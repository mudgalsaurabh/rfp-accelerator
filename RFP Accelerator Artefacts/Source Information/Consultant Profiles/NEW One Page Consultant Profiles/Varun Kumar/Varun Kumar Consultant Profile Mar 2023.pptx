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sldIdLst>
    <p:sldId id="270" r:id="rId5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A93584"/>
    <a:srgbClr val="0059FF"/>
    <a:srgbClr val="0F2B3F"/>
    <a:srgbClr val="00AB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F08C44-AE00-22C1-5E33-2CBFD312DCA7}" v="1" dt="2024-07-05T01:49:46.5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88"/>
    <p:restoredTop sz="95595"/>
  </p:normalViewPr>
  <p:slideViewPr>
    <p:cSldViewPr snapToGrid="0" snapToObjects="1">
      <p:cViewPr varScale="1">
        <p:scale>
          <a:sx n="101" d="100"/>
          <a:sy n="101" d="100"/>
        </p:scale>
        <p:origin x="2148" y="72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cy Roach" userId="ba676ee9-e9b4-49e8-a515-8077106c948d" providerId="ADAL" clId="{16A0F565-148D-48A1-9858-8CB84AB44D1D}"/>
    <pc:docChg chg="undo custSel modSld">
      <pc:chgData name="Darcy Roach" userId="ba676ee9-e9b4-49e8-a515-8077106c948d" providerId="ADAL" clId="{16A0F565-148D-48A1-9858-8CB84AB44D1D}" dt="2024-02-06T22:31:23.615" v="7" actId="14100"/>
      <pc:docMkLst>
        <pc:docMk/>
      </pc:docMkLst>
      <pc:sldChg chg="modSp mod">
        <pc:chgData name="Darcy Roach" userId="ba676ee9-e9b4-49e8-a515-8077106c948d" providerId="ADAL" clId="{16A0F565-148D-48A1-9858-8CB84AB44D1D}" dt="2024-02-06T22:31:23.615" v="7" actId="14100"/>
        <pc:sldMkLst>
          <pc:docMk/>
          <pc:sldMk cId="2009923557" sldId="270"/>
        </pc:sldMkLst>
        <pc:spChg chg="mod">
          <ac:chgData name="Darcy Roach" userId="ba676ee9-e9b4-49e8-a515-8077106c948d" providerId="ADAL" clId="{16A0F565-148D-48A1-9858-8CB84AB44D1D}" dt="2024-02-06T22:30:39.875" v="4" actId="20577"/>
          <ac:spMkLst>
            <pc:docMk/>
            <pc:sldMk cId="2009923557" sldId="270"/>
            <ac:spMk id="19" creationId="{7513C49A-2DF2-8111-FED4-FC07A8EAD258}"/>
          </ac:spMkLst>
        </pc:spChg>
        <pc:grpChg chg="mod">
          <ac:chgData name="Darcy Roach" userId="ba676ee9-e9b4-49e8-a515-8077106c948d" providerId="ADAL" clId="{16A0F565-148D-48A1-9858-8CB84AB44D1D}" dt="2024-02-06T22:30:00.030" v="2" actId="1076"/>
          <ac:grpSpMkLst>
            <pc:docMk/>
            <pc:sldMk cId="2009923557" sldId="270"/>
            <ac:grpSpMk id="9" creationId="{E7DD910D-15D0-5CBC-B70B-D2480ECA3DCA}"/>
          </ac:grpSpMkLst>
        </pc:grpChg>
        <pc:grpChg chg="mod">
          <ac:chgData name="Darcy Roach" userId="ba676ee9-e9b4-49e8-a515-8077106c948d" providerId="ADAL" clId="{16A0F565-148D-48A1-9858-8CB84AB44D1D}" dt="2024-02-06T22:30:00.030" v="2" actId="1076"/>
          <ac:grpSpMkLst>
            <pc:docMk/>
            <pc:sldMk cId="2009923557" sldId="270"/>
            <ac:grpSpMk id="12" creationId="{C465E181-1D5D-D878-8A71-F5848AAF858F}"/>
          </ac:grpSpMkLst>
        </pc:grpChg>
        <pc:grpChg chg="mod">
          <ac:chgData name="Darcy Roach" userId="ba676ee9-e9b4-49e8-a515-8077106c948d" providerId="ADAL" clId="{16A0F565-148D-48A1-9858-8CB84AB44D1D}" dt="2024-02-06T22:30:00.030" v="2" actId="1076"/>
          <ac:grpSpMkLst>
            <pc:docMk/>
            <pc:sldMk cId="2009923557" sldId="270"/>
            <ac:grpSpMk id="34" creationId="{0BBEF8AB-50F3-A0AA-9946-9CFF5A8CFABB}"/>
          </ac:grpSpMkLst>
        </pc:grpChg>
        <pc:cxnChg chg="mod">
          <ac:chgData name="Darcy Roach" userId="ba676ee9-e9b4-49e8-a515-8077106c948d" providerId="ADAL" clId="{16A0F565-148D-48A1-9858-8CB84AB44D1D}" dt="2024-02-06T22:31:23.615" v="7" actId="14100"/>
          <ac:cxnSpMkLst>
            <pc:docMk/>
            <pc:sldMk cId="2009923557" sldId="270"/>
            <ac:cxnSpMk id="3" creationId="{67C34E10-2CF8-9BCA-1CC6-D78A3FF9CA80}"/>
          </ac:cxnSpMkLst>
        </pc:cxnChg>
        <pc:cxnChg chg="mod">
          <ac:chgData name="Darcy Roach" userId="ba676ee9-e9b4-49e8-a515-8077106c948d" providerId="ADAL" clId="{16A0F565-148D-48A1-9858-8CB84AB44D1D}" dt="2024-02-06T22:30:52.848" v="5" actId="14100"/>
          <ac:cxnSpMkLst>
            <pc:docMk/>
            <pc:sldMk cId="2009923557" sldId="270"/>
            <ac:cxnSpMk id="21" creationId="{B0913DE4-461D-CE43-AABC-C4B3D7D22F45}"/>
          </ac:cxnSpMkLst>
        </pc:cxnChg>
        <pc:cxnChg chg="mod">
          <ac:chgData name="Darcy Roach" userId="ba676ee9-e9b4-49e8-a515-8077106c948d" providerId="ADAL" clId="{16A0F565-148D-48A1-9858-8CB84AB44D1D}" dt="2024-02-06T22:31:06.759" v="6" actId="14100"/>
          <ac:cxnSpMkLst>
            <pc:docMk/>
            <pc:sldMk cId="2009923557" sldId="270"/>
            <ac:cxnSpMk id="170" creationId="{0D51728F-48BB-14BB-256E-5F0C0284BCDF}"/>
          </ac:cxnSpMkLst>
        </pc:cxnChg>
      </pc:sldChg>
    </pc:docChg>
  </pc:docChgLst>
  <pc:docChgLst>
    <pc:chgData name="Hugo Bates" userId="S::hugo.bates@intelia.com.au::ba74953f-2fdb-4aeb-90e3-56b78010c38c" providerId="AD" clId="Web-{49F08C44-AE00-22C1-5E33-2CBFD312DCA7}"/>
    <pc:docChg chg="modSld">
      <pc:chgData name="Hugo Bates" userId="S::hugo.bates@intelia.com.au::ba74953f-2fdb-4aeb-90e3-56b78010c38c" providerId="AD" clId="Web-{49F08C44-AE00-22C1-5E33-2CBFD312DCA7}" dt="2024-07-05T01:49:46.507" v="0" actId="14100"/>
      <pc:docMkLst>
        <pc:docMk/>
      </pc:docMkLst>
      <pc:sldChg chg="modSp">
        <pc:chgData name="Hugo Bates" userId="S::hugo.bates@intelia.com.au::ba74953f-2fdb-4aeb-90e3-56b78010c38c" providerId="AD" clId="Web-{49F08C44-AE00-22C1-5E33-2CBFD312DCA7}" dt="2024-07-05T01:49:46.507" v="0" actId="14100"/>
        <pc:sldMkLst>
          <pc:docMk/>
          <pc:sldMk cId="2009923557" sldId="270"/>
        </pc:sldMkLst>
        <pc:spChg chg="mod">
          <ac:chgData name="Hugo Bates" userId="S::hugo.bates@intelia.com.au::ba74953f-2fdb-4aeb-90e3-56b78010c38c" providerId="AD" clId="Web-{49F08C44-AE00-22C1-5E33-2CBFD312DCA7}" dt="2024-07-05T01:49:46.507" v="0" actId="14100"/>
          <ac:spMkLst>
            <pc:docMk/>
            <pc:sldMk cId="2009923557" sldId="270"/>
            <ac:spMk id="23" creationId="{5D7A612B-9DC7-1D9B-3085-CDB0F937FDB8}"/>
          </ac:spMkLst>
        </pc:spChg>
      </pc:sldChg>
    </pc:docChg>
  </pc:docChgLst>
  <pc:docChgLst>
    <pc:chgData name="Darcy Roach" userId="ba676ee9-e9b4-49e8-a515-8077106c948d" providerId="ADAL" clId="{F40B46B3-4F95-4371-9D85-02FE7F0C84C0}"/>
    <pc:docChg chg="undo custSel modSld">
      <pc:chgData name="Darcy Roach" userId="ba676ee9-e9b4-49e8-a515-8077106c948d" providerId="ADAL" clId="{F40B46B3-4F95-4371-9D85-02FE7F0C84C0}" dt="2023-03-27T23:39:30.908" v="1337" actId="1076"/>
      <pc:docMkLst>
        <pc:docMk/>
      </pc:docMkLst>
      <pc:sldChg chg="modSp mod">
        <pc:chgData name="Darcy Roach" userId="ba676ee9-e9b4-49e8-a515-8077106c948d" providerId="ADAL" clId="{F40B46B3-4F95-4371-9D85-02FE7F0C84C0}" dt="2023-03-27T23:39:30.908" v="1337" actId="1076"/>
        <pc:sldMkLst>
          <pc:docMk/>
          <pc:sldMk cId="2009923557" sldId="270"/>
        </pc:sldMkLst>
        <pc:spChg chg="mod">
          <ac:chgData name="Darcy Roach" userId="ba676ee9-e9b4-49e8-a515-8077106c948d" providerId="ADAL" clId="{F40B46B3-4F95-4371-9D85-02FE7F0C84C0}" dt="2023-03-27T01:25:04.684" v="667" actId="207"/>
          <ac:spMkLst>
            <pc:docMk/>
            <pc:sldMk cId="2009923557" sldId="270"/>
            <ac:spMk id="2" creationId="{2FA774CA-3857-9308-4D38-9414B0CC2B95}"/>
          </ac:spMkLst>
        </pc:spChg>
        <pc:spChg chg="mod">
          <ac:chgData name="Darcy Roach" userId="ba676ee9-e9b4-49e8-a515-8077106c948d" providerId="ADAL" clId="{F40B46B3-4F95-4371-9D85-02FE7F0C84C0}" dt="2023-03-27T02:44:31.516" v="1308" actId="20577"/>
          <ac:spMkLst>
            <pc:docMk/>
            <pc:sldMk cId="2009923557" sldId="270"/>
            <ac:spMk id="4" creationId="{80F49B2F-21D4-F9EB-049F-717A10CB7D84}"/>
          </ac:spMkLst>
        </pc:spChg>
        <pc:spChg chg="mod">
          <ac:chgData name="Darcy Roach" userId="ba676ee9-e9b4-49e8-a515-8077106c948d" providerId="ADAL" clId="{F40B46B3-4F95-4371-9D85-02FE7F0C84C0}" dt="2023-03-27T01:25:26.474" v="670" actId="207"/>
          <ac:spMkLst>
            <pc:docMk/>
            <pc:sldMk cId="2009923557" sldId="270"/>
            <ac:spMk id="6" creationId="{701E125D-B356-8A2A-B86B-AB6567CEABE1}"/>
          </ac:spMkLst>
        </pc:spChg>
        <pc:spChg chg="mod">
          <ac:chgData name="Darcy Roach" userId="ba676ee9-e9b4-49e8-a515-8077106c948d" providerId="ADAL" clId="{F40B46B3-4F95-4371-9D85-02FE7F0C84C0}" dt="2023-03-27T23:29:42.685" v="1335" actId="108"/>
          <ac:spMkLst>
            <pc:docMk/>
            <pc:sldMk cId="2009923557" sldId="270"/>
            <ac:spMk id="8" creationId="{59FEB941-5146-6B10-4E4D-8A4ADE918AEF}"/>
          </ac:spMkLst>
        </pc:spChg>
        <pc:spChg chg="mod">
          <ac:chgData name="Darcy Roach" userId="ba676ee9-e9b4-49e8-a515-8077106c948d" providerId="ADAL" clId="{F40B46B3-4F95-4371-9D85-02FE7F0C84C0}" dt="2023-03-27T23:29:33.015" v="1334" actId="108"/>
          <ac:spMkLst>
            <pc:docMk/>
            <pc:sldMk cId="2009923557" sldId="270"/>
            <ac:spMk id="10" creationId="{06312B81-BCF1-2796-C112-3DBE0E02F483}"/>
          </ac:spMkLst>
        </pc:spChg>
        <pc:spChg chg="mod">
          <ac:chgData name="Darcy Roach" userId="ba676ee9-e9b4-49e8-a515-8077106c948d" providerId="ADAL" clId="{F40B46B3-4F95-4371-9D85-02FE7F0C84C0}" dt="2023-03-27T00:39:56.468" v="27" actId="20577"/>
          <ac:spMkLst>
            <pc:docMk/>
            <pc:sldMk cId="2009923557" sldId="270"/>
            <ac:spMk id="13" creationId="{FD2720C9-A79F-BD7F-E179-674AD67D7892}"/>
          </ac:spMkLst>
        </pc:spChg>
        <pc:spChg chg="mod">
          <ac:chgData name="Darcy Roach" userId="ba676ee9-e9b4-49e8-a515-8077106c948d" providerId="ADAL" clId="{F40B46B3-4F95-4371-9D85-02FE7F0C84C0}" dt="2023-03-27T01:26:18.286" v="705" actId="20577"/>
          <ac:spMkLst>
            <pc:docMk/>
            <pc:sldMk cId="2009923557" sldId="270"/>
            <ac:spMk id="17" creationId="{1BDE5051-9F34-F139-742D-4450E5D6591E}"/>
          </ac:spMkLst>
        </pc:spChg>
        <pc:spChg chg="mod">
          <ac:chgData name="Darcy Roach" userId="ba676ee9-e9b4-49e8-a515-8077106c948d" providerId="ADAL" clId="{F40B46B3-4F95-4371-9D85-02FE7F0C84C0}" dt="2023-03-27T23:29:27.491" v="1333" actId="108"/>
          <ac:spMkLst>
            <pc:docMk/>
            <pc:sldMk cId="2009923557" sldId="270"/>
            <ac:spMk id="19" creationId="{7513C49A-2DF2-8111-FED4-FC07A8EAD258}"/>
          </ac:spMkLst>
        </pc:spChg>
        <pc:spChg chg="mod">
          <ac:chgData name="Darcy Roach" userId="ba676ee9-e9b4-49e8-a515-8077106c948d" providerId="ADAL" clId="{F40B46B3-4F95-4371-9D85-02FE7F0C84C0}" dt="2023-03-27T00:40:08.126" v="34" actId="20577"/>
          <ac:spMkLst>
            <pc:docMk/>
            <pc:sldMk cId="2009923557" sldId="270"/>
            <ac:spMk id="22" creationId="{9D4E289E-1D52-CBDD-E381-40963429D7F1}"/>
          </ac:spMkLst>
        </pc:spChg>
        <pc:spChg chg="mod">
          <ac:chgData name="Darcy Roach" userId="ba676ee9-e9b4-49e8-a515-8077106c948d" providerId="ADAL" clId="{F40B46B3-4F95-4371-9D85-02FE7F0C84C0}" dt="2023-03-27T02:37:11.807" v="1254" actId="20577"/>
          <ac:spMkLst>
            <pc:docMk/>
            <pc:sldMk cId="2009923557" sldId="270"/>
            <ac:spMk id="26" creationId="{1A3D666D-00C8-D106-73C3-9FF300F8618C}"/>
          </ac:spMkLst>
        </pc:spChg>
        <pc:spChg chg="mod">
          <ac:chgData name="Darcy Roach" userId="ba676ee9-e9b4-49e8-a515-8077106c948d" providerId="ADAL" clId="{F40B46B3-4F95-4371-9D85-02FE7F0C84C0}" dt="2023-03-27T01:48:38.808" v="1126" actId="20577"/>
          <ac:spMkLst>
            <pc:docMk/>
            <pc:sldMk cId="2009923557" sldId="270"/>
            <ac:spMk id="37" creationId="{FD455699-2218-9DB9-D907-E04C8F8833F1}"/>
          </ac:spMkLst>
        </pc:spChg>
        <pc:spChg chg="mod">
          <ac:chgData name="Darcy Roach" userId="ba676ee9-e9b4-49e8-a515-8077106c948d" providerId="ADAL" clId="{F40B46B3-4F95-4371-9D85-02FE7F0C84C0}" dt="2023-03-27T01:02:06.426" v="234" actId="20577"/>
          <ac:spMkLst>
            <pc:docMk/>
            <pc:sldMk cId="2009923557" sldId="270"/>
            <ac:spMk id="38" creationId="{AB47A2EE-BF0B-DB05-8B7C-DB6594B2B3D5}"/>
          </ac:spMkLst>
        </pc:spChg>
        <pc:spChg chg="mod">
          <ac:chgData name="Darcy Roach" userId="ba676ee9-e9b4-49e8-a515-8077106c948d" providerId="ADAL" clId="{F40B46B3-4F95-4371-9D85-02FE7F0C84C0}" dt="2023-03-27T01:28:32.730" v="732"/>
          <ac:spMkLst>
            <pc:docMk/>
            <pc:sldMk cId="2009923557" sldId="270"/>
            <ac:spMk id="175" creationId="{B9775FC7-7124-8CCA-9B1C-7CCD7D3DF384}"/>
          </ac:spMkLst>
        </pc:spChg>
        <pc:grpChg chg="mod">
          <ac:chgData name="Darcy Roach" userId="ba676ee9-e9b4-49e8-a515-8077106c948d" providerId="ADAL" clId="{F40B46B3-4F95-4371-9D85-02FE7F0C84C0}" dt="2023-03-27T23:39:15.248" v="1336" actId="1076"/>
          <ac:grpSpMkLst>
            <pc:docMk/>
            <pc:sldMk cId="2009923557" sldId="270"/>
            <ac:grpSpMk id="12" creationId="{C465E181-1D5D-D878-8A71-F5848AAF858F}"/>
          </ac:grpSpMkLst>
        </pc:grpChg>
        <pc:grpChg chg="mod">
          <ac:chgData name="Darcy Roach" userId="ba676ee9-e9b4-49e8-a515-8077106c948d" providerId="ADAL" clId="{F40B46B3-4F95-4371-9D85-02FE7F0C84C0}" dt="2023-03-27T23:39:30.908" v="1337" actId="1076"/>
          <ac:grpSpMkLst>
            <pc:docMk/>
            <pc:sldMk cId="2009923557" sldId="270"/>
            <ac:grpSpMk id="34" creationId="{0BBEF8AB-50F3-A0AA-9946-9CFF5A8CFABB}"/>
          </ac:grpSpMkLst>
        </pc:grpChg>
        <pc:cxnChg chg="mod">
          <ac:chgData name="Darcy Roach" userId="ba676ee9-e9b4-49e8-a515-8077106c948d" providerId="ADAL" clId="{F40B46B3-4F95-4371-9D85-02FE7F0C84C0}" dt="2023-03-27T01:25:20.065" v="669" actId="208"/>
          <ac:cxnSpMkLst>
            <pc:docMk/>
            <pc:sldMk cId="2009923557" sldId="270"/>
            <ac:cxnSpMk id="3" creationId="{67C34E10-2CF8-9BCA-1CC6-D78A3FF9CA80}"/>
          </ac:cxnSpMkLst>
        </pc:cxnChg>
        <pc:cxnChg chg="mod">
          <ac:chgData name="Darcy Roach" userId="ba676ee9-e9b4-49e8-a515-8077106c948d" providerId="ADAL" clId="{F40B46B3-4F95-4371-9D85-02FE7F0C84C0}" dt="2023-03-27T01:25:41.799" v="672" actId="14100"/>
          <ac:cxnSpMkLst>
            <pc:docMk/>
            <pc:sldMk cId="2009923557" sldId="270"/>
            <ac:cxnSpMk id="15" creationId="{F87F05F2-DA4C-4F55-A5D0-1887110DF155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0" y="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29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225629" y="120831"/>
            <a:ext cx="2760388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Varun </a:t>
            </a:r>
          </a:p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Kumar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E5051-9F34-F139-742D-4450E5D6591E}"/>
              </a:ext>
            </a:extLst>
          </p:cNvPr>
          <p:cNvSpPr txBox="1"/>
          <p:nvPr/>
        </p:nvSpPr>
        <p:spPr>
          <a:xfrm>
            <a:off x="234576" y="1560956"/>
            <a:ext cx="2916523" cy="133049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Varun is an experienced Google Cloud Platform Certified Data Engineer with an extensive background in web analytics, big data, machine learning and web development. Varun possesses excellent data analysis/wrangling skills with the ability to set up complicated data pipelines for custom solutions, ML models, trends and insights.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152027" y="1239722"/>
            <a:ext cx="502920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b="1" spc="13" dirty="0">
                <a:solidFill>
                  <a:srgbClr val="00AB8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Profile</a:t>
            </a:r>
            <a:endParaRPr lang="en-US" sz="400" b="1" spc="13" dirty="0">
              <a:solidFill>
                <a:srgbClr val="00AB8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250509" y="959224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spc="13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Senior Consultant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53235" y="5383700"/>
            <a:ext cx="2940578" cy="238947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716674" y="5747849"/>
            <a:ext cx="1510046" cy="230832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 err="1">
                <a:latin typeface="Roboto Light" panose="02000000000000000000" pitchFamily="2" charset="0"/>
                <a:ea typeface="Roboto Light" panose="02000000000000000000" pitchFamily="2" charset="0"/>
              </a:rPr>
              <a:t>BigQuery</a:t>
            </a: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Google Analytics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Python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Java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SQL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Studio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Flow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R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Git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Pub/Sub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 err="1">
                <a:latin typeface="Roboto Light" panose="02000000000000000000" pitchFamily="2" charset="0"/>
                <a:ea typeface="Roboto Light" panose="02000000000000000000" pitchFamily="2" charset="0"/>
              </a:rPr>
              <a:t>Tensorflow</a:t>
            </a: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Apache Beam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Docker</a:t>
            </a:r>
          </a:p>
          <a:p>
            <a:pPr>
              <a:buClr>
                <a:srgbClr val="00AB80"/>
              </a:buClr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56C067-11D9-4FE3-B97E-743BDA13E1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2796" y="6641662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252" y="7221015"/>
            <a:ext cx="1187809" cy="4798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EA81938-6A76-B850-B0E8-A5F905AEBA98}"/>
              </a:ext>
            </a:extLst>
          </p:cNvPr>
          <p:cNvSpPr txBox="1"/>
          <p:nvPr/>
        </p:nvSpPr>
        <p:spPr>
          <a:xfrm>
            <a:off x="8192705" y="2964735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Certification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35461" y="957777"/>
            <a:ext cx="0" cy="541444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880726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Industry</a:t>
            </a:r>
          </a:p>
          <a:p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Experience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B9775FC7-7124-8CCA-9B1C-7CCD7D3DF384}"/>
              </a:ext>
            </a:extLst>
          </p:cNvPr>
          <p:cNvSpPr txBox="1"/>
          <p:nvPr/>
        </p:nvSpPr>
        <p:spPr>
          <a:xfrm>
            <a:off x="8118489" y="1456630"/>
            <a:ext cx="1951941" cy="172354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Retail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Financial Services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Insurance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Software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Web Development</a:t>
            </a:r>
          </a:p>
          <a:p>
            <a:pPr marL="0" indent="0">
              <a:lnSpc>
                <a:spcPct val="150000"/>
              </a:lnSpc>
              <a:buNone/>
            </a:pPr>
            <a:endParaRPr lang="en-GB" sz="1200" dirty="0">
              <a:solidFill>
                <a:srgbClr val="00AB80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453698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80A06B1-0A2F-7DF6-91DB-0F6DFA896A23}"/>
              </a:ext>
            </a:extLst>
          </p:cNvPr>
          <p:cNvGrpSpPr/>
          <p:nvPr/>
        </p:nvGrpSpPr>
        <p:grpSpPr>
          <a:xfrm>
            <a:off x="8106458" y="3180179"/>
            <a:ext cx="1963972" cy="3600986"/>
            <a:chOff x="8106458" y="2681447"/>
            <a:chExt cx="1963972" cy="3600986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72A9DC1-BA60-5A54-0907-130AE22B314D}"/>
                </a:ext>
              </a:extLst>
            </p:cNvPr>
            <p:cNvCxnSpPr>
              <a:cxnSpLocks/>
            </p:cNvCxnSpPr>
            <p:nvPr/>
          </p:nvCxnSpPr>
          <p:spPr>
            <a:xfrm>
              <a:off x="8192160" y="2773308"/>
              <a:ext cx="1734788" cy="0"/>
            </a:xfrm>
            <a:prstGeom prst="line">
              <a:avLst/>
            </a:prstGeom>
            <a:ln w="19050">
              <a:solidFill>
                <a:srgbClr val="00AB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47A2EE-BF0B-DB05-8B7C-DB6594B2B3D5}"/>
                </a:ext>
              </a:extLst>
            </p:cNvPr>
            <p:cNvSpPr txBox="1"/>
            <p:nvPr/>
          </p:nvSpPr>
          <p:spPr>
            <a:xfrm>
              <a:off x="8106458" y="2681447"/>
              <a:ext cx="1963972" cy="36009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tabLst>
                  <a:tab pos="3819525" algn="l"/>
                  <a:tab pos="3895725" algn="l"/>
                </a:tabLst>
              </a:pPr>
              <a:endParaRPr lang="en-AU" sz="1200" dirty="0">
                <a:solidFill>
                  <a:srgbClr val="00AB8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Google Cloud Certified | Professional Data Engineer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Google Cloud – Big Data &amp; Machine Learning Fundamentals 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Google Cloud – Modernising Data Lakes with GCP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Bachelor</a:t>
              </a: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 -  Technology Electronics &amp; Communication UPTU University</a:t>
              </a: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, India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endParaRPr lang="en-AU" sz="1200" dirty="0">
                <a:solidFill>
                  <a:srgbClr val="00AB8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465E181-1D5D-D878-8A71-F5848AAF858F}"/>
              </a:ext>
            </a:extLst>
          </p:cNvPr>
          <p:cNvGrpSpPr/>
          <p:nvPr/>
        </p:nvGrpSpPr>
        <p:grpSpPr>
          <a:xfrm>
            <a:off x="3361806" y="3389801"/>
            <a:ext cx="4651228" cy="2350830"/>
            <a:chOff x="3335753" y="5068700"/>
            <a:chExt cx="4651228" cy="2350830"/>
          </a:xfrm>
        </p:grpSpPr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E52FDF9F-B084-9074-7DB9-539AD5456487}"/>
                </a:ext>
              </a:extLst>
            </p:cNvPr>
            <p:cNvGrpSpPr/>
            <p:nvPr/>
          </p:nvGrpSpPr>
          <p:grpSpPr>
            <a:xfrm>
              <a:off x="3428144" y="5326649"/>
              <a:ext cx="4546254" cy="2092881"/>
              <a:chOff x="5030740" y="2225627"/>
              <a:chExt cx="4856102" cy="2092881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6312B81-BCF1-2796-C112-3DBE0E02F483}"/>
                  </a:ext>
                </a:extLst>
              </p:cNvPr>
              <p:cNvSpPr txBox="1"/>
              <p:nvPr/>
            </p:nvSpPr>
            <p:spPr>
              <a:xfrm>
                <a:off x="5059474" y="2225627"/>
                <a:ext cx="4827368" cy="2092881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>
                <a:defPPr>
                  <a:defRPr lang="en-US"/>
                </a:defPPr>
                <a:lvl1pPr marL="171450" indent="-171450">
                  <a:buClr>
                    <a:srgbClr val="00AB80"/>
                  </a:buClr>
                  <a:buFont typeface="Arial" panose="020B0604020202020204" pitchFamily="34" charset="0"/>
                  <a:buChar char="•"/>
                  <a:defRPr sz="90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defRPr>
                </a:lvl1pPr>
              </a:lstStyle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Understand client requirements to offer innovative data driven solutions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Implemented data pipelines to transform client analytics data and provide insights to help the marketing team create, analyse and fine tune the marketing campaigns for best results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Ingested and joint data from various client data sources to make composite dashboards enhanced with ML powered projections 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Developed data dashboards in custom built UI’s as well as Data Studio to display clusters, trends and projections.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Trained management team in new and emerging technologies and how they can benefit clients to improve the company’s product offerings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Presented dashboards to clients as well as management showcasing the insights derived and the process involved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Managed budgets and code repositories of the cloud projects</a:t>
                </a: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87F05F2-DA4C-4F55-A5D0-1887110DF1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0740" y="2294036"/>
                <a:ext cx="0" cy="2024472"/>
              </a:xfrm>
              <a:prstGeom prst="line">
                <a:avLst/>
              </a:prstGeom>
              <a:ln w="19050">
                <a:solidFill>
                  <a:srgbClr val="A9358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FA774CA-3857-9308-4D38-9414B0CC2B95}"/>
                </a:ext>
              </a:extLst>
            </p:cNvPr>
            <p:cNvSpPr txBox="1"/>
            <p:nvPr/>
          </p:nvSpPr>
          <p:spPr>
            <a:xfrm>
              <a:off x="3335753" y="5068700"/>
              <a:ext cx="46512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200" b="1" dirty="0">
                  <a:solidFill>
                    <a:srgbClr val="A93584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Digital Design &amp; Communications Agency – Data Engineer 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0F49B2F-21D4-F9EB-049F-717A10CB7D84}"/>
              </a:ext>
            </a:extLst>
          </p:cNvPr>
          <p:cNvSpPr txBox="1"/>
          <p:nvPr/>
        </p:nvSpPr>
        <p:spPr>
          <a:xfrm>
            <a:off x="131065" y="5747849"/>
            <a:ext cx="1528457" cy="216982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Google Cloud Platform 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Engineering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Migration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Integration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Wrangling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Analysis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Deep Learning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Web Development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Structures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Visualisations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Artificial Intelligence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Machine Learning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Cloud Computing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A2B4B-DF73-B449-C876-B221F898C872}"/>
              </a:ext>
            </a:extLst>
          </p:cNvPr>
          <p:cNvSpPr txBox="1"/>
          <p:nvPr/>
        </p:nvSpPr>
        <p:spPr>
          <a:xfrm>
            <a:off x="-19943" y="5386173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 Skills &amp; Technologies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BBEF8AB-50F3-A0AA-9946-9CFF5A8CFABB}"/>
              </a:ext>
            </a:extLst>
          </p:cNvPr>
          <p:cNvGrpSpPr/>
          <p:nvPr/>
        </p:nvGrpSpPr>
        <p:grpSpPr>
          <a:xfrm>
            <a:off x="3321267" y="5842612"/>
            <a:ext cx="4691767" cy="1707243"/>
            <a:chOff x="3321267" y="1094557"/>
            <a:chExt cx="4691767" cy="1707243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67C34E10-2CF8-9BCA-1CC6-D78A3FF9CA80}"/>
                </a:ext>
              </a:extLst>
            </p:cNvPr>
            <p:cNvCxnSpPr>
              <a:cxnSpLocks/>
            </p:cNvCxnSpPr>
            <p:nvPr/>
          </p:nvCxnSpPr>
          <p:spPr>
            <a:xfrm>
              <a:off x="3428143" y="1405555"/>
              <a:ext cx="0" cy="1392758"/>
            </a:xfrm>
            <a:prstGeom prst="line">
              <a:avLst/>
            </a:prstGeom>
            <a:ln w="19050"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01E125D-B356-8A2A-B86B-AB6567CEABE1}"/>
                </a:ext>
              </a:extLst>
            </p:cNvPr>
            <p:cNvSpPr txBox="1"/>
            <p:nvPr/>
          </p:nvSpPr>
          <p:spPr>
            <a:xfrm>
              <a:off x="3321267" y="1094557"/>
              <a:ext cx="35269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rgbClr val="ED7D3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Web Development </a:t>
              </a:r>
              <a:r>
                <a:rPr lang="en-US" sz="1200" b="1" dirty="0" err="1">
                  <a:solidFill>
                    <a:srgbClr val="ED7D3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Organisation</a:t>
              </a:r>
              <a:endParaRPr lang="en-AU" sz="1200" b="1" dirty="0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9FEB941-5146-6B10-4E4D-8A4ADE918AEF}"/>
                </a:ext>
              </a:extLst>
            </p:cNvPr>
            <p:cNvSpPr txBox="1"/>
            <p:nvPr/>
          </p:nvSpPr>
          <p:spPr>
            <a:xfrm>
              <a:off x="3463961" y="1324472"/>
              <a:ext cx="4549073" cy="1477328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Lead a team of web developers and designers to deliver Magento/OpenCart/WordPress based websites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Handled web development aspects of high value/complicated projects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Managed GIT repositories of the company projects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Set-up Google Webmasters, Google Analytics and Google Tag Manager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Quotes/time estimates for new projects and liaised with the business development team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Liaised with clients to create marketing as well as web development strategies which best suit their needs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7DD910D-15D0-5CBC-B70B-D2480ECA3DCA}"/>
              </a:ext>
            </a:extLst>
          </p:cNvPr>
          <p:cNvGrpSpPr/>
          <p:nvPr/>
        </p:nvGrpSpPr>
        <p:grpSpPr>
          <a:xfrm>
            <a:off x="3329099" y="1066306"/>
            <a:ext cx="4709988" cy="2479463"/>
            <a:chOff x="3303046" y="6194352"/>
            <a:chExt cx="4709988" cy="263262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0B3FDFC-4A78-346F-E1D4-E183BEB90A60}"/>
                </a:ext>
              </a:extLst>
            </p:cNvPr>
            <p:cNvGrpSpPr/>
            <p:nvPr/>
          </p:nvGrpSpPr>
          <p:grpSpPr>
            <a:xfrm>
              <a:off x="3428144" y="6441420"/>
              <a:ext cx="4584890" cy="2385560"/>
              <a:chOff x="5023753" y="4494578"/>
              <a:chExt cx="4757437" cy="2385560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513C49A-2DF2-8111-FED4-FC07A8EAD258}"/>
                  </a:ext>
                </a:extLst>
              </p:cNvPr>
              <p:cNvSpPr txBox="1"/>
              <p:nvPr/>
            </p:nvSpPr>
            <p:spPr>
              <a:xfrm>
                <a:off x="5059474" y="4494578"/>
                <a:ext cx="4721716" cy="2385560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>
                <a:defPPr>
                  <a:defRPr lang="en-US"/>
                </a:defPPr>
                <a:lvl1pPr marL="171450" indent="-171450">
                  <a:buClr>
                    <a:srgbClr val="00AB80"/>
                  </a:buClr>
                  <a:buFont typeface="Arial" panose="020B0604020202020204" pitchFamily="34" charset="0"/>
                  <a:buChar char="•"/>
                  <a:defRPr sz="90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defRPr>
                </a:lvl1pPr>
              </a:lstStyle>
              <a:p>
                <a:r>
                  <a:rPr lang="en-AU" sz="1000" dirty="0"/>
                  <a:t>Designed and developed an architecture to implement real-time streaming CDC across clouds (AWS to GCP) that handles schema evolution using </a:t>
                </a:r>
                <a:r>
                  <a:rPr lang="en-AU" sz="1000" dirty="0" err="1"/>
                  <a:t>Debezium</a:t>
                </a:r>
                <a:r>
                  <a:rPr lang="en-AU" sz="1000" dirty="0"/>
                  <a:t>, Redis, Pub/Sub, Dataflow, Cloud Functions. GCS &amp; </a:t>
                </a:r>
                <a:r>
                  <a:rPr lang="en-AU" sz="1000" dirty="0" err="1"/>
                  <a:t>BigQuery</a:t>
                </a:r>
                <a:r>
                  <a:rPr lang="en-AU" sz="1000" dirty="0"/>
                  <a:t>.</a:t>
                </a:r>
              </a:p>
              <a:p>
                <a:r>
                  <a:rPr lang="en-AU" sz="1000" dirty="0"/>
                  <a:t>Implemented CDC across different types of databases including SQL Server and MySQL.</a:t>
                </a:r>
              </a:p>
              <a:p>
                <a:r>
                  <a:rPr lang="en-AU" sz="1000" dirty="0"/>
                  <a:t>Designed and implemented a process to ingest data directly from Pub/Sub to </a:t>
                </a:r>
                <a:r>
                  <a:rPr lang="en-AU" sz="1000" dirty="0" err="1"/>
                  <a:t>BigQuery</a:t>
                </a:r>
                <a:r>
                  <a:rPr lang="en-AU" sz="1000" dirty="0"/>
                  <a:t> that can handle schema changes.</a:t>
                </a:r>
              </a:p>
              <a:p>
                <a:r>
                  <a:rPr lang="en-AU" sz="1000" dirty="0"/>
                  <a:t>Developed a process to backfill data using AWS DMS, DTS, GCS, Cloud Functions and </a:t>
                </a:r>
                <a:r>
                  <a:rPr lang="en-AU" sz="1000" dirty="0" err="1"/>
                  <a:t>BigQuery</a:t>
                </a:r>
                <a:r>
                  <a:rPr lang="en-AU" sz="1000" dirty="0"/>
                  <a:t>.</a:t>
                </a:r>
              </a:p>
              <a:p>
                <a:r>
                  <a:rPr lang="en-AU" sz="1000" dirty="0"/>
                  <a:t>Created custom monitoring dashboards using Cloud Monitoring.</a:t>
                </a:r>
              </a:p>
              <a:p>
                <a:r>
                  <a:rPr lang="en-AU" sz="1000" dirty="0"/>
                  <a:t>Created custom alerting policies and notification channels along with automated handling of well-defined errors using Pub/Sub and Cloud Functions.</a:t>
                </a:r>
              </a:p>
              <a:p>
                <a:endParaRPr lang="en-AU" sz="1000" dirty="0"/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B0913DE4-461D-CE43-AABC-C4B3D7D22F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3753" y="4579160"/>
                <a:ext cx="0" cy="2010340"/>
              </a:xfrm>
              <a:prstGeom prst="line">
                <a:avLst/>
              </a:prstGeom>
              <a:ln w="19050">
                <a:solidFill>
                  <a:srgbClr val="0059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059F888-3BDF-A1C0-65E5-CB6FDD43D97C}"/>
                </a:ext>
              </a:extLst>
            </p:cNvPr>
            <p:cNvSpPr txBox="1"/>
            <p:nvPr/>
          </p:nvSpPr>
          <p:spPr>
            <a:xfrm>
              <a:off x="3303046" y="6194352"/>
              <a:ext cx="35269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rgbClr val="0059F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Large Australian Online Retailer </a:t>
              </a:r>
              <a:endParaRPr lang="en-AU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FD455699-2218-9DB9-D907-E04C8F8833F1}"/>
              </a:ext>
            </a:extLst>
          </p:cNvPr>
          <p:cNvSpPr txBox="1"/>
          <p:nvPr/>
        </p:nvSpPr>
        <p:spPr>
          <a:xfrm>
            <a:off x="234576" y="3009572"/>
            <a:ext cx="2857686" cy="20999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1500"/>
              </a:lnSpc>
              <a:defRPr sz="1000" spc="13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defRPr>
            </a:lvl1pPr>
          </a:lstStyle>
          <a:p>
            <a:r>
              <a:rPr lang="en-AU" dirty="0"/>
              <a:t>Varun is well practiced when working with data in the Retail, Financial Services, and Insurance industries, he is a strong believer that data drives performance. As an excellent front-end developer, Varun is highly skilled in developing custom data dashboards and UI’s using a wide variety of visualisation libraries. Varun is a terrific communicator and expresses his passion for helping businesses reap the benefits of data-driven decision making and collaborating with organisations to achieve the best possible results. </a:t>
            </a:r>
          </a:p>
        </p:txBody>
      </p:sp>
    </p:spTree>
    <p:extLst>
      <p:ext uri="{BB962C8B-B14F-4D97-AF65-F5344CB8AC3E}">
        <p14:creationId xmlns:p14="http://schemas.microsoft.com/office/powerpoint/2010/main" val="2009923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5604DA7-C5E1-49DD-8C41-CCB44999464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10FE7D8-E7B5-43F1-A136-B91CCEFD22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f93972-1964-4522-aa34-640805a01c3a"/>
    <ds:schemaRef ds:uri="e52cd9e7-35e5-4bd3-9cab-ca6a63c31e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DED3751-8046-450E-BBF0-0C652FE3CD2B}">
  <ds:schemaRefs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purl.org/dc/terms/"/>
    <ds:schemaRef ds:uri="http://purl.org/dc/dcmitype/"/>
    <ds:schemaRef ds:uri="http://schemas.microsoft.com/office/2006/metadata/properties"/>
    <ds:schemaRef ds:uri="e52cd9e7-35e5-4bd3-9cab-ca6a63c31e52"/>
    <ds:schemaRef ds:uri="http://schemas.microsoft.com/office/infopath/2007/PartnerControls"/>
    <ds:schemaRef ds:uri="daf93972-1964-4522-aa34-640805a01c3a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9709</TotalTime>
  <Words>575</Words>
  <Application>Microsoft Office PowerPoint</Application>
  <PresentationFormat>Custom</PresentationFormat>
  <Paragraphs>74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lastModifiedBy>Darcy Roach</cp:lastModifiedBy>
  <cp:revision>95</cp:revision>
  <dcterms:created xsi:type="dcterms:W3CDTF">2019-12-03T01:50:37Z</dcterms:created>
  <dcterms:modified xsi:type="dcterms:W3CDTF">2024-07-05T01:49:46Z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