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sldIdLst>
    <p:sldId id="271" r:id="rId5"/>
  </p:sldIdLst>
  <p:sldSz cx="10058400" cy="7772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  <p15:guide id="3" pos="311" userDrawn="1">
          <p15:clr>
            <a:srgbClr val="A4A3A4"/>
          </p15:clr>
        </p15:guide>
        <p15:guide id="4" pos="5994" userDrawn="1">
          <p15:clr>
            <a:srgbClr val="A4A3A4"/>
          </p15:clr>
        </p15:guide>
        <p15:guide id="5" orient="horz" pos="148" userDrawn="1">
          <p15:clr>
            <a:srgbClr val="A4A3A4"/>
          </p15:clr>
        </p15:guide>
        <p15:guide id="6" orient="horz" pos="4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0F2B3F"/>
    <a:srgbClr val="0059FF"/>
    <a:srgbClr val="00AB80"/>
    <a:srgbClr val="A935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B08E1C-29C0-E681-BAF6-01BAAE81D661}" v="1" dt="2025-02-28T00:52:02.0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220" y="28"/>
      </p:cViewPr>
      <p:guideLst>
        <p:guide orient="horz" pos="2448"/>
        <p:guide pos="3168"/>
        <p:guide pos="311"/>
        <p:guide pos="5994"/>
        <p:guide orient="horz" pos="148"/>
        <p:guide orient="horz" pos="47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ny Xavier" userId="S::linny.xavier@intelia.com.au::f81a16b5-ebc0-49fb-a22f-6a788cc0775e" providerId="AD" clId="Web-{D97532F4-25F1-D149-94BF-83DA198833D1}"/>
    <pc:docChg chg="modSld">
      <pc:chgData name="Linny Xavier" userId="S::linny.xavier@intelia.com.au::f81a16b5-ebc0-49fb-a22f-6a788cc0775e" providerId="AD" clId="Web-{D97532F4-25F1-D149-94BF-83DA198833D1}" dt="2024-07-03T22:56:20.557" v="33" actId="20577"/>
      <pc:docMkLst>
        <pc:docMk/>
      </pc:docMkLst>
      <pc:sldChg chg="modSp">
        <pc:chgData name="Linny Xavier" userId="S::linny.xavier@intelia.com.au::f81a16b5-ebc0-49fb-a22f-6a788cc0775e" providerId="AD" clId="Web-{D97532F4-25F1-D149-94BF-83DA198833D1}" dt="2024-07-03T22:56:20.557" v="33" actId="20577"/>
        <pc:sldMkLst>
          <pc:docMk/>
          <pc:sldMk cId="3618352684" sldId="271"/>
        </pc:sldMkLst>
      </pc:sldChg>
    </pc:docChg>
  </pc:docChgLst>
  <pc:docChgLst>
    <pc:chgData name="Darcy Roach" userId="ba676ee9-e9b4-49e8-a515-8077106c948d" providerId="ADAL" clId="{81FA17D5-5585-48A2-AAF5-A0B70FC6C13A}"/>
    <pc:docChg chg="custSel addSld modSld">
      <pc:chgData name="Darcy Roach" userId="ba676ee9-e9b4-49e8-a515-8077106c948d" providerId="ADAL" clId="{81FA17D5-5585-48A2-AAF5-A0B70FC6C13A}" dt="2024-07-05T02:20:02.376" v="444" actId="1036"/>
      <pc:docMkLst>
        <pc:docMk/>
      </pc:docMkLst>
      <pc:sldChg chg="addSp delSp modSp mod">
        <pc:chgData name="Darcy Roach" userId="ba676ee9-e9b4-49e8-a515-8077106c948d" providerId="ADAL" clId="{81FA17D5-5585-48A2-AAF5-A0B70FC6C13A}" dt="2024-07-05T02:20:02.376" v="444" actId="1036"/>
        <pc:sldMkLst>
          <pc:docMk/>
          <pc:sldMk cId="3618352684" sldId="271"/>
        </pc:sldMkLst>
      </pc:sldChg>
      <pc:sldChg chg="addSp delSp modSp add mod">
        <pc:chgData name="Darcy Roach" userId="ba676ee9-e9b4-49e8-a515-8077106c948d" providerId="ADAL" clId="{81FA17D5-5585-48A2-AAF5-A0B70FC6C13A}" dt="2024-07-05T02:18:54.914" v="435" actId="1076"/>
        <pc:sldMkLst>
          <pc:docMk/>
          <pc:sldMk cId="3917787703" sldId="272"/>
        </pc:sldMkLst>
      </pc:sldChg>
    </pc:docChg>
  </pc:docChgLst>
  <pc:docChgLst>
    <pc:chgData name="Joel Collins" userId="S::joel.collins@intelia.com.au::d3ae1526-77cd-4d01-b42b-68ae1cb060b9" providerId="AD" clId="Web-{46782A6A-AC2F-BCBE-2AF6-3DC064D30A06}"/>
    <pc:docChg chg="modSld">
      <pc:chgData name="Joel Collins" userId="S::joel.collins@intelia.com.au::d3ae1526-77cd-4d01-b42b-68ae1cb060b9" providerId="AD" clId="Web-{46782A6A-AC2F-BCBE-2AF6-3DC064D30A06}" dt="2024-01-14T22:28:53.686" v="1" actId="20577"/>
      <pc:docMkLst>
        <pc:docMk/>
      </pc:docMkLst>
      <pc:sldChg chg="modSp">
        <pc:chgData name="Joel Collins" userId="S::joel.collins@intelia.com.au::d3ae1526-77cd-4d01-b42b-68ae1cb060b9" providerId="AD" clId="Web-{46782A6A-AC2F-BCBE-2AF6-3DC064D30A06}" dt="2024-01-14T22:28:53.686" v="1" actId="20577"/>
        <pc:sldMkLst>
          <pc:docMk/>
          <pc:sldMk cId="3618352684" sldId="271"/>
        </pc:sldMkLst>
      </pc:sldChg>
    </pc:docChg>
  </pc:docChgLst>
  <pc:docChgLst>
    <pc:chgData name="Joel Collins" userId="d3ae1526-77cd-4d01-b42b-68ae1cb060b9" providerId="ADAL" clId="{DCB234BD-F67B-47D9-801F-E712E396848C}"/>
    <pc:docChg chg="modSld">
      <pc:chgData name="Joel Collins" userId="d3ae1526-77cd-4d01-b42b-68ae1cb060b9" providerId="ADAL" clId="{DCB234BD-F67B-47D9-801F-E712E396848C}" dt="2025-02-28T00:52:59.231" v="16" actId="20577"/>
      <pc:docMkLst>
        <pc:docMk/>
      </pc:docMkLst>
      <pc:sldChg chg="modSp mod">
        <pc:chgData name="Joel Collins" userId="d3ae1526-77cd-4d01-b42b-68ae1cb060b9" providerId="ADAL" clId="{DCB234BD-F67B-47D9-801F-E712E396848C}" dt="2025-02-28T00:52:59.231" v="16" actId="20577"/>
        <pc:sldMkLst>
          <pc:docMk/>
          <pc:sldMk cId="3618352684" sldId="271"/>
        </pc:sldMkLst>
        <pc:spChg chg="mod">
          <ac:chgData name="Joel Collins" userId="d3ae1526-77cd-4d01-b42b-68ae1cb060b9" providerId="ADAL" clId="{DCB234BD-F67B-47D9-801F-E712E396848C}" dt="2025-02-28T00:52:59.231" v="16" actId="20577"/>
          <ac:spMkLst>
            <pc:docMk/>
            <pc:sldMk cId="3618352684" sldId="271"/>
            <ac:spMk id="17" creationId="{1BDE5051-9F34-F139-742D-4450E5D6591E}"/>
          </ac:spMkLst>
        </pc:spChg>
      </pc:sldChg>
    </pc:docChg>
  </pc:docChgLst>
  <pc:docChgLst>
    <pc:chgData name="Linny Xavier" userId="f81a16b5-ebc0-49fb-a22f-6a788cc0775e" providerId="ADAL" clId="{A4AFD6D7-4ABE-4250-9CBD-FB32476E23AD}"/>
    <pc:docChg chg="modSld">
      <pc:chgData name="Linny Xavier" userId="f81a16b5-ebc0-49fb-a22f-6a788cc0775e" providerId="ADAL" clId="{A4AFD6D7-4ABE-4250-9CBD-FB32476E23AD}" dt="2024-12-06T04:05:02.996" v="151" actId="20577"/>
      <pc:docMkLst>
        <pc:docMk/>
      </pc:docMkLst>
      <pc:sldChg chg="modSp mod">
        <pc:chgData name="Linny Xavier" userId="f81a16b5-ebc0-49fb-a22f-6a788cc0775e" providerId="ADAL" clId="{A4AFD6D7-4ABE-4250-9CBD-FB32476E23AD}" dt="2024-12-06T04:05:02.996" v="151" actId="20577"/>
        <pc:sldMkLst>
          <pc:docMk/>
          <pc:sldMk cId="3618352684" sldId="271"/>
        </pc:sldMkLst>
        <pc:spChg chg="mod">
          <ac:chgData name="Linny Xavier" userId="f81a16b5-ebc0-49fb-a22f-6a788cc0775e" providerId="ADAL" clId="{A4AFD6D7-4ABE-4250-9CBD-FB32476E23AD}" dt="2024-12-06T04:02:19.228" v="97" actId="20577"/>
          <ac:spMkLst>
            <pc:docMk/>
            <pc:sldMk cId="3618352684" sldId="271"/>
            <ac:spMk id="9" creationId="{FC1E3E96-4B11-5242-E07F-7D9FDDBB0190}"/>
          </ac:spMkLst>
        </pc:spChg>
        <pc:spChg chg="mod">
          <ac:chgData name="Linny Xavier" userId="f81a16b5-ebc0-49fb-a22f-6a788cc0775e" providerId="ADAL" clId="{A4AFD6D7-4ABE-4250-9CBD-FB32476E23AD}" dt="2024-12-06T04:02:25.272" v="100" actId="20577"/>
          <ac:spMkLst>
            <pc:docMk/>
            <pc:sldMk cId="3618352684" sldId="271"/>
            <ac:spMk id="19" creationId="{7513C49A-2DF2-8111-FED4-FC07A8EAD258}"/>
          </ac:spMkLst>
        </pc:spChg>
        <pc:spChg chg="mod">
          <ac:chgData name="Linny Xavier" userId="f81a16b5-ebc0-49fb-a22f-6a788cc0775e" providerId="ADAL" clId="{A4AFD6D7-4ABE-4250-9CBD-FB32476E23AD}" dt="2024-12-06T04:05:02.996" v="151" actId="20577"/>
          <ac:spMkLst>
            <pc:docMk/>
            <pc:sldMk cId="3618352684" sldId="271"/>
            <ac:spMk id="38" creationId="{AB47A2EE-BF0B-DB05-8B7C-DB6594B2B3D5}"/>
          </ac:spMkLst>
        </pc:spChg>
      </pc:sldChg>
    </pc:docChg>
  </pc:docChgLst>
  <pc:docChgLst>
    <pc:chgData name="Joel Collins" userId="S::joel.collins@intelia.com.au::d3ae1526-77cd-4d01-b42b-68ae1cb060b9" providerId="AD" clId="Web-{F8B08E1C-29C0-E681-BAF6-01BAAE81D661}"/>
    <pc:docChg chg="delSld">
      <pc:chgData name="Joel Collins" userId="S::joel.collins@intelia.com.au::d3ae1526-77cd-4d01-b42b-68ae1cb060b9" providerId="AD" clId="Web-{F8B08E1C-29C0-E681-BAF6-01BAAE81D661}" dt="2025-02-28T00:52:02.055" v="0"/>
      <pc:docMkLst>
        <pc:docMk/>
      </pc:docMkLst>
      <pc:sldChg chg="del">
        <pc:chgData name="Joel Collins" userId="S::joel.collins@intelia.com.au::d3ae1526-77cd-4d01-b42b-68ae1cb060b9" providerId="AD" clId="Web-{F8B08E1C-29C0-E681-BAF6-01BAAE81D661}" dt="2025-02-28T00:52:02.055" v="0"/>
        <pc:sldMkLst>
          <pc:docMk/>
          <pc:sldMk cId="3917787703" sldId="272"/>
        </pc:sldMkLst>
      </pc:sldChg>
    </pc:docChg>
  </pc:docChgLst>
  <pc:docChgLst>
    <pc:chgData name="Hugo Bates" userId="S::hugo.bates@intelia.com.au::ba74953f-2fdb-4aeb-90e3-56b78010c38c" providerId="AD" clId="Web-{ABBC8141-D41D-E2D2-E5E2-FA9170A03F49}"/>
    <pc:docChg chg="modSld">
      <pc:chgData name="Hugo Bates" userId="S::hugo.bates@intelia.com.au::ba74953f-2fdb-4aeb-90e3-56b78010c38c" providerId="AD" clId="Web-{ABBC8141-D41D-E2D2-E5E2-FA9170A03F49}" dt="2024-08-07T04:30:44.501" v="0"/>
      <pc:docMkLst>
        <pc:docMk/>
      </pc:docMkLst>
      <pc:sldChg chg="mod modShow">
        <pc:chgData name="Hugo Bates" userId="S::hugo.bates@intelia.com.au::ba74953f-2fdb-4aeb-90e3-56b78010c38c" providerId="AD" clId="Web-{ABBC8141-D41D-E2D2-E5E2-FA9170A03F49}" dt="2024-08-07T04:30:44.501" v="0"/>
        <pc:sldMkLst>
          <pc:docMk/>
          <pc:sldMk cId="3917787703" sldId="27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3"/>
            <a:ext cx="8549640" cy="2705947"/>
          </a:xfrm>
        </p:spPr>
        <p:txBody>
          <a:bodyPr anchor="b"/>
          <a:lstStyle>
            <a:lvl1pPr algn="ctr"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878" indent="0" algn="ctr">
              <a:buNone/>
              <a:defRPr sz="2200"/>
            </a:lvl2pPr>
            <a:lvl3pPr marL="1005755" indent="0" algn="ctr">
              <a:buNone/>
              <a:defRPr sz="1980"/>
            </a:lvl3pPr>
            <a:lvl4pPr marL="1508634" indent="0" algn="ctr">
              <a:buNone/>
              <a:defRPr sz="1760"/>
            </a:lvl4pPr>
            <a:lvl5pPr marL="2011512" indent="0" algn="ctr">
              <a:buNone/>
              <a:defRPr sz="1760"/>
            </a:lvl5pPr>
            <a:lvl6pPr marL="2514389" indent="0" algn="ctr">
              <a:buNone/>
              <a:defRPr sz="1760"/>
            </a:lvl6pPr>
            <a:lvl7pPr marL="3017267" indent="0" algn="ctr">
              <a:buNone/>
              <a:defRPr sz="1760"/>
            </a:lvl7pPr>
            <a:lvl8pPr marL="3520145" indent="0" algn="ctr">
              <a:buNone/>
              <a:defRPr sz="1760"/>
            </a:lvl8pPr>
            <a:lvl9pPr marL="4023023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2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87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755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634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512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389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267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14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023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3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9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2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20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20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6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5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19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8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19"/>
            </a:lvl1pPr>
            <a:lvl2pPr marL="502878" indent="0">
              <a:buNone/>
              <a:defRPr sz="3080"/>
            </a:lvl2pPr>
            <a:lvl3pPr marL="1005755" indent="0">
              <a:buNone/>
              <a:defRPr sz="2640"/>
            </a:lvl3pPr>
            <a:lvl4pPr marL="1508634" indent="0">
              <a:buNone/>
              <a:defRPr sz="2200"/>
            </a:lvl4pPr>
            <a:lvl5pPr marL="2011512" indent="0">
              <a:buNone/>
              <a:defRPr sz="2200"/>
            </a:lvl5pPr>
            <a:lvl6pPr marL="2514389" indent="0">
              <a:buNone/>
              <a:defRPr sz="2200"/>
            </a:lvl6pPr>
            <a:lvl7pPr marL="3017267" indent="0">
              <a:buNone/>
              <a:defRPr sz="2200"/>
            </a:lvl7pPr>
            <a:lvl8pPr marL="3520145" indent="0">
              <a:buNone/>
              <a:defRPr sz="2200"/>
            </a:lvl8pPr>
            <a:lvl9pPr marL="4023023" indent="0">
              <a:buNone/>
              <a:defRPr sz="2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6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3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4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83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95B98B-9858-C440-9948-61EB8C1DD8B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49682" y="264259"/>
            <a:ext cx="2362366" cy="1413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1">
                <a:lumMod val="75000"/>
              </a:schemeClr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2071" b="1" i="0">
                <a:latin typeface="Libre Caslon Text" panose="02020602060300000004" pitchFamily="18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5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2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057BF-143F-654A-BE61-7BF52D905453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1005755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39" indent="-251439" algn="l" defTabSz="1005755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17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195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07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2950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5829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706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584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46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878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75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634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512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9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267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14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023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C1E3E96-4B11-5242-E07F-7D9FDDBB0190}"/>
              </a:ext>
            </a:extLst>
          </p:cNvPr>
          <p:cNvSpPr txBox="1"/>
          <p:nvPr/>
        </p:nvSpPr>
        <p:spPr>
          <a:xfrm>
            <a:off x="3463961" y="3601013"/>
            <a:ext cx="4508550" cy="163121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buNone/>
            </a:pPr>
            <a:r>
              <a:rPr lang="en-US" sz="1000">
                <a:solidFill>
                  <a:schemeClr val="bg1"/>
                </a:solidFill>
              </a:rPr>
              <a:t>A</a:t>
            </a:r>
            <a:r>
              <a:rPr lang="en-AU" sz="1000" err="1">
                <a:solidFill>
                  <a:schemeClr val="bg1"/>
                </a:solidFill>
              </a:rPr>
              <a:t>ssisted</a:t>
            </a:r>
            <a:r>
              <a:rPr lang="en-AU" sz="1000">
                <a:solidFill>
                  <a:schemeClr val="bg1"/>
                </a:solidFill>
              </a:rPr>
              <a:t> the Business Development &amp; Partnerships (BD&amp;P) team in achieving their strategic initiative objectives by working collaboratively across business functions to streamline operations, optimise processes and drive growth. Responsibilities:</a:t>
            </a:r>
          </a:p>
          <a:p>
            <a:r>
              <a:rPr lang="en-AU" sz="1000">
                <a:solidFill>
                  <a:schemeClr val="bg1"/>
                </a:solidFill>
              </a:rPr>
              <a:t>Worked in an Agile team to determine scope, obtain requirements, develop acceptance criteria, and design test cases for business initiatives.</a:t>
            </a:r>
          </a:p>
          <a:p>
            <a:r>
              <a:rPr lang="en-AU" sz="1000">
                <a:solidFill>
                  <a:schemeClr val="bg1"/>
                </a:solidFill>
              </a:rPr>
              <a:t>Provided change support to the BD&amp;P team across multiple projects.</a:t>
            </a:r>
          </a:p>
          <a:p>
            <a:r>
              <a:rPr lang="en-AU" sz="1000">
                <a:solidFill>
                  <a:schemeClr val="bg1"/>
                </a:solidFill>
              </a:rPr>
              <a:t>Enabled awareness and adoption of new technologies and/or processes, understanding business impacts and developed appropriate interventions to minimise disruptions.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A1CC9E5-C555-4A42-BD2F-52D83986D1E1}"/>
              </a:ext>
            </a:extLst>
          </p:cNvPr>
          <p:cNvSpPr txBox="1"/>
          <p:nvPr/>
        </p:nvSpPr>
        <p:spPr>
          <a:xfrm>
            <a:off x="3411163" y="615950"/>
            <a:ext cx="39338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Selected Project Experience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1DCAD75-9302-C642-9C74-B164C43329B0}"/>
              </a:ext>
            </a:extLst>
          </p:cNvPr>
          <p:cNvCxnSpPr>
            <a:cxnSpLocks/>
          </p:cNvCxnSpPr>
          <p:nvPr/>
        </p:nvCxnSpPr>
        <p:spPr>
          <a:xfrm>
            <a:off x="3414648" y="973546"/>
            <a:ext cx="4285563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B2F289A-52B4-2A27-52EA-B05DE2DA93CE}"/>
              </a:ext>
            </a:extLst>
          </p:cNvPr>
          <p:cNvSpPr/>
          <p:nvPr/>
        </p:nvSpPr>
        <p:spPr>
          <a:xfrm>
            <a:off x="0" y="0"/>
            <a:ext cx="3261728" cy="7780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29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1" name="Picture 10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450DD9D7-80A5-A592-F4F7-7A26F0024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126" y="209337"/>
            <a:ext cx="1319645" cy="3060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2720C9-A79F-BD7F-E179-674AD67D7892}"/>
              </a:ext>
            </a:extLst>
          </p:cNvPr>
          <p:cNvSpPr txBox="1"/>
          <p:nvPr/>
        </p:nvSpPr>
        <p:spPr>
          <a:xfrm>
            <a:off x="158595" y="120831"/>
            <a:ext cx="2168863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 err="1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Linny</a:t>
            </a:r>
            <a:r>
              <a:rPr lang="en-US" sz="2800" b="1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  <a:p>
            <a:r>
              <a:rPr lang="en-US" sz="2800" b="1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Xavier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E5051-9F34-F139-742D-4450E5D6591E}"/>
              </a:ext>
            </a:extLst>
          </p:cNvPr>
          <p:cNvSpPr txBox="1"/>
          <p:nvPr/>
        </p:nvSpPr>
        <p:spPr>
          <a:xfrm>
            <a:off x="192376" y="1589600"/>
            <a:ext cx="3033666" cy="306173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AU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Linny is a driven and enthusiastic data analyst and business analyst with over 15 years of experience across operations, risk and technology roles in Financial Services and Government domains.</a:t>
            </a:r>
          </a:p>
          <a:p>
            <a:pPr>
              <a:lnSpc>
                <a:spcPts val="1500"/>
              </a:lnSpc>
            </a:pPr>
            <a:endParaRPr lang="en-AU" sz="1000" spc="13" dirty="0"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ts val="1500"/>
              </a:lnSpc>
            </a:pPr>
            <a:r>
              <a:rPr lang="en-AU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Linny possesses s</a:t>
            </a:r>
            <a:r>
              <a:rPr lang="en-AU" sz="1000" dirty="0">
                <a:latin typeface="Roboto Light" panose="02000000000000000000" pitchFamily="2" charset="0"/>
                <a:ea typeface="Roboto Light" panose="02000000000000000000" pitchFamily="2" charset="0"/>
              </a:rPr>
              <a:t>trong communication s</a:t>
            </a:r>
            <a:r>
              <a:rPr lang="en-AU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kills, she is effective in building meaningful partnerships and achieving alignment between business and IT stakeholders, allowing problems to be solved and business needs to be met. </a:t>
            </a:r>
          </a:p>
          <a:p>
            <a:pPr>
              <a:lnSpc>
                <a:spcPts val="1500"/>
              </a:lnSpc>
            </a:pPr>
            <a:endParaRPr lang="en-AU" sz="1000" spc="13" dirty="0"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ts val="1500"/>
              </a:lnSpc>
            </a:pPr>
            <a:r>
              <a:rPr lang="en-AU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Linny </a:t>
            </a:r>
            <a:r>
              <a:rPr lang="en-US" sz="1000" spc="13" dirty="0">
                <a:latin typeface="Roboto Light"/>
                <a:ea typeface="Roboto Light"/>
                <a:cs typeface="Calibri"/>
              </a:rPr>
              <a:t>presents with extremely high standards, a strong work ethic and</a:t>
            </a:r>
            <a:r>
              <a:rPr lang="en-AU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prides herself on achieving success through stakeholder engagement, with strong analytical and problem-solving skills and a focus on continuous business improvements.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A87E2-F657-C1C6-3715-B7C8A7F1E050}"/>
              </a:ext>
            </a:extLst>
          </p:cNvPr>
          <p:cNvSpPr txBox="1"/>
          <p:nvPr/>
        </p:nvSpPr>
        <p:spPr>
          <a:xfrm>
            <a:off x="84993" y="1239722"/>
            <a:ext cx="3162388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b="1" spc="13">
                <a:solidFill>
                  <a:srgbClr val="00AB8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Profile</a:t>
            </a:r>
            <a:endParaRPr lang="en-US" sz="400" b="1" spc="13">
              <a:solidFill>
                <a:srgbClr val="00AB80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4E289E-1D52-CBDD-E381-40963429D7F1}"/>
              </a:ext>
            </a:extLst>
          </p:cNvPr>
          <p:cNvSpPr txBox="1"/>
          <p:nvPr/>
        </p:nvSpPr>
        <p:spPr>
          <a:xfrm>
            <a:off x="131139" y="959224"/>
            <a:ext cx="2489720" cy="2180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spc="13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Consultant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7A612B-9DC7-1D9B-3085-CDB0F937FDB8}"/>
              </a:ext>
            </a:extLst>
          </p:cNvPr>
          <p:cNvSpPr/>
          <p:nvPr/>
        </p:nvSpPr>
        <p:spPr>
          <a:xfrm>
            <a:off x="132977" y="5343166"/>
            <a:ext cx="2991223" cy="23084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D666D-00C8-D106-73C3-9FF300F8618C}"/>
              </a:ext>
            </a:extLst>
          </p:cNvPr>
          <p:cNvSpPr txBox="1"/>
          <p:nvPr/>
        </p:nvSpPr>
        <p:spPr>
          <a:xfrm>
            <a:off x="1642327" y="5747849"/>
            <a:ext cx="1510046" cy="230832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Workshop Facilitation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Business Process Improvement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Impact Assessment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Project Management</a:t>
            </a:r>
            <a:endParaRPr lang="en-US" sz="90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Problem Solving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Documentation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Data Maintenance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Reporting &amp; Analysis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Risk Management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SDLC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Testing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SQL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56C067-11D9-4FE3-B97E-743BDA13E1D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2796" y="6641662"/>
            <a:ext cx="1809412" cy="0"/>
          </a:xfrm>
          <a:prstGeom prst="line">
            <a:avLst/>
          </a:prstGeom>
          <a:ln w="1270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7C34E10-2CF8-9BCA-1CC6-D78A3FF9CA80}"/>
              </a:ext>
            </a:extLst>
          </p:cNvPr>
          <p:cNvCxnSpPr>
            <a:cxnSpLocks/>
          </p:cNvCxnSpPr>
          <p:nvPr/>
        </p:nvCxnSpPr>
        <p:spPr>
          <a:xfrm>
            <a:off x="3428143" y="3679884"/>
            <a:ext cx="0" cy="1460886"/>
          </a:xfrm>
          <a:prstGeom prst="line">
            <a:avLst/>
          </a:prstGeom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A picture containing icon&#10;&#10;Description automatically generated">
            <a:extLst>
              <a:ext uri="{FF2B5EF4-FFF2-40B4-BE49-F238E27FC236}">
                <a16:creationId xmlns:a16="http://schemas.microsoft.com/office/drawing/2014/main" id="{20B94328-DB79-FB55-B636-C97F5174B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252" y="7221015"/>
            <a:ext cx="1187809" cy="47988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EA81938-6A76-B850-B0E8-A5F905AEBA98}"/>
              </a:ext>
            </a:extLst>
          </p:cNvPr>
          <p:cNvSpPr txBox="1"/>
          <p:nvPr/>
        </p:nvSpPr>
        <p:spPr>
          <a:xfrm>
            <a:off x="8192705" y="2507012"/>
            <a:ext cx="164872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Certification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6EB3CB7-14B5-2B9E-400D-049800DFED74}"/>
              </a:ext>
            </a:extLst>
          </p:cNvPr>
          <p:cNvSpPr txBox="1"/>
          <p:nvPr/>
        </p:nvSpPr>
        <p:spPr>
          <a:xfrm>
            <a:off x="3414648" y="116660"/>
            <a:ext cx="546319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Consultant Profile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D51728F-48BB-14BB-256E-5F0C0284BCDF}"/>
              </a:ext>
            </a:extLst>
          </p:cNvPr>
          <p:cNvCxnSpPr>
            <a:cxnSpLocks/>
          </p:cNvCxnSpPr>
          <p:nvPr/>
        </p:nvCxnSpPr>
        <p:spPr>
          <a:xfrm flipV="1">
            <a:off x="8035461" y="957776"/>
            <a:ext cx="0" cy="598371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994303C8-DFEA-5175-3E9D-3727861435B6}"/>
              </a:ext>
            </a:extLst>
          </p:cNvPr>
          <p:cNvSpPr txBox="1"/>
          <p:nvPr/>
        </p:nvSpPr>
        <p:spPr>
          <a:xfrm>
            <a:off x="8216224" y="880726"/>
            <a:ext cx="139204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Industry</a:t>
            </a:r>
          </a:p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Experience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D64658-1F62-2EE9-AB01-2FD4F7E2D84D}"/>
              </a:ext>
            </a:extLst>
          </p:cNvPr>
          <p:cNvCxnSpPr>
            <a:cxnSpLocks/>
          </p:cNvCxnSpPr>
          <p:nvPr/>
        </p:nvCxnSpPr>
        <p:spPr>
          <a:xfrm>
            <a:off x="8216224" y="1453698"/>
            <a:ext cx="1558988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80A06B1-0A2F-7DF6-91DB-0F6DFA896A23}"/>
              </a:ext>
            </a:extLst>
          </p:cNvPr>
          <p:cNvGrpSpPr/>
          <p:nvPr/>
        </p:nvGrpSpPr>
        <p:grpSpPr>
          <a:xfrm>
            <a:off x="8106458" y="2722456"/>
            <a:ext cx="1951941" cy="2862322"/>
            <a:chOff x="8106458" y="2681447"/>
            <a:chExt cx="1951941" cy="2862322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72A9DC1-BA60-5A54-0907-130AE22B314D}"/>
                </a:ext>
              </a:extLst>
            </p:cNvPr>
            <p:cNvCxnSpPr>
              <a:cxnSpLocks/>
            </p:cNvCxnSpPr>
            <p:nvPr/>
          </p:nvCxnSpPr>
          <p:spPr>
            <a:xfrm>
              <a:off x="8192160" y="2773308"/>
              <a:ext cx="1734788" cy="0"/>
            </a:xfrm>
            <a:prstGeom prst="line">
              <a:avLst/>
            </a:prstGeom>
            <a:ln w="19050">
              <a:solidFill>
                <a:srgbClr val="00AB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47A2EE-BF0B-DB05-8B7C-DB6594B2B3D5}"/>
                </a:ext>
              </a:extLst>
            </p:cNvPr>
            <p:cNvSpPr txBox="1"/>
            <p:nvPr/>
          </p:nvSpPr>
          <p:spPr>
            <a:xfrm>
              <a:off x="8106458" y="2681447"/>
              <a:ext cx="1951941" cy="28623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tabLst>
                  <a:tab pos="3819525" algn="l"/>
                  <a:tab pos="3895725" algn="l"/>
                </a:tabLst>
              </a:pPr>
              <a:endParaRPr lang="en-GB" sz="120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Google Cloud Certified | Cloud Digital Leader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Collibra Certified | Solution Architect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Collibra Certified | Data Steward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ISTQB Certified | Tester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US" sz="120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US" sz="120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Bachelor </a:t>
              </a:r>
              <a:r>
                <a:rPr lang="en-GB" sz="120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– Commerce (Economics &amp; Finance)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University of Melbourne </a:t>
              </a:r>
              <a:endParaRPr lang="en-AU" sz="1200">
                <a:solidFill>
                  <a:srgbClr val="00AB8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0F49B2F-21D4-F9EB-049F-717A10CB7D84}"/>
              </a:ext>
            </a:extLst>
          </p:cNvPr>
          <p:cNvSpPr txBox="1"/>
          <p:nvPr/>
        </p:nvSpPr>
        <p:spPr>
          <a:xfrm>
            <a:off x="146651" y="5711189"/>
            <a:ext cx="1495675" cy="189282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Business Analysis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Data Analysis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Quality Assurance</a:t>
            </a:r>
            <a:endParaRPr lang="en-AU" sz="90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Change Management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Stakeholder Engagement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Agile Project Delivery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Waterfall Project Delivery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Requirements Analysis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Requirements Gathering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A2B4B-DF73-B449-C876-B221F898C872}"/>
              </a:ext>
            </a:extLst>
          </p:cNvPr>
          <p:cNvSpPr txBox="1"/>
          <p:nvPr/>
        </p:nvSpPr>
        <p:spPr>
          <a:xfrm>
            <a:off x="-19943" y="5386173"/>
            <a:ext cx="2552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Key Skills &amp; Technologies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1E125D-B356-8A2A-B86B-AB6567CEABE1}"/>
              </a:ext>
            </a:extLst>
          </p:cNvPr>
          <p:cNvSpPr txBox="1"/>
          <p:nvPr/>
        </p:nvSpPr>
        <p:spPr>
          <a:xfrm>
            <a:off x="3321266" y="3333079"/>
            <a:ext cx="48949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rgbClr val="ED7D3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Australian Superannuation Provider – Business Enablement Lead</a:t>
            </a:r>
            <a:endParaRPr lang="en-AU" sz="1200" b="1">
              <a:solidFill>
                <a:srgbClr val="ED7D3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0B3FDFC-4A78-346F-E1D4-E183BEB90A60}"/>
              </a:ext>
            </a:extLst>
          </p:cNvPr>
          <p:cNvGrpSpPr/>
          <p:nvPr/>
        </p:nvGrpSpPr>
        <p:grpSpPr>
          <a:xfrm>
            <a:off x="3428144" y="5604302"/>
            <a:ext cx="4410252" cy="1631216"/>
            <a:chOff x="5023753" y="4106685"/>
            <a:chExt cx="4576226" cy="163121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513C49A-2DF2-8111-FED4-FC07A8EAD258}"/>
                </a:ext>
              </a:extLst>
            </p:cNvPr>
            <p:cNvSpPr txBox="1"/>
            <p:nvPr/>
          </p:nvSpPr>
          <p:spPr>
            <a:xfrm>
              <a:off x="5059474" y="4106685"/>
              <a:ext cx="4540505" cy="1631216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 marL="0" indent="0">
                <a:buNone/>
              </a:pPr>
              <a:r>
                <a:rPr lang="en-AU" sz="1000"/>
                <a:t>Facilitated requirements workshops and implemented data solutions to remediate incidents impacting large volumes of members.</a:t>
              </a:r>
            </a:p>
            <a:p>
              <a:pPr marL="0" indent="0">
                <a:buNone/>
              </a:pPr>
              <a:r>
                <a:rPr lang="en-AU" sz="1000"/>
                <a:t>Responsibilities:</a:t>
              </a:r>
              <a:endParaRPr lang="en-AU" sz="1000">
                <a:solidFill>
                  <a:schemeClr val="bg1"/>
                </a:solidFill>
              </a:endParaRPr>
            </a:p>
            <a:p>
              <a:r>
                <a:rPr lang="en-AU" sz="1000"/>
                <a:t>Presented results of investigations as well as proposed solutions with assumptions and defined scope to key stakeholders.</a:t>
              </a:r>
            </a:p>
            <a:p>
              <a:r>
                <a:rPr lang="en-AU" sz="1000"/>
                <a:t>Designed, tested and implemented data solutions to remediate incidents and frequently engaged the Data Validation Team to establish system rule breaks to identify incident occurrence and root cases.</a:t>
              </a:r>
            </a:p>
            <a:p>
              <a:r>
                <a:rPr lang="en-AU" sz="1000"/>
                <a:t>Created, documented, and maintained processes and procedures including product rules, business rules and SQL knowledge bank.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0913DE4-461D-CE43-AABC-C4B3D7D22F45}"/>
                </a:ext>
              </a:extLst>
            </p:cNvPr>
            <p:cNvCxnSpPr>
              <a:cxnSpLocks/>
            </p:cNvCxnSpPr>
            <p:nvPr/>
          </p:nvCxnSpPr>
          <p:spPr>
            <a:xfrm>
              <a:off x="5023753" y="4198160"/>
              <a:ext cx="0" cy="1470472"/>
            </a:xfrm>
            <a:prstGeom prst="line">
              <a:avLst/>
            </a:prstGeom>
            <a:ln w="19050">
              <a:solidFill>
                <a:srgbClr val="A9358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6059F888-3BDF-A1C0-65E5-CB6FDD43D97C}"/>
              </a:ext>
            </a:extLst>
          </p:cNvPr>
          <p:cNvSpPr txBox="1"/>
          <p:nvPr/>
        </p:nvSpPr>
        <p:spPr>
          <a:xfrm>
            <a:off x="3335752" y="5343166"/>
            <a:ext cx="4423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>
                <a:solidFill>
                  <a:srgbClr val="A9358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Financial Services Organisation – Issues Resolution Analyst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53ACAB-BBC9-A3AA-740D-EB947374392F}"/>
              </a:ext>
            </a:extLst>
          </p:cNvPr>
          <p:cNvSpPr txBox="1"/>
          <p:nvPr/>
        </p:nvSpPr>
        <p:spPr>
          <a:xfrm>
            <a:off x="8118489" y="1456630"/>
            <a:ext cx="1951941" cy="116955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en-GB" sz="1200">
                <a:solidFill>
                  <a:srgbClr val="00AB80"/>
                </a:solidFill>
              </a:rPr>
              <a:t>Financial Services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>
                <a:solidFill>
                  <a:srgbClr val="00AB80"/>
                </a:solidFill>
              </a:rPr>
              <a:t>Government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>
                <a:solidFill>
                  <a:srgbClr val="00AB80"/>
                </a:solidFill>
              </a:rPr>
              <a:t>Superannuation</a:t>
            </a:r>
          </a:p>
          <a:p>
            <a:pPr marL="0" indent="0">
              <a:lnSpc>
                <a:spcPct val="150000"/>
              </a:lnSpc>
              <a:buNone/>
            </a:pPr>
            <a:endParaRPr lang="en-GB" sz="1200">
              <a:solidFill>
                <a:srgbClr val="00AB8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D3DBB1-68D3-1E08-ED88-CF8F9A1E0E75}"/>
              </a:ext>
            </a:extLst>
          </p:cNvPr>
          <p:cNvSpPr txBox="1"/>
          <p:nvPr/>
        </p:nvSpPr>
        <p:spPr>
          <a:xfrm>
            <a:off x="3454104" y="1311613"/>
            <a:ext cx="4552985" cy="1938992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sz="1000">
                <a:solidFill>
                  <a:prstClr val="white"/>
                </a:solidFill>
                <a:cs typeface="Segoe UI"/>
              </a:rPr>
              <a:t>The digitisation of human resource (HR) forms to an online platform required a reporting solution which would enable collection and distribution of data for strategic and workforce planning, identifying trends and gaps and ensuring compliance has been met.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Segoe UI"/>
              </a:rPr>
              <a:t>Responsibilities: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Segoe UI"/>
            </a:endParaRPr>
          </a:p>
          <a:p>
            <a:pPr>
              <a:defRPr/>
            </a:pPr>
            <a:r>
              <a:rPr lang="en-AU" sz="1000">
                <a:solidFill>
                  <a:schemeClr val="bg1"/>
                </a:solidFill>
              </a:rPr>
              <a:t>Facilitated workshops to determine scope, obtain business requirements and produce wireframes for Power BI dashboard.</a:t>
            </a:r>
          </a:p>
          <a:p>
            <a:pPr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/>
                <a:ea typeface="Roboto Light"/>
                <a:cs typeface="Roboto Light"/>
              </a:rPr>
              <a:t>Collaborated with multiple Departments to complete </a:t>
            </a:r>
            <a:r>
              <a:rPr lang="en-US" sz="1000">
                <a:solidFill>
                  <a:prstClr val="white"/>
                </a:solidFill>
                <a:latin typeface="Roboto Light"/>
                <a:ea typeface="Roboto Light"/>
                <a:cs typeface="Roboto Light"/>
              </a:rPr>
              <a:t>Government documentation measures and attained approval from Chief Executive.</a:t>
            </a:r>
            <a:endParaRPr lang="en-AU" sz="1000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sz="1000">
                <a:solidFill>
                  <a:prstClr val="white"/>
                </a:solidFill>
                <a:latin typeface="Roboto Light"/>
                <a:ea typeface="Roboto Light"/>
                <a:cs typeface="Roboto Light"/>
              </a:rPr>
              <a:t>Mapped data from HR databases to consolidate technical requirements.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/>
                <a:ea typeface="Roboto Light"/>
                <a:cs typeface="Roboto Light"/>
              </a:rPr>
              <a:t>Assisted in the creation of subject based data views to feed into Power BI dashboard.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B6377CE-FEEB-7492-3759-63555BCD0D14}"/>
              </a:ext>
            </a:extLst>
          </p:cNvPr>
          <p:cNvCxnSpPr>
            <a:cxnSpLocks/>
          </p:cNvCxnSpPr>
          <p:nvPr/>
        </p:nvCxnSpPr>
        <p:spPr>
          <a:xfrm>
            <a:off x="3418286" y="1390484"/>
            <a:ext cx="0" cy="1774002"/>
          </a:xfrm>
          <a:prstGeom prst="line">
            <a:avLst/>
          </a:prstGeom>
          <a:ln w="19050">
            <a:solidFill>
              <a:srgbClr val="005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B1A261C-8B9F-B7B5-D3FE-95A583E0618C}"/>
              </a:ext>
            </a:extLst>
          </p:cNvPr>
          <p:cNvSpPr txBox="1"/>
          <p:nvPr/>
        </p:nvSpPr>
        <p:spPr>
          <a:xfrm>
            <a:off x="3311409" y="1043679"/>
            <a:ext cx="61736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59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Australian Government </a:t>
            </a:r>
            <a:r>
              <a:rPr kumimoji="0" lang="en-US" sz="1200" b="1" i="0" u="none" strike="noStrike" kern="1200" cap="none" spc="0" normalizeH="0" baseline="0" noProof="0" err="1">
                <a:ln>
                  <a:noFill/>
                </a:ln>
                <a:solidFill>
                  <a:srgbClr val="0059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Organisation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59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 – Technical Business Analyst</a:t>
            </a:r>
            <a:endParaRPr kumimoji="0" lang="en-AU" sz="1200" b="1" i="0" u="none" strike="noStrike" kern="1200" cap="none" spc="0" normalizeH="0" baseline="0" noProof="0">
              <a:ln>
                <a:noFill/>
              </a:ln>
              <a:solidFill>
                <a:srgbClr val="0059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8352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e52cd9e7-35e5-4bd3-9cab-ca6a63c31e52">
      <UserInfo>
        <DisplayName>Linny Xavier</DisplayName>
        <AccountId>181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EC79307BDF4295C10AC82BCAE190" ma:contentTypeVersion="12" ma:contentTypeDescription="Create a new document." ma:contentTypeScope="" ma:versionID="0f0308aefe13974c65752fd3353aedfb">
  <xsd:schema xmlns:xsd="http://www.w3.org/2001/XMLSchema" xmlns:xs="http://www.w3.org/2001/XMLSchema" xmlns:p="http://schemas.microsoft.com/office/2006/metadata/properties" xmlns:ns2="daf93972-1964-4522-aa34-640805a01c3a" xmlns:ns3="e52cd9e7-35e5-4bd3-9cab-ca6a63c31e52" targetNamespace="http://schemas.microsoft.com/office/2006/metadata/properties" ma:root="true" ma:fieldsID="aba3c788a807feaf6f638ceb175dbe8c" ns2:_="" ns3:_="">
    <xsd:import namespace="daf93972-1964-4522-aa34-640805a01c3a"/>
    <xsd:import namespace="e52cd9e7-35e5-4bd3-9cab-ca6a63c31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93972-1964-4522-aa34-640805a01c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cd9e7-35e5-4bd3-9cab-ca6a63c31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EDE27A-5D3F-48EC-A4D1-3F35063BDCD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BCFD15-CFFF-49AE-B6C5-12DE46320969}">
  <ds:schemaRefs>
    <ds:schemaRef ds:uri="e52cd9e7-35e5-4bd3-9cab-ca6a63c31e52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daf93972-1964-4522-aa34-640805a01c3a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DD27AC9B-87A5-4A28-A23E-421A80B84C2B}">
  <ds:schemaRefs>
    <ds:schemaRef ds:uri="daf93972-1964-4522-aa34-640805a01c3a"/>
    <ds:schemaRef ds:uri="e52cd9e7-35e5-4bd3-9cab-ca6a63c31e5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502</Words>
  <Application>Microsoft Office PowerPoint</Application>
  <PresentationFormat>Custom</PresentationFormat>
  <Paragraphs>69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Calibri</vt:lpstr>
      <vt:lpstr>Calibri Light</vt:lpstr>
      <vt:lpstr>Libre Caslon Text</vt:lpstr>
      <vt:lpstr>Roboto</vt:lpstr>
      <vt:lpstr>Roboto Light</vt:lpstr>
      <vt:lpstr>Segoe UI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Johanna Jovel Hernández</dc:creator>
  <cp:lastModifiedBy>Joel Collins</cp:lastModifiedBy>
  <cp:revision>2</cp:revision>
  <dcterms:created xsi:type="dcterms:W3CDTF">2019-12-03T01:50:37Z</dcterms:created>
  <dcterms:modified xsi:type="dcterms:W3CDTF">2025-02-28T00:53:05Z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0x01010081F5EC79307BDF4295C10AC82BCAE190</vt:lpwstr>
  </property>
</Properties>
</file>