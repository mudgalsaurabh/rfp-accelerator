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ED7D31"/>
    <a:srgbClr val="0F2B3F"/>
    <a:srgbClr val="0059FF"/>
    <a:srgbClr val="00AB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7569D2-C737-4D9D-A1D9-91AD8D13CE47}" v="1" dt="2024-09-23T00:46:20.5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96" d="100"/>
          <a:sy n="96" d="100"/>
        </p:scale>
        <p:origin x="2196" y="-246"/>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BC7569D2-C737-4D9D-A1D9-91AD8D13CE47}"/>
    <pc:docChg chg="undo custSel modSld">
      <pc:chgData name="Darcy Roach" userId="ba676ee9-e9b4-49e8-a515-8077106c948d" providerId="ADAL" clId="{BC7569D2-C737-4D9D-A1D9-91AD8D13CE47}" dt="2024-09-23T00:49:29.264" v="819" actId="1037"/>
      <pc:docMkLst>
        <pc:docMk/>
      </pc:docMkLst>
      <pc:sldChg chg="addSp delSp modSp mod">
        <pc:chgData name="Darcy Roach" userId="ba676ee9-e9b4-49e8-a515-8077106c948d" providerId="ADAL" clId="{BC7569D2-C737-4D9D-A1D9-91AD8D13CE47}" dt="2024-09-23T00:49:29.264" v="819" actId="1037"/>
        <pc:sldMkLst>
          <pc:docMk/>
          <pc:sldMk cId="2009923557" sldId="270"/>
        </pc:sldMkLst>
        <pc:spChg chg="del mod">
          <ac:chgData name="Darcy Roach" userId="ba676ee9-e9b4-49e8-a515-8077106c948d" providerId="ADAL" clId="{BC7569D2-C737-4D9D-A1D9-91AD8D13CE47}" dt="2024-09-23T00:45:56.100" v="766" actId="21"/>
          <ac:spMkLst>
            <pc:docMk/>
            <pc:sldMk cId="2009923557" sldId="270"/>
            <ac:spMk id="2" creationId="{2FA774CA-3857-9308-4D38-9414B0CC2B95}"/>
          </ac:spMkLst>
        </pc:spChg>
        <pc:spChg chg="mod">
          <ac:chgData name="Darcy Roach" userId="ba676ee9-e9b4-49e8-a515-8077106c948d" providerId="ADAL" clId="{BC7569D2-C737-4D9D-A1D9-91AD8D13CE47}" dt="2024-09-20T05:23:44.173" v="285" actId="20577"/>
          <ac:spMkLst>
            <pc:docMk/>
            <pc:sldMk cId="2009923557" sldId="270"/>
            <ac:spMk id="4" creationId="{80F49B2F-21D4-F9EB-049F-717A10CB7D84}"/>
          </ac:spMkLst>
        </pc:spChg>
        <pc:spChg chg="mod">
          <ac:chgData name="Darcy Roach" userId="ba676ee9-e9b4-49e8-a515-8077106c948d" providerId="ADAL" clId="{BC7569D2-C737-4D9D-A1D9-91AD8D13CE47}" dt="2024-09-22T23:36:47.259" v="521" actId="20577"/>
          <ac:spMkLst>
            <pc:docMk/>
            <pc:sldMk cId="2009923557" sldId="270"/>
            <ac:spMk id="6" creationId="{701E125D-B356-8A2A-B86B-AB6567CEABE1}"/>
          </ac:spMkLst>
        </pc:spChg>
        <pc:spChg chg="mod">
          <ac:chgData name="Darcy Roach" userId="ba676ee9-e9b4-49e8-a515-8077106c948d" providerId="ADAL" clId="{BC7569D2-C737-4D9D-A1D9-91AD8D13CE47}" dt="2024-09-20T04:40:56.089" v="171" actId="20577"/>
          <ac:spMkLst>
            <pc:docMk/>
            <pc:sldMk cId="2009923557" sldId="270"/>
            <ac:spMk id="9" creationId="{73AF90DA-A8BA-A38E-D7B5-20B62F60DBA2}"/>
          </ac:spMkLst>
        </pc:spChg>
        <pc:spChg chg="mod ord">
          <ac:chgData name="Darcy Roach" userId="ba676ee9-e9b4-49e8-a515-8077106c948d" providerId="ADAL" clId="{BC7569D2-C737-4D9D-A1D9-91AD8D13CE47}" dt="2024-09-23T00:44:58.209" v="758" actId="20577"/>
          <ac:spMkLst>
            <pc:docMk/>
            <pc:sldMk cId="2009923557" sldId="270"/>
            <ac:spMk id="10" creationId="{06312B81-BCF1-2796-C112-3DBE0E02F483}"/>
          </ac:spMkLst>
        </pc:spChg>
        <pc:spChg chg="mod">
          <ac:chgData name="Darcy Roach" userId="ba676ee9-e9b4-49e8-a515-8077106c948d" providerId="ADAL" clId="{BC7569D2-C737-4D9D-A1D9-91AD8D13CE47}" dt="2024-09-20T00:31:18.842" v="18" actId="20577"/>
          <ac:spMkLst>
            <pc:docMk/>
            <pc:sldMk cId="2009923557" sldId="270"/>
            <ac:spMk id="13" creationId="{FD2720C9-A79F-BD7F-E179-674AD67D7892}"/>
          </ac:spMkLst>
        </pc:spChg>
        <pc:spChg chg="add mod">
          <ac:chgData name="Darcy Roach" userId="ba676ee9-e9b4-49e8-a515-8077106c948d" providerId="ADAL" clId="{BC7569D2-C737-4D9D-A1D9-91AD8D13CE47}" dt="2024-09-23T00:46:38.207" v="775" actId="1036"/>
          <ac:spMkLst>
            <pc:docMk/>
            <pc:sldMk cId="2009923557" sldId="270"/>
            <ac:spMk id="18" creationId="{2FA774CA-3857-9308-4D38-9414B0CC2B95}"/>
          </ac:spMkLst>
        </pc:spChg>
        <pc:spChg chg="del mod">
          <ac:chgData name="Darcy Roach" userId="ba676ee9-e9b4-49e8-a515-8077106c948d" providerId="ADAL" clId="{BC7569D2-C737-4D9D-A1D9-91AD8D13CE47}" dt="2024-09-23T00:45:56.100" v="766" actId="21"/>
          <ac:spMkLst>
            <pc:docMk/>
            <pc:sldMk cId="2009923557" sldId="270"/>
            <ac:spMk id="19" creationId="{7513C49A-2DF2-8111-FED4-FC07A8EAD258}"/>
          </ac:spMkLst>
        </pc:spChg>
        <pc:spChg chg="mod">
          <ac:chgData name="Darcy Roach" userId="ba676ee9-e9b4-49e8-a515-8077106c948d" providerId="ADAL" clId="{BC7569D2-C737-4D9D-A1D9-91AD8D13CE47}" dt="2024-09-20T00:31:26.699" v="33" actId="20577"/>
          <ac:spMkLst>
            <pc:docMk/>
            <pc:sldMk cId="2009923557" sldId="270"/>
            <ac:spMk id="22" creationId="{9D4E289E-1D52-CBDD-E381-40963429D7F1}"/>
          </ac:spMkLst>
        </pc:spChg>
        <pc:spChg chg="mod">
          <ac:chgData name="Darcy Roach" userId="ba676ee9-e9b4-49e8-a515-8077106c948d" providerId="ADAL" clId="{BC7569D2-C737-4D9D-A1D9-91AD8D13CE47}" dt="2024-09-20T05:24:21.536" v="292" actId="20577"/>
          <ac:spMkLst>
            <pc:docMk/>
            <pc:sldMk cId="2009923557" sldId="270"/>
            <ac:spMk id="26" creationId="{1A3D666D-00C8-D106-73C3-9FF300F8618C}"/>
          </ac:spMkLst>
        </pc:spChg>
        <pc:spChg chg="mod ord">
          <ac:chgData name="Darcy Roach" userId="ba676ee9-e9b4-49e8-a515-8077106c948d" providerId="ADAL" clId="{BC7569D2-C737-4D9D-A1D9-91AD8D13CE47}" dt="2024-09-23T00:45:20.164" v="760" actId="207"/>
          <ac:spMkLst>
            <pc:docMk/>
            <pc:sldMk cId="2009923557" sldId="270"/>
            <ac:spMk id="28" creationId="{6059F888-3BDF-A1C0-65E5-CB6FDD43D97C}"/>
          </ac:spMkLst>
        </pc:spChg>
        <pc:spChg chg="add mod">
          <ac:chgData name="Darcy Roach" userId="ba676ee9-e9b4-49e8-a515-8077106c948d" providerId="ADAL" clId="{BC7569D2-C737-4D9D-A1D9-91AD8D13CE47}" dt="2024-09-23T00:46:38.207" v="775" actId="1036"/>
          <ac:spMkLst>
            <pc:docMk/>
            <pc:sldMk cId="2009923557" sldId="270"/>
            <ac:spMk id="29" creationId="{7513C49A-2DF2-8111-FED4-FC07A8EAD258}"/>
          </ac:spMkLst>
        </pc:spChg>
        <pc:spChg chg="mod">
          <ac:chgData name="Darcy Roach" userId="ba676ee9-e9b4-49e8-a515-8077106c948d" providerId="ADAL" clId="{BC7569D2-C737-4D9D-A1D9-91AD8D13CE47}" dt="2024-09-20T05:35:27.089" v="309" actId="20577"/>
          <ac:spMkLst>
            <pc:docMk/>
            <pc:sldMk cId="2009923557" sldId="270"/>
            <ac:spMk id="32" creationId="{0B703521-F331-D24D-2144-A609A273150D}"/>
          </ac:spMkLst>
        </pc:spChg>
        <pc:spChg chg="mod">
          <ac:chgData name="Darcy Roach" userId="ba676ee9-e9b4-49e8-a515-8077106c948d" providerId="ADAL" clId="{BC7569D2-C737-4D9D-A1D9-91AD8D13CE47}" dt="2024-09-23T00:47:41.325" v="777" actId="20577"/>
          <ac:spMkLst>
            <pc:docMk/>
            <pc:sldMk cId="2009923557" sldId="270"/>
            <ac:spMk id="38" creationId="{AB47A2EE-BF0B-DB05-8B7C-DB6594B2B3D5}"/>
          </ac:spMkLst>
        </pc:spChg>
        <pc:spChg chg="mod">
          <ac:chgData name="Darcy Roach" userId="ba676ee9-e9b4-49e8-a515-8077106c948d" providerId="ADAL" clId="{BC7569D2-C737-4D9D-A1D9-91AD8D13CE47}" dt="2024-09-23T00:49:29.264" v="819" actId="1037"/>
          <ac:spMkLst>
            <pc:docMk/>
            <pc:sldMk cId="2009923557" sldId="270"/>
            <ac:spMk id="39" creationId="{3EA81938-6A76-B850-B0E8-A5F905AEBA98}"/>
          </ac:spMkLst>
        </pc:spChg>
        <pc:spChg chg="mod">
          <ac:chgData name="Darcy Roach" userId="ba676ee9-e9b4-49e8-a515-8077106c948d" providerId="ADAL" clId="{BC7569D2-C737-4D9D-A1D9-91AD8D13CE47}" dt="2024-09-23T00:49:11.423" v="816" actId="20577"/>
          <ac:spMkLst>
            <pc:docMk/>
            <pc:sldMk cId="2009923557" sldId="270"/>
            <ac:spMk id="175" creationId="{B9775FC7-7124-8CCA-9B1C-7CCD7D3DF384}"/>
          </ac:spMkLst>
        </pc:spChg>
        <pc:grpChg chg="mod">
          <ac:chgData name="Darcy Roach" userId="ba676ee9-e9b4-49e8-a515-8077106c948d" providerId="ADAL" clId="{BC7569D2-C737-4D9D-A1D9-91AD8D13CE47}" dt="2024-09-23T00:49:29.264" v="819" actId="1037"/>
          <ac:grpSpMkLst>
            <pc:docMk/>
            <pc:sldMk cId="2009923557" sldId="270"/>
            <ac:grpSpMk id="5" creationId="{980A06B1-0A2F-7DF6-91DB-0F6DFA896A23}"/>
          </ac:grpSpMkLst>
        </pc:grpChg>
        <pc:grpChg chg="mod">
          <ac:chgData name="Darcy Roach" userId="ba676ee9-e9b4-49e8-a515-8077106c948d" providerId="ADAL" clId="{BC7569D2-C737-4D9D-A1D9-91AD8D13CE47}" dt="2024-09-23T00:46:17.500" v="769" actId="1076"/>
          <ac:grpSpMkLst>
            <pc:docMk/>
            <pc:sldMk cId="2009923557" sldId="270"/>
            <ac:grpSpMk id="16" creationId="{A1F14AC0-7E81-3290-BFBD-9B334F5C0EFB}"/>
          </ac:grpSpMkLst>
        </pc:grpChg>
        <pc:cxnChg chg="mod">
          <ac:chgData name="Darcy Roach" userId="ba676ee9-e9b4-49e8-a515-8077106c948d" providerId="ADAL" clId="{BC7569D2-C737-4D9D-A1D9-91AD8D13CE47}" dt="2024-09-23T00:46:09.696" v="768" actId="14100"/>
          <ac:cxnSpMkLst>
            <pc:docMk/>
            <pc:sldMk cId="2009923557" sldId="270"/>
            <ac:cxnSpMk id="3" creationId="{67C34E10-2CF8-9BCA-1CC6-D78A3FF9CA80}"/>
          </ac:cxnSpMkLst>
        </pc:cxnChg>
        <pc:cxnChg chg="del mod">
          <ac:chgData name="Darcy Roach" userId="ba676ee9-e9b4-49e8-a515-8077106c948d" providerId="ADAL" clId="{BC7569D2-C737-4D9D-A1D9-91AD8D13CE47}" dt="2024-09-23T00:45:56.100" v="766" actId="21"/>
          <ac:cxnSpMkLst>
            <pc:docMk/>
            <pc:sldMk cId="2009923557" sldId="270"/>
            <ac:cxnSpMk id="15" creationId="{F87F05F2-DA4C-4F55-A5D0-1887110DF155}"/>
          </ac:cxnSpMkLst>
        </pc:cxnChg>
        <pc:cxnChg chg="mod">
          <ac:chgData name="Darcy Roach" userId="ba676ee9-e9b4-49e8-a515-8077106c948d" providerId="ADAL" clId="{BC7569D2-C737-4D9D-A1D9-91AD8D13CE47}" dt="2024-09-23T00:45:26.461" v="761" actId="208"/>
          <ac:cxnSpMkLst>
            <pc:docMk/>
            <pc:sldMk cId="2009923557" sldId="270"/>
            <ac:cxnSpMk id="21" creationId="{B0913DE4-461D-CE43-AABC-C4B3D7D22F45}"/>
          </ac:cxnSpMkLst>
        </pc:cxnChg>
        <pc:cxnChg chg="add mod">
          <ac:chgData name="Darcy Roach" userId="ba676ee9-e9b4-49e8-a515-8077106c948d" providerId="ADAL" clId="{BC7569D2-C737-4D9D-A1D9-91AD8D13CE47}" dt="2024-09-23T00:46:38.207" v="775" actId="1036"/>
          <ac:cxnSpMkLst>
            <pc:docMk/>
            <pc:sldMk cId="2009923557" sldId="270"/>
            <ac:cxnSpMk id="24" creationId="{F87F05F2-DA4C-4F55-A5D0-1887110DF155}"/>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9/20/2024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9/20/2024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9/20/2024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9/20/2024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9/20/2024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9/20/2024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9/20/2024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9/20/2024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9/20/2024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9/20/2024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1F14AC0-7E81-3290-BFBD-9B334F5C0EFB}"/>
              </a:ext>
            </a:extLst>
          </p:cNvPr>
          <p:cNvGrpSpPr/>
          <p:nvPr/>
        </p:nvGrpSpPr>
        <p:grpSpPr>
          <a:xfrm>
            <a:off x="3368491" y="3388766"/>
            <a:ext cx="4602144" cy="3108601"/>
            <a:chOff x="3368491" y="5451800"/>
            <a:chExt cx="4602144" cy="3108601"/>
          </a:xfrm>
        </p:grpSpPr>
        <p:sp>
          <p:nvSpPr>
            <p:cNvPr id="28" name="TextBox 27">
              <a:extLst>
                <a:ext uri="{FF2B5EF4-FFF2-40B4-BE49-F238E27FC236}">
                  <a16:creationId xmlns:a16="http://schemas.microsoft.com/office/drawing/2014/main" id="{6059F888-3BDF-A1C0-65E5-CB6FDD43D97C}"/>
                </a:ext>
              </a:extLst>
            </p:cNvPr>
            <p:cNvSpPr txBox="1"/>
            <p:nvPr/>
          </p:nvSpPr>
          <p:spPr>
            <a:xfrm>
              <a:off x="3368491" y="5451800"/>
              <a:ext cx="4485962" cy="46166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Telecommunications Organisation  – Senior Business Analyst</a:t>
              </a:r>
            </a:p>
            <a:p>
              <a:endParaRPr lang="en-AU" sz="1200" b="1" dirty="0">
                <a:solidFill>
                  <a:srgbClr val="ED7D31"/>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06312B81-BCF1-2796-C112-3DBE0E02F483}"/>
                </a:ext>
              </a:extLst>
            </p:cNvPr>
            <p:cNvSpPr txBox="1"/>
            <p:nvPr/>
          </p:nvSpPr>
          <p:spPr>
            <a:xfrm>
              <a:off x="3534022" y="5544191"/>
              <a:ext cx="4436613" cy="301621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AU" sz="1000" dirty="0"/>
            </a:p>
            <a:p>
              <a:r>
                <a:rPr lang="en-AU" sz="1000" dirty="0"/>
                <a:t>Identified and engaged a wide range of stakeholders necessary to ensure the success of the project. </a:t>
              </a:r>
            </a:p>
            <a:p>
              <a:r>
                <a:rPr lang="en-AU" sz="1000" dirty="0"/>
                <a:t>Fostered and maintained relationships with stakeholders to ensure their willing, constructive and effective contribution to projects. </a:t>
              </a:r>
            </a:p>
            <a:p>
              <a:r>
                <a:rPr lang="en-AU" sz="1000" dirty="0"/>
                <a:t>Led workshops with business stakeholders to ensure common understanding of business objectives and requirements and to elicit functional requirements. </a:t>
              </a:r>
            </a:p>
            <a:p>
              <a:r>
                <a:rPr lang="en-AU" sz="1000" dirty="0"/>
                <a:t>Documented and managed functional requirements, adapting the artefacts in accordance with the selected software delivery methodology</a:t>
              </a:r>
            </a:p>
            <a:p>
              <a:r>
                <a:rPr lang="en-AU" sz="1000" dirty="0"/>
                <a:t>Led workshops with system vendors to ensure they correctly understood functional requirements, encouraged feedback regarding solution viability. </a:t>
              </a:r>
            </a:p>
            <a:p>
              <a:r>
                <a:rPr lang="en-AU" sz="1000" dirty="0"/>
                <a:t>Participated in vendor workshops and assessed solution options for completeness and alignment to requirements. </a:t>
              </a:r>
            </a:p>
            <a:p>
              <a:r>
                <a:rPr lang="en-AU" sz="1000" dirty="0"/>
                <a:t>Understood complex technical concepts of solution features and communicated them in ways business representatives could understand</a:t>
              </a:r>
            </a:p>
            <a:p>
              <a:r>
                <a:rPr lang="en-AU" sz="1000" dirty="0"/>
                <a:t>and test cases to ensure appropriate validation of solutions. </a:t>
              </a:r>
            </a:p>
            <a:p>
              <a:endParaRPr lang="en-AU" sz="1000" dirty="0"/>
            </a:p>
            <a:p>
              <a:pPr marL="0" indent="0">
                <a:buNone/>
              </a:pPr>
              <a:endParaRPr lang="en-AU"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63961" y="5748923"/>
              <a:ext cx="0" cy="2405278"/>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0B703521-F331-D24D-2144-A609A273150D}"/>
              </a:ext>
            </a:extLst>
          </p:cNvPr>
          <p:cNvSpPr txBox="1"/>
          <p:nvPr/>
        </p:nvSpPr>
        <p:spPr>
          <a:xfrm>
            <a:off x="3500533" y="1251626"/>
            <a:ext cx="4550464" cy="2400657"/>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latin typeface="Roboto Light"/>
                <a:ea typeface="Roboto Light"/>
                <a:cs typeface="Roboto Light"/>
              </a:rPr>
              <a:t>Led workshops with business stakeholders to ensure common understanding of business objectives and requirements and to elicit functional requirements.</a:t>
            </a:r>
          </a:p>
          <a:p>
            <a:r>
              <a:rPr lang="en-AU" dirty="0">
                <a:latin typeface="Roboto Light"/>
                <a:ea typeface="Roboto Light"/>
                <a:cs typeface="Roboto Light"/>
              </a:rPr>
              <a:t>Documented functional requirements, adapting the artefacts to suit the business stakeholders.</a:t>
            </a:r>
          </a:p>
          <a:p>
            <a:r>
              <a:rPr lang="en-AU" dirty="0">
                <a:latin typeface="Roboto Light"/>
                <a:ea typeface="Roboto Light"/>
                <a:cs typeface="Roboto Light"/>
              </a:rPr>
              <a:t>Worked with solution architects to ensure their understanding of the functional requirements.</a:t>
            </a:r>
          </a:p>
          <a:p>
            <a:r>
              <a:rPr lang="en-AU" dirty="0">
                <a:latin typeface="Roboto Light"/>
                <a:ea typeface="Roboto Light"/>
                <a:cs typeface="Roboto Light"/>
              </a:rPr>
              <a:t>Reviewed solution designs to ensure alignment to the functional requirements.</a:t>
            </a:r>
          </a:p>
          <a:p>
            <a:r>
              <a:rPr lang="en-AU" dirty="0">
                <a:latin typeface="Roboto Light"/>
                <a:ea typeface="Roboto Light"/>
                <a:cs typeface="Roboto Light"/>
              </a:rPr>
              <a:t>Reviewed interface specifications to ensure alignment to agreed solutions and industry standards</a:t>
            </a:r>
          </a:p>
          <a:p>
            <a:r>
              <a:rPr lang="en-AU" dirty="0">
                <a:latin typeface="Roboto Light"/>
                <a:ea typeface="Roboto Light"/>
                <a:cs typeface="Roboto Light"/>
              </a:rPr>
              <a:t>Engaged enterprise architects to ensure that proposed solutions aligned to the broader strategic goals of the enterprise.</a:t>
            </a:r>
          </a:p>
          <a:p>
            <a:endParaRPr lang="en-AU" dirty="0"/>
          </a:p>
          <a:p>
            <a:endParaRPr lang="en-AU" dirty="0"/>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40585" y="113351"/>
            <a:ext cx="2684870"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John </a:t>
            </a:r>
          </a:p>
          <a:p>
            <a:r>
              <a:rPr lang="en-US" sz="2800" b="1" dirty="0">
                <a:solidFill>
                  <a:srgbClr val="00AB80"/>
                </a:solidFill>
                <a:latin typeface="Roboto" panose="02000000000000000000" pitchFamily="2" charset="0"/>
                <a:ea typeface="Roboto" panose="02000000000000000000" pitchFamily="2" charset="0"/>
              </a:rPr>
              <a:t>Davies</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44549" y="1247202"/>
            <a:ext cx="2972650" cy="310341"/>
          </a:xfrm>
          <a:prstGeom prst="rect">
            <a:avLst/>
          </a:prstGeom>
          <a:noFill/>
        </p:spPr>
        <p:txBody>
          <a:bodyPr wrap="square" lIns="91440" tIns="45720" rIns="91440" bIns="45720" anchor="t">
            <a:spAutoFit/>
          </a:bodyPr>
          <a:lstStyle/>
          <a:p>
            <a:pPr>
              <a:lnSpc>
                <a:spcPts val="1812"/>
              </a:lnSpc>
            </a:pPr>
            <a:r>
              <a:rPr lang="en-US" sz="1400" b="1" spc="13" dirty="0">
                <a:solidFill>
                  <a:srgbClr val="00AB80"/>
                </a:solidFill>
                <a:latin typeface="Roboto Light"/>
                <a:ea typeface="Roboto Light"/>
                <a:cs typeface="Lato"/>
              </a:rPr>
              <a:t>Profile</a:t>
            </a:r>
          </a:p>
        </p:txBody>
      </p:sp>
      <p:sp>
        <p:nvSpPr>
          <p:cNvPr id="22" name="TextBox 21">
            <a:extLst>
              <a:ext uri="{FF2B5EF4-FFF2-40B4-BE49-F238E27FC236}">
                <a16:creationId xmlns:a16="http://schemas.microsoft.com/office/drawing/2014/main" id="{9D4E289E-1D52-CBDD-E381-40963429D7F1}"/>
              </a:ext>
            </a:extLst>
          </p:cNvPr>
          <p:cNvSpPr txBox="1"/>
          <p:nvPr/>
        </p:nvSpPr>
        <p:spPr>
          <a:xfrm>
            <a:off x="244292" y="1025116"/>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a:ea typeface="Roboto Light"/>
                <a:cs typeface="Lato"/>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86857" y="5728799"/>
            <a:ext cx="1510046" cy="20313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Change Management</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IT Service Management</a:t>
            </a:r>
          </a:p>
          <a:p>
            <a:pPr marL="171450" indent="-171450">
              <a:buClr>
                <a:srgbClr val="00AB80"/>
              </a:buClr>
              <a:buFont typeface="Arial" panose="020B0604020202020204" pitchFamily="34" charset="0"/>
              <a:buChar cha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Analysis</a:t>
            </a:r>
          </a:p>
          <a:p>
            <a:pPr marL="171450" indent="-171450">
              <a:buClr>
                <a:srgbClr val="00AB80"/>
              </a:buClr>
              <a:buFont typeface="Arial" panose="020B0604020202020204" pitchFamily="34" charset="0"/>
              <a:buChar char="•"/>
            </a:pPr>
            <a:r>
              <a:rPr lang="en-US" sz="900" dirty="0">
                <a:solidFill>
                  <a:prstClr val="black"/>
                </a:solidFill>
                <a:latin typeface="Roboto Light" panose="02000000000000000000" pitchFamily="2" charset="0"/>
                <a:ea typeface="Roboto Light" panose="02000000000000000000" pitchFamily="2" charset="0"/>
              </a:rPr>
              <a:t>Data Modeling</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SDLC</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Process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ITIL</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Problem Solver</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Team Leadership</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Mentoring</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297940"/>
            <a:ext cx="0" cy="1928467"/>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200019" y="3426902"/>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784490"/>
            <a:ext cx="0" cy="651166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707439"/>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283343"/>
            <a:ext cx="1951941" cy="2000548"/>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latin typeface="Roboto Light"/>
                <a:ea typeface="Roboto Light"/>
                <a:cs typeface="Roboto Light"/>
              </a:rPr>
              <a:t>Logistics</a:t>
            </a:r>
            <a:endParaRPr lang="en-GB" sz="1200" dirty="0">
              <a:solidFill>
                <a:srgbClr val="00AB80"/>
              </a:solidFill>
              <a:cs typeface="Roboto Light"/>
            </a:endParaRPr>
          </a:p>
          <a:p>
            <a:pPr marL="0" indent="0">
              <a:lnSpc>
                <a:spcPct val="150000"/>
              </a:lnSpc>
              <a:buNone/>
            </a:pPr>
            <a:r>
              <a:rPr lang="en-GB" sz="1200" dirty="0">
                <a:solidFill>
                  <a:srgbClr val="00AB80"/>
                </a:solidFill>
              </a:rPr>
              <a:t>Telecommunications</a:t>
            </a:r>
          </a:p>
          <a:p>
            <a:pPr marL="0" indent="0">
              <a:lnSpc>
                <a:spcPct val="150000"/>
              </a:lnSpc>
              <a:buNone/>
            </a:pPr>
            <a:r>
              <a:rPr lang="en-GB" sz="1200" dirty="0">
                <a:solidFill>
                  <a:srgbClr val="00AB80"/>
                </a:solidFill>
              </a:rPr>
              <a:t>Energy</a:t>
            </a:r>
          </a:p>
          <a:p>
            <a:pPr marL="0" indent="0">
              <a:lnSpc>
                <a:spcPct val="150000"/>
              </a:lnSpc>
              <a:buNone/>
            </a:pPr>
            <a:r>
              <a:rPr lang="en-GB" sz="1200" dirty="0">
                <a:solidFill>
                  <a:srgbClr val="00AB80"/>
                </a:solidFill>
              </a:rPr>
              <a:t>Government</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Health &amp; Safety</a:t>
            </a:r>
          </a:p>
          <a:p>
            <a:pPr marL="0" indent="0">
              <a:lnSpc>
                <a:spcPct val="150000"/>
              </a:lnSpc>
              <a:buNone/>
            </a:pPr>
            <a:r>
              <a:rPr lang="en-GB" sz="1200" dirty="0">
                <a:solidFill>
                  <a:srgbClr val="00AB80"/>
                </a:solidFill>
              </a:rPr>
              <a:t>Education</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280411"/>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13772" y="3642346"/>
            <a:ext cx="1963972" cy="1384995"/>
            <a:chOff x="8106458" y="2681447"/>
            <a:chExt cx="1963972" cy="1384995"/>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63972" cy="1384995"/>
            </a:xfrm>
            <a:prstGeom prst="rect">
              <a:avLst/>
            </a:prstGeom>
            <a:noFill/>
          </p:spPr>
          <p:txBody>
            <a:bodyPr wrap="square">
              <a:spAutoFit/>
            </a:bodyPr>
            <a:lstStyle/>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Bachelor's Degree</a:t>
              </a:r>
              <a:r>
                <a:rPr lang="en-GB" sz="1200" dirty="0">
                  <a:solidFill>
                    <a:srgbClr val="00AB80"/>
                  </a:solidFill>
                  <a:latin typeface="Roboto Light" panose="02000000000000000000" pitchFamily="2" charset="0"/>
                  <a:ea typeface="Calibri" panose="020F0502020204030204" pitchFamily="34" charset="0"/>
                </a:rPr>
                <a:t> | Science, Mathematics, Statistics &amp; Computing – Liverpool John </a:t>
              </a:r>
              <a:r>
                <a:rPr lang="en-GB" sz="1200" dirty="0" err="1">
                  <a:solidFill>
                    <a:srgbClr val="00AB80"/>
                  </a:solidFill>
                  <a:latin typeface="Roboto Light" panose="02000000000000000000" pitchFamily="2" charset="0"/>
                  <a:ea typeface="Calibri" panose="020F0502020204030204" pitchFamily="34" charset="0"/>
                </a:rPr>
                <a:t>Moores</a:t>
              </a:r>
              <a:r>
                <a:rPr lang="en-GB" sz="1200" dirty="0">
                  <a:solidFill>
                    <a:srgbClr val="00AB80"/>
                  </a:solidFill>
                  <a:latin typeface="Roboto Light" panose="02000000000000000000" pitchFamily="2" charset="0"/>
                  <a:ea typeface="Calibri" panose="020F0502020204030204" pitchFamily="34" charset="0"/>
                </a:rPr>
                <a:t> University</a:t>
              </a: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28799"/>
            <a:ext cx="1510046" cy="2585323"/>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Project Delivery</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Process Improvement</a:t>
            </a: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Transformation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Development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Testing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Test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Requirements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Requirements Gathering </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Agile Methodologies</a:t>
            </a:r>
          </a:p>
          <a:p>
            <a:pPr marL="171450" indent="-171450">
              <a:buClr>
                <a:srgbClr val="00AB80"/>
              </a:buClr>
              <a:buFont typeface="Arial" panose="020B0604020202020204" pitchFamily="34" charset="0"/>
              <a:buChar char="•"/>
            </a:pP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36219" y="1020941"/>
            <a:ext cx="4883678" cy="553998"/>
          </a:xfrm>
          <a:prstGeom prst="rect">
            <a:avLst/>
          </a:prstGeom>
          <a:noFill/>
        </p:spPr>
        <p:txBody>
          <a:bodyPr wrap="square" lIns="91440" tIns="45720" rIns="91440" bIns="45720" rtlCol="0" anchor="t">
            <a:spAutoFit/>
          </a:bodyPr>
          <a:lstStyle/>
          <a:p>
            <a:r>
              <a:rPr lang="en-AU" sz="1200" b="1" dirty="0">
                <a:solidFill>
                  <a:srgbClr val="0059FF"/>
                </a:solidFill>
                <a:latin typeface="Roboto"/>
                <a:ea typeface="Roboto"/>
                <a:cs typeface="Roboto"/>
              </a:rPr>
              <a:t>Major Retail Logistics Organisation  – Senior Business Analyst</a:t>
            </a:r>
          </a:p>
          <a:p>
            <a:endParaRPr lang="en-US" dirty="0"/>
          </a:p>
        </p:txBody>
      </p:sp>
      <p:sp>
        <p:nvSpPr>
          <p:cNvPr id="9" name="TextBox 8">
            <a:extLst>
              <a:ext uri="{FF2B5EF4-FFF2-40B4-BE49-F238E27FC236}">
                <a16:creationId xmlns:a16="http://schemas.microsoft.com/office/drawing/2014/main" id="{73AF90DA-A8BA-A38E-D7B5-20B62F60DBA2}"/>
              </a:ext>
            </a:extLst>
          </p:cNvPr>
          <p:cNvSpPr txBox="1"/>
          <p:nvPr/>
        </p:nvSpPr>
        <p:spPr>
          <a:xfrm>
            <a:off x="244291" y="1593954"/>
            <a:ext cx="2862457" cy="3638817"/>
          </a:xfrm>
          <a:prstGeom prst="rect">
            <a:avLst/>
          </a:prstGeom>
          <a:noFill/>
        </p:spPr>
        <p:txBody>
          <a:bodyPr wrap="square" lIns="0" tIns="0" rIns="0" bIns="0" rtlCol="0" anchor="t">
            <a:spAutoFit/>
          </a:bodyPr>
          <a:lstStyle>
            <a:defPPr>
              <a:defRPr lang="en-US"/>
            </a:defPPr>
            <a:lvl1pPr>
              <a:lnSpc>
                <a:spcPts val="1500"/>
              </a:lnSpc>
              <a:defRPr sz="1000" spc="13">
                <a:solidFill>
                  <a:schemeClr val="bg1"/>
                </a:solidFill>
                <a:latin typeface="Roboto Light" panose="02000000000000000000" pitchFamily="2" charset="0"/>
                <a:ea typeface="Roboto Light" panose="02000000000000000000" pitchFamily="2" charset="0"/>
                <a:cs typeface="Lato" panose="020F0502020204030203" pitchFamily="34" charset="0"/>
              </a:defRPr>
            </a:lvl1pPr>
          </a:lstStyle>
          <a:p>
            <a:r>
              <a:rPr lang="en-AU" dirty="0">
                <a:solidFill>
                  <a:schemeClr val="tx1"/>
                </a:solidFill>
              </a:rPr>
              <a:t>John is a Senior IT Business Analyst who makes valuable contributions to drive successful initiatives, John has worked across a wide range of industries including telecommunications, government, retail, insurance, media and logistics. He’s worked on some of Australia’s largest IT programs in tier 1 enterprises in both the private and public sector.</a:t>
            </a:r>
          </a:p>
          <a:p>
            <a:endParaRPr lang="en-AU" dirty="0">
              <a:solidFill>
                <a:schemeClr val="tx1"/>
              </a:solidFill>
            </a:endParaRPr>
          </a:p>
          <a:p>
            <a:r>
              <a:rPr lang="en-AU" dirty="0">
                <a:solidFill>
                  <a:schemeClr val="tx1"/>
                </a:solidFill>
              </a:rPr>
              <a:t>With this breadth of experience, John is effective in communicating with IT vendors, business stakeholders and fellow team members, adapting his communication style and work practices to make credible and meaningful contributions quickly. A creative thinker,  John drives outcomes and solutions that have the business in mind, he is vastly experienced in roles across the SDLC including developer, tester, test manager and business analyst. </a:t>
            </a:r>
          </a:p>
        </p:txBody>
      </p:sp>
      <p:sp>
        <p:nvSpPr>
          <p:cNvPr id="18" name="TextBox 17">
            <a:extLst>
              <a:ext uri="{FF2B5EF4-FFF2-40B4-BE49-F238E27FC236}">
                <a16:creationId xmlns:a16="http://schemas.microsoft.com/office/drawing/2014/main" id="{2FA774CA-3857-9308-4D38-9414B0CC2B95}"/>
              </a:ext>
            </a:extLst>
          </p:cNvPr>
          <p:cNvSpPr txBox="1"/>
          <p:nvPr/>
        </p:nvSpPr>
        <p:spPr>
          <a:xfrm>
            <a:off x="3335753" y="6219539"/>
            <a:ext cx="4542465" cy="646331"/>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Australian Energy Organisation  – Senior Business Analyst</a:t>
            </a:r>
          </a:p>
          <a:p>
            <a:endParaRPr lang="en-AU" sz="1200" b="1" dirty="0">
              <a:solidFill>
                <a:srgbClr val="A93584"/>
              </a:solidFill>
              <a:latin typeface="Roboto" panose="02000000000000000000" pitchFamily="2" charset="0"/>
              <a:ea typeface="Roboto" panose="02000000000000000000" pitchFamily="2" charset="0"/>
            </a:endParaRPr>
          </a:p>
          <a:p>
            <a:endParaRPr lang="en-AU" sz="1200" b="1" dirty="0">
              <a:solidFill>
                <a:srgbClr val="ED7D31"/>
              </a:solidFill>
              <a:latin typeface="Roboto" panose="02000000000000000000" pitchFamily="2" charset="0"/>
              <a:ea typeface="Roboto" panose="02000000000000000000" pitchFamily="2" charset="0"/>
            </a:endParaRPr>
          </a:p>
        </p:txBody>
      </p:sp>
      <p:cxnSp>
        <p:nvCxnSpPr>
          <p:cNvPr id="24" name="Straight Connector 23">
            <a:extLst>
              <a:ext uri="{FF2B5EF4-FFF2-40B4-BE49-F238E27FC236}">
                <a16:creationId xmlns:a16="http://schemas.microsoft.com/office/drawing/2014/main" id="{F87F05F2-DA4C-4F55-A5D0-1887110DF155}"/>
              </a:ext>
            </a:extLst>
          </p:cNvPr>
          <p:cNvCxnSpPr>
            <a:cxnSpLocks/>
          </p:cNvCxnSpPr>
          <p:nvPr/>
        </p:nvCxnSpPr>
        <p:spPr>
          <a:xfrm>
            <a:off x="3455043" y="6557740"/>
            <a:ext cx="0" cy="1016950"/>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513C49A-2DF2-8111-FED4-FC07A8EAD258}"/>
              </a:ext>
            </a:extLst>
          </p:cNvPr>
          <p:cNvSpPr txBox="1"/>
          <p:nvPr/>
        </p:nvSpPr>
        <p:spPr>
          <a:xfrm>
            <a:off x="3500533" y="6476356"/>
            <a:ext cx="4550464"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Senior Business Analyst on the project to deliver a Program Management Plan (PMP) for the activities necessary to implement the WA Distributed Energy Resources DER Roadmap</a:t>
            </a:r>
          </a:p>
          <a:p>
            <a:r>
              <a:rPr lang="en-AU" sz="1000" dirty="0"/>
              <a:t>Engaged stakeholders within the organisation to seek clarity on internal expectations and responsibilities in order to create the PMP artefact</a:t>
            </a:r>
          </a:p>
          <a:p>
            <a:r>
              <a:rPr lang="en-AU" sz="1000" dirty="0"/>
              <a:t>Articulated recommendations to allow the organisation to further develop the PMP </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Darcy Roach</DisplayName>
        <AccountId>14</AccountId>
        <AccountType/>
      </UserInfo>
      <UserInfo>
        <DisplayName>Joel Collins</DisplayName>
        <AccountId>13</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5D78DE8-CA0B-4723-AF37-2B344746F8D2}">
  <ds:schemaRefs>
    <ds:schemaRef ds:uri="http://schemas.openxmlformats.org/package/2006/metadata/core-properties"/>
    <ds:schemaRef ds:uri="http://purl.org/dc/elements/1.1/"/>
    <ds:schemaRef ds:uri="daf93972-1964-4522-aa34-640805a01c3a"/>
    <ds:schemaRef ds:uri="http://www.w3.org/XML/1998/namespace"/>
    <ds:schemaRef ds:uri="http://purl.org/dc/dcmitype/"/>
    <ds:schemaRef ds:uri="http://schemas.microsoft.com/office/2006/metadata/properties"/>
    <ds:schemaRef ds:uri="http://schemas.microsoft.com/office/infopath/2007/PartnerControls"/>
    <ds:schemaRef ds:uri="http://schemas.microsoft.com/office/2006/documentManagement/types"/>
    <ds:schemaRef ds:uri="e52cd9e7-35e5-4bd3-9cab-ca6a63c31e52"/>
    <ds:schemaRef ds:uri="http://purl.org/dc/terms/"/>
  </ds:schemaRefs>
</ds:datastoreItem>
</file>

<file path=customXml/itemProps2.xml><?xml version="1.0" encoding="utf-8"?>
<ds:datastoreItem xmlns:ds="http://schemas.openxmlformats.org/officeDocument/2006/customXml" ds:itemID="{BBC6410C-B420-4127-9D32-DC600766FC34}">
  <ds:schemaRefs>
    <ds:schemaRef ds:uri="http://schemas.microsoft.com/sharepoint/v3/contenttype/forms"/>
  </ds:schemaRefs>
</ds:datastoreItem>
</file>

<file path=customXml/itemProps3.xml><?xml version="1.0" encoding="utf-8"?>
<ds:datastoreItem xmlns:ds="http://schemas.openxmlformats.org/officeDocument/2006/customXml" ds:itemID="{E36342BA-B801-4BF7-9391-F7E98E6290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24710</TotalTime>
  <Words>512</Words>
  <Application>Microsoft Office PowerPoint</Application>
  <PresentationFormat>Custom</PresentationFormat>
  <Paragraphs>68</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116</cp:revision>
  <dcterms:created xsi:type="dcterms:W3CDTF">2019-12-03T01:50:37Z</dcterms:created>
  <dcterms:modified xsi:type="dcterms:W3CDTF">2024-09-23T00:49:30Z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