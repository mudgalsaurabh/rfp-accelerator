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18288000" cy="10287000"/>
  <p:notesSz cx="6858000" cy="9144000"/>
  <p:embeddedFontLst>
    <p:embeddedFont>
      <p:font typeface="Roboto" panose="02000000000000000000" pitchFamily="2" charset="0"/>
      <p:regular r:id="rId3"/>
      <p:bold r:id="rId4"/>
      <p:italic r:id="rId5"/>
      <p:boldItalic r:id="rId6"/>
    </p:embeddedFont>
    <p:embeddedFont>
      <p:font typeface="Roboto Bold" panose="02000000000000000000" pitchFamily="2" charset="0"/>
      <p:regular r:id="rId7"/>
      <p:bold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00AA7F"/>
    <a:srgbClr val="D77432"/>
    <a:srgbClr val="92337A"/>
    <a:srgbClr val="0059FF"/>
    <a:srgbClr val="EF9B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7" d="100"/>
          <a:sy n="37" d="100"/>
        </p:scale>
        <p:origin x="776"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6.fntdata"/><Relationship Id="rId13" Type="http://schemas.openxmlformats.org/officeDocument/2006/relationships/customXml" Target="../customXml/item1.xml"/><Relationship Id="rId3" Type="http://schemas.openxmlformats.org/officeDocument/2006/relationships/font" Target="fonts/font1.fntdata"/><Relationship Id="rId7" Type="http://schemas.openxmlformats.org/officeDocument/2006/relationships/font" Target="fonts/font5.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4.fntdata"/><Relationship Id="rId11" Type="http://schemas.openxmlformats.org/officeDocument/2006/relationships/theme" Target="theme/theme1.xml"/><Relationship Id="rId5" Type="http://schemas.openxmlformats.org/officeDocument/2006/relationships/font" Target="fonts/font3.fntdata"/><Relationship Id="rId15" Type="http://schemas.openxmlformats.org/officeDocument/2006/relationships/customXml" Target="../customXml/item3.xml"/><Relationship Id="rId10" Type="http://schemas.openxmlformats.org/officeDocument/2006/relationships/viewProps" Target="viewProps.xml"/><Relationship Id="rId4" Type="http://schemas.openxmlformats.org/officeDocument/2006/relationships/font" Target="fonts/font2.fntdata"/><Relationship Id="rId9" Type="http://schemas.openxmlformats.org/officeDocument/2006/relationships/presProps" Target="presProps.xml"/><Relationship Id="rId14" Type="http://schemas.openxmlformats.org/officeDocument/2006/relationships/customXml" Target="../customXml/item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7" name="Freeform 2"/>
          <p:cNvSpPr/>
          <p:nvPr userDrawn="1"/>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3"/>
            <a:stretch>
              <a:fillRect t="-9675" b="-9675"/>
            </a:stretch>
          </a:blipFill>
        </p:spPr>
        <p:txBody>
          <a:bodyPr/>
          <a:lstStyle/>
          <a:p>
            <a:endParaRPr lang="en-AU"/>
          </a:p>
        </p:txBody>
      </p:sp>
      <p:sp>
        <p:nvSpPr>
          <p:cNvPr id="8" name="Freeform 7"/>
          <p:cNvSpPr/>
          <p:nvPr userDrawn="1"/>
        </p:nvSpPr>
        <p:spPr>
          <a:xfrm>
            <a:off x="16137869" y="7528219"/>
            <a:ext cx="2145775" cy="2770530"/>
          </a:xfrm>
          <a:custGeom>
            <a:avLst/>
            <a:gdLst/>
            <a:ahLst/>
            <a:cxnLst/>
            <a:rect l="l" t="t" r="r" b="b"/>
            <a:pathLst>
              <a:path w="2150131" h="2776154">
                <a:moveTo>
                  <a:pt x="0" y="0"/>
                </a:moveTo>
                <a:lnTo>
                  <a:pt x="2150131" y="0"/>
                </a:lnTo>
                <a:lnTo>
                  <a:pt x="2150131" y="2776154"/>
                </a:lnTo>
                <a:lnTo>
                  <a:pt x="0" y="277615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A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flipV="1">
            <a:off x="200025" y="2665197"/>
            <a:ext cx="6493375" cy="0"/>
          </a:xfrm>
          <a:prstGeom prst="line">
            <a:avLst/>
          </a:prstGeom>
          <a:ln w="19050" cap="flat">
            <a:solidFill>
              <a:srgbClr val="0F2B3F"/>
            </a:solidFill>
            <a:prstDash val="sysDot"/>
            <a:headEnd type="none" w="sm" len="sm"/>
            <a:tailEnd type="none" w="sm" len="sm"/>
          </a:ln>
        </p:spPr>
        <p:txBody>
          <a:bodyPr/>
          <a:lstStyle/>
          <a:p>
            <a:endParaRPr lang="en-AU"/>
          </a:p>
        </p:txBody>
      </p:sp>
      <p:sp>
        <p:nvSpPr>
          <p:cNvPr id="4" name="AutoShape 4"/>
          <p:cNvSpPr/>
          <p:nvPr/>
        </p:nvSpPr>
        <p:spPr>
          <a:xfrm flipV="1">
            <a:off x="7119903" y="778751"/>
            <a:ext cx="7629610" cy="0"/>
          </a:xfrm>
          <a:prstGeom prst="line">
            <a:avLst/>
          </a:prstGeom>
          <a:ln w="19050" cap="flat">
            <a:solidFill>
              <a:srgbClr val="0F2B3F"/>
            </a:solidFill>
            <a:prstDash val="sysDot"/>
            <a:headEnd type="none" w="sm" len="sm"/>
            <a:tailEnd type="none" w="sm" len="sm"/>
          </a:ln>
        </p:spPr>
        <p:txBody>
          <a:bodyPr/>
          <a:lstStyle/>
          <a:p>
            <a:endParaRPr lang="en-AU"/>
          </a:p>
        </p:txBody>
      </p:sp>
      <p:sp>
        <p:nvSpPr>
          <p:cNvPr id="5" name="AutoShape 5"/>
          <p:cNvSpPr/>
          <p:nvPr/>
        </p:nvSpPr>
        <p:spPr>
          <a:xfrm flipV="1">
            <a:off x="6934200" y="345438"/>
            <a:ext cx="0" cy="9566935"/>
          </a:xfrm>
          <a:prstGeom prst="line">
            <a:avLst/>
          </a:prstGeom>
          <a:ln w="19050" cap="flat">
            <a:solidFill>
              <a:srgbClr val="00AA7F"/>
            </a:solidFill>
            <a:prstDash val="sysDot"/>
            <a:headEnd type="none" w="sm" len="sm"/>
            <a:tailEnd type="none" w="sm" len="sm"/>
          </a:ln>
        </p:spPr>
        <p:txBody>
          <a:bodyPr/>
          <a:lstStyle/>
          <a:p>
            <a:endParaRPr lang="en-AU"/>
          </a:p>
        </p:txBody>
      </p:sp>
      <p:sp>
        <p:nvSpPr>
          <p:cNvPr id="6" name="AutoShape 6"/>
          <p:cNvSpPr/>
          <p:nvPr/>
        </p:nvSpPr>
        <p:spPr>
          <a:xfrm flipV="1">
            <a:off x="15392400" y="899862"/>
            <a:ext cx="0" cy="9041700"/>
          </a:xfrm>
          <a:prstGeom prst="line">
            <a:avLst/>
          </a:prstGeom>
          <a:ln w="19050" cap="flat">
            <a:solidFill>
              <a:srgbClr val="00AA7F"/>
            </a:solidFill>
            <a:prstDash val="sysDot"/>
            <a:headEnd type="none" w="sm" len="sm"/>
            <a:tailEnd type="none" w="sm" len="sm"/>
          </a:ln>
        </p:spPr>
        <p:txBody>
          <a:bodyPr/>
          <a:lstStyle/>
          <a:p>
            <a:endParaRPr lang="en-AU"/>
          </a:p>
        </p:txBody>
      </p:sp>
      <p:sp>
        <p:nvSpPr>
          <p:cNvPr id="8" name="Freeform 8"/>
          <p:cNvSpPr/>
          <p:nvPr/>
        </p:nvSpPr>
        <p:spPr>
          <a:xfrm>
            <a:off x="15588910" y="204425"/>
            <a:ext cx="2048952" cy="474651"/>
          </a:xfrm>
          <a:custGeom>
            <a:avLst/>
            <a:gdLst/>
            <a:ahLst/>
            <a:cxnLst/>
            <a:rect l="l" t="t" r="r" b="b"/>
            <a:pathLst>
              <a:path w="2048952" h="474651">
                <a:moveTo>
                  <a:pt x="0" y="0"/>
                </a:moveTo>
                <a:lnTo>
                  <a:pt x="2048952" y="0"/>
                </a:lnTo>
                <a:lnTo>
                  <a:pt x="2048952" y="474651"/>
                </a:lnTo>
                <a:lnTo>
                  <a:pt x="0" y="474651"/>
                </a:lnTo>
                <a:lnTo>
                  <a:pt x="0" y="0"/>
                </a:lnTo>
                <a:close/>
              </a:path>
            </a:pathLst>
          </a:custGeom>
          <a:blipFill>
            <a:blip r:embed="rId2"/>
            <a:stretch>
              <a:fillRect/>
            </a:stretch>
          </a:blipFill>
        </p:spPr>
        <p:txBody>
          <a:bodyPr/>
          <a:lstStyle/>
          <a:p>
            <a:endParaRPr lang="en-AU"/>
          </a:p>
        </p:txBody>
      </p:sp>
      <p:sp>
        <p:nvSpPr>
          <p:cNvPr id="9" name="TextBox 9"/>
          <p:cNvSpPr txBox="1"/>
          <p:nvPr/>
        </p:nvSpPr>
        <p:spPr>
          <a:xfrm>
            <a:off x="15568937" y="4037686"/>
            <a:ext cx="2657546" cy="3058530"/>
          </a:xfrm>
          <a:prstGeom prst="rect">
            <a:avLst/>
          </a:prstGeom>
        </p:spPr>
        <p:txBody>
          <a:bodyPr wrap="square" lIns="0" tIns="0" rIns="0" bIns="0" rtlCol="0" anchor="t">
            <a:spAutoFit/>
          </a:bodyPr>
          <a:lstStyle/>
          <a:p>
            <a:pPr algn="l">
              <a:lnSpc>
                <a:spcPts val="1959"/>
              </a:lnSpc>
            </a:pPr>
            <a:r>
              <a:rPr lang="en-US" sz="1399" b="1" dirty="0">
                <a:solidFill>
                  <a:srgbClr val="00AA7F"/>
                </a:solidFill>
                <a:latin typeface="Roboto"/>
                <a:ea typeface="Roboto"/>
                <a:cs typeface="Roboto"/>
                <a:sym typeface="Roboto"/>
              </a:rPr>
              <a:t>Google Cloud | Certified Data Engineer</a:t>
            </a:r>
          </a:p>
          <a:p>
            <a:pPr algn="l">
              <a:lnSpc>
                <a:spcPts val="1959"/>
              </a:lnSpc>
            </a:pPr>
            <a:endParaRPr lang="en-US" sz="1399" b="1" dirty="0">
              <a:solidFill>
                <a:srgbClr val="00AA7F"/>
              </a:solidFill>
              <a:latin typeface="Roboto"/>
              <a:ea typeface="Roboto"/>
              <a:cs typeface="Roboto"/>
              <a:sym typeface="Roboto"/>
            </a:endParaRPr>
          </a:p>
          <a:p>
            <a:pPr>
              <a:lnSpc>
                <a:spcPts val="1959"/>
              </a:lnSpc>
              <a:spcBef>
                <a:spcPct val="0"/>
              </a:spcBef>
            </a:pPr>
            <a:r>
              <a:rPr lang="en-US" sz="1399" b="1" dirty="0">
                <a:solidFill>
                  <a:srgbClr val="00AA7F"/>
                </a:solidFill>
                <a:latin typeface="Roboto"/>
                <a:ea typeface="Roboto"/>
                <a:cs typeface="Roboto"/>
                <a:sym typeface="Roboto"/>
              </a:rPr>
              <a:t>Databricks | Certified Data Engineer Associate</a:t>
            </a:r>
          </a:p>
          <a:p>
            <a:pPr algn="l">
              <a:lnSpc>
                <a:spcPts val="1959"/>
              </a:lnSpc>
              <a:spcBef>
                <a:spcPct val="0"/>
              </a:spcBef>
            </a:pPr>
            <a:endParaRPr lang="en-US" sz="1399" b="1" dirty="0">
              <a:solidFill>
                <a:srgbClr val="00AA7F"/>
              </a:solidFill>
              <a:latin typeface="Roboto"/>
              <a:ea typeface="Roboto"/>
              <a:cs typeface="Roboto"/>
              <a:sym typeface="Roboto"/>
            </a:endParaRPr>
          </a:p>
          <a:p>
            <a:pPr>
              <a:lnSpc>
                <a:spcPts val="1959"/>
              </a:lnSpc>
              <a:spcBef>
                <a:spcPct val="0"/>
              </a:spcBef>
            </a:pPr>
            <a:r>
              <a:rPr lang="en-US" sz="1399" b="1" dirty="0">
                <a:solidFill>
                  <a:srgbClr val="00AA7F"/>
                </a:solidFill>
                <a:latin typeface="Roboto"/>
                <a:ea typeface="Roboto"/>
                <a:cs typeface="Roboto"/>
                <a:sym typeface="Roboto"/>
              </a:rPr>
              <a:t>AWS | Certified Cloud Practitioner Fundamentals</a:t>
            </a:r>
          </a:p>
          <a:p>
            <a:pPr>
              <a:lnSpc>
                <a:spcPts val="1959"/>
              </a:lnSpc>
              <a:spcBef>
                <a:spcPct val="0"/>
              </a:spcBef>
            </a:pPr>
            <a:endParaRPr lang="en-US" sz="1399" b="1" dirty="0">
              <a:solidFill>
                <a:srgbClr val="00AA7F"/>
              </a:solidFill>
              <a:latin typeface="Roboto"/>
              <a:ea typeface="Roboto"/>
              <a:cs typeface="Roboto"/>
              <a:sym typeface="Roboto"/>
            </a:endParaRPr>
          </a:p>
          <a:p>
            <a:pPr>
              <a:lnSpc>
                <a:spcPts val="1959"/>
              </a:lnSpc>
              <a:spcBef>
                <a:spcPct val="0"/>
              </a:spcBef>
            </a:pPr>
            <a:r>
              <a:rPr lang="en-US" sz="1399" b="1" dirty="0">
                <a:solidFill>
                  <a:srgbClr val="00AA7F"/>
                </a:solidFill>
                <a:latin typeface="Roboto"/>
                <a:ea typeface="Roboto"/>
                <a:cs typeface="Roboto"/>
                <a:sym typeface="Roboto"/>
              </a:rPr>
              <a:t>Splunk | Certified Core, Power User</a:t>
            </a:r>
          </a:p>
          <a:p>
            <a:pPr algn="l">
              <a:lnSpc>
                <a:spcPts val="1959"/>
              </a:lnSpc>
              <a:spcBef>
                <a:spcPct val="0"/>
              </a:spcBef>
            </a:pPr>
            <a:endParaRPr lang="en-US" sz="1399" b="1" dirty="0">
              <a:solidFill>
                <a:srgbClr val="00AA7F"/>
              </a:solidFill>
              <a:latin typeface="Roboto"/>
              <a:ea typeface="Roboto"/>
              <a:cs typeface="Roboto"/>
              <a:sym typeface="Roboto"/>
            </a:endParaRPr>
          </a:p>
        </p:txBody>
      </p:sp>
      <p:sp>
        <p:nvSpPr>
          <p:cNvPr id="10" name="AutoShape 10"/>
          <p:cNvSpPr/>
          <p:nvPr/>
        </p:nvSpPr>
        <p:spPr>
          <a:xfrm>
            <a:off x="15568938" y="3931891"/>
            <a:ext cx="2273295" cy="0"/>
          </a:xfrm>
          <a:prstGeom prst="line">
            <a:avLst/>
          </a:prstGeom>
          <a:ln w="19050" cap="flat">
            <a:solidFill>
              <a:srgbClr val="0F2B3F"/>
            </a:solidFill>
            <a:prstDash val="sysDot"/>
            <a:headEnd type="none" w="sm" len="sm"/>
            <a:tailEnd type="none" w="sm" len="sm"/>
          </a:ln>
        </p:spPr>
        <p:txBody>
          <a:bodyPr/>
          <a:lstStyle/>
          <a:p>
            <a:endParaRPr lang="en-AU"/>
          </a:p>
        </p:txBody>
      </p:sp>
      <p:sp>
        <p:nvSpPr>
          <p:cNvPr id="11" name="AutoShape 11"/>
          <p:cNvSpPr/>
          <p:nvPr/>
        </p:nvSpPr>
        <p:spPr>
          <a:xfrm>
            <a:off x="15559425" y="1922426"/>
            <a:ext cx="2273295" cy="0"/>
          </a:xfrm>
          <a:prstGeom prst="line">
            <a:avLst/>
          </a:prstGeom>
          <a:ln w="19050" cap="flat">
            <a:solidFill>
              <a:srgbClr val="0F2B3F"/>
            </a:solidFill>
            <a:prstDash val="sysDot"/>
            <a:headEnd type="none" w="sm" len="sm"/>
            <a:tailEnd type="none" w="sm" len="sm"/>
          </a:ln>
        </p:spPr>
        <p:txBody>
          <a:bodyPr/>
          <a:lstStyle/>
          <a:p>
            <a:endParaRPr lang="en-AU"/>
          </a:p>
        </p:txBody>
      </p:sp>
      <p:sp>
        <p:nvSpPr>
          <p:cNvPr id="12" name="TextBox 12"/>
          <p:cNvSpPr txBox="1"/>
          <p:nvPr/>
        </p:nvSpPr>
        <p:spPr>
          <a:xfrm>
            <a:off x="15539453" y="1427714"/>
            <a:ext cx="7840469" cy="358774"/>
          </a:xfrm>
          <a:prstGeom prst="rect">
            <a:avLst/>
          </a:prstGeom>
        </p:spPr>
        <p:txBody>
          <a:bodyPr lIns="0" tIns="0" rIns="0" bIns="0" rtlCol="0" anchor="t">
            <a:spAutoFit/>
          </a:bodyPr>
          <a:lstStyle/>
          <a:p>
            <a:pPr algn="l">
              <a:lnSpc>
                <a:spcPts val="2800"/>
              </a:lnSpc>
              <a:spcBef>
                <a:spcPct val="0"/>
              </a:spcBef>
            </a:pPr>
            <a:r>
              <a:rPr lang="en-US" sz="2000" b="1">
                <a:solidFill>
                  <a:srgbClr val="0F2B3F"/>
                </a:solidFill>
                <a:latin typeface="Roboto Bold"/>
                <a:ea typeface="Roboto Bold"/>
                <a:cs typeface="Roboto Bold"/>
                <a:sym typeface="Roboto Bold"/>
              </a:rPr>
              <a:t>Industry Experience</a:t>
            </a:r>
          </a:p>
        </p:txBody>
      </p:sp>
      <p:sp>
        <p:nvSpPr>
          <p:cNvPr id="13" name="TextBox 13"/>
          <p:cNvSpPr txBox="1"/>
          <p:nvPr/>
        </p:nvSpPr>
        <p:spPr>
          <a:xfrm>
            <a:off x="15539453" y="1989101"/>
            <a:ext cx="2293267" cy="1391407"/>
          </a:xfrm>
          <a:prstGeom prst="rect">
            <a:avLst/>
          </a:prstGeom>
        </p:spPr>
        <p:txBody>
          <a:bodyPr lIns="0" tIns="0" rIns="0" bIns="0" rtlCol="0" anchor="t">
            <a:spAutoFit/>
          </a:bodyPr>
          <a:lstStyle/>
          <a:p>
            <a:pPr>
              <a:lnSpc>
                <a:spcPts val="2800"/>
              </a:lnSpc>
            </a:pPr>
            <a:r>
              <a:rPr lang="en-US" sz="1400" b="1" dirty="0">
                <a:solidFill>
                  <a:srgbClr val="00AA7F"/>
                </a:solidFill>
                <a:latin typeface="Roboto Bold"/>
                <a:ea typeface="Roboto Bold"/>
                <a:cs typeface="Roboto Bold"/>
                <a:sym typeface="Roboto Bold"/>
              </a:rPr>
              <a:t>Financial Services</a:t>
            </a:r>
          </a:p>
          <a:p>
            <a:pPr>
              <a:lnSpc>
                <a:spcPts val="2800"/>
              </a:lnSpc>
            </a:pPr>
            <a:r>
              <a:rPr lang="en-US" sz="1400" b="1" dirty="0">
                <a:solidFill>
                  <a:srgbClr val="00AA7F"/>
                </a:solidFill>
                <a:latin typeface="Roboto Bold"/>
                <a:ea typeface="Roboto Bold"/>
                <a:cs typeface="Roboto Bold"/>
                <a:sym typeface="Roboto Bold"/>
              </a:rPr>
              <a:t>Retail</a:t>
            </a:r>
          </a:p>
          <a:p>
            <a:pPr>
              <a:lnSpc>
                <a:spcPts val="2800"/>
              </a:lnSpc>
            </a:pPr>
            <a:endParaRPr lang="en-AU" sz="1400" b="1" dirty="0">
              <a:solidFill>
                <a:srgbClr val="00AA7F"/>
              </a:solidFill>
              <a:latin typeface="Roboto Bold"/>
              <a:ea typeface="Roboto Bold"/>
              <a:cs typeface="Roboto Bold"/>
              <a:sym typeface="Roboto Bold"/>
            </a:endParaRPr>
          </a:p>
          <a:p>
            <a:pPr>
              <a:lnSpc>
                <a:spcPts val="2800"/>
              </a:lnSpc>
            </a:pPr>
            <a:endParaRPr lang="en-US" sz="1400" b="1" dirty="0">
              <a:solidFill>
                <a:srgbClr val="00AA7F"/>
              </a:solidFill>
              <a:latin typeface="Roboto Bold"/>
              <a:ea typeface="Roboto Bold"/>
              <a:cs typeface="Roboto Bold"/>
              <a:sym typeface="Roboto Bold"/>
            </a:endParaRPr>
          </a:p>
        </p:txBody>
      </p:sp>
      <p:sp>
        <p:nvSpPr>
          <p:cNvPr id="14" name="TextBox 14"/>
          <p:cNvSpPr txBox="1"/>
          <p:nvPr/>
        </p:nvSpPr>
        <p:spPr>
          <a:xfrm>
            <a:off x="15539453" y="3447182"/>
            <a:ext cx="2687031" cy="333425"/>
          </a:xfrm>
          <a:prstGeom prst="rect">
            <a:avLst/>
          </a:prstGeom>
        </p:spPr>
        <p:txBody>
          <a:bodyPr lIns="0" tIns="0" rIns="0" bIns="0" rtlCol="0" anchor="t">
            <a:spAutoFit/>
          </a:bodyPr>
          <a:lstStyle/>
          <a:p>
            <a:pPr algn="l">
              <a:lnSpc>
                <a:spcPts val="2800"/>
              </a:lnSpc>
              <a:spcBef>
                <a:spcPct val="0"/>
              </a:spcBef>
            </a:pPr>
            <a:r>
              <a:rPr lang="en-US" sz="2000" b="1" dirty="0">
                <a:solidFill>
                  <a:srgbClr val="0F2B3F"/>
                </a:solidFill>
                <a:latin typeface="Roboto Bold"/>
                <a:ea typeface="Roboto Bold"/>
                <a:cs typeface="Roboto Bold"/>
                <a:sym typeface="Roboto Bold"/>
              </a:rPr>
              <a:t>Certification</a:t>
            </a:r>
          </a:p>
        </p:txBody>
      </p:sp>
      <p:sp>
        <p:nvSpPr>
          <p:cNvPr id="15" name="TextBox 15"/>
          <p:cNvSpPr txBox="1"/>
          <p:nvPr/>
        </p:nvSpPr>
        <p:spPr>
          <a:xfrm>
            <a:off x="7239000" y="171689"/>
            <a:ext cx="7840469" cy="500137"/>
          </a:xfrm>
          <a:prstGeom prst="rect">
            <a:avLst/>
          </a:prstGeom>
        </p:spPr>
        <p:txBody>
          <a:bodyPr lIns="0" tIns="0" rIns="0" bIns="0" rtlCol="0" anchor="t">
            <a:spAutoFit/>
          </a:bodyPr>
          <a:lstStyle/>
          <a:p>
            <a:pPr algn="l">
              <a:lnSpc>
                <a:spcPts val="4200"/>
              </a:lnSpc>
              <a:spcBef>
                <a:spcPct val="0"/>
              </a:spcBef>
            </a:pPr>
            <a:r>
              <a:rPr lang="en-US" sz="3000" b="1" dirty="0">
                <a:solidFill>
                  <a:srgbClr val="0F2B3F"/>
                </a:solidFill>
                <a:latin typeface="Roboto Bold"/>
                <a:ea typeface="Roboto Bold"/>
                <a:cs typeface="Roboto Bold"/>
                <a:sym typeface="Roboto Bold"/>
              </a:rPr>
              <a:t>Selected Project Experience</a:t>
            </a:r>
          </a:p>
        </p:txBody>
      </p:sp>
      <p:sp>
        <p:nvSpPr>
          <p:cNvPr id="16" name="TextBox 16"/>
          <p:cNvSpPr txBox="1"/>
          <p:nvPr/>
        </p:nvSpPr>
        <p:spPr>
          <a:xfrm>
            <a:off x="222666" y="765476"/>
            <a:ext cx="6593800" cy="1384995"/>
          </a:xfrm>
          <a:prstGeom prst="rect">
            <a:avLst/>
          </a:prstGeom>
        </p:spPr>
        <p:txBody>
          <a:bodyPr wrap="square" lIns="0" tIns="0" rIns="0" bIns="0" rtlCol="0" anchor="t">
            <a:spAutoFit/>
          </a:bodyPr>
          <a:lstStyle/>
          <a:p>
            <a:pPr algn="l">
              <a:lnSpc>
                <a:spcPts val="5599"/>
              </a:lnSpc>
              <a:spcBef>
                <a:spcPct val="0"/>
              </a:spcBef>
            </a:pPr>
            <a:r>
              <a:rPr lang="en-US" sz="3999" b="1" dirty="0">
                <a:solidFill>
                  <a:srgbClr val="00AA7F"/>
                </a:solidFill>
                <a:latin typeface="Roboto Bold"/>
                <a:ea typeface="Roboto Bold"/>
                <a:cs typeface="Roboto Bold"/>
                <a:sym typeface="Roboto Bold"/>
              </a:rPr>
              <a:t>Miruna Suresh</a:t>
            </a:r>
          </a:p>
          <a:p>
            <a:pPr algn="l">
              <a:lnSpc>
                <a:spcPts val="5599"/>
              </a:lnSpc>
              <a:spcBef>
                <a:spcPct val="0"/>
              </a:spcBef>
            </a:pPr>
            <a:endParaRPr lang="en-US" sz="3999" b="1" dirty="0">
              <a:solidFill>
                <a:srgbClr val="00AA7F"/>
              </a:solidFill>
              <a:latin typeface="Roboto Bold"/>
              <a:ea typeface="Roboto Bold"/>
              <a:cs typeface="Roboto Bold"/>
              <a:sym typeface="Roboto Bold"/>
            </a:endParaRPr>
          </a:p>
        </p:txBody>
      </p:sp>
      <p:sp>
        <p:nvSpPr>
          <p:cNvPr id="17" name="TextBox 17"/>
          <p:cNvSpPr txBox="1"/>
          <p:nvPr/>
        </p:nvSpPr>
        <p:spPr>
          <a:xfrm>
            <a:off x="222207" y="1427714"/>
            <a:ext cx="4631684" cy="500137"/>
          </a:xfrm>
          <a:prstGeom prst="rect">
            <a:avLst/>
          </a:prstGeom>
        </p:spPr>
        <p:txBody>
          <a:bodyPr lIns="0" tIns="0" rIns="0" bIns="0" rtlCol="0" anchor="t">
            <a:spAutoFit/>
          </a:bodyPr>
          <a:lstStyle/>
          <a:p>
            <a:pPr algn="l">
              <a:lnSpc>
                <a:spcPts val="4200"/>
              </a:lnSpc>
              <a:spcBef>
                <a:spcPct val="0"/>
              </a:spcBef>
            </a:pPr>
            <a:r>
              <a:rPr lang="en-US" sz="3000" dirty="0">
                <a:solidFill>
                  <a:srgbClr val="0F2B3F"/>
                </a:solidFill>
                <a:latin typeface="Roboto"/>
                <a:ea typeface="Roboto"/>
                <a:cs typeface="Roboto"/>
                <a:sym typeface="Roboto"/>
              </a:rPr>
              <a:t>Consultant</a:t>
            </a:r>
          </a:p>
        </p:txBody>
      </p:sp>
      <p:sp>
        <p:nvSpPr>
          <p:cNvPr id="18" name="TextBox 18"/>
          <p:cNvSpPr txBox="1"/>
          <p:nvPr/>
        </p:nvSpPr>
        <p:spPr>
          <a:xfrm>
            <a:off x="222207" y="2020005"/>
            <a:ext cx="3072317" cy="533400"/>
          </a:xfrm>
          <a:prstGeom prst="rect">
            <a:avLst/>
          </a:prstGeom>
        </p:spPr>
        <p:txBody>
          <a:bodyPr lIns="0" tIns="0" rIns="0" bIns="0" rtlCol="0" anchor="t">
            <a:spAutoFit/>
          </a:bodyPr>
          <a:lstStyle/>
          <a:p>
            <a:pPr algn="l">
              <a:lnSpc>
                <a:spcPts val="4200"/>
              </a:lnSpc>
              <a:spcBef>
                <a:spcPct val="0"/>
              </a:spcBef>
            </a:pPr>
            <a:r>
              <a:rPr lang="en-US" sz="3000" b="1" dirty="0">
                <a:solidFill>
                  <a:srgbClr val="00AA7F"/>
                </a:solidFill>
                <a:latin typeface="Roboto Bold"/>
                <a:ea typeface="Roboto Bold"/>
                <a:cs typeface="Roboto Bold"/>
                <a:sym typeface="Roboto Bold"/>
              </a:rPr>
              <a:t>Summary</a:t>
            </a:r>
          </a:p>
        </p:txBody>
      </p:sp>
      <p:sp>
        <p:nvSpPr>
          <p:cNvPr id="19" name="TextBox 19"/>
          <p:cNvSpPr txBox="1"/>
          <p:nvPr/>
        </p:nvSpPr>
        <p:spPr>
          <a:xfrm>
            <a:off x="222207" y="2817229"/>
            <a:ext cx="6493372" cy="3084178"/>
          </a:xfrm>
          <a:prstGeom prst="rect">
            <a:avLst/>
          </a:prstGeom>
        </p:spPr>
        <p:txBody>
          <a:bodyPr wrap="square" lIns="0" tIns="0" rIns="0" bIns="0" rtlCol="0" anchor="t">
            <a:spAutoFit/>
          </a:bodyPr>
          <a:lstStyle/>
          <a:p>
            <a:pPr>
              <a:lnSpc>
                <a:spcPts val="2239"/>
              </a:lnSpc>
            </a:pPr>
            <a:r>
              <a:rPr lang="en-AU" sz="1600" dirty="0">
                <a:solidFill>
                  <a:srgbClr val="0F2B3F"/>
                </a:solidFill>
                <a:latin typeface="Roboto"/>
                <a:ea typeface="Roboto"/>
                <a:cs typeface="Roboto"/>
                <a:sym typeface="Roboto"/>
              </a:rPr>
              <a:t>Miruna is a skilled Data Engineer with over 5 years of experience delivering innovative solutions across data and engineering projects. She is a Google Cloud Certified Data Engineer and Databricks Certified Professional Data Engineer, with strong expertise in Python and SQL, she has a proven ability to design and develop reliable, high-performing data pipelines and applications. Her background in computer science and software development enables her to approach challenges with both technical precision and creativity, ensuring outcomes that balance efficiency with business value. Known for her attention to detail, initiative, and clear communication, Miruna thrives in collaborative environments where quality and impact are paramount.</a:t>
            </a:r>
            <a:endParaRPr lang="en-US" sz="1600" dirty="0">
              <a:solidFill>
                <a:srgbClr val="0F2B3F"/>
              </a:solidFill>
              <a:latin typeface="Roboto"/>
              <a:ea typeface="Roboto"/>
              <a:cs typeface="Roboto"/>
              <a:sym typeface="Roboto"/>
            </a:endParaRPr>
          </a:p>
        </p:txBody>
      </p:sp>
      <p:sp>
        <p:nvSpPr>
          <p:cNvPr id="23" name="AutoShape 23"/>
          <p:cNvSpPr/>
          <p:nvPr/>
        </p:nvSpPr>
        <p:spPr>
          <a:xfrm>
            <a:off x="460616" y="7080882"/>
            <a:ext cx="3944578" cy="0"/>
          </a:xfrm>
          <a:prstGeom prst="line">
            <a:avLst/>
          </a:prstGeom>
          <a:ln w="19050" cap="flat">
            <a:solidFill>
              <a:srgbClr val="0F2B3F"/>
            </a:solidFill>
            <a:prstDash val="sysDot"/>
            <a:headEnd type="none" w="sm" len="sm"/>
            <a:tailEnd type="none" w="sm" len="sm"/>
          </a:ln>
        </p:spPr>
        <p:txBody>
          <a:bodyPr/>
          <a:lstStyle/>
          <a:p>
            <a:endParaRPr lang="en-AU"/>
          </a:p>
        </p:txBody>
      </p:sp>
      <p:grpSp>
        <p:nvGrpSpPr>
          <p:cNvPr id="24" name="Group 24"/>
          <p:cNvGrpSpPr/>
          <p:nvPr/>
        </p:nvGrpSpPr>
        <p:grpSpPr>
          <a:xfrm>
            <a:off x="200025" y="6502344"/>
            <a:ext cx="6493375" cy="3524877"/>
            <a:chOff x="0" y="0"/>
            <a:chExt cx="1710189" cy="898114"/>
          </a:xfrm>
        </p:grpSpPr>
        <p:sp>
          <p:nvSpPr>
            <p:cNvPr id="25" name="Freeform 25"/>
            <p:cNvSpPr/>
            <p:nvPr/>
          </p:nvSpPr>
          <p:spPr>
            <a:xfrm>
              <a:off x="0" y="0"/>
              <a:ext cx="1710189" cy="898114"/>
            </a:xfrm>
            <a:custGeom>
              <a:avLst/>
              <a:gdLst/>
              <a:ahLst/>
              <a:cxnLst/>
              <a:rect l="l" t="t" r="r" b="b"/>
              <a:pathLst>
                <a:path w="1710189" h="898114">
                  <a:moveTo>
                    <a:pt x="0" y="0"/>
                  </a:moveTo>
                  <a:lnTo>
                    <a:pt x="1710189" y="0"/>
                  </a:lnTo>
                  <a:lnTo>
                    <a:pt x="1710189" y="898114"/>
                  </a:lnTo>
                  <a:lnTo>
                    <a:pt x="0" y="898114"/>
                  </a:lnTo>
                  <a:close/>
                </a:path>
              </a:pathLst>
            </a:custGeom>
            <a:solidFill>
              <a:srgbClr val="0F2B3F"/>
            </a:solidFill>
          </p:spPr>
          <p:txBody>
            <a:bodyPr/>
            <a:lstStyle/>
            <a:p>
              <a:endParaRPr lang="en-AU"/>
            </a:p>
          </p:txBody>
        </p:sp>
        <p:sp>
          <p:nvSpPr>
            <p:cNvPr id="26" name="TextBox 26"/>
            <p:cNvSpPr txBox="1"/>
            <p:nvPr/>
          </p:nvSpPr>
          <p:spPr>
            <a:xfrm>
              <a:off x="0" y="-38100"/>
              <a:ext cx="1710189" cy="936214"/>
            </a:xfrm>
            <a:prstGeom prst="rect">
              <a:avLst/>
            </a:prstGeom>
          </p:spPr>
          <p:txBody>
            <a:bodyPr lIns="50800" tIns="50800" rIns="50800" bIns="50800" rtlCol="0" anchor="ctr"/>
            <a:lstStyle/>
            <a:p>
              <a:pPr algn="ctr">
                <a:lnSpc>
                  <a:spcPts val="2693"/>
                </a:lnSpc>
              </a:pPr>
              <a:endParaRPr/>
            </a:p>
          </p:txBody>
        </p:sp>
      </p:grpSp>
      <p:sp>
        <p:nvSpPr>
          <p:cNvPr id="29" name="TextBox 29"/>
          <p:cNvSpPr txBox="1"/>
          <p:nvPr/>
        </p:nvSpPr>
        <p:spPr>
          <a:xfrm>
            <a:off x="387699" y="6632364"/>
            <a:ext cx="3823490" cy="358775"/>
          </a:xfrm>
          <a:prstGeom prst="rect">
            <a:avLst/>
          </a:prstGeom>
        </p:spPr>
        <p:txBody>
          <a:bodyPr lIns="0" tIns="0" rIns="0" bIns="0" rtlCol="0" anchor="t">
            <a:spAutoFit/>
          </a:bodyPr>
          <a:lstStyle/>
          <a:p>
            <a:pPr algn="l">
              <a:lnSpc>
                <a:spcPts val="2800"/>
              </a:lnSpc>
              <a:spcBef>
                <a:spcPct val="0"/>
              </a:spcBef>
            </a:pPr>
            <a:r>
              <a:rPr lang="en-US" sz="2000" b="1" dirty="0">
                <a:solidFill>
                  <a:srgbClr val="F18018"/>
                </a:solidFill>
                <a:latin typeface="Roboto Bold"/>
                <a:ea typeface="Roboto Bold"/>
                <a:cs typeface="Roboto Bold"/>
                <a:sym typeface="Roboto Bold"/>
              </a:rPr>
              <a:t>Key Skills &amp; Tech</a:t>
            </a:r>
          </a:p>
        </p:txBody>
      </p:sp>
      <p:sp>
        <p:nvSpPr>
          <p:cNvPr id="31" name="Freeform 31"/>
          <p:cNvSpPr/>
          <p:nvPr/>
        </p:nvSpPr>
        <p:spPr>
          <a:xfrm>
            <a:off x="140042" y="-24175"/>
            <a:ext cx="774435" cy="824275"/>
          </a:xfrm>
          <a:custGeom>
            <a:avLst/>
            <a:gdLst/>
            <a:ahLst/>
            <a:cxnLst/>
            <a:rect l="l" t="t" r="r" b="b"/>
            <a:pathLst>
              <a:path w="774435" h="824275">
                <a:moveTo>
                  <a:pt x="0" y="0"/>
                </a:moveTo>
                <a:lnTo>
                  <a:pt x="774435" y="0"/>
                </a:lnTo>
                <a:lnTo>
                  <a:pt x="774435" y="824275"/>
                </a:lnTo>
                <a:lnTo>
                  <a:pt x="0" y="824275"/>
                </a:lnTo>
                <a:lnTo>
                  <a:pt x="0" y="0"/>
                </a:lnTo>
                <a:close/>
              </a:path>
            </a:pathLst>
          </a:custGeom>
          <a:blipFill>
            <a:blip r:embed="rId3"/>
            <a:stretch>
              <a:fillRect/>
            </a:stretch>
          </a:blipFill>
        </p:spPr>
        <p:txBody>
          <a:bodyPr/>
          <a:lstStyle/>
          <a:p>
            <a:endParaRPr lang="en-AU"/>
          </a:p>
        </p:txBody>
      </p:sp>
      <p:sp>
        <p:nvSpPr>
          <p:cNvPr id="32" name="TextBox 32"/>
          <p:cNvSpPr txBox="1"/>
          <p:nvPr/>
        </p:nvSpPr>
        <p:spPr>
          <a:xfrm>
            <a:off x="1001693" y="103852"/>
            <a:ext cx="3570307" cy="556895"/>
          </a:xfrm>
          <a:prstGeom prst="rect">
            <a:avLst/>
          </a:prstGeom>
        </p:spPr>
        <p:txBody>
          <a:bodyPr lIns="0" tIns="0" rIns="0" bIns="0" rtlCol="0" anchor="t">
            <a:spAutoFit/>
          </a:bodyPr>
          <a:lstStyle/>
          <a:p>
            <a:pPr algn="l">
              <a:lnSpc>
                <a:spcPts val="4479"/>
              </a:lnSpc>
              <a:spcBef>
                <a:spcPct val="0"/>
              </a:spcBef>
            </a:pPr>
            <a:r>
              <a:rPr lang="en-US" sz="3199" b="1" dirty="0">
                <a:solidFill>
                  <a:srgbClr val="0F2B3F"/>
                </a:solidFill>
                <a:latin typeface="Roboto Bold"/>
                <a:ea typeface="Roboto Bold"/>
                <a:cs typeface="Roboto Bold"/>
                <a:sym typeface="Roboto Bold"/>
              </a:rPr>
              <a:t>Consultant Profile</a:t>
            </a:r>
          </a:p>
        </p:txBody>
      </p:sp>
      <p:sp>
        <p:nvSpPr>
          <p:cNvPr id="33" name="TextBox 21"/>
          <p:cNvSpPr txBox="1"/>
          <p:nvPr/>
        </p:nvSpPr>
        <p:spPr>
          <a:xfrm>
            <a:off x="7307963" y="1002618"/>
            <a:ext cx="7901355" cy="5629746"/>
          </a:xfrm>
          <a:prstGeom prst="rect">
            <a:avLst/>
          </a:prstGeom>
        </p:spPr>
        <p:txBody>
          <a:bodyPr wrap="square" lIns="0" tIns="0" rIns="0" bIns="0" rtlCol="0" anchor="t">
            <a:spAutoFit/>
          </a:bodyPr>
          <a:lstStyle/>
          <a:p>
            <a:pPr>
              <a:lnSpc>
                <a:spcPts val="1960"/>
              </a:lnSpc>
              <a:spcBef>
                <a:spcPct val="0"/>
              </a:spcBef>
            </a:pPr>
            <a:r>
              <a:rPr lang="en-US" sz="1600" b="1" dirty="0">
                <a:solidFill>
                  <a:srgbClr val="0059FF"/>
                </a:solidFill>
                <a:latin typeface="Roboto Bold"/>
                <a:ea typeface="Roboto Bold"/>
                <a:cs typeface="Roboto Bold"/>
                <a:sym typeface="Roboto Bold"/>
              </a:rPr>
              <a:t>Financial Services &amp; Retail </a:t>
            </a:r>
            <a:r>
              <a:rPr lang="en-US" sz="1600" b="1" dirty="0" err="1">
                <a:solidFill>
                  <a:srgbClr val="0059FF"/>
                </a:solidFill>
                <a:latin typeface="Roboto Bold"/>
                <a:ea typeface="Roboto Bold"/>
                <a:cs typeface="Roboto Bold"/>
                <a:sym typeface="Roboto Bold"/>
              </a:rPr>
              <a:t>Organisations</a:t>
            </a:r>
            <a:r>
              <a:rPr lang="en-US" sz="1600" b="1" dirty="0">
                <a:solidFill>
                  <a:srgbClr val="0059FF"/>
                </a:solidFill>
                <a:latin typeface="Roboto Bold"/>
                <a:ea typeface="Roboto Bold"/>
                <a:cs typeface="Roboto Bold"/>
                <a:sym typeface="Roboto Bold"/>
              </a:rPr>
              <a:t> </a:t>
            </a:r>
            <a:r>
              <a:rPr lang="en-US" sz="1600" b="1" u="none" strike="noStrike" dirty="0">
                <a:solidFill>
                  <a:srgbClr val="0059FF"/>
                </a:solidFill>
                <a:latin typeface="Roboto Bold"/>
                <a:ea typeface="Roboto Bold"/>
                <a:cs typeface="Roboto Bold"/>
                <a:sym typeface="Roboto Bold"/>
              </a:rPr>
              <a:t> – </a:t>
            </a:r>
            <a:r>
              <a:rPr lang="en-US" sz="1600" b="1" dirty="0">
                <a:solidFill>
                  <a:srgbClr val="0059FF"/>
                </a:solidFill>
                <a:latin typeface="Roboto Bold"/>
                <a:ea typeface="Roboto Bold"/>
                <a:cs typeface="Roboto Bold"/>
                <a:sym typeface="Roboto Bold"/>
              </a:rPr>
              <a:t>Data Engineer</a:t>
            </a:r>
          </a:p>
          <a:p>
            <a:pPr marL="285750" indent="-285750">
              <a:lnSpc>
                <a:spcPts val="1960"/>
              </a:lnSpc>
              <a:spcBef>
                <a:spcPct val="0"/>
              </a:spcBef>
              <a:buFont typeface="Arial" panose="020B0604020202020204" pitchFamily="34" charset="0"/>
              <a:buChar char="•"/>
            </a:pPr>
            <a:r>
              <a:rPr lang="en-AU" sz="1600" u="none" strike="noStrike" dirty="0">
                <a:solidFill>
                  <a:srgbClr val="0F2B3F"/>
                </a:solidFill>
                <a:latin typeface="Roboto"/>
                <a:ea typeface="Roboto"/>
                <a:cs typeface="Roboto"/>
                <a:sym typeface="Roboto"/>
              </a:rPr>
              <a:t>Developed and implemented solutions for investing large volumes of data from various integrations tools such as Informatica and Tumbleweed into Google Cloud Platform.</a:t>
            </a:r>
          </a:p>
          <a:p>
            <a:pPr marL="285750" indent="-285750">
              <a:lnSpc>
                <a:spcPts val="1960"/>
              </a:lnSpc>
              <a:spcBef>
                <a:spcPct val="0"/>
              </a:spcBef>
              <a:buFont typeface="Arial" panose="020B0604020202020204" pitchFamily="34" charset="0"/>
              <a:buChar char="•"/>
            </a:pPr>
            <a:r>
              <a:rPr lang="en-AU" sz="1600" u="none" strike="noStrike" dirty="0">
                <a:solidFill>
                  <a:srgbClr val="0F2B3F"/>
                </a:solidFill>
                <a:latin typeface="Roboto"/>
                <a:ea typeface="Roboto"/>
                <a:cs typeface="Roboto"/>
                <a:sym typeface="Roboto"/>
              </a:rPr>
              <a:t>Processed large volumes of data, cleaned, transformed, and made it readily available for users.</a:t>
            </a:r>
          </a:p>
          <a:p>
            <a:pPr marL="285750" indent="-285750">
              <a:lnSpc>
                <a:spcPts val="1960"/>
              </a:lnSpc>
              <a:spcBef>
                <a:spcPct val="0"/>
              </a:spcBef>
              <a:buFont typeface="Arial" panose="020B0604020202020204" pitchFamily="34" charset="0"/>
              <a:buChar char="•"/>
            </a:pPr>
            <a:r>
              <a:rPr lang="en-AU" sz="1600" u="none" strike="noStrike" dirty="0">
                <a:solidFill>
                  <a:srgbClr val="0F2B3F"/>
                </a:solidFill>
                <a:latin typeface="Roboto"/>
                <a:ea typeface="Roboto"/>
                <a:cs typeface="Roboto"/>
                <a:sym typeface="Roboto"/>
              </a:rPr>
              <a:t>Designed, developed and maintained data pipelines for ETL Processing using GCP Dataflow, </a:t>
            </a:r>
            <a:r>
              <a:rPr lang="en-AU" sz="1600" u="none" strike="noStrike" dirty="0" err="1">
                <a:solidFill>
                  <a:srgbClr val="0F2B3F"/>
                </a:solidFill>
                <a:latin typeface="Roboto"/>
                <a:ea typeface="Roboto"/>
                <a:cs typeface="Roboto"/>
                <a:sym typeface="Roboto"/>
              </a:rPr>
              <a:t>Pubsub</a:t>
            </a:r>
            <a:r>
              <a:rPr lang="en-AU" sz="1600" u="none" strike="noStrike" dirty="0">
                <a:solidFill>
                  <a:srgbClr val="0F2B3F"/>
                </a:solidFill>
                <a:latin typeface="Roboto"/>
                <a:ea typeface="Roboto"/>
                <a:cs typeface="Roboto"/>
                <a:sym typeface="Roboto"/>
              </a:rPr>
              <a:t> (streaming data publish subscriber), Cloud Composer (Apache Airflow for Workflow Orchestration), GCP Cloud Functions (serverless functions) and </a:t>
            </a:r>
            <a:r>
              <a:rPr lang="en-AU" sz="1600" u="none" strike="noStrike" dirty="0" err="1">
                <a:solidFill>
                  <a:srgbClr val="0F2B3F"/>
                </a:solidFill>
                <a:latin typeface="Roboto"/>
                <a:ea typeface="Roboto"/>
                <a:cs typeface="Roboto"/>
                <a:sym typeface="Roboto"/>
              </a:rPr>
              <a:t>BigQuery</a:t>
            </a:r>
            <a:r>
              <a:rPr lang="en-AU" sz="1600" u="none" strike="noStrike" dirty="0">
                <a:solidFill>
                  <a:srgbClr val="0F2B3F"/>
                </a:solidFill>
                <a:latin typeface="Roboto"/>
                <a:ea typeface="Roboto"/>
                <a:cs typeface="Roboto"/>
                <a:sym typeface="Roboto"/>
              </a:rPr>
              <a:t> to enable efficient data processing and transformation</a:t>
            </a:r>
          </a:p>
          <a:p>
            <a:pPr marL="285750" indent="-285750">
              <a:lnSpc>
                <a:spcPts val="1960"/>
              </a:lnSpc>
              <a:spcBef>
                <a:spcPct val="0"/>
              </a:spcBef>
              <a:buFont typeface="Arial" panose="020B0604020202020204" pitchFamily="34" charset="0"/>
              <a:buChar char="•"/>
            </a:pPr>
            <a:r>
              <a:rPr lang="en-AU" sz="1600" u="none" strike="noStrike" dirty="0">
                <a:solidFill>
                  <a:srgbClr val="0F2B3F"/>
                </a:solidFill>
                <a:latin typeface="Roboto"/>
                <a:ea typeface="Roboto"/>
                <a:cs typeface="Roboto"/>
                <a:sym typeface="Roboto"/>
              </a:rPr>
              <a:t>Created and deployed resilient data models that faithfully captured subscription domains and catered to diverse analytical requirements</a:t>
            </a:r>
          </a:p>
          <a:p>
            <a:pPr marL="285750" indent="-285750">
              <a:lnSpc>
                <a:spcPts val="1960"/>
              </a:lnSpc>
              <a:spcBef>
                <a:spcPct val="0"/>
              </a:spcBef>
              <a:buFont typeface="Arial" panose="020B0604020202020204" pitchFamily="34" charset="0"/>
              <a:buChar char="•"/>
            </a:pPr>
            <a:r>
              <a:rPr lang="en-AU" sz="1600" u="none" strike="noStrike" dirty="0">
                <a:solidFill>
                  <a:srgbClr val="0F2B3F"/>
                </a:solidFill>
                <a:latin typeface="Roboto"/>
                <a:ea typeface="Roboto"/>
                <a:cs typeface="Roboto"/>
                <a:sym typeface="Roboto"/>
              </a:rPr>
              <a:t>Worked closely with Product Owners, Architects, and delivery teams to build systems that drive toward its strategic platform vision.</a:t>
            </a:r>
          </a:p>
          <a:p>
            <a:pPr marL="285750" indent="-285750">
              <a:lnSpc>
                <a:spcPts val="1960"/>
              </a:lnSpc>
              <a:spcBef>
                <a:spcPct val="0"/>
              </a:spcBef>
              <a:buFont typeface="Arial" panose="020B0604020202020204" pitchFamily="34" charset="0"/>
              <a:buChar char="•"/>
            </a:pPr>
            <a:r>
              <a:rPr lang="en-AU" sz="1600" u="none" strike="noStrike" dirty="0">
                <a:solidFill>
                  <a:srgbClr val="0F2B3F"/>
                </a:solidFill>
                <a:latin typeface="Roboto"/>
                <a:ea typeface="Roboto"/>
                <a:cs typeface="Roboto"/>
                <a:sym typeface="Roboto"/>
              </a:rPr>
              <a:t>Managed project end-to-end from requirement gathering to designing, developing and implementing in the production platform</a:t>
            </a:r>
          </a:p>
          <a:p>
            <a:pPr marL="285750" indent="-285750">
              <a:lnSpc>
                <a:spcPts val="1960"/>
              </a:lnSpc>
              <a:spcBef>
                <a:spcPct val="0"/>
              </a:spcBef>
              <a:buFont typeface="Arial" panose="020B0604020202020204" pitchFamily="34" charset="0"/>
              <a:buChar char="•"/>
            </a:pPr>
            <a:r>
              <a:rPr lang="en-AU" sz="1600" u="none" strike="noStrike" dirty="0">
                <a:solidFill>
                  <a:srgbClr val="0F2B3F"/>
                </a:solidFill>
                <a:latin typeface="Roboto"/>
                <a:ea typeface="Roboto"/>
                <a:cs typeface="Roboto"/>
                <a:sym typeface="Roboto"/>
              </a:rPr>
              <a:t>Liaised with multiple teams to understand the requirements and what would help their business needs</a:t>
            </a:r>
          </a:p>
          <a:p>
            <a:pPr marL="285750" indent="-285750">
              <a:lnSpc>
                <a:spcPts val="1960"/>
              </a:lnSpc>
              <a:spcBef>
                <a:spcPct val="0"/>
              </a:spcBef>
              <a:buFont typeface="Arial" panose="020B0604020202020204" pitchFamily="34" charset="0"/>
              <a:buChar char="•"/>
            </a:pPr>
            <a:r>
              <a:rPr lang="en-AU" sz="1600" u="none" strike="noStrike" dirty="0">
                <a:solidFill>
                  <a:srgbClr val="0F2B3F"/>
                </a:solidFill>
                <a:latin typeface="Roboto"/>
                <a:ea typeface="Roboto"/>
                <a:cs typeface="Roboto"/>
                <a:sym typeface="Roboto"/>
              </a:rPr>
              <a:t>Implemented solution designs </a:t>
            </a:r>
            <a:r>
              <a:rPr lang="en-AU" sz="1600" dirty="0">
                <a:solidFill>
                  <a:srgbClr val="0F2B3F"/>
                </a:solidFill>
                <a:latin typeface="Roboto"/>
                <a:ea typeface="Roboto"/>
                <a:cs typeface="Roboto"/>
                <a:sym typeface="Roboto"/>
              </a:rPr>
              <a:t>and </a:t>
            </a:r>
            <a:r>
              <a:rPr lang="en-AU" sz="1600" u="none" strike="noStrike" dirty="0">
                <a:solidFill>
                  <a:srgbClr val="0F2B3F"/>
                </a:solidFill>
                <a:latin typeface="Roboto"/>
                <a:ea typeface="Roboto"/>
                <a:cs typeface="Roboto"/>
                <a:sym typeface="Roboto"/>
              </a:rPr>
              <a:t>created user stories for various development processes</a:t>
            </a:r>
          </a:p>
          <a:p>
            <a:pPr marL="285750" indent="-285750">
              <a:lnSpc>
                <a:spcPts val="1960"/>
              </a:lnSpc>
              <a:spcBef>
                <a:spcPct val="0"/>
              </a:spcBef>
              <a:buFont typeface="Arial" panose="020B0604020202020204" pitchFamily="34" charset="0"/>
              <a:buChar char="•"/>
            </a:pPr>
            <a:r>
              <a:rPr lang="en-AU" sz="1600" u="none" strike="noStrike" dirty="0">
                <a:solidFill>
                  <a:srgbClr val="0F2B3F"/>
                </a:solidFill>
                <a:latin typeface="Roboto"/>
                <a:ea typeface="Roboto"/>
                <a:cs typeface="Roboto"/>
                <a:sym typeface="Roboto"/>
              </a:rPr>
              <a:t>Presented/facilitated multiple agile ceremonies such as backlogs refinement, sprint planning, and scrum</a:t>
            </a:r>
            <a:endParaRPr lang="en-US" sz="1600" u="none" strike="noStrike" dirty="0">
              <a:solidFill>
                <a:srgbClr val="0F2B3F"/>
              </a:solidFill>
              <a:latin typeface="Roboto"/>
              <a:ea typeface="Roboto"/>
              <a:cs typeface="Roboto"/>
              <a:sym typeface="Roboto"/>
            </a:endParaRPr>
          </a:p>
        </p:txBody>
      </p:sp>
      <p:cxnSp>
        <p:nvCxnSpPr>
          <p:cNvPr id="49" name="Straight Connector 48">
            <a:extLst>
              <a:ext uri="{FF2B5EF4-FFF2-40B4-BE49-F238E27FC236}">
                <a16:creationId xmlns:a16="http://schemas.microsoft.com/office/drawing/2014/main" id="{AB2A0672-5AF0-5438-8D24-87E280881A20}"/>
              </a:ext>
            </a:extLst>
          </p:cNvPr>
          <p:cNvCxnSpPr>
            <a:cxnSpLocks/>
          </p:cNvCxnSpPr>
          <p:nvPr/>
        </p:nvCxnSpPr>
        <p:spPr>
          <a:xfrm>
            <a:off x="7179436" y="1113384"/>
            <a:ext cx="0" cy="5388960"/>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sp>
        <p:nvSpPr>
          <p:cNvPr id="37" name="TextBox 27">
            <a:extLst>
              <a:ext uri="{FF2B5EF4-FFF2-40B4-BE49-F238E27FC236}">
                <a16:creationId xmlns:a16="http://schemas.microsoft.com/office/drawing/2014/main" id="{002D50C6-0F6B-AD41-3505-10D029917A92}"/>
              </a:ext>
            </a:extLst>
          </p:cNvPr>
          <p:cNvSpPr txBox="1"/>
          <p:nvPr/>
        </p:nvSpPr>
        <p:spPr>
          <a:xfrm>
            <a:off x="272023" y="7026062"/>
            <a:ext cx="2543313" cy="2600071"/>
          </a:xfrm>
          <a:prstGeom prst="rect">
            <a:avLst/>
          </a:prstGeom>
        </p:spPr>
        <p:txBody>
          <a:bodyPr lIns="0" tIns="0" rIns="0" bIns="0" rtlCol="0" anchor="t">
            <a:spAutoFit/>
          </a:bodyPr>
          <a:lstStyle/>
          <a:p>
            <a:pPr marL="259078" lvl="1" indent="-129539" algn="l">
              <a:lnSpc>
                <a:spcPts val="1679"/>
              </a:lnSpc>
              <a:buFont typeface="Arial"/>
              <a:buChar char="•"/>
            </a:pPr>
            <a:r>
              <a:rPr lang="en-US" sz="1199" dirty="0">
                <a:solidFill>
                  <a:srgbClr val="FFFFFF"/>
                </a:solidFill>
                <a:latin typeface="Roboto"/>
                <a:ea typeface="Roboto"/>
                <a:cs typeface="Roboto"/>
                <a:sym typeface="Roboto"/>
              </a:rPr>
              <a:t>Data Engineering</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Migration</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Governance</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Modeling</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Mining</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Analytics</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Warehousing</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Cloud Computing</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ETL</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AI/ML</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SSRS</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SSIS</a:t>
            </a:r>
          </a:p>
        </p:txBody>
      </p:sp>
      <p:sp>
        <p:nvSpPr>
          <p:cNvPr id="38" name="TextBox 28">
            <a:extLst>
              <a:ext uri="{FF2B5EF4-FFF2-40B4-BE49-F238E27FC236}">
                <a16:creationId xmlns:a16="http://schemas.microsoft.com/office/drawing/2014/main" id="{8587052C-2CBA-2939-405C-9B7DDC07F669}"/>
              </a:ext>
            </a:extLst>
          </p:cNvPr>
          <p:cNvSpPr txBox="1"/>
          <p:nvPr/>
        </p:nvSpPr>
        <p:spPr>
          <a:xfrm>
            <a:off x="2810100" y="6991139"/>
            <a:ext cx="1957414" cy="2382062"/>
          </a:xfrm>
          <a:prstGeom prst="rect">
            <a:avLst/>
          </a:prstGeom>
        </p:spPr>
        <p:txBody>
          <a:bodyPr wrap="square" lIns="0" tIns="0" rIns="0" bIns="0" rtlCol="0" anchor="t">
            <a:spAutoFit/>
          </a:bodyPr>
          <a:lstStyle/>
          <a:p>
            <a:pPr algn="l">
              <a:lnSpc>
                <a:spcPts val="1679"/>
              </a:lnSpc>
            </a:pPr>
            <a:r>
              <a:rPr lang="en-US" sz="1199" b="1" dirty="0">
                <a:solidFill>
                  <a:srgbClr val="00AA7F"/>
                </a:solidFill>
                <a:latin typeface="Roboto Bold"/>
                <a:ea typeface="Roboto Bold"/>
                <a:cs typeface="Roboto Bold"/>
                <a:sym typeface="Roboto Bold"/>
              </a:rPr>
              <a:t>Platforms​</a:t>
            </a:r>
          </a:p>
          <a:p>
            <a:pPr marL="259078" lvl="1" indent="-129539">
              <a:lnSpc>
                <a:spcPts val="1679"/>
              </a:lnSpc>
              <a:buFont typeface="Arial"/>
              <a:buChar char="•"/>
            </a:pPr>
            <a:r>
              <a:rPr lang="en-US" sz="1199" dirty="0">
                <a:solidFill>
                  <a:srgbClr val="FFFFFF"/>
                </a:solidFill>
                <a:latin typeface="Roboto"/>
                <a:ea typeface="Roboto"/>
                <a:cs typeface="Roboto"/>
                <a:sym typeface="Roboto"/>
              </a:rPr>
              <a:t>Google Cloud Platform</a:t>
            </a:r>
          </a:p>
          <a:p>
            <a:pPr marL="259078" lvl="1" indent="-129539">
              <a:lnSpc>
                <a:spcPts val="1679"/>
              </a:lnSpc>
              <a:buFont typeface="Arial"/>
              <a:buChar char="•"/>
            </a:pPr>
            <a:r>
              <a:rPr lang="en-US" sz="1199" dirty="0">
                <a:solidFill>
                  <a:srgbClr val="FFFFFF"/>
                </a:solidFill>
                <a:latin typeface="Roboto"/>
                <a:ea typeface="Roboto"/>
                <a:cs typeface="Roboto"/>
                <a:sym typeface="Roboto"/>
              </a:rPr>
              <a:t>Databricks</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Amazon Web Services​</a:t>
            </a:r>
          </a:p>
          <a:p>
            <a:pPr>
              <a:lnSpc>
                <a:spcPts val="1679"/>
              </a:lnSpc>
            </a:pPr>
            <a:r>
              <a:rPr lang="en-AU" sz="1199" b="1" dirty="0">
                <a:solidFill>
                  <a:srgbClr val="00AA7F"/>
                </a:solidFill>
                <a:latin typeface="Roboto Bold"/>
                <a:ea typeface="Roboto Bold"/>
              </a:rPr>
              <a:t>Programming</a:t>
            </a:r>
            <a:endParaRPr lang="en-US" sz="1199" b="1" dirty="0">
              <a:solidFill>
                <a:srgbClr val="00AA7F"/>
              </a:solidFill>
              <a:latin typeface="Roboto Bold"/>
              <a:ea typeface="Roboto Bold"/>
              <a:sym typeface="Roboto Bold"/>
            </a:endParaRPr>
          </a:p>
          <a:p>
            <a:pPr marL="259078" lvl="1" indent="-129539">
              <a:lnSpc>
                <a:spcPts val="1679"/>
              </a:lnSpc>
              <a:buFont typeface="Arial"/>
              <a:buChar char="•"/>
            </a:pPr>
            <a:r>
              <a:rPr lang="en-US" sz="1199" dirty="0">
                <a:solidFill>
                  <a:srgbClr val="FFFFFF"/>
                </a:solidFill>
                <a:latin typeface="Roboto"/>
                <a:ea typeface="Roboto"/>
                <a:cs typeface="Roboto"/>
                <a:sym typeface="Roboto"/>
              </a:rPr>
              <a:t>R</a:t>
            </a:r>
          </a:p>
          <a:p>
            <a:pPr marL="259078" lvl="1" indent="-129539">
              <a:lnSpc>
                <a:spcPts val="1679"/>
              </a:lnSpc>
              <a:buFont typeface="Arial"/>
              <a:buChar char="•"/>
            </a:pPr>
            <a:r>
              <a:rPr lang="en-US" sz="1199" dirty="0">
                <a:solidFill>
                  <a:srgbClr val="FFFFFF"/>
                </a:solidFill>
                <a:latin typeface="Roboto"/>
                <a:ea typeface="Roboto"/>
                <a:cs typeface="Roboto"/>
                <a:sym typeface="Roboto"/>
              </a:rPr>
              <a:t>Python</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SQL</a:t>
            </a:r>
          </a:p>
          <a:p>
            <a:pPr marL="259078" lvl="1" indent="-129539" algn="l">
              <a:lnSpc>
                <a:spcPts val="1679"/>
              </a:lnSpc>
              <a:buFont typeface="Arial"/>
              <a:buChar char="•"/>
            </a:pPr>
            <a:r>
              <a:rPr lang="en-US" sz="1199" dirty="0" err="1">
                <a:solidFill>
                  <a:srgbClr val="FFFFFF"/>
                </a:solidFill>
                <a:latin typeface="Roboto"/>
                <a:ea typeface="Roboto"/>
                <a:cs typeface="Roboto"/>
                <a:sym typeface="Roboto"/>
              </a:rPr>
              <a:t>Powershell</a:t>
            </a:r>
            <a:endParaRPr lang="en-US" sz="1199" dirty="0">
              <a:solidFill>
                <a:srgbClr val="FFFFFF"/>
              </a:solidFill>
              <a:latin typeface="Roboto"/>
              <a:ea typeface="Roboto"/>
              <a:cs typeface="Roboto"/>
              <a:sym typeface="Roboto"/>
            </a:endParaRPr>
          </a:p>
          <a:p>
            <a:pPr marL="259078" lvl="1" indent="-129539" algn="l">
              <a:lnSpc>
                <a:spcPts val="1679"/>
              </a:lnSpc>
              <a:buFont typeface="Arial"/>
              <a:buChar char="•"/>
            </a:pPr>
            <a:r>
              <a:rPr lang="en-US" sz="1199" dirty="0">
                <a:solidFill>
                  <a:srgbClr val="FFFFFF"/>
                </a:solidFill>
                <a:latin typeface="Roboto"/>
                <a:ea typeface="Roboto"/>
                <a:cs typeface="Roboto"/>
                <a:sym typeface="Roboto"/>
              </a:rPr>
              <a:t>C++</a:t>
            </a:r>
          </a:p>
          <a:p>
            <a:pPr marL="259078" lvl="1" indent="-129539" algn="l">
              <a:lnSpc>
                <a:spcPts val="1679"/>
              </a:lnSpc>
              <a:buFont typeface="Arial"/>
              <a:buChar char="•"/>
            </a:pPr>
            <a:endParaRPr lang="en-US" sz="1199" dirty="0">
              <a:solidFill>
                <a:srgbClr val="FFFFFF"/>
              </a:solidFill>
              <a:latin typeface="Roboto"/>
              <a:ea typeface="Roboto"/>
              <a:cs typeface="Roboto"/>
              <a:sym typeface="Roboto"/>
            </a:endParaRPr>
          </a:p>
        </p:txBody>
      </p:sp>
      <p:sp>
        <p:nvSpPr>
          <p:cNvPr id="39" name="TextBox 30">
            <a:extLst>
              <a:ext uri="{FF2B5EF4-FFF2-40B4-BE49-F238E27FC236}">
                <a16:creationId xmlns:a16="http://schemas.microsoft.com/office/drawing/2014/main" id="{D9770108-C379-B724-B371-69BCACDECCA2}"/>
              </a:ext>
            </a:extLst>
          </p:cNvPr>
          <p:cNvSpPr txBox="1"/>
          <p:nvPr/>
        </p:nvSpPr>
        <p:spPr>
          <a:xfrm>
            <a:off x="4838908" y="6991139"/>
            <a:ext cx="1752557" cy="2818079"/>
          </a:xfrm>
          <a:prstGeom prst="rect">
            <a:avLst/>
          </a:prstGeom>
        </p:spPr>
        <p:txBody>
          <a:bodyPr lIns="0" tIns="0" rIns="0" bIns="0" rtlCol="0" anchor="t">
            <a:spAutoFit/>
          </a:bodyPr>
          <a:lstStyle/>
          <a:p>
            <a:pPr indent="-327661">
              <a:lnSpc>
                <a:spcPts val="1679"/>
              </a:lnSpc>
            </a:pPr>
            <a:r>
              <a:rPr lang="en-US" sz="1199" b="1" dirty="0">
                <a:solidFill>
                  <a:srgbClr val="00AA7F"/>
                </a:solidFill>
                <a:latin typeface="Roboto Bold"/>
                <a:ea typeface="Roboto Bold"/>
                <a:cs typeface="Roboto Bold"/>
                <a:sym typeface="Roboto Bold"/>
              </a:rPr>
              <a:t>Tools</a:t>
            </a:r>
            <a:r>
              <a:rPr lang="en-US" sz="1199" b="1" dirty="0">
                <a:solidFill>
                  <a:srgbClr val="0F2B3F"/>
                </a:solidFill>
                <a:latin typeface="Roboto Bold"/>
                <a:ea typeface="Roboto Bold"/>
                <a:cs typeface="Roboto Bold"/>
                <a:sym typeface="Roboto Bold"/>
              </a:rPr>
              <a:t>​</a:t>
            </a:r>
          </a:p>
          <a:p>
            <a:pPr marL="259078" lvl="1" indent="-129539" algn="l">
              <a:lnSpc>
                <a:spcPts val="1679"/>
              </a:lnSpc>
              <a:buFont typeface="Arial"/>
              <a:buChar char="•"/>
            </a:pPr>
            <a:r>
              <a:rPr lang="en-US" sz="1199" dirty="0">
                <a:solidFill>
                  <a:srgbClr val="FFFFFF"/>
                </a:solidFill>
                <a:latin typeface="Roboto"/>
                <a:ea typeface="Roboto"/>
                <a:sym typeface="Roboto"/>
              </a:rPr>
              <a:t>Azure Data Factory</a:t>
            </a:r>
          </a:p>
          <a:p>
            <a:pPr marL="259078" lvl="1" indent="-129539" algn="l">
              <a:lnSpc>
                <a:spcPts val="1679"/>
              </a:lnSpc>
              <a:buFont typeface="Arial"/>
              <a:buChar char="•"/>
            </a:pPr>
            <a:r>
              <a:rPr lang="en-US" sz="1199" dirty="0">
                <a:solidFill>
                  <a:srgbClr val="FFFFFF"/>
                </a:solidFill>
                <a:latin typeface="Roboto"/>
                <a:ea typeface="Roboto"/>
                <a:sym typeface="Roboto"/>
              </a:rPr>
              <a:t>Google </a:t>
            </a:r>
            <a:r>
              <a:rPr lang="en-US" sz="1199" dirty="0" err="1">
                <a:solidFill>
                  <a:srgbClr val="FFFFFF"/>
                </a:solidFill>
                <a:latin typeface="Roboto"/>
                <a:ea typeface="Roboto"/>
                <a:sym typeface="Roboto"/>
              </a:rPr>
              <a:t>BigQuery</a:t>
            </a:r>
            <a:endParaRPr lang="en-US" sz="1199" dirty="0">
              <a:solidFill>
                <a:srgbClr val="FFFFFF"/>
              </a:solidFill>
              <a:latin typeface="Roboto"/>
              <a:ea typeface="Roboto"/>
              <a:sym typeface="Roboto"/>
            </a:endParaRPr>
          </a:p>
          <a:p>
            <a:pPr marL="259078" lvl="1" indent="-129539" algn="l">
              <a:lnSpc>
                <a:spcPts val="1679"/>
              </a:lnSpc>
              <a:buFont typeface="Arial"/>
              <a:buChar char="•"/>
            </a:pPr>
            <a:r>
              <a:rPr lang="en-US" sz="1199" dirty="0">
                <a:solidFill>
                  <a:srgbClr val="FFFFFF"/>
                </a:solidFill>
                <a:latin typeface="Roboto"/>
                <a:ea typeface="Roboto"/>
                <a:sym typeface="Roboto"/>
              </a:rPr>
              <a:t>Airflow</a:t>
            </a:r>
          </a:p>
          <a:p>
            <a:pPr marL="259078" lvl="1" indent="-129539" algn="l">
              <a:lnSpc>
                <a:spcPts val="1679"/>
              </a:lnSpc>
              <a:buFont typeface="Arial"/>
              <a:buChar char="•"/>
            </a:pPr>
            <a:r>
              <a:rPr lang="en-US" sz="1199" dirty="0">
                <a:solidFill>
                  <a:srgbClr val="FFFFFF"/>
                </a:solidFill>
                <a:latin typeface="Roboto"/>
                <a:ea typeface="Roboto"/>
                <a:sym typeface="Roboto"/>
              </a:rPr>
              <a:t>Visio</a:t>
            </a:r>
          </a:p>
          <a:p>
            <a:pPr marL="259078" lvl="1" indent="-129539" algn="l">
              <a:lnSpc>
                <a:spcPts val="1679"/>
              </a:lnSpc>
              <a:buFont typeface="Arial"/>
              <a:buChar char="•"/>
            </a:pPr>
            <a:r>
              <a:rPr lang="en-US" sz="1199" dirty="0">
                <a:solidFill>
                  <a:srgbClr val="FFFFFF"/>
                </a:solidFill>
                <a:latin typeface="Roboto"/>
                <a:ea typeface="Roboto"/>
                <a:sym typeface="Roboto"/>
              </a:rPr>
              <a:t>Apache Kafka</a:t>
            </a:r>
          </a:p>
          <a:p>
            <a:pPr marL="259078" lvl="1" indent="-129539" algn="l">
              <a:lnSpc>
                <a:spcPts val="1679"/>
              </a:lnSpc>
              <a:buFont typeface="Arial"/>
              <a:buChar char="•"/>
            </a:pPr>
            <a:r>
              <a:rPr lang="en-US" sz="1199" dirty="0">
                <a:solidFill>
                  <a:srgbClr val="FFFFFF"/>
                </a:solidFill>
                <a:latin typeface="Roboto"/>
                <a:ea typeface="Roboto"/>
                <a:sym typeface="Roboto"/>
              </a:rPr>
              <a:t>Tableau</a:t>
            </a:r>
          </a:p>
          <a:p>
            <a:pPr marL="259078" lvl="1" indent="-129539" algn="l">
              <a:lnSpc>
                <a:spcPts val="1679"/>
              </a:lnSpc>
              <a:buFont typeface="Arial"/>
              <a:buChar char="•"/>
            </a:pPr>
            <a:r>
              <a:rPr lang="en-US" sz="1199" dirty="0" err="1">
                <a:solidFill>
                  <a:srgbClr val="FFFFFF"/>
                </a:solidFill>
                <a:latin typeface="Roboto"/>
                <a:ea typeface="Roboto"/>
                <a:sym typeface="Roboto"/>
              </a:rPr>
              <a:t>Github</a:t>
            </a:r>
            <a:endParaRPr lang="en-US" sz="1199" dirty="0">
              <a:solidFill>
                <a:srgbClr val="FFFFFF"/>
              </a:solidFill>
              <a:latin typeface="Roboto"/>
              <a:ea typeface="Roboto"/>
              <a:sym typeface="Roboto"/>
            </a:endParaRPr>
          </a:p>
          <a:p>
            <a:pPr marL="259078" lvl="1" indent="-129539" algn="l">
              <a:lnSpc>
                <a:spcPts val="1679"/>
              </a:lnSpc>
              <a:buFont typeface="Arial"/>
              <a:buChar char="•"/>
            </a:pPr>
            <a:r>
              <a:rPr lang="en-US" sz="1199" dirty="0">
                <a:solidFill>
                  <a:srgbClr val="FFFFFF"/>
                </a:solidFill>
                <a:latin typeface="Roboto"/>
                <a:ea typeface="Roboto"/>
                <a:sym typeface="Roboto"/>
              </a:rPr>
              <a:t>Informatica</a:t>
            </a:r>
          </a:p>
          <a:p>
            <a:pPr marL="259078" lvl="1" indent="-129539" algn="l">
              <a:lnSpc>
                <a:spcPts val="1679"/>
              </a:lnSpc>
              <a:buFont typeface="Arial"/>
              <a:buChar char="•"/>
            </a:pPr>
            <a:r>
              <a:rPr lang="en-US" sz="1199" dirty="0">
                <a:solidFill>
                  <a:srgbClr val="FFFFFF"/>
                </a:solidFill>
                <a:latin typeface="Roboto"/>
                <a:ea typeface="Roboto"/>
                <a:sym typeface="Roboto"/>
              </a:rPr>
              <a:t>Splunk</a:t>
            </a:r>
          </a:p>
          <a:p>
            <a:pPr marL="259078" lvl="1" indent="-129539" algn="l">
              <a:lnSpc>
                <a:spcPts val="1679"/>
              </a:lnSpc>
              <a:buFont typeface="Arial"/>
              <a:buChar char="•"/>
            </a:pPr>
            <a:r>
              <a:rPr lang="en-US" sz="1199" dirty="0">
                <a:solidFill>
                  <a:srgbClr val="FFFFFF"/>
                </a:solidFill>
                <a:latin typeface="Roboto"/>
                <a:ea typeface="Roboto"/>
                <a:sym typeface="Roboto"/>
              </a:rPr>
              <a:t>Beam</a:t>
            </a:r>
          </a:p>
          <a:p>
            <a:pPr marL="259078" lvl="1" indent="-129539" algn="l">
              <a:lnSpc>
                <a:spcPts val="1679"/>
              </a:lnSpc>
              <a:buFont typeface="Arial"/>
              <a:buChar char="•"/>
            </a:pPr>
            <a:r>
              <a:rPr lang="en-US" sz="1199" dirty="0">
                <a:solidFill>
                  <a:srgbClr val="FFFFFF"/>
                </a:solidFill>
                <a:latin typeface="Roboto"/>
                <a:ea typeface="Roboto"/>
                <a:sym typeface="Roboto"/>
              </a:rPr>
              <a:t>Tumbleweed</a:t>
            </a:r>
          </a:p>
          <a:p>
            <a:pPr marL="259078" lvl="1" indent="-129539" algn="l">
              <a:lnSpc>
                <a:spcPts val="1679"/>
              </a:lnSpc>
              <a:buFont typeface="Arial"/>
              <a:buChar char="•"/>
            </a:pPr>
            <a:endParaRPr lang="en-US" sz="1199" dirty="0">
              <a:solidFill>
                <a:srgbClr val="FFFFFF"/>
              </a:solidFill>
              <a:latin typeface="Roboto"/>
              <a:ea typeface="Roboto"/>
              <a:sym typeface="Roboto"/>
            </a:endParaRPr>
          </a:p>
        </p:txBody>
      </p:sp>
      <p:cxnSp>
        <p:nvCxnSpPr>
          <p:cNvPr id="2" name="Straight Connector 1">
            <a:extLst>
              <a:ext uri="{FF2B5EF4-FFF2-40B4-BE49-F238E27FC236}">
                <a16:creationId xmlns:a16="http://schemas.microsoft.com/office/drawing/2014/main" id="{65ABFD3B-85BE-9F1D-EBDE-61B80D7CD5F7}"/>
              </a:ext>
            </a:extLst>
          </p:cNvPr>
          <p:cNvCxnSpPr>
            <a:cxnSpLocks/>
          </p:cNvCxnSpPr>
          <p:nvPr/>
        </p:nvCxnSpPr>
        <p:spPr>
          <a:xfrm>
            <a:off x="7179436" y="6889639"/>
            <a:ext cx="0" cy="3051923"/>
          </a:xfrm>
          <a:prstGeom prst="line">
            <a:avLst/>
          </a:prstGeom>
          <a:ln w="19050">
            <a:solidFill>
              <a:srgbClr val="D77432"/>
            </a:solidFill>
          </a:ln>
        </p:spPr>
        <p:style>
          <a:lnRef idx="1">
            <a:schemeClr val="accent1"/>
          </a:lnRef>
          <a:fillRef idx="0">
            <a:schemeClr val="accent1"/>
          </a:fillRef>
          <a:effectRef idx="0">
            <a:schemeClr val="accent1"/>
          </a:effectRef>
          <a:fontRef idx="minor">
            <a:schemeClr val="tx1"/>
          </a:fontRef>
        </p:style>
      </p:cxnSp>
      <p:sp>
        <p:nvSpPr>
          <p:cNvPr id="7" name="TextBox 22"/>
          <p:cNvSpPr txBox="1"/>
          <p:nvPr/>
        </p:nvSpPr>
        <p:spPr>
          <a:xfrm>
            <a:off x="7307964" y="6862527"/>
            <a:ext cx="7901357" cy="3064942"/>
          </a:xfrm>
          <a:prstGeom prst="rect">
            <a:avLst/>
          </a:prstGeom>
        </p:spPr>
        <p:txBody>
          <a:bodyPr wrap="square" lIns="0" tIns="0" rIns="0" bIns="0" rtlCol="0" anchor="t">
            <a:spAutoFit/>
          </a:bodyPr>
          <a:lstStyle/>
          <a:p>
            <a:pPr>
              <a:lnSpc>
                <a:spcPts val="1960"/>
              </a:lnSpc>
              <a:spcBef>
                <a:spcPct val="0"/>
              </a:spcBef>
            </a:pPr>
            <a:r>
              <a:rPr lang="en-AU" sz="1600" b="1" dirty="0">
                <a:solidFill>
                  <a:srgbClr val="D77432"/>
                </a:solidFill>
                <a:latin typeface="Roboto Bold"/>
                <a:ea typeface="Roboto Bold"/>
                <a:cs typeface="Roboto Bold"/>
                <a:sym typeface="Roboto Bold"/>
              </a:rPr>
              <a:t>Financial Services Organisation  – Software Engineer</a:t>
            </a:r>
          </a:p>
          <a:p>
            <a:pPr marL="285750" indent="-285750">
              <a:lnSpc>
                <a:spcPts val="1960"/>
              </a:lnSpc>
              <a:spcBef>
                <a:spcPct val="0"/>
              </a:spcBef>
              <a:buFont typeface="Arial" panose="020B0604020202020204" pitchFamily="34" charset="0"/>
              <a:buChar char="•"/>
            </a:pPr>
            <a:r>
              <a:rPr lang="en-AU" sz="1600" u="none" strike="noStrike" dirty="0">
                <a:solidFill>
                  <a:srgbClr val="0F2B3F"/>
                </a:solidFill>
                <a:latin typeface="Roboto"/>
                <a:ea typeface="Roboto"/>
                <a:cs typeface="Roboto"/>
                <a:sym typeface="Roboto"/>
              </a:rPr>
              <a:t>Live log streaming of currently executing test cases.</a:t>
            </a:r>
          </a:p>
          <a:p>
            <a:pPr marL="285750" indent="-285750">
              <a:lnSpc>
                <a:spcPts val="1960"/>
              </a:lnSpc>
              <a:spcBef>
                <a:spcPct val="0"/>
              </a:spcBef>
              <a:buFont typeface="Arial" panose="020B0604020202020204" pitchFamily="34" charset="0"/>
              <a:buChar char="•"/>
            </a:pPr>
            <a:r>
              <a:rPr lang="en-AU" sz="1600" u="none" strike="noStrike" dirty="0">
                <a:solidFill>
                  <a:srgbClr val="0F2B3F"/>
                </a:solidFill>
                <a:latin typeface="Roboto"/>
                <a:ea typeface="Roboto"/>
                <a:cs typeface="Roboto"/>
                <a:sym typeface="Roboto"/>
              </a:rPr>
              <a:t>Achieved SSH connection module that provided a dynamic persistent connection between the execution server and application server</a:t>
            </a:r>
          </a:p>
          <a:p>
            <a:pPr marL="285750" indent="-285750">
              <a:lnSpc>
                <a:spcPts val="1960"/>
              </a:lnSpc>
              <a:spcBef>
                <a:spcPct val="0"/>
              </a:spcBef>
              <a:buFont typeface="Arial" panose="020B0604020202020204" pitchFamily="34" charset="0"/>
              <a:buChar char="•"/>
            </a:pPr>
            <a:r>
              <a:rPr lang="en-AU" sz="1600" u="none" strike="noStrike" dirty="0">
                <a:solidFill>
                  <a:srgbClr val="0F2B3F"/>
                </a:solidFill>
                <a:latin typeface="Roboto"/>
                <a:ea typeface="Roboto"/>
                <a:cs typeface="Roboto"/>
                <a:sym typeface="Roboto"/>
              </a:rPr>
              <a:t>Fetched parsed and displayed test results in a unified format. Developed the Product, Project and Suite Database hierarchy.</a:t>
            </a:r>
          </a:p>
          <a:p>
            <a:pPr marL="285750" indent="-285750">
              <a:lnSpc>
                <a:spcPts val="1960"/>
              </a:lnSpc>
              <a:spcBef>
                <a:spcPct val="0"/>
              </a:spcBef>
              <a:buFont typeface="Arial" panose="020B0604020202020204" pitchFamily="34" charset="0"/>
              <a:buChar char="•"/>
            </a:pPr>
            <a:r>
              <a:rPr lang="en-AU" sz="1600" u="none" strike="noStrike" dirty="0">
                <a:solidFill>
                  <a:srgbClr val="0F2B3F"/>
                </a:solidFill>
                <a:latin typeface="Roboto"/>
                <a:ea typeface="Roboto"/>
                <a:cs typeface="Roboto"/>
                <a:sym typeface="Roboto"/>
              </a:rPr>
              <a:t>Researched the insider threats in a financial organisation utilising RAT and Deterrence theory</a:t>
            </a:r>
          </a:p>
          <a:p>
            <a:pPr marL="285750" indent="-285750">
              <a:lnSpc>
                <a:spcPts val="1960"/>
              </a:lnSpc>
              <a:spcBef>
                <a:spcPct val="0"/>
              </a:spcBef>
              <a:buFont typeface="Arial" panose="020B0604020202020204" pitchFamily="34" charset="0"/>
              <a:buChar char="•"/>
            </a:pPr>
            <a:r>
              <a:rPr lang="en-AU" sz="1600" u="none" strike="noStrike" dirty="0">
                <a:solidFill>
                  <a:srgbClr val="0F2B3F"/>
                </a:solidFill>
                <a:latin typeface="Roboto"/>
                <a:ea typeface="Roboto"/>
                <a:cs typeface="Roboto"/>
                <a:sym typeface="Roboto"/>
              </a:rPr>
              <a:t>Determined how Routine Activity Theory (RAT) affects the rational choice of the internal perpetrators in committing a crime. </a:t>
            </a:r>
          </a:p>
          <a:p>
            <a:pPr marL="285750" indent="-285750">
              <a:lnSpc>
                <a:spcPts val="1960"/>
              </a:lnSpc>
              <a:spcBef>
                <a:spcPct val="0"/>
              </a:spcBef>
              <a:buFont typeface="Arial" panose="020B0604020202020204" pitchFamily="34" charset="0"/>
              <a:buChar char="•"/>
            </a:pPr>
            <a:r>
              <a:rPr lang="en-AU" sz="1600" u="none" strike="noStrike" dirty="0">
                <a:solidFill>
                  <a:srgbClr val="0F2B3F"/>
                </a:solidFill>
                <a:latin typeface="Roboto"/>
                <a:ea typeface="Roboto"/>
                <a:cs typeface="Roboto"/>
                <a:sym typeface="Roboto"/>
              </a:rPr>
              <a:t>Surveyed the efficiency of the hypothesis generated with RAT theory in the financial organisation</a:t>
            </a:r>
            <a:endParaRPr lang="en-US" sz="1600" u="none" strike="noStrike" dirty="0">
              <a:solidFill>
                <a:srgbClr val="0F2B3F"/>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b3015789024692cd48acee0c16e5b545">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1a349826bbeb2a3c9eb717de6510783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C83CF4E-327D-4E9D-BC36-5310D9EBBB7F}"/>
</file>

<file path=customXml/itemProps2.xml><?xml version="1.0" encoding="utf-8"?>
<ds:datastoreItem xmlns:ds="http://schemas.openxmlformats.org/officeDocument/2006/customXml" ds:itemID="{1CED3109-8768-448E-838D-B96349935E41}"/>
</file>

<file path=customXml/itemProps3.xml><?xml version="1.0" encoding="utf-8"?>
<ds:datastoreItem xmlns:ds="http://schemas.openxmlformats.org/officeDocument/2006/customXml" ds:itemID="{1BBFAFC6-CFD4-4EB4-A717-BD3C2CF1022C}"/>
</file>

<file path=docProps/app.xml><?xml version="1.0" encoding="utf-8"?>
<Properties xmlns="http://schemas.openxmlformats.org/officeDocument/2006/extended-properties" xmlns:vt="http://schemas.openxmlformats.org/officeDocument/2006/docPropsVTypes">
  <TotalTime>4601</TotalTime>
  <Words>509</Words>
  <Application>Microsoft Office PowerPoint</Application>
  <PresentationFormat>Custom</PresentationFormat>
  <Paragraphs>69</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Calibri</vt:lpstr>
      <vt:lpstr>Arial</vt:lpstr>
      <vt:lpstr>Roboto</vt:lpstr>
      <vt:lpstr>Roboto Bold</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Consultant profile templates (Presentation)</dc:title>
  <dc:creator>Darcy Roach</dc:creator>
  <cp:lastModifiedBy>Darcy Roach</cp:lastModifiedBy>
  <cp:revision>7</cp:revision>
  <dcterms:created xsi:type="dcterms:W3CDTF">2006-08-16T00:00:00Z</dcterms:created>
  <dcterms:modified xsi:type="dcterms:W3CDTF">2025-11-06T04:46:34Z</dcterms:modified>
  <dc:identifier>DAGrzN_SXAE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