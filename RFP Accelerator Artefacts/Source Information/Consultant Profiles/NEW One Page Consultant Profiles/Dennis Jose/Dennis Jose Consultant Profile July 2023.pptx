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0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B80"/>
    <a:srgbClr val="A93584"/>
    <a:srgbClr val="0F2B3F"/>
    <a:srgbClr val="0059FF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0E6CBB-BFE2-4DF6-B4C4-682BEABC4EE4}" v="4" dt="2023-07-21T04:03:10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2"/>
    <p:restoredTop sz="96357" autoAdjust="0"/>
  </p:normalViewPr>
  <p:slideViewPr>
    <p:cSldViewPr snapToGrid="0">
      <p:cViewPr varScale="1">
        <p:scale>
          <a:sx n="101" d="100"/>
          <a:sy n="101" d="100"/>
        </p:scale>
        <p:origin x="1686" y="72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7E0E6CBB-BFE2-4DF6-B4C4-682BEABC4EE4}"/>
    <pc:docChg chg="undo custSel modSld">
      <pc:chgData name="Darcy Roach" userId="ba676ee9-e9b4-49e8-a515-8077106c948d" providerId="ADAL" clId="{7E0E6CBB-BFE2-4DF6-B4C4-682BEABC4EE4}" dt="2023-07-21T04:58:22.203" v="1228" actId="14100"/>
      <pc:docMkLst>
        <pc:docMk/>
      </pc:docMkLst>
      <pc:sldChg chg="addSp delSp modSp mod">
        <pc:chgData name="Darcy Roach" userId="ba676ee9-e9b4-49e8-a515-8077106c948d" providerId="ADAL" clId="{7E0E6CBB-BFE2-4DF6-B4C4-682BEABC4EE4}" dt="2023-07-21T04:58:22.203" v="1228" actId="14100"/>
        <pc:sldMkLst>
          <pc:docMk/>
          <pc:sldMk cId="2009923557" sldId="270"/>
        </pc:sldMkLst>
        <pc:spChg chg="mod">
          <ac:chgData name="Darcy Roach" userId="ba676ee9-e9b4-49e8-a515-8077106c948d" providerId="ADAL" clId="{7E0E6CBB-BFE2-4DF6-B4C4-682BEABC4EE4}" dt="2023-07-21T04:03:10.664" v="445"/>
          <ac:spMkLst>
            <pc:docMk/>
            <pc:sldMk cId="2009923557" sldId="270"/>
            <ac:spMk id="2" creationId="{2FA774CA-3857-9308-4D38-9414B0CC2B95}"/>
          </ac:spMkLst>
        </pc:spChg>
        <pc:spChg chg="mod">
          <ac:chgData name="Darcy Roach" userId="ba676ee9-e9b4-49e8-a515-8077106c948d" providerId="ADAL" clId="{7E0E6CBB-BFE2-4DF6-B4C4-682BEABC4EE4}" dt="2023-07-21T04:43:20.070" v="1037" actId="20577"/>
          <ac:spMkLst>
            <pc:docMk/>
            <pc:sldMk cId="2009923557" sldId="270"/>
            <ac:spMk id="4" creationId="{80F49B2F-21D4-F9EB-049F-717A10CB7D84}"/>
          </ac:spMkLst>
        </pc:spChg>
        <pc:spChg chg="mod">
          <ac:chgData name="Darcy Roach" userId="ba676ee9-e9b4-49e8-a515-8077106c948d" providerId="ADAL" clId="{7E0E6CBB-BFE2-4DF6-B4C4-682BEABC4EE4}" dt="2023-07-21T04:15:48.324" v="504" actId="1076"/>
          <ac:spMkLst>
            <pc:docMk/>
            <pc:sldMk cId="2009923557" sldId="270"/>
            <ac:spMk id="6" creationId="{701E125D-B356-8A2A-B86B-AB6567CEABE1}"/>
          </ac:spMkLst>
        </pc:spChg>
        <pc:spChg chg="mod">
          <ac:chgData name="Darcy Roach" userId="ba676ee9-e9b4-49e8-a515-8077106c948d" providerId="ADAL" clId="{7E0E6CBB-BFE2-4DF6-B4C4-682BEABC4EE4}" dt="2023-07-21T04:58:22.203" v="1228" actId="14100"/>
          <ac:spMkLst>
            <pc:docMk/>
            <pc:sldMk cId="2009923557" sldId="270"/>
            <ac:spMk id="7" creationId="{6B2F289A-52B4-2A27-52EA-B05DE2DA93CE}"/>
          </ac:spMkLst>
        </pc:spChg>
        <pc:spChg chg="add del">
          <ac:chgData name="Darcy Roach" userId="ba676ee9-e9b4-49e8-a515-8077106c948d" providerId="ADAL" clId="{7E0E6CBB-BFE2-4DF6-B4C4-682BEABC4EE4}" dt="2023-07-21T04:01:39.138" v="387"/>
          <ac:spMkLst>
            <pc:docMk/>
            <pc:sldMk cId="2009923557" sldId="270"/>
            <ac:spMk id="8" creationId="{9C48582A-DB69-3169-744B-7A12FA41C034}"/>
          </ac:spMkLst>
        </pc:spChg>
        <pc:spChg chg="mod">
          <ac:chgData name="Darcy Roach" userId="ba676ee9-e9b4-49e8-a515-8077106c948d" providerId="ADAL" clId="{7E0E6CBB-BFE2-4DF6-B4C4-682BEABC4EE4}" dt="2023-07-21T04:25:38.966" v="761" actId="20577"/>
          <ac:spMkLst>
            <pc:docMk/>
            <pc:sldMk cId="2009923557" sldId="270"/>
            <ac:spMk id="12" creationId="{70DE989F-A988-8C86-5720-1FE5B119EB30}"/>
          </ac:spMkLst>
        </pc:spChg>
        <pc:spChg chg="mod">
          <ac:chgData name="Darcy Roach" userId="ba676ee9-e9b4-49e8-a515-8077106c948d" providerId="ADAL" clId="{7E0E6CBB-BFE2-4DF6-B4C4-682BEABC4EE4}" dt="2023-07-21T03:31:11.831" v="32" actId="20577"/>
          <ac:spMkLst>
            <pc:docMk/>
            <pc:sldMk cId="2009923557" sldId="270"/>
            <ac:spMk id="13" creationId="{FD2720C9-A79F-BD7F-E179-674AD67D7892}"/>
          </ac:spMkLst>
        </pc:spChg>
        <pc:spChg chg="mod">
          <ac:chgData name="Darcy Roach" userId="ba676ee9-e9b4-49e8-a515-8077106c948d" providerId="ADAL" clId="{7E0E6CBB-BFE2-4DF6-B4C4-682BEABC4EE4}" dt="2023-07-21T04:58:13.189" v="1227" actId="14100"/>
          <ac:spMkLst>
            <pc:docMk/>
            <pc:sldMk cId="2009923557" sldId="270"/>
            <ac:spMk id="17" creationId="{1BDE5051-9F34-F139-742D-4450E5D6591E}"/>
          </ac:spMkLst>
        </pc:spChg>
        <pc:spChg chg="mod">
          <ac:chgData name="Darcy Roach" userId="ba676ee9-e9b4-49e8-a515-8077106c948d" providerId="ADAL" clId="{7E0E6CBB-BFE2-4DF6-B4C4-682BEABC4EE4}" dt="2023-07-21T03:32:10.921" v="39" actId="20577"/>
          <ac:spMkLst>
            <pc:docMk/>
            <pc:sldMk cId="2009923557" sldId="270"/>
            <ac:spMk id="22" creationId="{9D4E289E-1D52-CBDD-E381-40963429D7F1}"/>
          </ac:spMkLst>
        </pc:spChg>
        <pc:spChg chg="mod">
          <ac:chgData name="Darcy Roach" userId="ba676ee9-e9b4-49e8-a515-8077106c948d" providerId="ADAL" clId="{7E0E6CBB-BFE2-4DF6-B4C4-682BEABC4EE4}" dt="2023-07-21T04:44:44.245" v="1056" actId="20577"/>
          <ac:spMkLst>
            <pc:docMk/>
            <pc:sldMk cId="2009923557" sldId="270"/>
            <ac:spMk id="26" creationId="{1A3D666D-00C8-D106-73C3-9FF300F8618C}"/>
          </ac:spMkLst>
        </pc:spChg>
        <pc:spChg chg="mod">
          <ac:chgData name="Darcy Roach" userId="ba676ee9-e9b4-49e8-a515-8077106c948d" providerId="ADAL" clId="{7E0E6CBB-BFE2-4DF6-B4C4-682BEABC4EE4}" dt="2023-07-21T04:25:23.905" v="753" actId="20577"/>
          <ac:spMkLst>
            <pc:docMk/>
            <pc:sldMk cId="2009923557" sldId="270"/>
            <ac:spMk id="31" creationId="{5D644C1D-FE62-9752-27C7-42A94F729A86}"/>
          </ac:spMkLst>
        </pc:spChg>
        <pc:spChg chg="mod">
          <ac:chgData name="Darcy Roach" userId="ba676ee9-e9b4-49e8-a515-8077106c948d" providerId="ADAL" clId="{7E0E6CBB-BFE2-4DF6-B4C4-682BEABC4EE4}" dt="2023-07-21T03:54:17.610" v="342" actId="20577"/>
          <ac:spMkLst>
            <pc:docMk/>
            <pc:sldMk cId="2009923557" sldId="270"/>
            <ac:spMk id="38" creationId="{AB47A2EE-BF0B-DB05-8B7C-DB6594B2B3D5}"/>
          </ac:spMkLst>
        </pc:spChg>
        <pc:spChg chg="mod">
          <ac:chgData name="Darcy Roach" userId="ba676ee9-e9b4-49e8-a515-8077106c948d" providerId="ADAL" clId="{7E0E6CBB-BFE2-4DF6-B4C4-682BEABC4EE4}" dt="2023-07-21T04:16:50.849" v="518" actId="20577"/>
          <ac:spMkLst>
            <pc:docMk/>
            <pc:sldMk cId="2009923557" sldId="270"/>
            <ac:spMk id="48" creationId="{2E936835-C132-4204-2E91-FE9D8E6EC671}"/>
          </ac:spMkLst>
        </pc:spChg>
        <pc:spChg chg="mod">
          <ac:chgData name="Darcy Roach" userId="ba676ee9-e9b4-49e8-a515-8077106c948d" providerId="ADAL" clId="{7E0E6CBB-BFE2-4DF6-B4C4-682BEABC4EE4}" dt="2023-07-21T04:25:00.309" v="745" actId="20577"/>
          <ac:spMkLst>
            <pc:docMk/>
            <pc:sldMk cId="2009923557" sldId="270"/>
            <ac:spMk id="54" creationId="{4F1DF6EC-2D10-1310-483C-35027A70DDA1}"/>
          </ac:spMkLst>
        </pc:spChg>
        <pc:spChg chg="mod">
          <ac:chgData name="Darcy Roach" userId="ba676ee9-e9b4-49e8-a515-8077106c948d" providerId="ADAL" clId="{7E0E6CBB-BFE2-4DF6-B4C4-682BEABC4EE4}" dt="2023-07-21T04:02:23.976" v="401"/>
          <ac:spMkLst>
            <pc:docMk/>
            <pc:sldMk cId="2009923557" sldId="270"/>
            <ac:spMk id="55" creationId="{20D856C0-6C6C-30D2-8947-79D3F4B5FE07}"/>
          </ac:spMkLst>
        </pc:spChg>
        <pc:spChg chg="del mod">
          <ac:chgData name="Darcy Roach" userId="ba676ee9-e9b4-49e8-a515-8077106c948d" providerId="ADAL" clId="{7E0E6CBB-BFE2-4DF6-B4C4-682BEABC4EE4}" dt="2023-07-21T04:58:00.193" v="1226" actId="478"/>
          <ac:spMkLst>
            <pc:docMk/>
            <pc:sldMk cId="2009923557" sldId="270"/>
            <ac:spMk id="60" creationId="{FD202519-197D-24FE-C4B7-F4419021EC1E}"/>
          </ac:spMkLst>
        </pc:spChg>
        <pc:grpChg chg="mod">
          <ac:chgData name="Darcy Roach" userId="ba676ee9-e9b4-49e8-a515-8077106c948d" providerId="ADAL" clId="{7E0E6CBB-BFE2-4DF6-B4C4-682BEABC4EE4}" dt="2023-07-21T04:16:14.665" v="506" actId="1076"/>
          <ac:grpSpMkLst>
            <pc:docMk/>
            <pc:sldMk cId="2009923557" sldId="270"/>
            <ac:grpSpMk id="10" creationId="{A6927CF3-C0AD-7B0E-CC21-BDD13E4FAF2F}"/>
          </ac:grpSpMkLst>
        </pc:grpChg>
        <pc:grpChg chg="mod">
          <ac:chgData name="Darcy Roach" userId="ba676ee9-e9b4-49e8-a515-8077106c948d" providerId="ADAL" clId="{7E0E6CBB-BFE2-4DF6-B4C4-682BEABC4EE4}" dt="2023-07-21T04:03:10.664" v="445"/>
          <ac:grpSpMkLst>
            <pc:docMk/>
            <pc:sldMk cId="2009923557" sldId="270"/>
            <ac:grpSpMk id="45" creationId="{7C004A0F-26FD-81BE-0DC7-EDCD01D4194B}"/>
          </ac:grpSpMkLst>
        </pc:grpChg>
        <pc:cxnChg chg="mod">
          <ac:chgData name="Darcy Roach" userId="ba676ee9-e9b4-49e8-a515-8077106c948d" providerId="ADAL" clId="{7E0E6CBB-BFE2-4DF6-B4C4-682BEABC4EE4}" dt="2023-07-21T04:15:48.324" v="504" actId="1076"/>
          <ac:cxnSpMkLst>
            <pc:docMk/>
            <pc:sldMk cId="2009923557" sldId="270"/>
            <ac:cxnSpMk id="3" creationId="{67C34E10-2CF8-9BCA-1CC6-D78A3FF9CA80}"/>
          </ac:cxnSpMkLst>
        </pc:cxnChg>
        <pc:cxnChg chg="mod">
          <ac:chgData name="Darcy Roach" userId="ba676ee9-e9b4-49e8-a515-8077106c948d" providerId="ADAL" clId="{7E0E6CBB-BFE2-4DF6-B4C4-682BEABC4EE4}" dt="2023-07-21T04:16:03.542" v="505" actId="14100"/>
          <ac:cxnSpMkLst>
            <pc:docMk/>
            <pc:sldMk cId="2009923557" sldId="270"/>
            <ac:cxnSpMk id="15" creationId="{F87F05F2-DA4C-4F55-A5D0-1887110DF155}"/>
          </ac:cxnSpMkLst>
        </pc:cxnChg>
        <pc:cxnChg chg="mod">
          <ac:chgData name="Darcy Roach" userId="ba676ee9-e9b4-49e8-a515-8077106c948d" providerId="ADAL" clId="{7E0E6CBB-BFE2-4DF6-B4C4-682BEABC4EE4}" dt="2023-07-21T04:20:17.686" v="592" actId="14100"/>
          <ac:cxnSpMkLst>
            <pc:docMk/>
            <pc:sldMk cId="2009923557" sldId="270"/>
            <ac:cxnSpMk id="56" creationId="{C0271841-9AD2-76A9-36A3-77AD3CD1ED1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7/21/2023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-1" y="0"/>
            <a:ext cx="3315613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25629" y="120831"/>
            <a:ext cx="2168863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Dennis </a:t>
            </a:r>
          </a:p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Jose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250509" y="1634583"/>
            <a:ext cx="2904482" cy="34368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Dennis is a skilled, </a:t>
            </a:r>
            <a:r>
              <a:rPr lang="en-AU" sz="1000" spc="13" dirty="0">
                <a:latin typeface="Roboto Light"/>
                <a:ea typeface="Roboto Light"/>
                <a:cs typeface="Lato"/>
              </a:rPr>
              <a:t>dedicated, enthusiastic Data Engineer with a great passion for data science. </a:t>
            </a:r>
            <a:endParaRPr lang="en-AU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 </a:t>
            </a:r>
            <a:r>
              <a:rPr lang="en-AU" sz="1000" spc="13" dirty="0">
                <a:latin typeface="Roboto Light"/>
                <a:ea typeface="Roboto Light"/>
                <a:cs typeface="Lato"/>
              </a:rPr>
              <a:t>Google Cloud Platform (GCP) Certified Data Engineer, Dennis has over 5+ years of experience in the IT industry. An expert in data wrangling, analysis and visualisation Dennis has experience working in several domains including Logistics, Financial Services, Insurance &amp; Education.</a:t>
            </a: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endParaRPr lang="en-AU" sz="1000" spc="13" dirty="0">
              <a:latin typeface="Roboto Light"/>
              <a:ea typeface="Roboto Light"/>
              <a:cs typeface="Lato"/>
            </a:endParaRPr>
          </a:p>
          <a:p>
            <a:pPr>
              <a:lnSpc>
                <a:spcPct val="150000"/>
              </a:lnSpc>
            </a:pPr>
            <a:endParaRPr lang="en-AU" sz="1000" spc="13" dirty="0">
              <a:latin typeface="Roboto Light"/>
              <a:ea typeface="Roboto Light"/>
              <a:cs typeface="Lato"/>
            </a:endParaRPr>
          </a:p>
          <a:p>
            <a:pPr>
              <a:lnSpc>
                <a:spcPct val="150000"/>
              </a:lnSpc>
            </a:pPr>
            <a:r>
              <a:rPr lang="en-US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Dennis is a great communicator and demonstrates high-level interpersonal skills. </a:t>
            </a:r>
            <a:r>
              <a:rPr lang="en-AU" sz="1000" spc="13" dirty="0">
                <a:latin typeface="Roboto Light"/>
                <a:ea typeface="Roboto Light"/>
                <a:cs typeface="Lato"/>
              </a:rPr>
              <a:t>Dennis has a great passion for helping businesses reap the benefits of data-driven decision-making and collaborating with organisations </a:t>
            </a:r>
            <a:r>
              <a:rPr lang="en-US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to solve complex problems and </a:t>
            </a:r>
            <a:r>
              <a:rPr lang="en-AU" sz="1000" spc="13" dirty="0">
                <a:latin typeface="Roboto Light"/>
                <a:ea typeface="Roboto Light"/>
                <a:cs typeface="Lato"/>
              </a:rPr>
              <a:t>use data for the betterment of society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52027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50509" y="959224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716674" y="5693950"/>
            <a:ext cx="1510046" cy="244682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Big Query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Databricks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Python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Snowflake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SAP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Linx</a:t>
            </a: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/Unix Scripting 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Jira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Confluence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C#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Tableau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.NET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buClr>
                <a:srgbClr val="00AB80"/>
              </a:buClr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1459737"/>
            <a:ext cx="0" cy="1528557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3048197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592879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263641"/>
            <a:ext cx="1951941" cy="3785652"/>
            <a:chOff x="8106458" y="2681447"/>
            <a:chExt cx="1951941" cy="3785652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51941" cy="37856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Google Cloud Certified | Professional Data Engineer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Databricks</a:t>
              </a: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 | Developer Essentials</a:t>
              </a: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Talend Open Studio | Udemy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Maste</a:t>
              </a: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r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– Science, Data Science | </a:t>
              </a:r>
              <a:r>
                <a:rPr lang="en-US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Monash University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Bachelor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– Engineering, Electronics &amp; Communications | </a:t>
              </a:r>
              <a:r>
                <a:rPr lang="en-US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</a:t>
              </a:r>
              <a:r>
                <a:rPr lang="en-US" sz="1200" dirty="0" err="1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Karunya</a:t>
              </a:r>
              <a:r>
                <a:rPr lang="en-US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Institute of Technology &amp; Science</a:t>
              </a: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27339" y="5698493"/>
            <a:ext cx="1557991" cy="21698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Google Cloud Platform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Oracle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Engineering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Migration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Analytics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Warehousing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Wrangling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Visualisation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Cloud Computing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Machine Learning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Artificial Intelligence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Stakeholder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21267" y="1167388"/>
            <a:ext cx="4631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Leading Australian Logistics </a:t>
            </a:r>
            <a:r>
              <a:rPr lang="en-US" sz="1200" b="1" dirty="0" err="1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Organisation</a:t>
            </a:r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AU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– GCP Data Engineer</a:t>
            </a:r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endParaRPr lang="en-AU" sz="1200" b="1" dirty="0">
              <a:solidFill>
                <a:srgbClr val="0059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DE989F-A988-8C86-5720-1FE5B119EB30}"/>
              </a:ext>
            </a:extLst>
          </p:cNvPr>
          <p:cNvSpPr txBox="1"/>
          <p:nvPr/>
        </p:nvSpPr>
        <p:spPr>
          <a:xfrm>
            <a:off x="3463961" y="1373470"/>
            <a:ext cx="4533549" cy="1815882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r>
              <a:rPr lang="en-AU" sz="1000" dirty="0">
                <a:solidFill>
                  <a:schemeClr val="bg1"/>
                </a:solidFill>
              </a:rPr>
              <a:t>POC to mask PII data in Cloud Spanner database using Dataflow templates and </a:t>
            </a:r>
            <a:r>
              <a:rPr lang="en-AU" sz="1000" dirty="0" err="1">
                <a:solidFill>
                  <a:schemeClr val="bg1"/>
                </a:solidFill>
              </a:rPr>
              <a:t>BigQuery</a:t>
            </a:r>
            <a:endParaRPr lang="en-AU" sz="1000" dirty="0">
              <a:solidFill>
                <a:schemeClr val="bg1"/>
              </a:solidFill>
            </a:endParaRPr>
          </a:p>
          <a:p>
            <a:r>
              <a:rPr lang="en-AU" sz="1000" dirty="0">
                <a:solidFill>
                  <a:schemeClr val="bg1"/>
                </a:solidFill>
              </a:rPr>
              <a:t>Created SQL queries and UDF, to mask PII fields using farm fingerprint function in </a:t>
            </a:r>
            <a:r>
              <a:rPr lang="en-AU" sz="1000" dirty="0" err="1">
                <a:solidFill>
                  <a:schemeClr val="bg1"/>
                </a:solidFill>
              </a:rPr>
              <a:t>BigQuery</a:t>
            </a:r>
            <a:r>
              <a:rPr lang="en-AU" sz="1000" dirty="0">
                <a:solidFill>
                  <a:schemeClr val="bg1"/>
                </a:solidFill>
              </a:rPr>
              <a:t>. PII data types - String, Number, complex JSON arrays</a:t>
            </a:r>
          </a:p>
          <a:p>
            <a:r>
              <a:rPr lang="en-AU" sz="1000" dirty="0">
                <a:solidFill>
                  <a:schemeClr val="bg1"/>
                </a:solidFill>
              </a:rPr>
              <a:t>Automated the end-to-end process using Cloud functions</a:t>
            </a:r>
          </a:p>
          <a:p>
            <a:r>
              <a:rPr lang="en-AU" sz="1000" dirty="0">
                <a:solidFill>
                  <a:schemeClr val="bg1"/>
                </a:solidFill>
              </a:rPr>
              <a:t>Handled BAU service now tickets addressed to the GCP cloud services team based on their priority status</a:t>
            </a:r>
          </a:p>
          <a:p>
            <a:r>
              <a:rPr lang="en-AU" sz="1000" dirty="0">
                <a:solidFill>
                  <a:schemeClr val="bg1"/>
                </a:solidFill>
              </a:rPr>
              <a:t>BAU tickets involved working with users to allot appropriate </a:t>
            </a:r>
            <a:r>
              <a:rPr lang="en-AU" sz="1000" dirty="0" err="1">
                <a:solidFill>
                  <a:schemeClr val="bg1"/>
                </a:solidFill>
              </a:rPr>
              <a:t>Iam</a:t>
            </a:r>
            <a:r>
              <a:rPr lang="en-AU" sz="1000" dirty="0">
                <a:solidFill>
                  <a:schemeClr val="bg1"/>
                </a:solidFill>
              </a:rPr>
              <a:t> permissions and API access, creating new GCP projects and answering user doubts related to GCP</a:t>
            </a:r>
          </a:p>
          <a:p>
            <a:endParaRPr lang="en-AU" sz="1000" dirty="0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C004A0F-26FD-81BE-0DC7-EDCD01D4194B}"/>
              </a:ext>
            </a:extLst>
          </p:cNvPr>
          <p:cNvGrpSpPr/>
          <p:nvPr/>
        </p:nvGrpSpPr>
        <p:grpSpPr>
          <a:xfrm>
            <a:off x="3335753" y="3262581"/>
            <a:ext cx="5029198" cy="2313133"/>
            <a:chOff x="3335753" y="2997642"/>
            <a:chExt cx="5029198" cy="2456979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7F05F2-DA4C-4F55-A5D0-1887110DF155}"/>
                </a:ext>
              </a:extLst>
            </p:cNvPr>
            <p:cNvCxnSpPr>
              <a:cxnSpLocks/>
            </p:cNvCxnSpPr>
            <p:nvPr/>
          </p:nvCxnSpPr>
          <p:spPr>
            <a:xfrm>
              <a:off x="3428144" y="3319521"/>
              <a:ext cx="0" cy="1888091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FA774CA-3857-9308-4D38-9414B0CC2B95}"/>
                </a:ext>
              </a:extLst>
            </p:cNvPr>
            <p:cNvSpPr txBox="1"/>
            <p:nvPr/>
          </p:nvSpPr>
          <p:spPr>
            <a:xfrm>
              <a:off x="3335753" y="2997642"/>
              <a:ext cx="5029198" cy="49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>
                  <a:solidFill>
                    <a:srgbClr val="ED7D3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Leading Australian Logistics Organisation  – Senior Data Analyst</a:t>
              </a:r>
            </a:p>
            <a:p>
              <a:endParaRPr lang="en-AU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D644C1D-FE62-9752-27C7-42A94F729A86}"/>
                </a:ext>
              </a:extLst>
            </p:cNvPr>
            <p:cNvSpPr txBox="1"/>
            <p:nvPr/>
          </p:nvSpPr>
          <p:spPr>
            <a:xfrm>
              <a:off x="3455046" y="3198896"/>
              <a:ext cx="4423172" cy="2255725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0" indent="0">
                <a:buNone/>
              </a:pPr>
              <a:endParaRPr lang="en-US" sz="200" dirty="0"/>
            </a:p>
            <a:p>
              <a:r>
                <a:rPr lang="en-AU" sz="1000" dirty="0"/>
                <a:t>POC using DataStream to move data from On-premises Oracle Database into GCS using Pub/Sub and Dataflow templates</a:t>
              </a:r>
            </a:p>
            <a:p>
              <a:r>
                <a:rPr lang="en-AU" sz="1000" dirty="0"/>
                <a:t>Created SQL queries to mask PII fields in the tables through </a:t>
              </a:r>
              <a:r>
                <a:rPr lang="en-AU" sz="1000" dirty="0" err="1"/>
                <a:t>BiqQuery</a:t>
              </a:r>
              <a:r>
                <a:rPr lang="en-AU" sz="1000" dirty="0"/>
                <a:t>.</a:t>
              </a:r>
            </a:p>
            <a:p>
              <a:r>
                <a:rPr lang="en-AU" sz="1000" dirty="0"/>
                <a:t>Pushed the masked tables back into Oracle Database through the AP </a:t>
              </a:r>
              <a:r>
                <a:rPr lang="en-AU" sz="1000" dirty="0" err="1"/>
                <a:t>jumpbox</a:t>
              </a:r>
              <a:endParaRPr lang="en-AU" sz="1000" dirty="0"/>
            </a:p>
            <a:p>
              <a:r>
                <a:rPr lang="en-AU" sz="1000" dirty="0"/>
                <a:t>Developed a monitoring system for the EMR support team in GCP consisting of 37 system alerts which were applied on several EMR services based on different metrics, trigger thresholds and priorities</a:t>
              </a:r>
            </a:p>
            <a:p>
              <a:r>
                <a:rPr lang="en-AU" sz="1000" dirty="0"/>
                <a:t>Created notification channels to send the alert notifications to 3rd party apps like </a:t>
              </a:r>
              <a:r>
                <a:rPr lang="en-AU" sz="1000" dirty="0" err="1"/>
                <a:t>SumoLogic</a:t>
              </a:r>
              <a:r>
                <a:rPr lang="en-AU" sz="1000" dirty="0"/>
                <a:t>, teams and email channels through pub-sub</a:t>
              </a:r>
            </a:p>
            <a:p>
              <a:r>
                <a:rPr lang="en-AU" sz="1000" dirty="0"/>
                <a:t>Terraformed the complete monitoring systems and productionised it adhering to the CICD rules and principles followed by the customer</a:t>
              </a:r>
            </a:p>
            <a:p>
              <a:endParaRPr lang="en-AU" sz="1000" dirty="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2E936835-C132-4204-2E91-FE9D8E6EC671}"/>
              </a:ext>
            </a:extLst>
          </p:cNvPr>
          <p:cNvSpPr txBox="1"/>
          <p:nvPr/>
        </p:nvSpPr>
        <p:spPr>
          <a:xfrm>
            <a:off x="8118489" y="1456630"/>
            <a:ext cx="1951941" cy="116955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Logistics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Insurance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Education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927CF3-C0AD-7B0E-CC21-BDD13E4FAF2F}"/>
              </a:ext>
            </a:extLst>
          </p:cNvPr>
          <p:cNvGrpSpPr/>
          <p:nvPr/>
        </p:nvGrpSpPr>
        <p:grpSpPr>
          <a:xfrm>
            <a:off x="3335752" y="5653986"/>
            <a:ext cx="4782734" cy="1706220"/>
            <a:chOff x="3335752" y="5766857"/>
            <a:chExt cx="4782734" cy="1706220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0D856C0-6C6C-30D2-8947-79D3F4B5FE07}"/>
                </a:ext>
              </a:extLst>
            </p:cNvPr>
            <p:cNvSpPr txBox="1"/>
            <p:nvPr/>
          </p:nvSpPr>
          <p:spPr>
            <a:xfrm>
              <a:off x="3335752" y="5766857"/>
              <a:ext cx="47827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>
                  <a:solidFill>
                    <a:srgbClr val="A93584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Financial Services Company – Data Engineer</a:t>
              </a:r>
            </a:p>
            <a:p>
              <a:endPara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F1DF6EC-2D10-1310-483C-35027A70DDA1}"/>
                </a:ext>
              </a:extLst>
            </p:cNvPr>
            <p:cNvSpPr txBox="1"/>
            <p:nvPr/>
          </p:nvSpPr>
          <p:spPr>
            <a:xfrm>
              <a:off x="3469640" y="5995749"/>
              <a:ext cx="4482791" cy="1477328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10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r>
                <a:rPr lang="en-AU" dirty="0"/>
                <a:t>Table &amp; View DDLs, Stored Procs conversion and Data Migration from MSSQL EDW to Snowflake</a:t>
              </a:r>
            </a:p>
            <a:p>
              <a:r>
                <a:rPr lang="en-AU" dirty="0"/>
                <a:t>Repointed Informatica jobs from existing MSSQL server EDW to Snowflake for all the environments</a:t>
              </a:r>
            </a:p>
            <a:p>
              <a:r>
                <a:rPr lang="en-AU" dirty="0"/>
                <a:t>Setup Enterprise Power BI reports/dashboards.</a:t>
              </a:r>
            </a:p>
            <a:p>
              <a:r>
                <a:rPr lang="en-AU" dirty="0"/>
                <a:t>Reviewed scripts, making changes to framework libraries</a:t>
              </a:r>
            </a:p>
            <a:p>
              <a:r>
                <a:rPr lang="en-AU" dirty="0"/>
                <a:t>Created, maintained and executed automation scripts for web UI</a:t>
              </a:r>
            </a:p>
            <a:p>
              <a:r>
                <a:rPr lang="en-AU" dirty="0"/>
                <a:t>Created automation estimates and plan</a:t>
              </a:r>
            </a:p>
            <a:p>
              <a:r>
                <a:rPr lang="en-AU" dirty="0"/>
                <a:t>Provided defect and test support.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0271841-9AD2-76A9-36A3-77AD3CD1ED17}"/>
                </a:ext>
              </a:extLst>
            </p:cNvPr>
            <p:cNvCxnSpPr>
              <a:cxnSpLocks/>
            </p:cNvCxnSpPr>
            <p:nvPr/>
          </p:nvCxnSpPr>
          <p:spPr>
            <a:xfrm>
              <a:off x="3430684" y="6077707"/>
              <a:ext cx="0" cy="1395370"/>
            </a:xfrm>
            <a:prstGeom prst="line">
              <a:avLst/>
            </a:prstGeom>
            <a:ln w="19050">
              <a:solidFill>
                <a:srgbClr val="A9358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4EF6512-F909-49DE-AB60-AA8FA1CF9892}"/>
</file>

<file path=customXml/itemProps2.xml><?xml version="1.0" encoding="utf-8"?>
<ds:datastoreItem xmlns:ds="http://schemas.openxmlformats.org/officeDocument/2006/customXml" ds:itemID="{3EAAB431-6FA9-4678-BFEA-63CD1CAD6F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79DDFC6-124A-4859-BB62-4C7039BA48C0}">
  <ds:schemaRefs>
    <ds:schemaRef ds:uri="http://schemas.microsoft.com/office/2006/metadata/properties"/>
    <ds:schemaRef ds:uri="http://purl.org/dc/dcmitype/"/>
    <ds:schemaRef ds:uri="daf93972-1964-4522-aa34-640805a01c3a"/>
    <ds:schemaRef ds:uri="http://schemas.microsoft.com/office/2006/documentManagement/types"/>
    <ds:schemaRef ds:uri="http://purl.org/dc/terms/"/>
    <ds:schemaRef ds:uri="http://schemas.microsoft.com/office/infopath/2007/PartnerControls"/>
    <ds:schemaRef ds:uri="e52cd9e7-35e5-4bd3-9cab-ca6a63c31e52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3778</TotalTime>
  <Words>509</Words>
  <Application>Microsoft Office PowerPoint</Application>
  <PresentationFormat>Custom</PresentationFormat>
  <Paragraphs>78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Libre Caslon Text</vt:lpstr>
      <vt:lpstr>Roboto</vt:lpstr>
      <vt:lpstr>Roboto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9</cp:revision>
  <dcterms:created xsi:type="dcterms:W3CDTF">2019-12-03T01:50:37Z</dcterms:created>
  <dcterms:modified xsi:type="dcterms:W3CDTF">2023-07-21T04:58:28Z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