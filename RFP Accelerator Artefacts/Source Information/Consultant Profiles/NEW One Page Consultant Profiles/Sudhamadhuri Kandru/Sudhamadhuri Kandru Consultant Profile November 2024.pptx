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96" d="100"/>
          <a:sy n="96" d="100"/>
        </p:scale>
        <p:origin x="1740"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60CF3621-102E-481D-A701-8B4C3ADAE0DC}"/>
    <pc:docChg chg="undo custSel modSld">
      <pc:chgData name="Darcy Roach" userId="ba676ee9-e9b4-49e8-a515-8077106c948d" providerId="ADAL" clId="{60CF3621-102E-481D-A701-8B4C3ADAE0DC}" dt="2024-11-11T22:38:29.308" v="618" actId="1035"/>
      <pc:docMkLst>
        <pc:docMk/>
      </pc:docMkLst>
      <pc:sldChg chg="delSp modSp mod">
        <pc:chgData name="Darcy Roach" userId="ba676ee9-e9b4-49e8-a515-8077106c948d" providerId="ADAL" clId="{60CF3621-102E-481D-A701-8B4C3ADAE0DC}" dt="2024-11-11T22:38:29.308" v="618" actId="1035"/>
        <pc:sldMkLst>
          <pc:docMk/>
          <pc:sldMk cId="2009923557" sldId="270"/>
        </pc:sldMkLst>
        <pc:spChg chg="mod">
          <ac:chgData name="Darcy Roach" userId="ba676ee9-e9b4-49e8-a515-8077106c948d" providerId="ADAL" clId="{60CF3621-102E-481D-A701-8B4C3ADAE0DC}" dt="2024-11-11T05:14:00.743" v="447" actId="20577"/>
          <ac:spMkLst>
            <pc:docMk/>
            <pc:sldMk cId="2009923557" sldId="270"/>
            <ac:spMk id="2" creationId="{2FA774CA-3857-9308-4D38-9414B0CC2B95}"/>
          </ac:spMkLst>
        </pc:spChg>
        <pc:spChg chg="mod">
          <ac:chgData name="Darcy Roach" userId="ba676ee9-e9b4-49e8-a515-8077106c948d" providerId="ADAL" clId="{60CF3621-102E-481D-A701-8B4C3ADAE0DC}" dt="2024-11-11T04:31:10.069" v="129" actId="1076"/>
          <ac:spMkLst>
            <pc:docMk/>
            <pc:sldMk cId="2009923557" sldId="270"/>
            <ac:spMk id="4" creationId="{80F49B2F-21D4-F9EB-049F-717A10CB7D84}"/>
          </ac:spMkLst>
        </pc:spChg>
        <pc:spChg chg="mod">
          <ac:chgData name="Darcy Roach" userId="ba676ee9-e9b4-49e8-a515-8077106c948d" providerId="ADAL" clId="{60CF3621-102E-481D-A701-8B4C3ADAE0DC}" dt="2024-11-11T04:51:14.689" v="325" actId="20577"/>
          <ac:spMkLst>
            <pc:docMk/>
            <pc:sldMk cId="2009923557" sldId="270"/>
            <ac:spMk id="6" creationId="{701E125D-B356-8A2A-B86B-AB6567CEABE1}"/>
          </ac:spMkLst>
        </pc:spChg>
        <pc:spChg chg="mod">
          <ac:chgData name="Darcy Roach" userId="ba676ee9-e9b4-49e8-a515-8077106c948d" providerId="ADAL" clId="{60CF3621-102E-481D-A701-8B4C3ADAE0DC}" dt="2024-11-11T22:21:19.262" v="585" actId="1076"/>
          <ac:spMkLst>
            <pc:docMk/>
            <pc:sldMk cId="2009923557" sldId="270"/>
            <ac:spMk id="7" creationId="{6B2F289A-52B4-2A27-52EA-B05DE2DA93CE}"/>
          </ac:spMkLst>
        </pc:spChg>
        <pc:spChg chg="mod">
          <ac:chgData name="Darcy Roach" userId="ba676ee9-e9b4-49e8-a515-8077106c948d" providerId="ADAL" clId="{60CF3621-102E-481D-A701-8B4C3ADAE0DC}" dt="2024-11-11T04:52:35.388" v="328" actId="20577"/>
          <ac:spMkLst>
            <pc:docMk/>
            <pc:sldMk cId="2009923557" sldId="270"/>
            <ac:spMk id="12" creationId="{70DE989F-A988-8C86-5720-1FE5B119EB30}"/>
          </ac:spMkLst>
        </pc:spChg>
        <pc:spChg chg="mod">
          <ac:chgData name="Darcy Roach" userId="ba676ee9-e9b4-49e8-a515-8077106c948d" providerId="ADAL" clId="{60CF3621-102E-481D-A701-8B4C3ADAE0DC}" dt="2024-11-11T04:24:07.222" v="40" actId="14100"/>
          <ac:spMkLst>
            <pc:docMk/>
            <pc:sldMk cId="2009923557" sldId="270"/>
            <ac:spMk id="13" creationId="{FD2720C9-A79F-BD7F-E179-674AD67D7892}"/>
          </ac:spMkLst>
        </pc:spChg>
        <pc:spChg chg="mod">
          <ac:chgData name="Darcy Roach" userId="ba676ee9-e9b4-49e8-a515-8077106c948d" providerId="ADAL" clId="{60CF3621-102E-481D-A701-8B4C3ADAE0DC}" dt="2024-11-11T04:37:09.086" v="258" actId="20577"/>
          <ac:spMkLst>
            <pc:docMk/>
            <pc:sldMk cId="2009923557" sldId="270"/>
            <ac:spMk id="16" creationId="{58B5C0BB-3DE1-8208-F300-779149BE0EE7}"/>
          </ac:spMkLst>
        </pc:spChg>
        <pc:spChg chg="mod">
          <ac:chgData name="Darcy Roach" userId="ba676ee9-e9b4-49e8-a515-8077106c948d" providerId="ADAL" clId="{60CF3621-102E-481D-A701-8B4C3ADAE0DC}" dt="2024-11-11T05:45:08.723" v="583" actId="1076"/>
          <ac:spMkLst>
            <pc:docMk/>
            <pc:sldMk cId="2009923557" sldId="270"/>
            <ac:spMk id="18" creationId="{73CB256D-A22B-325A-27E1-ACFA6397FB42}"/>
          </ac:spMkLst>
        </pc:spChg>
        <pc:spChg chg="mod">
          <ac:chgData name="Darcy Roach" userId="ba676ee9-e9b4-49e8-a515-8077106c948d" providerId="ADAL" clId="{60CF3621-102E-481D-A701-8B4C3ADAE0DC}" dt="2024-11-11T05:45:08.723" v="583" actId="1076"/>
          <ac:spMkLst>
            <pc:docMk/>
            <pc:sldMk cId="2009923557" sldId="270"/>
            <ac:spMk id="19" creationId="{7D3E488A-E425-CBAD-B9BC-B59BC8399548}"/>
          </ac:spMkLst>
        </pc:spChg>
        <pc:spChg chg="mod">
          <ac:chgData name="Darcy Roach" userId="ba676ee9-e9b4-49e8-a515-8077106c948d" providerId="ADAL" clId="{60CF3621-102E-481D-A701-8B4C3ADAE0DC}" dt="2024-11-11T02:33:29.390" v="15" actId="1076"/>
          <ac:spMkLst>
            <pc:docMk/>
            <pc:sldMk cId="2009923557" sldId="270"/>
            <ac:spMk id="22" creationId="{9D4E289E-1D52-CBDD-E381-40963429D7F1}"/>
          </ac:spMkLst>
        </pc:spChg>
        <pc:spChg chg="mod">
          <ac:chgData name="Darcy Roach" userId="ba676ee9-e9b4-49e8-a515-8077106c948d" providerId="ADAL" clId="{60CF3621-102E-481D-A701-8B4C3ADAE0DC}" dt="2024-11-11T04:24:32.438" v="54" actId="20577"/>
          <ac:spMkLst>
            <pc:docMk/>
            <pc:sldMk cId="2009923557" sldId="270"/>
            <ac:spMk id="24" creationId="{3E0596C0-5AEA-4100-096F-53EA88E3D585}"/>
          </ac:spMkLst>
        </pc:spChg>
        <pc:spChg chg="mod">
          <ac:chgData name="Darcy Roach" userId="ba676ee9-e9b4-49e8-a515-8077106c948d" providerId="ADAL" clId="{60CF3621-102E-481D-A701-8B4C3ADAE0DC}" dt="2024-11-11T04:38:42.951" v="267" actId="20577"/>
          <ac:spMkLst>
            <pc:docMk/>
            <pc:sldMk cId="2009923557" sldId="270"/>
            <ac:spMk id="26" creationId="{1A3D666D-00C8-D106-73C3-9FF300F8618C}"/>
          </ac:spMkLst>
        </pc:spChg>
        <pc:spChg chg="mod">
          <ac:chgData name="Darcy Roach" userId="ba676ee9-e9b4-49e8-a515-8077106c948d" providerId="ADAL" clId="{60CF3621-102E-481D-A701-8B4C3ADAE0DC}" dt="2024-11-11T05:11:57.335" v="440" actId="20577"/>
          <ac:spMkLst>
            <pc:docMk/>
            <pc:sldMk cId="2009923557" sldId="270"/>
            <ac:spMk id="31" creationId="{5D644C1D-FE62-9752-27C7-42A94F729A86}"/>
          </ac:spMkLst>
        </pc:spChg>
        <pc:spChg chg="mod">
          <ac:chgData name="Darcy Roach" userId="ba676ee9-e9b4-49e8-a515-8077106c948d" providerId="ADAL" clId="{60CF3621-102E-481D-A701-8B4C3ADAE0DC}" dt="2024-11-11T22:34:47.823" v="613" actId="20577"/>
          <ac:spMkLst>
            <pc:docMk/>
            <pc:sldMk cId="2009923557" sldId="270"/>
            <ac:spMk id="48" creationId="{2E936835-C132-4204-2E91-FE9D8E6EC671}"/>
          </ac:spMkLst>
        </pc:spChg>
        <pc:grpChg chg="del">
          <ac:chgData name="Darcy Roach" userId="ba676ee9-e9b4-49e8-a515-8077106c948d" providerId="ADAL" clId="{60CF3621-102E-481D-A701-8B4C3ADAE0DC}" dt="2024-11-11T05:14:04.455" v="448" actId="478"/>
          <ac:grpSpMkLst>
            <pc:docMk/>
            <pc:sldMk cId="2009923557" sldId="270"/>
            <ac:grpSpMk id="10" creationId="{A6927CF3-C0AD-7B0E-CC21-BDD13E4FAF2F}"/>
          </ac:grpSpMkLst>
        </pc:grpChg>
        <pc:grpChg chg="mod">
          <ac:chgData name="Darcy Roach" userId="ba676ee9-e9b4-49e8-a515-8077106c948d" providerId="ADAL" clId="{60CF3621-102E-481D-A701-8B4C3ADAE0DC}" dt="2024-11-11T22:37:47.765" v="614" actId="1076"/>
          <ac:grpSpMkLst>
            <pc:docMk/>
            <pc:sldMk cId="2009923557" sldId="270"/>
            <ac:grpSpMk id="45" creationId="{7C004A0F-26FD-81BE-0DC7-EDCD01D4194B}"/>
          </ac:grpSpMkLst>
        </pc:grpChg>
        <pc:cxnChg chg="mod">
          <ac:chgData name="Darcy Roach" userId="ba676ee9-e9b4-49e8-a515-8077106c948d" providerId="ADAL" clId="{60CF3621-102E-481D-A701-8B4C3ADAE0DC}" dt="2024-11-11T22:38:29.308" v="618" actId="1035"/>
          <ac:cxnSpMkLst>
            <pc:docMk/>
            <pc:sldMk cId="2009923557" sldId="270"/>
            <ac:cxnSpMk id="3" creationId="{67C34E10-2CF8-9BCA-1CC6-D78A3FF9CA80}"/>
          </ac:cxnSpMkLst>
        </pc:cxnChg>
        <pc:cxnChg chg="mod">
          <ac:chgData name="Darcy Roach" userId="ba676ee9-e9b4-49e8-a515-8077106c948d" providerId="ADAL" clId="{60CF3621-102E-481D-A701-8B4C3ADAE0DC}" dt="2024-11-11T05:07:29.210" v="360" actId="1035"/>
          <ac:cxnSpMkLst>
            <pc:docMk/>
            <pc:sldMk cId="2009923557" sldId="270"/>
            <ac:cxnSpMk id="15" creationId="{F87F05F2-DA4C-4F55-A5D0-1887110DF155}"/>
          </ac:cxnSpMkLst>
        </pc:cxnChg>
        <pc:cxnChg chg="mod">
          <ac:chgData name="Darcy Roach" userId="ba676ee9-e9b4-49e8-a515-8077106c948d" providerId="ADAL" clId="{60CF3621-102E-481D-A701-8B4C3ADAE0DC}" dt="2024-11-11T22:38:04.076" v="615" actId="1076"/>
          <ac:cxnSpMkLst>
            <pc:docMk/>
            <pc:sldMk cId="2009923557" sldId="270"/>
            <ac:cxnSpMk id="21" creationId="{EC8852C0-A4C0-C4EF-5B0D-FC39E5C5BF82}"/>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11/11/2024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5216" y="-10230"/>
            <a:ext cx="3315613"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398301" cy="861774"/>
          </a:xfrm>
          <a:prstGeom prst="rect">
            <a:avLst/>
          </a:prstGeom>
          <a:noFill/>
        </p:spPr>
        <p:txBody>
          <a:bodyPr wrap="square" lIns="0" tIns="0" rIns="0" bIns="0" rtlCol="0">
            <a:spAutoFit/>
          </a:bodyPr>
          <a:lstStyle/>
          <a:p>
            <a:r>
              <a:rPr lang="en-US" sz="2800" b="1" dirty="0" err="1">
                <a:solidFill>
                  <a:srgbClr val="00AB80"/>
                </a:solidFill>
                <a:latin typeface="Roboto" panose="02000000000000000000" pitchFamily="2" charset="0"/>
                <a:ea typeface="Roboto" panose="02000000000000000000" pitchFamily="2" charset="0"/>
              </a:rPr>
              <a:t>Sudhamadhuri</a:t>
            </a:r>
            <a:r>
              <a:rPr lang="en-US" sz="2800" b="1" dirty="0">
                <a:solidFill>
                  <a:srgbClr val="00AB80"/>
                </a:solidFill>
                <a:latin typeface="Roboto" panose="02000000000000000000" pitchFamily="2" charset="0"/>
                <a:ea typeface="Roboto" panose="02000000000000000000" pitchFamily="2" charset="0"/>
              </a:rPr>
              <a:t> </a:t>
            </a:r>
            <a:r>
              <a:rPr lang="en-US" sz="2800" b="1" dirty="0" err="1">
                <a:solidFill>
                  <a:srgbClr val="00AB80"/>
                </a:solidFill>
                <a:latin typeface="Roboto" panose="02000000000000000000" pitchFamily="2" charset="0"/>
                <a:ea typeface="Roboto" panose="02000000000000000000" pitchFamily="2" charset="0"/>
              </a:rPr>
              <a:t>Kandru</a:t>
            </a:r>
            <a:endParaRPr lang="en-US" sz="2800" b="1" dirty="0">
              <a:solidFill>
                <a:srgbClr val="00AB80"/>
              </a:solidFill>
              <a:latin typeface="Roboto" panose="02000000000000000000" pitchFamily="2" charset="0"/>
              <a:ea typeface="Roboto" panose="02000000000000000000" pitchFamily="2"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99331"/>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3324" y="5784500"/>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a:ea typeface="Roboto Light"/>
                <a:cs typeface="Roboto Light"/>
              </a:rPr>
              <a:t>Snowflake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BI (SSIS, SSAS, SSRS)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Reporting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flipH="1">
            <a:off x="3429697" y="1429920"/>
            <a:ext cx="16980" cy="167887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18734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26323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F49B2F-21D4-F9EB-049F-717A10CB7D84}"/>
              </a:ext>
            </a:extLst>
          </p:cNvPr>
          <p:cNvSpPr txBox="1"/>
          <p:nvPr/>
        </p:nvSpPr>
        <p:spPr>
          <a:xfrm>
            <a:off x="127339" y="5790572"/>
            <a:ext cx="1557991" cy="1892826"/>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dirty="0">
                <a:latin typeface="Roboto Light"/>
                <a:ea typeface="Roboto Light"/>
                <a:cs typeface="Roboto Light"/>
              </a:rPr>
              <a:t>Data Modelling</a:t>
            </a:r>
          </a:p>
          <a:p>
            <a:pPr marL="171450" indent="-171450">
              <a:buClr>
                <a:srgbClr val="00AB80"/>
              </a:buClr>
              <a:buFont typeface="Arial" panose="020B0604020202020204" pitchFamily="34" charset="0"/>
              <a:buChar char="•"/>
            </a:pPr>
            <a:r>
              <a:rPr lang="en-AU" sz="900" dirty="0">
                <a:latin typeface="Roboto Light"/>
                <a:ea typeface="Roboto Light"/>
                <a:cs typeface="Roboto Light"/>
              </a:rPr>
              <a:t>Data Warehousing</a:t>
            </a:r>
          </a:p>
          <a:p>
            <a:pPr marL="171450" indent="-171450">
              <a:buClr>
                <a:srgbClr val="00AB80"/>
              </a:buClr>
              <a:buFont typeface="Arial" panose="020B0604020202020204" pitchFamily="34" charset="0"/>
              <a:buChar char="•"/>
            </a:pPr>
            <a:r>
              <a:rPr lang="en-AU" sz="900" dirty="0">
                <a:latin typeface="Roboto Light"/>
                <a:ea typeface="Roboto Light"/>
                <a:cs typeface="Roboto Light"/>
              </a:rPr>
              <a:t>Data Visualisation</a:t>
            </a:r>
          </a:p>
          <a:p>
            <a:pPr marL="171450" indent="-171450">
              <a:buClr>
                <a:srgbClr val="00AB80"/>
              </a:buClr>
              <a:buFont typeface="Arial" panose="020B0604020202020204" pitchFamily="34" charset="0"/>
              <a:buChar char="•"/>
            </a:pPr>
            <a:r>
              <a:rPr lang="en-AU" sz="900" dirty="0">
                <a:latin typeface="Roboto Light"/>
                <a:ea typeface="Roboto Light"/>
                <a:cs typeface="Roboto Light"/>
              </a:rPr>
              <a:t>Data Engineering</a:t>
            </a:r>
          </a:p>
          <a:p>
            <a:pPr marL="171450" indent="-171450">
              <a:buClr>
                <a:srgbClr val="00AB80"/>
              </a:buClr>
              <a:buFont typeface="Arial" panose="020B0604020202020204" pitchFamily="34" charset="0"/>
              <a:buChar char="•"/>
            </a:pPr>
            <a:r>
              <a:rPr lang="en-AU" sz="900" dirty="0">
                <a:latin typeface="Roboto Light"/>
                <a:ea typeface="Roboto Light"/>
                <a:cs typeface="Roboto Light"/>
              </a:rPr>
              <a:t>Project Delivery</a:t>
            </a:r>
          </a:p>
          <a:p>
            <a:pPr marL="171450" indent="-171450">
              <a:buClr>
                <a:srgbClr val="00AB80"/>
              </a:buClr>
              <a:buFont typeface="Arial" panose="020B0604020202020204" pitchFamily="34" charset="0"/>
              <a:buChar char="•"/>
            </a:pPr>
            <a:r>
              <a:rPr lang="en-AU" sz="900" dirty="0">
                <a:latin typeface="Roboto Light"/>
                <a:ea typeface="Roboto Light"/>
                <a:cs typeface="Roboto Light"/>
              </a:rPr>
              <a:t>Dimensional Data Models</a:t>
            </a:r>
          </a:p>
          <a:p>
            <a:pPr marL="171450" indent="-171450">
              <a:buClr>
                <a:srgbClr val="00AB80"/>
              </a:buClr>
              <a:buFont typeface="Arial" panose="020B0604020202020204" pitchFamily="34" charset="0"/>
              <a:buChar char="•"/>
            </a:pPr>
            <a:r>
              <a:rPr lang="en-AU" sz="900" dirty="0">
                <a:latin typeface="Roboto Light"/>
                <a:ea typeface="Roboto Light"/>
                <a:cs typeface="Roboto Light"/>
              </a:rPr>
              <a:t>Ralph Kimball Methodology</a:t>
            </a:r>
          </a:p>
          <a:p>
            <a:pPr marL="171450" indent="-171450">
              <a:buClr>
                <a:srgbClr val="00AB80"/>
              </a:buClr>
              <a:buFont typeface="Arial" panose="020B0604020202020204" pitchFamily="34" charset="0"/>
              <a:buChar char="•"/>
            </a:pPr>
            <a:r>
              <a:rPr lang="en-AU" sz="900" dirty="0" err="1">
                <a:latin typeface="Roboto Light"/>
                <a:ea typeface="Roboto Light"/>
                <a:cs typeface="Roboto Light"/>
              </a:rPr>
              <a:t>Datamarts</a:t>
            </a:r>
            <a:endParaRPr lang="en-AU" sz="900" dirty="0">
              <a:latin typeface="Roboto Light"/>
              <a:ea typeface="Roboto Light"/>
              <a:cs typeface="Roboto Light"/>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ETL/ELT </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45979" y="1105608"/>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Major Australian Retail &amp; Logistics </a:t>
            </a:r>
            <a:r>
              <a:rPr lang="en-US" sz="1200" b="1" dirty="0" err="1">
                <a:solidFill>
                  <a:srgbClr val="0059FF"/>
                </a:solidFill>
                <a:latin typeface="Roboto"/>
                <a:ea typeface="Roboto"/>
                <a:cs typeface="Roboto"/>
              </a:rPr>
              <a:t>Organisation</a:t>
            </a:r>
            <a:r>
              <a:rPr lang="en-US" sz="1200" b="1" dirty="0">
                <a:solidFill>
                  <a:srgbClr val="0059FF"/>
                </a:solidFill>
                <a:latin typeface="Roboto"/>
                <a:ea typeface="Roboto"/>
                <a:cs typeface="Roboto"/>
              </a:rPr>
              <a:t> </a:t>
            </a:r>
            <a:r>
              <a:rPr lang="en-AU" sz="1200" b="1" dirty="0">
                <a:solidFill>
                  <a:srgbClr val="0059FF"/>
                </a:solidFill>
                <a:latin typeface="Roboto"/>
                <a:ea typeface="Roboto"/>
                <a:cs typeface="Roboto"/>
              </a:rPr>
              <a:t>– Data Modeller</a:t>
            </a:r>
            <a:endParaRPr lang="en-AU" sz="1200" b="1" dirty="0">
              <a:solidFill>
                <a:srgbClr val="0059FF"/>
              </a:solidFill>
              <a:latin typeface="Roboto" panose="02000000000000000000" pitchFamily="2" charset="0"/>
              <a:ea typeface="Roboto" panose="02000000000000000000" pitchFamily="2" charset="0"/>
              <a:cs typeface="Roboto"/>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324046"/>
            <a:ext cx="4533549"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Defined data governance standards and guidelines for the data warehouse models including naming standards, keys and data structure design </a:t>
            </a:r>
          </a:p>
          <a:p>
            <a:r>
              <a:rPr lang="en-AU" sz="1000" dirty="0">
                <a:solidFill>
                  <a:schemeClr val="bg1"/>
                </a:solidFill>
              </a:rPr>
              <a:t>Analysed the business meaning of the data, identified required source files, business keys and established how all the source files are inter-related for Payment, HR and Service Request systems</a:t>
            </a:r>
          </a:p>
          <a:p>
            <a:r>
              <a:rPr lang="en-AU" sz="1000" dirty="0">
                <a:solidFill>
                  <a:schemeClr val="bg1"/>
                </a:solidFill>
              </a:rPr>
              <a:t>Mapped and transformed source data for Payment, HR &amp; Service Request systems to enterprise data model and business consumption layers</a:t>
            </a:r>
          </a:p>
          <a:p>
            <a:r>
              <a:rPr lang="en-AU" sz="1000" dirty="0">
                <a:solidFill>
                  <a:schemeClr val="bg1"/>
                </a:solidFill>
              </a:rPr>
              <a:t>Designed the content and data structure of the conceptual, logical, physical,  business consumption and data vault models across the layers</a:t>
            </a:r>
          </a:p>
          <a:p>
            <a:r>
              <a:rPr lang="en-AU" sz="1000" dirty="0">
                <a:solidFill>
                  <a:schemeClr val="bg1"/>
                </a:solidFill>
              </a:rPr>
              <a:t>Provided knowledge transfer for Information Management topics to data analysts, designers and other team members. </a:t>
            </a: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73156" y="3292096"/>
            <a:ext cx="5029198" cy="1759353"/>
            <a:chOff x="3335753" y="2905774"/>
            <a:chExt cx="5029198" cy="1868762"/>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256179"/>
              <a:ext cx="0" cy="109141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05774"/>
              <a:ext cx="5029198" cy="29422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Australian Utilities Organisation – Senior Data Modeller</a:t>
              </a: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72646"/>
              <a:ext cx="4423172" cy="160189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pPr lvl="0">
                <a:buSzPts val="1050"/>
                <a:tabLst>
                  <a:tab pos="2865755" algn="ctr"/>
                  <a:tab pos="5731510" algn="r"/>
                  <a:tab pos="1620520" algn="l"/>
                  <a:tab pos="2865755" algn="ctr"/>
                  <a:tab pos="3962400" algn="l"/>
                  <a:tab pos="5731510" algn="r"/>
                </a:tabLst>
              </a:pPr>
              <a:r>
                <a:rPr lang="en-AU" sz="1000" dirty="0"/>
                <a:t>Assisted in solution design and developed dimensional data models leveraging Kimball Methodology</a:t>
              </a:r>
            </a:p>
            <a:p>
              <a:pPr lvl="0">
                <a:buSzPts val="1050"/>
                <a:tabLst>
                  <a:tab pos="2865755" algn="ctr"/>
                  <a:tab pos="5731510" algn="r"/>
                  <a:tab pos="1620520" algn="l"/>
                  <a:tab pos="2865755" algn="ctr"/>
                  <a:tab pos="3962400" algn="l"/>
                  <a:tab pos="5731510" algn="r"/>
                </a:tabLst>
              </a:pPr>
              <a:r>
                <a:rPr lang="en-AU" sz="1000" dirty="0"/>
                <a:t>Developed data marts and supported with data engineering, testing and de-bug codes in Azure Cloud Platform</a:t>
              </a:r>
            </a:p>
            <a:p>
              <a:pPr>
                <a:buSzPts val="1050"/>
                <a:tabLst>
                  <a:tab pos="2865755" algn="ctr"/>
                  <a:tab pos="5731510" algn="r"/>
                  <a:tab pos="1620520" algn="l"/>
                  <a:tab pos="2865755" algn="ctr"/>
                  <a:tab pos="3962400" algn="l"/>
                  <a:tab pos="5731510" algn="r"/>
                </a:tabLst>
              </a:pPr>
              <a:r>
                <a:rPr lang="en-AU" sz="1000" dirty="0"/>
                <a:t>Worked in EDW program that supports and enables the delivery of BI reports and dashboards using MicroStrategy in Oracle Exadata</a:t>
              </a:r>
            </a:p>
            <a:p>
              <a:pPr lvl="0">
                <a:buSzPts val="1050"/>
                <a:tabLst>
                  <a:tab pos="2865755" algn="ctr"/>
                  <a:tab pos="5731510" algn="r"/>
                  <a:tab pos="1620520" algn="l"/>
                  <a:tab pos="2865755" algn="ctr"/>
                  <a:tab pos="3962400" algn="l"/>
                  <a:tab pos="5731510" algn="r"/>
                </a:tabLst>
              </a:pPr>
              <a:r>
                <a:rPr lang="en-AU" sz="1000" dirty="0"/>
                <a:t>Extensively worked on ETL projects</a:t>
              </a:r>
            </a:p>
            <a:p>
              <a:pPr lvl="0">
                <a:buSzPts val="1050"/>
                <a:tabLst>
                  <a:tab pos="2865755" algn="ctr"/>
                  <a:tab pos="5731510" algn="r"/>
                  <a:tab pos="1620520" algn="l"/>
                  <a:tab pos="2865755" algn="ctr"/>
                  <a:tab pos="3962400" algn="l"/>
                  <a:tab pos="5731510" algn="r"/>
                </a:tabLst>
              </a:pPr>
              <a:endParaRPr lang="en-AU" sz="1000" dirty="0"/>
            </a:p>
            <a:p>
              <a:pPr lvl="0">
                <a:buSzPts val="1050"/>
                <a:tabLst>
                  <a:tab pos="2865755" algn="ctr"/>
                  <a:tab pos="5731510" algn="r"/>
                  <a:tab pos="1620520" algn="l"/>
                  <a:tab pos="2865755" algn="ctr"/>
                  <a:tab pos="3962400" algn="l"/>
                  <a:tab pos="5731510" algn="r"/>
                </a:tabLst>
              </a:pPr>
              <a:endParaRPr lang="en-AU" sz="1000" dirty="0"/>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latin typeface="Roboto Light"/>
                <a:ea typeface="Roboto Light"/>
                <a:cs typeface="Roboto Light"/>
              </a:rPr>
              <a:t>Education</a:t>
            </a:r>
          </a:p>
          <a:p>
            <a:pPr marL="0" indent="0">
              <a:lnSpc>
                <a:spcPct val="150000"/>
              </a:lnSpc>
              <a:buNone/>
            </a:pPr>
            <a:r>
              <a:rPr lang="en-GB" sz="1200" dirty="0">
                <a:solidFill>
                  <a:srgbClr val="00AB80"/>
                </a:solidFill>
                <a:latin typeface="Roboto Light"/>
                <a:ea typeface="Roboto Light"/>
                <a:cs typeface="Roboto Light"/>
              </a:rPr>
              <a:t>Utilities</a:t>
            </a:r>
          </a:p>
          <a:p>
            <a:pPr marL="0" indent="0">
              <a:lnSpc>
                <a:spcPct val="150000"/>
              </a:lnSpc>
              <a:buNone/>
            </a:pPr>
            <a:r>
              <a:rPr lang="en-GB" sz="1200" dirty="0">
                <a:solidFill>
                  <a:srgbClr val="00AB80"/>
                </a:solidFill>
                <a:latin typeface="Roboto Light"/>
                <a:ea typeface="Roboto Light"/>
                <a:cs typeface="Roboto Light"/>
              </a:rPr>
              <a:t>Automotive</a:t>
            </a:r>
            <a:endParaRPr lang="en-GB" sz="1200" dirty="0">
              <a:solidFill>
                <a:srgbClr val="00AB80"/>
              </a:solidFill>
              <a:cs typeface="Roboto Light"/>
            </a:endParaRPr>
          </a:p>
          <a:p>
            <a:pPr marL="0" indent="0">
              <a:lnSpc>
                <a:spcPct val="150000"/>
              </a:lnSpc>
              <a:buNone/>
            </a:pPr>
            <a:r>
              <a:rPr lang="en-GB" sz="1200" dirty="0">
                <a:solidFill>
                  <a:srgbClr val="00AB80"/>
                </a:solidFill>
              </a:rPr>
              <a:t>Energy </a:t>
            </a:r>
          </a:p>
        </p:txBody>
      </p:sp>
      <p:sp>
        <p:nvSpPr>
          <p:cNvPr id="18" name="TextBox 17">
            <a:extLst>
              <a:ext uri="{FF2B5EF4-FFF2-40B4-BE49-F238E27FC236}">
                <a16:creationId xmlns:a16="http://schemas.microsoft.com/office/drawing/2014/main" id="{73CB256D-A22B-325A-27E1-ACFA6397FB42}"/>
              </a:ext>
            </a:extLst>
          </p:cNvPr>
          <p:cNvSpPr txBox="1"/>
          <p:nvPr/>
        </p:nvSpPr>
        <p:spPr>
          <a:xfrm>
            <a:off x="3358631" y="4817039"/>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Tertiary Education Institution – Senior ETL Developer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7D3E488A-E425-CBAD-B9BC-B59BC8399548}"/>
              </a:ext>
            </a:extLst>
          </p:cNvPr>
          <p:cNvSpPr txBox="1"/>
          <p:nvPr/>
        </p:nvSpPr>
        <p:spPr>
          <a:xfrm>
            <a:off x="3481716" y="5042100"/>
            <a:ext cx="4482791" cy="2554545"/>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Delivered an ETL component of a large project by building a brand-new EDW for the university</a:t>
            </a:r>
          </a:p>
          <a:p>
            <a:r>
              <a:rPr lang="en-AU" dirty="0"/>
              <a:t>Successfully delivered the end-to-end ETL solution, processing data from systems including HRIS, Finance, ERP and CRM</a:t>
            </a:r>
          </a:p>
          <a:p>
            <a:r>
              <a:rPr lang="en-AU" dirty="0"/>
              <a:t>Developed a proof of concept in UNIX &amp; Oracle to process unstructured and semi-structured data from 3rd party systems with XML &amp; JSON files.</a:t>
            </a:r>
          </a:p>
          <a:p>
            <a:r>
              <a:rPr lang="en-AU" dirty="0"/>
              <a:t>Used data quality, integrity frameworks and standards to combine datasets from multiple sources, to implement and manage quality standards while identifying data quality issues and limitations.</a:t>
            </a:r>
          </a:p>
          <a:p>
            <a:r>
              <a:rPr lang="en-AU" dirty="0"/>
              <a:t>Collection, processing, cleaning and transforming of data using data mining, BI and exploratory data analysis (EDA).</a:t>
            </a:r>
          </a:p>
          <a:p>
            <a:r>
              <a:rPr lang="en-AU" dirty="0"/>
              <a:t>Used PL/SQL &amp; SQL to extract patterns and knowledge from structured data sets.</a:t>
            </a:r>
          </a:p>
          <a:p>
            <a:r>
              <a:rPr lang="en-AU" dirty="0"/>
              <a:t>Leveraged technologies such as Oracle Exadata, Erwin, GitLab, Shell Scripting, Jira, Confluence, Liquibase, HP ALM &amp; </a:t>
            </a:r>
            <a:r>
              <a:rPr lang="en-AU" dirty="0" err="1"/>
              <a:t>DbFit</a:t>
            </a:r>
            <a:r>
              <a:rPr lang="en-AU" dirty="0"/>
              <a:t>.</a:t>
            </a:r>
          </a:p>
          <a:p>
            <a:endParaRPr lang="en-AU" dirty="0"/>
          </a:p>
        </p:txBody>
      </p:sp>
      <p:cxnSp>
        <p:nvCxnSpPr>
          <p:cNvPr id="21" name="Straight Connector 20">
            <a:extLst>
              <a:ext uri="{FF2B5EF4-FFF2-40B4-BE49-F238E27FC236}">
                <a16:creationId xmlns:a16="http://schemas.microsoft.com/office/drawing/2014/main" id="{EC8852C0-A4C0-C4EF-5B0D-FC39E5C5BF82}"/>
              </a:ext>
            </a:extLst>
          </p:cNvPr>
          <p:cNvCxnSpPr>
            <a:cxnSpLocks/>
          </p:cNvCxnSpPr>
          <p:nvPr/>
        </p:nvCxnSpPr>
        <p:spPr>
          <a:xfrm>
            <a:off x="3463961" y="5079859"/>
            <a:ext cx="0" cy="226515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F4D10A3-5A55-24DB-4185-810E6F9E11B8}"/>
              </a:ext>
            </a:extLst>
          </p:cNvPr>
          <p:cNvGrpSpPr/>
          <p:nvPr/>
        </p:nvGrpSpPr>
        <p:grpSpPr>
          <a:xfrm>
            <a:off x="8106458" y="3514775"/>
            <a:ext cx="1951941" cy="1569660"/>
            <a:chOff x="8106458" y="2681447"/>
            <a:chExt cx="1951941" cy="1569660"/>
          </a:xfrm>
        </p:grpSpPr>
        <p:cxnSp>
          <p:nvCxnSpPr>
            <p:cNvPr id="9" name="Straight Connector 8">
              <a:extLst>
                <a:ext uri="{FF2B5EF4-FFF2-40B4-BE49-F238E27FC236}">
                  <a16:creationId xmlns:a16="http://schemas.microsoft.com/office/drawing/2014/main" id="{432AA1FD-682C-5852-E279-F70BEA629B42}"/>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B5C0BB-3DE1-8208-F300-779149BE0EE7}"/>
                </a:ext>
              </a:extLst>
            </p:cNvPr>
            <p:cNvSpPr txBox="1"/>
            <p:nvPr/>
          </p:nvSpPr>
          <p:spPr>
            <a:xfrm>
              <a:off x="8106458" y="2681447"/>
              <a:ext cx="1951941" cy="1569660"/>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Scrum Alliance</a:t>
              </a:r>
              <a:r>
                <a:rPr lang="en-GB" sz="1200" dirty="0">
                  <a:solidFill>
                    <a:srgbClr val="00AB80"/>
                  </a:solidFill>
                  <a:effectLst/>
                  <a:latin typeface="Roboto Light" panose="02000000000000000000" pitchFamily="2" charset="0"/>
                  <a:ea typeface="Calibri" panose="020F0502020204030204" pitchFamily="34" charset="0"/>
                </a:rPr>
                <a:t> – Certified </a:t>
              </a:r>
              <a:r>
                <a:rPr lang="en-GB" sz="1200" dirty="0">
                  <a:solidFill>
                    <a:srgbClr val="00AB80"/>
                  </a:solidFill>
                  <a:latin typeface="Roboto Light" panose="02000000000000000000" pitchFamily="2" charset="0"/>
                  <a:ea typeface="Calibri" panose="020F0502020204030204" pitchFamily="34" charset="0"/>
                </a:rPr>
                <a:t>Scrum Master</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Instrumentation Engineering, Siddhartha Engineering College, India </a:t>
              </a:r>
            </a:p>
          </p:txBody>
        </p:sp>
      </p:grpSp>
      <p:sp>
        <p:nvSpPr>
          <p:cNvPr id="24" name="TextBox 23">
            <a:extLst>
              <a:ext uri="{FF2B5EF4-FFF2-40B4-BE49-F238E27FC236}">
                <a16:creationId xmlns:a16="http://schemas.microsoft.com/office/drawing/2014/main" id="{3E0596C0-5AEA-4100-096F-53EA88E3D585}"/>
              </a:ext>
            </a:extLst>
          </p:cNvPr>
          <p:cNvSpPr txBox="1"/>
          <p:nvPr/>
        </p:nvSpPr>
        <p:spPr>
          <a:xfrm>
            <a:off x="244292" y="1593954"/>
            <a:ext cx="2910700" cy="344645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Sudha is a dedicated Data Engineer and Data Modeller with 15 years of experience in developing database applications, designing business intelligence &amp; analytical solutions across different industries, such as Great Western Water, University of Melbourne, Dell, Suncorp, Telstra &amp; many more. </a:t>
            </a:r>
          </a:p>
          <a:p>
            <a:endParaRPr lang="en-AU" dirty="0">
              <a:solidFill>
                <a:schemeClr val="tx1"/>
              </a:solidFill>
            </a:endParaRPr>
          </a:p>
          <a:p>
            <a:r>
              <a:rPr lang="en-AU" dirty="0">
                <a:solidFill>
                  <a:schemeClr val="tx1"/>
                </a:solidFill>
              </a:rPr>
              <a:t>Sudha is a skilled Data Modeller with significant experience with dimensional modelling, Kimball methodology and Data Marts. Sudha has developed successful data solutions leveraging her expertise in Oracle, SQL Server, Databricks and ETL. She has also worked as a Tech Lead for 5 years on data projects and successfully led a team under her guidance to execute and deliver data-driven solutions while also managing stakeholder engagements.</a:t>
            </a:r>
          </a:p>
          <a:p>
            <a:endParaRPr lang="en-AU" dirty="0">
              <a:solidFill>
                <a:schemeClr val="tx1"/>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www.w3.org/XML/1998/namespace"/>
    <ds:schemaRef ds:uri="http://schemas.microsoft.com/office/2006/metadata/properties"/>
    <ds:schemaRef ds:uri="http://schemas.microsoft.com/office/2006/documentManagement/types"/>
    <ds:schemaRef ds:uri="http://purl.org/dc/dcmitype/"/>
    <ds:schemaRef ds:uri="http://schemas.microsoft.com/office/infopath/2007/PartnerControls"/>
    <ds:schemaRef ds:uri="http://purl.org/dc/terms/"/>
    <ds:schemaRef ds:uri="http://purl.org/dc/elements/1.1/"/>
    <ds:schemaRef ds:uri="http://schemas.openxmlformats.org/package/2006/metadata/core-properties"/>
    <ds:schemaRef ds:uri="e52cd9e7-35e5-4bd3-9cab-ca6a63c31e52"/>
    <ds:schemaRef ds:uri="daf93972-1964-4522-aa34-640805a01c3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26C08C06-2D5E-4006-830F-6736BADF9D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9379</TotalTime>
  <Words>541</Words>
  <Application>Microsoft Office PowerPoint</Application>
  <PresentationFormat>Custom</PresentationFormat>
  <Paragraphs>62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Libre Caslon Text</vt:lpstr>
      <vt:lpstr>Roboto</vt:lpstr>
      <vt:lpstr>Roboto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127</cp:revision>
  <dcterms:created xsi:type="dcterms:W3CDTF">2019-12-03T01:50:37Z</dcterms:created>
  <dcterms:modified xsi:type="dcterms:W3CDTF">2024-11-11T22:38:39Z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