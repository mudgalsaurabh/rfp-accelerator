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notesMasterIdLst>
    <p:notesMasterId r:id="rId6"/>
  </p:notesMasterIdLst>
  <p:sldIdLst>
    <p:sldId id="270" r:id="rId5"/>
  </p:sldIdLst>
  <p:sldSz cx="10058400" cy="7772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  <p15:guide id="3" pos="311" userDrawn="1">
          <p15:clr>
            <a:srgbClr val="A4A3A4"/>
          </p15:clr>
        </p15:guide>
        <p15:guide id="4" pos="5994" userDrawn="1">
          <p15:clr>
            <a:srgbClr val="A4A3A4"/>
          </p15:clr>
        </p15:guide>
        <p15:guide id="5" orient="horz" pos="148" userDrawn="1">
          <p15:clr>
            <a:srgbClr val="A4A3A4"/>
          </p15:clr>
        </p15:guide>
        <p15:guide id="6" orient="horz" pos="4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B80"/>
    <a:srgbClr val="0059FF"/>
    <a:srgbClr val="ED7D31"/>
    <a:srgbClr val="A93584"/>
    <a:srgbClr val="0F2B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2750B3-17D4-4300-A5F5-6054A615DF87}" v="390" dt="2025-10-21T00:34:33.1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1404" y="66"/>
      </p:cViewPr>
      <p:guideLst>
        <p:guide orient="horz" pos="2448"/>
        <p:guide pos="3168"/>
        <p:guide pos="311"/>
        <p:guide pos="5994"/>
        <p:guide orient="horz" pos="148"/>
        <p:guide orient="horz" pos="4748"/>
      </p:guideLst>
    </p:cSldViewPr>
  </p:slideViewPr>
  <p:notesTextViewPr>
    <p:cViewPr>
      <p:scale>
        <a:sx n="1" d="1"/>
        <a:sy n="1" d="1"/>
      </p:scale>
      <p:origin x="0" y="-100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cy Roach" userId="ba676ee9-e9b4-49e8-a515-8077106c948d" providerId="ADAL" clId="{491076AF-459F-4660-98D1-05D43B79D51A}"/>
    <pc:docChg chg="undo custSel modSld">
      <pc:chgData name="Darcy Roach" userId="ba676ee9-e9b4-49e8-a515-8077106c948d" providerId="ADAL" clId="{491076AF-459F-4660-98D1-05D43B79D51A}" dt="2025-10-21T00:38:44.138" v="409" actId="1035"/>
      <pc:docMkLst>
        <pc:docMk/>
      </pc:docMkLst>
      <pc:sldChg chg="modSp mod modNotesTx">
        <pc:chgData name="Darcy Roach" userId="ba676ee9-e9b4-49e8-a515-8077106c948d" providerId="ADAL" clId="{491076AF-459F-4660-98D1-05D43B79D51A}" dt="2025-10-21T00:38:44.138" v="409" actId="1035"/>
        <pc:sldMkLst>
          <pc:docMk/>
          <pc:sldMk cId="2009923557" sldId="270"/>
        </pc:sldMkLst>
        <pc:spChg chg="mod">
          <ac:chgData name="Darcy Roach" userId="ba676ee9-e9b4-49e8-a515-8077106c948d" providerId="ADAL" clId="{491076AF-459F-4660-98D1-05D43B79D51A}" dt="2025-10-21T00:34:33.103" v="397" actId="1035"/>
          <ac:spMkLst>
            <pc:docMk/>
            <pc:sldMk cId="2009923557" sldId="270"/>
            <ac:spMk id="4" creationId="{80F49B2F-21D4-F9EB-049F-717A10CB7D84}"/>
          </ac:spMkLst>
        </pc:spChg>
        <pc:spChg chg="mod">
          <ac:chgData name="Darcy Roach" userId="ba676ee9-e9b4-49e8-a515-8077106c948d" providerId="ADAL" clId="{491076AF-459F-4660-98D1-05D43B79D51A}" dt="2025-10-21T00:09:41.819" v="46" actId="20577"/>
          <ac:spMkLst>
            <pc:docMk/>
            <pc:sldMk cId="2009923557" sldId="270"/>
            <ac:spMk id="6" creationId="{701E125D-B356-8A2A-B86B-AB6567CEABE1}"/>
          </ac:spMkLst>
        </pc:spChg>
        <pc:spChg chg="mod">
          <ac:chgData name="Darcy Roach" userId="ba676ee9-e9b4-49e8-a515-8077106c948d" providerId="ADAL" clId="{491076AF-459F-4660-98D1-05D43B79D51A}" dt="2025-10-21T00:28:13.499" v="316" actId="14100"/>
          <ac:spMkLst>
            <pc:docMk/>
            <pc:sldMk cId="2009923557" sldId="270"/>
            <ac:spMk id="8" creationId="{59FEB941-5146-6B10-4E4D-8A4ADE918AEF}"/>
          </ac:spMkLst>
        </pc:spChg>
        <pc:spChg chg="mod">
          <ac:chgData name="Darcy Roach" userId="ba676ee9-e9b4-49e8-a515-8077106c948d" providerId="ADAL" clId="{491076AF-459F-4660-98D1-05D43B79D51A}" dt="2025-10-21T00:34:28.967" v="393" actId="1035"/>
          <ac:spMkLst>
            <pc:docMk/>
            <pc:sldMk cId="2009923557" sldId="270"/>
            <ac:spMk id="14" creationId="{476A2B4B-DF73-B449-C876-B221F898C872}"/>
          </ac:spMkLst>
        </pc:spChg>
        <pc:spChg chg="mod">
          <ac:chgData name="Darcy Roach" userId="ba676ee9-e9b4-49e8-a515-8077106c948d" providerId="ADAL" clId="{491076AF-459F-4660-98D1-05D43B79D51A}" dt="2025-10-21T00:25:31.301" v="242" actId="20577"/>
          <ac:spMkLst>
            <pc:docMk/>
            <pc:sldMk cId="2009923557" sldId="270"/>
            <ac:spMk id="19" creationId="{7513C49A-2DF2-8111-FED4-FC07A8EAD258}"/>
          </ac:spMkLst>
        </pc:spChg>
        <pc:spChg chg="mod">
          <ac:chgData name="Darcy Roach" userId="ba676ee9-e9b4-49e8-a515-8077106c948d" providerId="ADAL" clId="{491076AF-459F-4660-98D1-05D43B79D51A}" dt="2025-10-20T23:52:29.878" v="8" actId="20577"/>
          <ac:spMkLst>
            <pc:docMk/>
            <pc:sldMk cId="2009923557" sldId="270"/>
            <ac:spMk id="22" creationId="{9D4E289E-1D52-CBDD-E381-40963429D7F1}"/>
          </ac:spMkLst>
        </pc:spChg>
        <pc:spChg chg="mod">
          <ac:chgData name="Darcy Roach" userId="ba676ee9-e9b4-49e8-a515-8077106c948d" providerId="ADAL" clId="{491076AF-459F-4660-98D1-05D43B79D51A}" dt="2025-10-21T00:34:25.082" v="387" actId="14100"/>
          <ac:spMkLst>
            <pc:docMk/>
            <pc:sldMk cId="2009923557" sldId="270"/>
            <ac:spMk id="23" creationId="{5D7A612B-9DC7-1D9B-3085-CDB0F937FDB8}"/>
          </ac:spMkLst>
        </pc:spChg>
        <pc:spChg chg="mod">
          <ac:chgData name="Darcy Roach" userId="ba676ee9-e9b4-49e8-a515-8077106c948d" providerId="ADAL" clId="{491076AF-459F-4660-98D1-05D43B79D51A}" dt="2025-10-21T00:33:11.018" v="358" actId="20577"/>
          <ac:spMkLst>
            <pc:docMk/>
            <pc:sldMk cId="2009923557" sldId="270"/>
            <ac:spMk id="26" creationId="{1A3D666D-00C8-D106-73C3-9FF300F8618C}"/>
          </ac:spMkLst>
        </pc:spChg>
        <pc:spChg chg="mod">
          <ac:chgData name="Darcy Roach" userId="ba676ee9-e9b4-49e8-a515-8077106c948d" providerId="ADAL" clId="{491076AF-459F-4660-98D1-05D43B79D51A}" dt="2025-10-21T00:21:32.249" v="233" actId="20577"/>
          <ac:spMkLst>
            <pc:docMk/>
            <pc:sldMk cId="2009923557" sldId="270"/>
            <ac:spMk id="37" creationId="{7AC6B740-BC76-4586-9E2F-95601A4EF15A}"/>
          </ac:spMkLst>
        </pc:spChg>
        <pc:spChg chg="mod">
          <ac:chgData name="Darcy Roach" userId="ba676ee9-e9b4-49e8-a515-8077106c948d" providerId="ADAL" clId="{491076AF-459F-4660-98D1-05D43B79D51A}" dt="2025-10-21T00:38:33.944" v="402" actId="20577"/>
          <ac:spMkLst>
            <pc:docMk/>
            <pc:sldMk cId="2009923557" sldId="270"/>
            <ac:spMk id="38" creationId="{AB47A2EE-BF0B-DB05-8B7C-DB6594B2B3D5}"/>
          </ac:spMkLst>
        </pc:spChg>
        <pc:spChg chg="mod">
          <ac:chgData name="Darcy Roach" userId="ba676ee9-e9b4-49e8-a515-8077106c948d" providerId="ADAL" clId="{491076AF-459F-4660-98D1-05D43B79D51A}" dt="2025-10-21T00:38:44.138" v="409" actId="1035"/>
          <ac:spMkLst>
            <pc:docMk/>
            <pc:sldMk cId="2009923557" sldId="270"/>
            <ac:spMk id="39" creationId="{3EA81938-6A76-B850-B0E8-A5F905AEBA98}"/>
          </ac:spMkLst>
        </pc:spChg>
        <pc:spChg chg="mod">
          <ac:chgData name="Darcy Roach" userId="ba676ee9-e9b4-49e8-a515-8077106c948d" providerId="ADAL" clId="{491076AF-459F-4660-98D1-05D43B79D51A}" dt="2025-10-21T00:26:43.048" v="265" actId="20577"/>
          <ac:spMkLst>
            <pc:docMk/>
            <pc:sldMk cId="2009923557" sldId="270"/>
            <ac:spMk id="175" creationId="{B9775FC7-7124-8CCA-9B1C-7CCD7D3DF384}"/>
          </ac:spMkLst>
        </pc:spChg>
        <pc:grpChg chg="mod">
          <ac:chgData name="Darcy Roach" userId="ba676ee9-e9b4-49e8-a515-8077106c948d" providerId="ADAL" clId="{491076AF-459F-4660-98D1-05D43B79D51A}" dt="2025-10-21T00:38:38.810" v="405" actId="1035"/>
          <ac:grpSpMkLst>
            <pc:docMk/>
            <pc:sldMk cId="2009923557" sldId="270"/>
            <ac:grpSpMk id="5" creationId="{980A06B1-0A2F-7DF6-91DB-0F6DFA896A23}"/>
          </ac:grpSpMkLst>
        </pc:grpChg>
        <pc:grpChg chg="mod">
          <ac:chgData name="Darcy Roach" userId="ba676ee9-e9b4-49e8-a515-8077106c948d" providerId="ADAL" clId="{491076AF-459F-4660-98D1-05D43B79D51A}" dt="2025-10-21T00:28:41.866" v="319" actId="1076"/>
          <ac:grpSpMkLst>
            <pc:docMk/>
            <pc:sldMk cId="2009923557" sldId="270"/>
            <ac:grpSpMk id="9" creationId="{E7DD910D-15D0-5CBC-B70B-D2480ECA3DCA}"/>
          </ac:grpSpMkLst>
        </pc:grpChg>
        <pc:grpChg chg="mod">
          <ac:chgData name="Darcy Roach" userId="ba676ee9-e9b4-49e8-a515-8077106c948d" providerId="ADAL" clId="{491076AF-459F-4660-98D1-05D43B79D51A}" dt="2025-10-21T00:28:53.415" v="320" actId="1076"/>
          <ac:grpSpMkLst>
            <pc:docMk/>
            <pc:sldMk cId="2009923557" sldId="270"/>
            <ac:grpSpMk id="12" creationId="{C465E181-1D5D-D878-8A71-F5848AAF858F}"/>
          </ac:grpSpMkLst>
        </pc:grpChg>
        <pc:grpChg chg="mod">
          <ac:chgData name="Darcy Roach" userId="ba676ee9-e9b4-49e8-a515-8077106c948d" providerId="ADAL" clId="{491076AF-459F-4660-98D1-05D43B79D51A}" dt="2025-10-21T00:29:48.747" v="326" actId="1036"/>
          <ac:grpSpMkLst>
            <pc:docMk/>
            <pc:sldMk cId="2009923557" sldId="270"/>
            <ac:grpSpMk id="32" creationId="{6AB69F4D-1B1F-5018-6237-E2A330883809}"/>
          </ac:grpSpMkLst>
        </pc:grpChg>
        <pc:cxnChg chg="mod">
          <ac:chgData name="Darcy Roach" userId="ba676ee9-e9b4-49e8-a515-8077106c948d" providerId="ADAL" clId="{491076AF-459F-4660-98D1-05D43B79D51A}" dt="2025-10-21T00:27:59.326" v="313" actId="14100"/>
          <ac:cxnSpMkLst>
            <pc:docMk/>
            <pc:sldMk cId="2009923557" sldId="270"/>
            <ac:cxnSpMk id="3" creationId="{67C34E10-2CF8-9BCA-1CC6-D78A3FF9CA80}"/>
          </ac:cxnSpMkLst>
        </pc:cxnChg>
        <pc:cxnChg chg="mod">
          <ac:chgData name="Darcy Roach" userId="ba676ee9-e9b4-49e8-a515-8077106c948d" providerId="ADAL" clId="{491076AF-459F-4660-98D1-05D43B79D51A}" dt="2025-10-21T00:34:14.631" v="386" actId="1038"/>
          <ac:cxnSpMkLst>
            <pc:docMk/>
            <pc:sldMk cId="2009923557" sldId="270"/>
            <ac:cxnSpMk id="27" creationId="{FA56C067-11D9-4FE3-B97E-743BDA13E1DD}"/>
          </ac:cxnSpMkLst>
        </pc:cxnChg>
        <pc:cxnChg chg="mod">
          <ac:chgData name="Darcy Roach" userId="ba676ee9-e9b4-49e8-a515-8077106c948d" providerId="ADAL" clId="{491076AF-459F-4660-98D1-05D43B79D51A}" dt="2025-10-21T00:31:29.364" v="336"/>
          <ac:cxnSpMkLst>
            <pc:docMk/>
            <pc:sldMk cId="2009923557" sldId="270"/>
            <ac:cxnSpMk id="40" creationId="{872A9DC1-BA60-5A54-0907-130AE22B314D}"/>
          </ac:cxnSpMkLst>
        </pc:cxnChg>
        <pc:cxnChg chg="mod">
          <ac:chgData name="Darcy Roach" userId="ba676ee9-e9b4-49e8-a515-8077106c948d" providerId="ADAL" clId="{491076AF-459F-4660-98D1-05D43B79D51A}" dt="2025-10-21T00:29:16.161" v="322" actId="14100"/>
          <ac:cxnSpMkLst>
            <pc:docMk/>
            <pc:sldMk cId="2009923557" sldId="270"/>
            <ac:cxnSpMk id="41" creationId="{F116958F-8831-1601-097B-63AEB928DB85}"/>
          </ac:cxnSpMkLst>
        </pc:cxnChg>
        <pc:cxnChg chg="mod">
          <ac:chgData name="Darcy Roach" userId="ba676ee9-e9b4-49e8-a515-8077106c948d" providerId="ADAL" clId="{491076AF-459F-4660-98D1-05D43B79D51A}" dt="2025-10-21T00:28:26.132" v="318" actId="1038"/>
          <ac:cxnSpMkLst>
            <pc:docMk/>
            <pc:sldMk cId="2009923557" sldId="270"/>
            <ac:cxnSpMk id="170" creationId="{0D51728F-48BB-14BB-256E-5F0C0284BCDF}"/>
          </ac:cxnSpMkLst>
        </pc:cxnChg>
      </pc:sldChg>
    </pc:docChg>
  </pc:docChgLst>
  <pc:docChgLst>
    <pc:chgData name="Darcy Roach" userId="ba676ee9-e9b4-49e8-a515-8077106c948d" providerId="ADAL" clId="{DD09D40C-4007-493E-A8A7-FA02A98392C8}"/>
    <pc:docChg chg="undo redo custSel modSld">
      <pc:chgData name="Darcy Roach" userId="ba676ee9-e9b4-49e8-a515-8077106c948d" providerId="ADAL" clId="{DD09D40C-4007-493E-A8A7-FA02A98392C8}" dt="2025-05-12T23:33:14.714" v="1664" actId="20577"/>
      <pc:docMkLst>
        <pc:docMk/>
      </pc:docMkLst>
      <pc:sldChg chg="addSp delSp modSp mod">
        <pc:chgData name="Darcy Roach" userId="ba676ee9-e9b4-49e8-a515-8077106c948d" providerId="ADAL" clId="{DD09D40C-4007-493E-A8A7-FA02A98392C8}" dt="2025-05-12T23:33:14.714" v="1664" actId="20577"/>
        <pc:sldMkLst>
          <pc:docMk/>
          <pc:sldMk cId="2009923557" sldId="270"/>
        </pc:sldMkLst>
      </pc:sldChg>
    </pc:docChg>
  </pc:docChgLst>
  <pc:docChgLst>
    <pc:chgData name="Hugo Bates" userId="S::hugo.bates@intelia.com.au::ba74953f-2fdb-4aeb-90e3-56b78010c38c" providerId="AD" clId="Web-{77DBCC4A-2AE5-A59B-E67E-D3DF3A5010B8}"/>
    <pc:docChg chg="modSld">
      <pc:chgData name="Hugo Bates" userId="S::hugo.bates@intelia.com.au::ba74953f-2fdb-4aeb-90e3-56b78010c38c" providerId="AD" clId="Web-{77DBCC4A-2AE5-A59B-E67E-D3DF3A5010B8}" dt="2025-05-13T03:45:56.745" v="2"/>
      <pc:docMkLst>
        <pc:docMk/>
      </pc:docMkLst>
      <pc:sldChg chg="addSp delSp modSp">
        <pc:chgData name="Hugo Bates" userId="S::hugo.bates@intelia.com.au::ba74953f-2fdb-4aeb-90e3-56b78010c38c" providerId="AD" clId="Web-{77DBCC4A-2AE5-A59B-E67E-D3DF3A5010B8}" dt="2025-05-13T03:45:56.745" v="2"/>
        <pc:sldMkLst>
          <pc:docMk/>
          <pc:sldMk cId="2009923557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8DF5DE-CD12-4DC8-8600-3B3C540EC07D}" type="datetimeFigureOut">
              <a:rPr lang="en-AU" smtClean="0"/>
              <a:t>21/10/2025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74988" y="857250"/>
            <a:ext cx="299402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FEA82A-1A27-41A4-9870-7AB0FB23B0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6406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Financial Services </a:t>
            </a:r>
            <a:r>
              <a:rPr lang="en-US" dirty="0" err="1"/>
              <a:t>Organisation</a:t>
            </a:r>
            <a:r>
              <a:rPr lang="en-US" dirty="0"/>
              <a:t> – Data Engineer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1200" dirty="0">
                <a:solidFill>
                  <a:schemeClr val="bg1"/>
                </a:solidFill>
              </a:rPr>
              <a:t>Ran spikes and proof of concepts to support the solution design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1200" dirty="0">
                <a:solidFill>
                  <a:schemeClr val="bg1"/>
                </a:solidFill>
              </a:rPr>
              <a:t>Created comprehensive documentation to have the design endorsed by both the engineering team and architect team 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1200" dirty="0">
                <a:solidFill>
                  <a:schemeClr val="bg1"/>
                </a:solidFill>
              </a:rPr>
              <a:t>Implemented the solution design in a non-prod environment and performed testing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1200" dirty="0">
                <a:solidFill>
                  <a:schemeClr val="bg1"/>
                </a:solidFill>
              </a:rPr>
              <a:t>Provided support documentation and guidance to the client tech team and clarified anything required relating to GCP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1200" dirty="0">
                <a:solidFill>
                  <a:schemeClr val="bg1"/>
                </a:solidFill>
              </a:rPr>
              <a:t>Developed streaming data pipeline using </a:t>
            </a:r>
            <a:r>
              <a:rPr lang="en-AU" sz="1200" dirty="0" err="1">
                <a:solidFill>
                  <a:schemeClr val="bg1"/>
                </a:solidFill>
              </a:rPr>
              <a:t>apache</a:t>
            </a:r>
            <a:r>
              <a:rPr lang="en-AU" sz="1200" dirty="0">
                <a:solidFill>
                  <a:schemeClr val="bg1"/>
                </a:solidFill>
              </a:rPr>
              <a:t>-beam (GCP Dataflow) and Confluent Kafka &amp;batch data pipeline using GCP Composer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1200" dirty="0">
                <a:solidFill>
                  <a:schemeClr val="bg1"/>
                </a:solidFill>
              </a:rPr>
              <a:t>Built platform infrastructures using Terraform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AU" sz="1200" dirty="0">
                <a:solidFill>
                  <a:schemeClr val="bg1"/>
                </a:solidFill>
              </a:rPr>
              <a:t>Developed CICD pipeline for application deployment</a:t>
            </a:r>
          </a:p>
          <a:p>
            <a:pPr marL="0" lvl="0" indent="0">
              <a:buSzPts val="1000"/>
              <a:buFont typeface="Arial" panose="020B0604020202020204" pitchFamily="34" charset="0"/>
              <a:buNone/>
              <a:tabLst>
                <a:tab pos="457200" algn="l"/>
              </a:tabLst>
            </a:pPr>
            <a:endParaRPr lang="en-AU" sz="1200" dirty="0">
              <a:solidFill>
                <a:schemeClr val="bg1"/>
              </a:solidFill>
            </a:endParaRPr>
          </a:p>
          <a:p>
            <a:pPr marL="0" lvl="0" indent="0">
              <a:buSzPts val="1000"/>
              <a:buFont typeface="Arial" panose="020B0604020202020204" pitchFamily="34" charset="0"/>
              <a:buNone/>
              <a:tabLst>
                <a:tab pos="457200" algn="l"/>
              </a:tabLst>
            </a:pPr>
            <a:endParaRPr lang="en-AU" sz="1200" dirty="0">
              <a:solidFill>
                <a:schemeClr val="bg1"/>
              </a:solidFill>
            </a:endParaRPr>
          </a:p>
          <a:p>
            <a:pPr marL="0" lvl="0" indent="0">
              <a:buSzPts val="1000"/>
              <a:buFont typeface="Arial" panose="020B0604020202020204" pitchFamily="34" charset="0"/>
              <a:buNone/>
              <a:tabLst>
                <a:tab pos="457200" algn="l"/>
              </a:tabLst>
            </a:pPr>
            <a:r>
              <a:rPr lang="en-AU" sz="1200" dirty="0">
                <a:solidFill>
                  <a:schemeClr val="bg1"/>
                </a:solidFill>
              </a:rPr>
              <a:t>Major Aus supermarket – Sen DE</a:t>
            </a:r>
          </a:p>
          <a:p>
            <a:pPr marL="0" lvl="0" indent="0">
              <a:buSzPts val="1000"/>
              <a:buFont typeface="Arial" panose="020B0604020202020204" pitchFamily="34" charset="0"/>
              <a:buNone/>
              <a:tabLst>
                <a:tab pos="457200" algn="l"/>
              </a:tabLst>
            </a:pPr>
            <a:endParaRPr lang="en-AU" sz="1200" dirty="0">
              <a:solidFill>
                <a:schemeClr val="bg1"/>
              </a:solidFill>
            </a:endParaRPr>
          </a:p>
          <a:p>
            <a:pPr lvl="0">
              <a:buSzPts val="1000"/>
              <a:tabLst>
                <a:tab pos="457200" algn="l"/>
              </a:tabLst>
            </a:pPr>
            <a:r>
              <a:rPr lang="en-AU" sz="1200" dirty="0">
                <a:solidFill>
                  <a:schemeClr val="bg1"/>
                </a:solidFill>
              </a:rPr>
              <a:t>Designed and developed Python ingestion pipelines using Azure DevOps, loading data from Azure Storage to Snowflake</a:t>
            </a:r>
          </a:p>
          <a:p>
            <a:pPr lvl="0">
              <a:buSzPts val="1000"/>
              <a:tabLst>
                <a:tab pos="457200" algn="l"/>
              </a:tabLst>
            </a:pPr>
            <a:r>
              <a:rPr lang="en-AU" sz="1200" dirty="0">
                <a:solidFill>
                  <a:schemeClr val="bg1"/>
                </a:solidFill>
              </a:rPr>
              <a:t>Migrated historical data using COPY INTO in Snowflake</a:t>
            </a:r>
          </a:p>
          <a:p>
            <a:pPr lvl="0">
              <a:buSzPts val="1000"/>
              <a:tabLst>
                <a:tab pos="457200" algn="l"/>
              </a:tabLst>
            </a:pPr>
            <a:r>
              <a:rPr lang="en-AU" sz="1200" dirty="0">
                <a:solidFill>
                  <a:schemeClr val="bg1"/>
                </a:solidFill>
              </a:rPr>
              <a:t>Converted on-prem SQL stored procedures and CTEs into DBT models</a:t>
            </a:r>
          </a:p>
          <a:p>
            <a:pPr lvl="0">
              <a:buSzPts val="1000"/>
              <a:tabLst>
                <a:tab pos="457200" algn="l"/>
              </a:tabLst>
            </a:pPr>
            <a:r>
              <a:rPr lang="en-AU" sz="1200" dirty="0">
                <a:solidFill>
                  <a:schemeClr val="bg1"/>
                </a:solidFill>
              </a:rPr>
              <a:t>Built data products with row-level access policies for security</a:t>
            </a:r>
          </a:p>
          <a:p>
            <a:pPr lvl="0">
              <a:buSzPts val="1000"/>
              <a:tabLst>
                <a:tab pos="457200" algn="l"/>
              </a:tabLst>
            </a:pPr>
            <a:r>
              <a:rPr lang="en-AU" sz="1200" dirty="0">
                <a:solidFill>
                  <a:schemeClr val="bg1"/>
                </a:solidFill>
              </a:rPr>
              <a:t>Provided solutions to complex data challenges while ensuring data quality, accuracy, and regulatory compliance</a:t>
            </a:r>
          </a:p>
          <a:p>
            <a:pPr lvl="0">
              <a:buSzPts val="1000"/>
              <a:tabLst>
                <a:tab pos="457200" algn="l"/>
              </a:tabLst>
            </a:pPr>
            <a:r>
              <a:rPr lang="en-AU" sz="1200" dirty="0">
                <a:solidFill>
                  <a:schemeClr val="bg1"/>
                </a:solidFill>
              </a:rPr>
              <a:t>Streamlined the work process with Python scripts to generate configuration files in YAML and JSON formats, saved time and reduced manual effort</a:t>
            </a:r>
          </a:p>
          <a:p>
            <a:pPr lvl="0">
              <a:buSzPts val="1000"/>
              <a:tabLst>
                <a:tab pos="457200" algn="l"/>
              </a:tabLst>
            </a:pPr>
            <a:r>
              <a:rPr lang="en-AU" sz="1200" dirty="0">
                <a:solidFill>
                  <a:schemeClr val="bg1"/>
                </a:solidFill>
              </a:rPr>
              <a:t>Developed testing scripts to ensure data quality at ingestion</a:t>
            </a:r>
          </a:p>
          <a:p>
            <a:pPr marL="0" lvl="0" indent="0">
              <a:buSzPts val="1000"/>
              <a:buFont typeface="Arial" panose="020B0604020202020204" pitchFamily="34" charset="0"/>
              <a:buNone/>
              <a:tabLst>
                <a:tab pos="457200" algn="l"/>
              </a:tabLst>
            </a:pPr>
            <a:endParaRPr lang="en-AU" sz="1200" dirty="0">
              <a:solidFill>
                <a:schemeClr val="bg1"/>
              </a:solidFill>
            </a:endParaRP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FEA82A-1A27-41A4-9870-7AB0FB23B0A4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1461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3"/>
            <a:ext cx="8549640" cy="2705947"/>
          </a:xfrm>
        </p:spPr>
        <p:txBody>
          <a:bodyPr anchor="b"/>
          <a:lstStyle>
            <a:lvl1pPr algn="ctr"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878" indent="0" algn="ctr">
              <a:buNone/>
              <a:defRPr sz="2200"/>
            </a:lvl2pPr>
            <a:lvl3pPr marL="1005755" indent="0" algn="ctr">
              <a:buNone/>
              <a:defRPr sz="1980"/>
            </a:lvl3pPr>
            <a:lvl4pPr marL="1508634" indent="0" algn="ctr">
              <a:buNone/>
              <a:defRPr sz="1760"/>
            </a:lvl4pPr>
            <a:lvl5pPr marL="2011512" indent="0" algn="ctr">
              <a:buNone/>
              <a:defRPr sz="1760"/>
            </a:lvl5pPr>
            <a:lvl6pPr marL="2514389" indent="0" algn="ctr">
              <a:buNone/>
              <a:defRPr sz="1760"/>
            </a:lvl6pPr>
            <a:lvl7pPr marL="3017267" indent="0" algn="ctr">
              <a:buNone/>
              <a:defRPr sz="1760"/>
            </a:lvl7pPr>
            <a:lvl8pPr marL="3520145" indent="0" algn="ctr">
              <a:buNone/>
              <a:defRPr sz="1760"/>
            </a:lvl8pPr>
            <a:lvl9pPr marL="4023023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2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87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755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634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512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389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267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14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023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3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9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2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20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20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6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5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19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8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19"/>
            </a:lvl1pPr>
            <a:lvl2pPr marL="502878" indent="0">
              <a:buNone/>
              <a:defRPr sz="3080"/>
            </a:lvl2pPr>
            <a:lvl3pPr marL="1005755" indent="0">
              <a:buNone/>
              <a:defRPr sz="2640"/>
            </a:lvl3pPr>
            <a:lvl4pPr marL="1508634" indent="0">
              <a:buNone/>
              <a:defRPr sz="2200"/>
            </a:lvl4pPr>
            <a:lvl5pPr marL="2011512" indent="0">
              <a:buNone/>
              <a:defRPr sz="2200"/>
            </a:lvl5pPr>
            <a:lvl6pPr marL="2514389" indent="0">
              <a:buNone/>
              <a:defRPr sz="2200"/>
            </a:lvl6pPr>
            <a:lvl7pPr marL="3017267" indent="0">
              <a:buNone/>
              <a:defRPr sz="2200"/>
            </a:lvl7pPr>
            <a:lvl8pPr marL="3520145" indent="0">
              <a:buNone/>
              <a:defRPr sz="2200"/>
            </a:lvl8pPr>
            <a:lvl9pPr marL="4023023" indent="0">
              <a:buNone/>
              <a:defRPr sz="2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6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3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4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83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95B98B-9858-C440-9948-61EB8C1DD8B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49682" y="264259"/>
            <a:ext cx="2362366" cy="1413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1">
                <a:lumMod val="75000"/>
              </a:schemeClr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2071" b="1" i="0">
                <a:latin typeface="Libre Caslon Text" panose="02020602060300000004" pitchFamily="18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5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2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057BF-143F-654A-BE61-7BF52D905453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2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1005755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39" indent="-251439" algn="l" defTabSz="1005755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17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195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07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2950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5829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706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584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46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878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75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634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512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89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267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14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023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B2F289A-52B4-2A27-52EA-B05DE2DA93CE}"/>
              </a:ext>
            </a:extLst>
          </p:cNvPr>
          <p:cNvSpPr/>
          <p:nvPr/>
        </p:nvSpPr>
        <p:spPr>
          <a:xfrm>
            <a:off x="0" y="0"/>
            <a:ext cx="3261728" cy="7780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29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7A612B-9DC7-1D9B-3085-CDB0F937FDB8}"/>
              </a:ext>
            </a:extLst>
          </p:cNvPr>
          <p:cNvSpPr/>
          <p:nvPr/>
        </p:nvSpPr>
        <p:spPr>
          <a:xfrm>
            <a:off x="132977" y="5292762"/>
            <a:ext cx="2991223" cy="23588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F49B2F-21D4-F9EB-049F-717A10CB7D84}"/>
              </a:ext>
            </a:extLst>
          </p:cNvPr>
          <p:cNvSpPr txBox="1"/>
          <p:nvPr/>
        </p:nvSpPr>
        <p:spPr>
          <a:xfrm>
            <a:off x="163339" y="5612935"/>
            <a:ext cx="1708621" cy="244682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 algn="l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Databricks</a:t>
            </a:r>
          </a:p>
          <a:p>
            <a:pPr marL="171450" indent="-171450" algn="l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Microsoft </a:t>
            </a:r>
            <a:r>
              <a:rPr lang="en-AU" sz="900" dirty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Azure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Engineering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Reports Analytics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Mining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Artificial Intelligence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Machine Learning</a:t>
            </a: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Migration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Integration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Visualisation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Analytics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Modelling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Business Intelligence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Stakeholder Engagement</a:t>
            </a:r>
          </a:p>
          <a:p>
            <a:pPr>
              <a:buClr>
                <a:srgbClr val="00AB80"/>
              </a:buClr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B9775FC7-7124-8CCA-9B1C-7CCD7D3DF384}"/>
              </a:ext>
            </a:extLst>
          </p:cNvPr>
          <p:cNvSpPr txBox="1"/>
          <p:nvPr/>
        </p:nvSpPr>
        <p:spPr>
          <a:xfrm>
            <a:off x="8118489" y="1456630"/>
            <a:ext cx="1951941" cy="2277547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Big 4 Banks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Energy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Retail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Financial Services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Telecommunications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Sporting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Education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Healthcare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A1CC9E5-C555-4A42-BD2F-52D83986D1E1}"/>
              </a:ext>
            </a:extLst>
          </p:cNvPr>
          <p:cNvSpPr txBox="1"/>
          <p:nvPr/>
        </p:nvSpPr>
        <p:spPr>
          <a:xfrm>
            <a:off x="3411163" y="615950"/>
            <a:ext cx="39338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Selected Project Experience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1DCAD75-9302-C642-9C74-B164C43329B0}"/>
              </a:ext>
            </a:extLst>
          </p:cNvPr>
          <p:cNvCxnSpPr>
            <a:cxnSpLocks/>
          </p:cNvCxnSpPr>
          <p:nvPr/>
        </p:nvCxnSpPr>
        <p:spPr>
          <a:xfrm>
            <a:off x="3414648" y="973546"/>
            <a:ext cx="4285563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picture containing text, clipart, vector graphics&#10;&#10;Description automatically generated">
            <a:extLst>
              <a:ext uri="{FF2B5EF4-FFF2-40B4-BE49-F238E27FC236}">
                <a16:creationId xmlns:a16="http://schemas.microsoft.com/office/drawing/2014/main" id="{450DD9D7-80A5-A592-F4F7-7A26F0024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126" y="209337"/>
            <a:ext cx="1319645" cy="3060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2720C9-A79F-BD7F-E179-674AD67D7892}"/>
              </a:ext>
            </a:extLst>
          </p:cNvPr>
          <p:cNvSpPr txBox="1"/>
          <p:nvPr/>
        </p:nvSpPr>
        <p:spPr>
          <a:xfrm>
            <a:off x="225629" y="120831"/>
            <a:ext cx="2760388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 dirty="0" err="1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Leyin</a:t>
            </a:r>
            <a:endParaRPr lang="en-US" sz="2800" b="1" dirty="0">
              <a:solidFill>
                <a:srgbClr val="00AB8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Chen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DE5051-9F34-F139-742D-4450E5D6591E}"/>
              </a:ext>
            </a:extLst>
          </p:cNvPr>
          <p:cNvSpPr txBox="1"/>
          <p:nvPr/>
        </p:nvSpPr>
        <p:spPr>
          <a:xfrm>
            <a:off x="234576" y="1560956"/>
            <a:ext cx="2916523" cy="325409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US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L</a:t>
            </a:r>
            <a:r>
              <a:rPr lang="en-AU" sz="1000" spc="13" dirty="0" err="1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eyin</a:t>
            </a:r>
            <a:r>
              <a:rPr lang="en-AU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is a Microsoft certified Azure Data Engineer with a demonstrated history of Big Data ingestion and Dimensional Modelling for organisations in various industries including; Financial Services, Retail, Telecommunications and Sports.</a:t>
            </a:r>
          </a:p>
          <a:p>
            <a:pPr>
              <a:lnSpc>
                <a:spcPts val="1500"/>
              </a:lnSpc>
            </a:pPr>
            <a:endParaRPr lang="en-AU" sz="1000" spc="13" dirty="0"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ts val="1500"/>
              </a:lnSpc>
            </a:pPr>
            <a:r>
              <a:rPr lang="en-AU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With over 10 years of IT experience, </a:t>
            </a:r>
            <a:r>
              <a:rPr lang="en-AU" sz="1000" spc="13" dirty="0" err="1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Leyin</a:t>
            </a:r>
            <a:r>
              <a:rPr lang="en-AU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has become highly skilled in self-service data analytics tools/languages (</a:t>
            </a:r>
            <a:r>
              <a:rPr lang="en-AU" sz="1000" spc="13" dirty="0" err="1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eg.</a:t>
            </a:r>
            <a:r>
              <a:rPr lang="en-AU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DBT, SQL, Python) and Microsoft BI Stack and Databases like Informix/MySQL/MS SQL. </a:t>
            </a:r>
            <a:r>
              <a:rPr lang="en-AU" sz="1000" spc="13" dirty="0" err="1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Leyin</a:t>
            </a:r>
            <a:r>
              <a:rPr lang="en-AU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is also a strong engineering professional, she specialises in Machine Learning and Data Mining. An excellent team player, </a:t>
            </a:r>
            <a:r>
              <a:rPr lang="en-AU" sz="1000" spc="13" dirty="0" err="1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Leyin</a:t>
            </a:r>
            <a:r>
              <a:rPr lang="en-AU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displays terrific communication, and interpersonal skills to interact and build rapport with client teams to support her strong technical expertise.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A87E2-F657-C1C6-3715-B7C8A7F1E050}"/>
              </a:ext>
            </a:extLst>
          </p:cNvPr>
          <p:cNvSpPr txBox="1"/>
          <p:nvPr/>
        </p:nvSpPr>
        <p:spPr>
          <a:xfrm>
            <a:off x="152027" y="1239722"/>
            <a:ext cx="5029200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b="1" spc="13">
                <a:solidFill>
                  <a:srgbClr val="00AB8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Profile</a:t>
            </a:r>
            <a:endParaRPr lang="en-US" sz="400" b="1" spc="13">
              <a:solidFill>
                <a:srgbClr val="00AB80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4E289E-1D52-CBDD-E381-40963429D7F1}"/>
              </a:ext>
            </a:extLst>
          </p:cNvPr>
          <p:cNvSpPr txBox="1"/>
          <p:nvPr/>
        </p:nvSpPr>
        <p:spPr>
          <a:xfrm>
            <a:off x="240984" y="978708"/>
            <a:ext cx="2489720" cy="2180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spc="13" dirty="0">
                <a:solidFill>
                  <a:schemeClr val="bg1">
                    <a:lumMod val="50000"/>
                  </a:schemeClr>
                </a:solidFill>
                <a:latin typeface="Roboto Light"/>
                <a:ea typeface="Roboto Light"/>
                <a:cs typeface="Lato"/>
              </a:rPr>
              <a:t>Senior Consultant</a:t>
            </a:r>
            <a:endParaRPr lang="en-US" sz="1400" spc="13" dirty="0">
              <a:solidFill>
                <a:schemeClr val="bg1">
                  <a:lumMod val="50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3D666D-00C8-D106-73C3-9FF300F8618C}"/>
              </a:ext>
            </a:extLst>
          </p:cNvPr>
          <p:cNvSpPr txBox="1"/>
          <p:nvPr/>
        </p:nvSpPr>
        <p:spPr>
          <a:xfrm>
            <a:off x="1786077" y="5503409"/>
            <a:ext cx="1510046" cy="230832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 b="0" i="0" u="none" strike="noStrike" baseline="0">
                <a:solidFill>
                  <a:srgbClr val="000000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endParaRPr lang="en-AU" dirty="0"/>
          </a:p>
          <a:p>
            <a:r>
              <a:rPr lang="en-AU" dirty="0"/>
              <a:t>AWS</a:t>
            </a:r>
          </a:p>
          <a:p>
            <a:r>
              <a:rPr lang="en-AU" dirty="0"/>
              <a:t>Snowflake</a:t>
            </a:r>
          </a:p>
          <a:p>
            <a:r>
              <a:rPr lang="en-AU" dirty="0"/>
              <a:t>Tableau</a:t>
            </a:r>
          </a:p>
          <a:p>
            <a:r>
              <a:rPr lang="en-AU" dirty="0"/>
              <a:t>Power BI</a:t>
            </a:r>
          </a:p>
          <a:p>
            <a:r>
              <a:rPr lang="en-AU" dirty="0"/>
              <a:t>Oracle</a:t>
            </a:r>
          </a:p>
          <a:p>
            <a:r>
              <a:rPr lang="en-AU" dirty="0"/>
              <a:t>SQL</a:t>
            </a:r>
          </a:p>
          <a:p>
            <a:r>
              <a:rPr lang="en-AU" dirty="0"/>
              <a:t>Python</a:t>
            </a:r>
          </a:p>
          <a:p>
            <a:r>
              <a:rPr lang="en-AU" dirty="0"/>
              <a:t>DBT</a:t>
            </a:r>
          </a:p>
          <a:p>
            <a:r>
              <a:rPr lang="en-AU" dirty="0"/>
              <a:t>GIT/</a:t>
            </a:r>
            <a:r>
              <a:rPr lang="en-AU" dirty="0" err="1"/>
              <a:t>Github</a:t>
            </a:r>
            <a:endParaRPr lang="en-AU" dirty="0"/>
          </a:p>
          <a:p>
            <a:r>
              <a:rPr lang="en-AU" dirty="0"/>
              <a:t>Linux</a:t>
            </a:r>
          </a:p>
          <a:p>
            <a:r>
              <a:rPr lang="en-AU" dirty="0"/>
              <a:t>Microsoft BI (SSIS)</a:t>
            </a:r>
          </a:p>
          <a:p>
            <a:r>
              <a:rPr lang="en-AU" dirty="0"/>
              <a:t>IBM Cognos BI </a:t>
            </a:r>
          </a:p>
          <a:p>
            <a:r>
              <a:rPr lang="en-AU" dirty="0"/>
              <a:t>Redshift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A56C067-11D9-4FE3-B97E-743BDA13E1D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59351" y="6641662"/>
            <a:ext cx="1809412" cy="0"/>
          </a:xfrm>
          <a:prstGeom prst="line">
            <a:avLst/>
          </a:prstGeom>
          <a:ln w="1270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A picture containing icon&#10;&#10;Description automatically generated">
            <a:extLst>
              <a:ext uri="{FF2B5EF4-FFF2-40B4-BE49-F238E27FC236}">
                <a16:creationId xmlns:a16="http://schemas.microsoft.com/office/drawing/2014/main" id="{20B94328-DB79-FB55-B636-C97F5174B4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3252" y="7214782"/>
            <a:ext cx="1187809" cy="47988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EA81938-6A76-B850-B0E8-A5F905AEBA98}"/>
              </a:ext>
            </a:extLst>
          </p:cNvPr>
          <p:cNvSpPr txBox="1"/>
          <p:nvPr/>
        </p:nvSpPr>
        <p:spPr>
          <a:xfrm>
            <a:off x="8192705" y="3779748"/>
            <a:ext cx="164872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Certification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6EB3CB7-14B5-2B9E-400D-049800DFED74}"/>
              </a:ext>
            </a:extLst>
          </p:cNvPr>
          <p:cNvSpPr txBox="1"/>
          <p:nvPr/>
        </p:nvSpPr>
        <p:spPr>
          <a:xfrm>
            <a:off x="3414648" y="116660"/>
            <a:ext cx="546319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Consultant Profile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D51728F-48BB-14BB-256E-5F0C0284BCDF}"/>
              </a:ext>
            </a:extLst>
          </p:cNvPr>
          <p:cNvCxnSpPr>
            <a:cxnSpLocks/>
          </p:cNvCxnSpPr>
          <p:nvPr/>
        </p:nvCxnSpPr>
        <p:spPr>
          <a:xfrm flipV="1">
            <a:off x="8056977" y="957777"/>
            <a:ext cx="0" cy="617667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994303C8-DFEA-5175-3E9D-3727861435B6}"/>
              </a:ext>
            </a:extLst>
          </p:cNvPr>
          <p:cNvSpPr txBox="1"/>
          <p:nvPr/>
        </p:nvSpPr>
        <p:spPr>
          <a:xfrm>
            <a:off x="8216224" y="880726"/>
            <a:ext cx="139204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Industry</a:t>
            </a:r>
          </a:p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Experience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D64658-1F62-2EE9-AB01-2FD4F7E2D84D}"/>
              </a:ext>
            </a:extLst>
          </p:cNvPr>
          <p:cNvCxnSpPr>
            <a:cxnSpLocks/>
          </p:cNvCxnSpPr>
          <p:nvPr/>
        </p:nvCxnSpPr>
        <p:spPr>
          <a:xfrm>
            <a:off x="8216224" y="1453698"/>
            <a:ext cx="1558988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80A06B1-0A2F-7DF6-91DB-0F6DFA896A23}"/>
              </a:ext>
            </a:extLst>
          </p:cNvPr>
          <p:cNvGrpSpPr/>
          <p:nvPr/>
        </p:nvGrpSpPr>
        <p:grpSpPr>
          <a:xfrm>
            <a:off x="8106458" y="3999297"/>
            <a:ext cx="1963972" cy="3285515"/>
            <a:chOff x="8106458" y="2681447"/>
            <a:chExt cx="1963972" cy="3285515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72A9DC1-BA60-5A54-0907-130AE22B314D}"/>
                </a:ext>
              </a:extLst>
            </p:cNvPr>
            <p:cNvCxnSpPr>
              <a:cxnSpLocks/>
            </p:cNvCxnSpPr>
            <p:nvPr/>
          </p:nvCxnSpPr>
          <p:spPr>
            <a:xfrm>
              <a:off x="8192160" y="2773308"/>
              <a:ext cx="1734788" cy="0"/>
            </a:xfrm>
            <a:prstGeom prst="line">
              <a:avLst/>
            </a:prstGeom>
            <a:ln w="19050">
              <a:solidFill>
                <a:srgbClr val="00AB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47A2EE-BF0B-DB05-8B7C-DB6594B2B3D5}"/>
                </a:ext>
              </a:extLst>
            </p:cNvPr>
            <p:cNvSpPr txBox="1"/>
            <p:nvPr/>
          </p:nvSpPr>
          <p:spPr>
            <a:xfrm>
              <a:off x="8106458" y="2681447"/>
              <a:ext cx="1963972" cy="32855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tabLst>
                  <a:tab pos="3819525" algn="l"/>
                  <a:tab pos="3895725" algn="l"/>
                </a:tabLst>
              </a:pPr>
              <a:endParaRPr lang="en-AU" sz="1200" dirty="0">
                <a:solidFill>
                  <a:srgbClr val="00AB8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15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Databricks | Certified Data Engineer Professional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15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15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Databricks | Lakehouse Fundamentals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15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15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Microsoft</a:t>
              </a:r>
              <a:r>
                <a:rPr lang="en-GB" sz="115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 Certified | </a:t>
              </a:r>
              <a:r>
                <a:rPr lang="en-GB" sz="115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Azure</a:t>
              </a:r>
              <a:r>
                <a:rPr lang="en-GB" sz="115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 Data Engineer Associate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15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15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DBT | Learn Fundamentals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15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15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Master - Business Information Systems,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15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Monash University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15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15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Bachelor</a:t>
              </a:r>
              <a:r>
                <a:rPr lang="en-GB" sz="115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 -  Computer Science and Technology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465E181-1D5D-D878-8A71-F5848AAF858F}"/>
              </a:ext>
            </a:extLst>
          </p:cNvPr>
          <p:cNvGrpSpPr/>
          <p:nvPr/>
        </p:nvGrpSpPr>
        <p:grpSpPr>
          <a:xfrm>
            <a:off x="3397875" y="4642474"/>
            <a:ext cx="4673655" cy="1309203"/>
            <a:chOff x="3335753" y="4934276"/>
            <a:chExt cx="4673655" cy="1309203"/>
          </a:xfrm>
        </p:grpSpPr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E52FDF9F-B084-9074-7DB9-539AD5456487}"/>
                </a:ext>
              </a:extLst>
            </p:cNvPr>
            <p:cNvGrpSpPr/>
            <p:nvPr/>
          </p:nvGrpSpPr>
          <p:grpSpPr>
            <a:xfrm>
              <a:off x="3417258" y="5227816"/>
              <a:ext cx="4592150" cy="1015663"/>
              <a:chOff x="5019112" y="2126794"/>
              <a:chExt cx="4905126" cy="1015663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6312B81-BCF1-2796-C112-3DBE0E02F483}"/>
                  </a:ext>
                </a:extLst>
              </p:cNvPr>
              <p:cNvSpPr txBox="1"/>
              <p:nvPr/>
            </p:nvSpPr>
            <p:spPr>
              <a:xfrm>
                <a:off x="5059474" y="2126794"/>
                <a:ext cx="4864764" cy="1015663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>
                <a:defPPr>
                  <a:defRPr lang="en-US"/>
                </a:defPPr>
                <a:lvl1pPr marL="171450" indent="-171450">
                  <a:buClr>
                    <a:srgbClr val="00AB80"/>
                  </a:buClr>
                  <a:buFont typeface="Arial" panose="020B0604020202020204" pitchFamily="34" charset="0"/>
                  <a:buChar char="•"/>
                  <a:defRPr sz="90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defRPr>
                </a:lvl1pPr>
              </a:lstStyle>
              <a:p>
                <a:pPr>
                  <a:buSzPts val="1000"/>
                  <a:tabLst>
                    <a:tab pos="457200" algn="l"/>
                  </a:tabLst>
                </a:pPr>
                <a:endParaRPr lang="en-AU" sz="1000" dirty="0"/>
              </a:p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 dirty="0"/>
                  <a:t>Analysed big data and transformed insights into actionable Tableau reports using Kimball modelling</a:t>
                </a:r>
              </a:p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 dirty="0"/>
                  <a:t>Reconciled financial billing and KPI metrics for accurate Salesforce transactions</a:t>
                </a:r>
              </a:p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 dirty="0"/>
                  <a:t>Supported marketing teams with high-quality customer journey reports</a:t>
                </a: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87F05F2-DA4C-4F55-A5D0-1887110DF1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19112" y="2362868"/>
                <a:ext cx="0" cy="700548"/>
              </a:xfrm>
              <a:prstGeom prst="line">
                <a:avLst/>
              </a:prstGeom>
              <a:ln w="19050">
                <a:solidFill>
                  <a:srgbClr val="A9358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FA774CA-3857-9308-4D38-9414B0CC2B95}"/>
                </a:ext>
              </a:extLst>
            </p:cNvPr>
            <p:cNvSpPr txBox="1"/>
            <p:nvPr/>
          </p:nvSpPr>
          <p:spPr>
            <a:xfrm>
              <a:off x="3335753" y="4934276"/>
              <a:ext cx="46512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AU" sz="1200" b="1" dirty="0">
                <a:solidFill>
                  <a:srgbClr val="A93584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r>
                <a:rPr lang="en-AU" sz="1200" b="1" dirty="0">
                  <a:solidFill>
                    <a:srgbClr val="A93584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Major Telecommunications Organisation – BI Specialist 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76A2B4B-DF73-B449-C876-B221F898C872}"/>
              </a:ext>
            </a:extLst>
          </p:cNvPr>
          <p:cNvSpPr txBox="1"/>
          <p:nvPr/>
        </p:nvSpPr>
        <p:spPr>
          <a:xfrm>
            <a:off x="-19943" y="5321625"/>
            <a:ext cx="2552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Key Skills &amp; Technologies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BBEF8AB-50F3-A0AA-9946-9CFF5A8CFABB}"/>
              </a:ext>
            </a:extLst>
          </p:cNvPr>
          <p:cNvGrpSpPr/>
          <p:nvPr/>
        </p:nvGrpSpPr>
        <p:grpSpPr>
          <a:xfrm>
            <a:off x="3359463" y="982605"/>
            <a:ext cx="4759026" cy="2355854"/>
            <a:chOff x="3321267" y="1094557"/>
            <a:chExt cx="4759026" cy="2355854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67C34E10-2CF8-9BCA-1CC6-D78A3FF9CA80}"/>
                </a:ext>
              </a:extLst>
            </p:cNvPr>
            <p:cNvCxnSpPr>
              <a:cxnSpLocks/>
            </p:cNvCxnSpPr>
            <p:nvPr/>
          </p:nvCxnSpPr>
          <p:spPr>
            <a:xfrm>
              <a:off x="3428143" y="1405555"/>
              <a:ext cx="0" cy="1955206"/>
            </a:xfrm>
            <a:prstGeom prst="line">
              <a:avLst/>
            </a:prstGeom>
            <a:ln w="19050">
              <a:solidFill>
                <a:srgbClr val="0059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01E125D-B356-8A2A-B86B-AB6567CEABE1}"/>
                </a:ext>
              </a:extLst>
            </p:cNvPr>
            <p:cNvSpPr txBox="1"/>
            <p:nvPr/>
          </p:nvSpPr>
          <p:spPr>
            <a:xfrm>
              <a:off x="3321267" y="1094557"/>
              <a:ext cx="43728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rgbClr val="0059FF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Australian Energy </a:t>
              </a:r>
              <a:r>
                <a:rPr lang="en-US" sz="1200" b="1" dirty="0" err="1">
                  <a:solidFill>
                    <a:srgbClr val="0059FF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Organisation</a:t>
              </a:r>
              <a:r>
                <a:rPr lang="en-US" sz="1200" b="1" dirty="0">
                  <a:solidFill>
                    <a:srgbClr val="0059FF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– Senior Data Engineer</a:t>
              </a:r>
            </a:p>
            <a:p>
              <a:endParaRPr lang="en-AU" sz="1200" b="1" dirty="0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9FEB941-5146-6B10-4E4D-8A4ADE918AEF}"/>
                </a:ext>
              </a:extLst>
            </p:cNvPr>
            <p:cNvSpPr txBox="1"/>
            <p:nvPr/>
          </p:nvSpPr>
          <p:spPr>
            <a:xfrm>
              <a:off x="3463961" y="1357530"/>
              <a:ext cx="4616332" cy="2092881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 marL="0" lvl="0" indent="0">
                <a:buSzPts val="1000"/>
                <a:buNone/>
                <a:tabLst>
                  <a:tab pos="457200" algn="l"/>
                </a:tabLst>
              </a:pPr>
              <a:r>
                <a:rPr lang="en-AU" sz="1000" dirty="0">
                  <a:solidFill>
                    <a:schemeClr val="bg1"/>
                  </a:solidFill>
                </a:rPr>
                <a:t>Migrated legacy SSRS reports to Power BI paginated reports to modernise the reporting environment, improve maintainability, and integrate analytics within the Power BI Service.</a:t>
              </a:r>
            </a:p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 dirty="0">
                  <a:solidFill>
                    <a:schemeClr val="bg1"/>
                  </a:solidFill>
                </a:rPr>
                <a:t>Successfully migrated 42 SSRS reports to Power BI Paginated Reports with full functional and visual consistency</a:t>
              </a:r>
            </a:p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 dirty="0">
                  <a:solidFill>
                    <a:schemeClr val="bg1"/>
                  </a:solidFill>
                </a:rPr>
                <a:t>Enhanced report performance through SQL query optimisation and streamlined data source design</a:t>
              </a:r>
            </a:p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 dirty="0">
                  <a:solidFill>
                    <a:schemeClr val="bg1"/>
                  </a:solidFill>
                </a:rPr>
                <a:t>Implemented report migration, optimisation, and validation</a:t>
              </a:r>
            </a:p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 dirty="0">
                  <a:solidFill>
                    <a:schemeClr val="bg1"/>
                  </a:solidFill>
                </a:rPr>
                <a:t>Rebuilt and optimised complex SQL queries and stored procedures for a paginated report dataset</a:t>
              </a:r>
            </a:p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 dirty="0">
                  <a:solidFill>
                    <a:schemeClr val="bg1"/>
                  </a:solidFill>
                </a:rPr>
                <a:t>Collaborated with business users to ensure accuracy of data logic and compliance with reporting standards</a:t>
              </a:r>
            </a:p>
            <a:p>
              <a:pPr lvl="0">
                <a:buSzPts val="1000"/>
                <a:tabLst>
                  <a:tab pos="457200" algn="l"/>
                </a:tabLst>
              </a:pPr>
              <a:r>
                <a:rPr lang="en-AU" sz="1000" dirty="0">
                  <a:solidFill>
                    <a:schemeClr val="bg1"/>
                  </a:solidFill>
                </a:rPr>
                <a:t>Support and documentation for report maintenance and future improvement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7DD910D-15D0-5CBC-B70B-D2480ECA3DCA}"/>
              </a:ext>
            </a:extLst>
          </p:cNvPr>
          <p:cNvGrpSpPr/>
          <p:nvPr/>
        </p:nvGrpSpPr>
        <p:grpSpPr>
          <a:xfrm>
            <a:off x="3354982" y="3302690"/>
            <a:ext cx="4683934" cy="1556133"/>
            <a:chOff x="3303046" y="6194352"/>
            <a:chExt cx="4709988" cy="1652261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059F888-3BDF-A1C0-65E5-CB6FDD43D97C}"/>
                </a:ext>
              </a:extLst>
            </p:cNvPr>
            <p:cNvSpPr txBox="1"/>
            <p:nvPr/>
          </p:nvSpPr>
          <p:spPr>
            <a:xfrm>
              <a:off x="3303046" y="6194352"/>
              <a:ext cx="4427756" cy="4901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rgbClr val="ED7D3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Australian Big 4 Bank – Senior Data Engineer</a:t>
              </a:r>
            </a:p>
            <a:p>
              <a:endParaRPr lang="en-AU" sz="1200" b="1" dirty="0">
                <a:solidFill>
                  <a:srgbClr val="ED7D3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0B3FDFC-4A78-346F-E1D4-E183BEB90A60}"/>
                </a:ext>
              </a:extLst>
            </p:cNvPr>
            <p:cNvGrpSpPr/>
            <p:nvPr/>
          </p:nvGrpSpPr>
          <p:grpSpPr>
            <a:xfrm>
              <a:off x="3428144" y="6441420"/>
              <a:ext cx="4584890" cy="1405193"/>
              <a:chOff x="5023753" y="4494578"/>
              <a:chExt cx="4757437" cy="1405193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513C49A-2DF2-8111-FED4-FC07A8EAD258}"/>
                  </a:ext>
                </a:extLst>
              </p:cNvPr>
              <p:cNvSpPr txBox="1"/>
              <p:nvPr/>
            </p:nvSpPr>
            <p:spPr>
              <a:xfrm>
                <a:off x="5059474" y="4494578"/>
                <a:ext cx="4721716" cy="1405193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>
                <a:defPPr>
                  <a:defRPr lang="en-US"/>
                </a:defPPr>
                <a:lvl1pPr marL="171450" indent="-171450">
                  <a:buClr>
                    <a:srgbClr val="00AB80"/>
                  </a:buClr>
                  <a:buFont typeface="Arial" panose="020B0604020202020204" pitchFamily="34" charset="0"/>
                  <a:buChar char="•"/>
                  <a:defRPr sz="90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defRPr>
                </a:lvl1pPr>
              </a:lstStyle>
              <a:p>
                <a:r>
                  <a:rPr lang="en-AU" sz="1000" dirty="0"/>
                  <a:t>Added audit columns across ~430 tables in Databricks’ Silver conformance layer for region-based separation</a:t>
                </a:r>
              </a:p>
              <a:p>
                <a:r>
                  <a:rPr lang="en-AU" sz="1000" dirty="0"/>
                  <a:t>Modified data manipulation languages to transform data into structured formats</a:t>
                </a:r>
              </a:p>
              <a:p>
                <a:r>
                  <a:rPr lang="en-AU" sz="1000" dirty="0"/>
                  <a:t>Troubleshot and resolved issues with the SCD2 process</a:t>
                </a:r>
              </a:p>
              <a:p>
                <a:r>
                  <a:rPr lang="en-AU" sz="1000" dirty="0"/>
                  <a:t>Designed and executed unit tests to ensure functionality and compliance</a:t>
                </a:r>
              </a:p>
              <a:p>
                <a:r>
                  <a:rPr lang="en-AU" sz="1000" dirty="0"/>
                  <a:t>Collaborated with cross-functional teams to derive insights and support business decisions</a:t>
                </a:r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B0913DE4-461D-CE43-AABC-C4B3D7D22F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23753" y="4579160"/>
                <a:ext cx="0" cy="1218496"/>
              </a:xfrm>
              <a:prstGeom prst="line">
                <a:avLst/>
              </a:prstGeom>
              <a:ln w="19050">
                <a:solidFill>
                  <a:srgbClr val="ED7D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AB69F4D-1B1F-5018-6237-E2A330883809}"/>
              </a:ext>
            </a:extLst>
          </p:cNvPr>
          <p:cNvGrpSpPr/>
          <p:nvPr/>
        </p:nvGrpSpPr>
        <p:grpSpPr>
          <a:xfrm>
            <a:off x="3402944" y="5799935"/>
            <a:ext cx="4673655" cy="1924756"/>
            <a:chOff x="3335753" y="4934276"/>
            <a:chExt cx="4673655" cy="1924756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3FAB44C-8B4C-2A44-D7D8-AC1C18F5CE5A}"/>
                </a:ext>
              </a:extLst>
            </p:cNvPr>
            <p:cNvGrpSpPr/>
            <p:nvPr/>
          </p:nvGrpSpPr>
          <p:grpSpPr>
            <a:xfrm>
              <a:off x="3417258" y="5227816"/>
              <a:ext cx="4592150" cy="1631216"/>
              <a:chOff x="5019112" y="2126794"/>
              <a:chExt cx="4905126" cy="1631216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AC6B740-BC76-4586-9E2F-95601A4EF15A}"/>
                  </a:ext>
                </a:extLst>
              </p:cNvPr>
              <p:cNvSpPr txBox="1"/>
              <p:nvPr/>
            </p:nvSpPr>
            <p:spPr>
              <a:xfrm>
                <a:off x="5059474" y="2126794"/>
                <a:ext cx="4864764" cy="1631216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>
                <a:defPPr>
                  <a:defRPr lang="en-US"/>
                </a:defPPr>
                <a:lvl1pPr marL="171450" indent="-171450">
                  <a:buClr>
                    <a:srgbClr val="00AB80"/>
                  </a:buClr>
                  <a:buFont typeface="Arial" panose="020B0604020202020204" pitchFamily="34" charset="0"/>
                  <a:buChar char="•"/>
                  <a:defRPr sz="90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defRPr>
                </a:lvl1pPr>
              </a:lstStyle>
              <a:p>
                <a:pPr>
                  <a:buSzPts val="1000"/>
                  <a:tabLst>
                    <a:tab pos="457200" algn="l"/>
                  </a:tabLst>
                </a:pPr>
                <a:endParaRPr lang="en-AU" sz="1000" dirty="0"/>
              </a:p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 dirty="0"/>
                  <a:t>Developed change strategies and optimised technology investments through planning and stakeholder collaboration</a:t>
                </a:r>
              </a:p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 dirty="0"/>
                  <a:t>Established governance for information lifecycle management, data stewardship, and security</a:t>
                </a:r>
              </a:p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 dirty="0"/>
                  <a:t>Migrated data from legacy systems, integrating with APIs such as BigCommerce, Salesforce, and </a:t>
                </a:r>
                <a:r>
                  <a:rPr lang="en-AU" sz="1000" dirty="0" err="1"/>
                  <a:t>Skyvia</a:t>
                </a:r>
                <a:endParaRPr lang="en-AU" sz="1000" dirty="0"/>
              </a:p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 dirty="0"/>
                  <a:t>Designed and implemented large-scale data pipelines using SSIS</a:t>
                </a:r>
              </a:p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 dirty="0"/>
                  <a:t>Built data capabilities enabling rapid consumption on Sisense reports</a:t>
                </a:r>
              </a:p>
              <a:p>
                <a:pPr>
                  <a:buSzPts val="1000"/>
                  <a:tabLst>
                    <a:tab pos="457200" algn="l"/>
                  </a:tabLst>
                </a:pPr>
                <a:r>
                  <a:rPr lang="en-AU" sz="1000" dirty="0"/>
                  <a:t>Maintained documentation on Confluence for knowledge sharing</a:t>
                </a:r>
              </a:p>
            </p:txBody>
          </p: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F116958F-8831-1601-097B-63AEB928DB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19112" y="2373501"/>
                <a:ext cx="0" cy="1249218"/>
              </a:xfrm>
              <a:prstGeom prst="line">
                <a:avLst/>
              </a:prstGeom>
              <a:ln w="19050">
                <a:solidFill>
                  <a:srgbClr val="00AB8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87CAC3D-5B47-AD6C-2C6E-137F87E0B5F1}"/>
                </a:ext>
              </a:extLst>
            </p:cNvPr>
            <p:cNvSpPr txBox="1"/>
            <p:nvPr/>
          </p:nvSpPr>
          <p:spPr>
            <a:xfrm>
              <a:off x="3335753" y="4934276"/>
              <a:ext cx="46512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AU" sz="12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r>
                <a:rPr lang="en-AU" sz="1200" b="1" dirty="0">
                  <a:solidFill>
                    <a:srgbClr val="00AB8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Leading Sports Software Organisation – Data Engineer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09923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EC79307BDF4295C10AC82BCAE190" ma:contentTypeVersion="12" ma:contentTypeDescription="Create a new document." ma:contentTypeScope="" ma:versionID="0f0308aefe13974c65752fd3353aedfb">
  <xsd:schema xmlns:xsd="http://www.w3.org/2001/XMLSchema" xmlns:xs="http://www.w3.org/2001/XMLSchema" xmlns:p="http://schemas.microsoft.com/office/2006/metadata/properties" xmlns:ns2="daf93972-1964-4522-aa34-640805a01c3a" xmlns:ns3="e52cd9e7-35e5-4bd3-9cab-ca6a63c31e52" targetNamespace="http://schemas.microsoft.com/office/2006/metadata/properties" ma:root="true" ma:fieldsID="aba3c788a807feaf6f638ceb175dbe8c" ns2:_="" ns3:_="">
    <xsd:import namespace="daf93972-1964-4522-aa34-640805a01c3a"/>
    <xsd:import namespace="e52cd9e7-35e5-4bd3-9cab-ca6a63c31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f93972-1964-4522-aa34-640805a01c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cd9e7-35e5-4bd3-9cab-ca6a63c31e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e52cd9e7-35e5-4bd3-9cab-ca6a63c31e52">
      <UserInfo>
        <DisplayName>Joel Collins</DisplayName>
        <AccountId>13</AccountId>
        <AccountType/>
      </UserInfo>
      <UserInfo>
        <DisplayName>Darcy Roach</DisplayName>
        <AccountId>14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90AB415-6E59-4D12-8947-2EB135D6AA59}">
  <ds:schemaRefs>
    <ds:schemaRef ds:uri="daf93972-1964-4522-aa34-640805a01c3a"/>
    <ds:schemaRef ds:uri="e52cd9e7-35e5-4bd3-9cab-ca6a63c31e5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DED3751-8046-450E-BBF0-0C652FE3CD2B}">
  <ds:schemaRefs>
    <ds:schemaRef ds:uri="http://purl.org/dc/elements/1.1/"/>
    <ds:schemaRef ds:uri="http://www.w3.org/XML/1998/namespace"/>
    <ds:schemaRef ds:uri="e52cd9e7-35e5-4bd3-9cab-ca6a63c31e52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daf93972-1964-4522-aa34-640805a01c3a"/>
    <ds:schemaRef ds:uri="http://purl.org/dc/dcmitype/"/>
    <ds:schemaRef ds:uri="http://schemas.microsoft.com/office/infopath/2007/PartnerControl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5604DA7-C5E1-49DD-8C41-CCB44999464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149</TotalTime>
  <Words>707</Words>
  <Application>Microsoft Office PowerPoint</Application>
  <PresentationFormat>Custom</PresentationFormat>
  <Paragraphs>112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Aptos</vt:lpstr>
      <vt:lpstr>Arial</vt:lpstr>
      <vt:lpstr>Calibri</vt:lpstr>
      <vt:lpstr>Calibri Light</vt:lpstr>
      <vt:lpstr>Libre Caslon Text</vt:lpstr>
      <vt:lpstr>Roboto</vt:lpstr>
      <vt:lpstr>Roboto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Johanna Jovel Hernández</dc:creator>
  <cp:lastModifiedBy>Darcy Roach</cp:lastModifiedBy>
  <cp:revision>6</cp:revision>
  <dcterms:created xsi:type="dcterms:W3CDTF">2019-12-03T01:50:37Z</dcterms:created>
  <dcterms:modified xsi:type="dcterms:W3CDTF">2025-10-21T00:38:49Z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0x01010081F5EC79307BDF4295C10AC82BCAE190</vt:lpwstr>
  </property>
</Properties>
</file>