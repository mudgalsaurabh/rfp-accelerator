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51DE13-16BE-4DC3-ADE4-81A9A3463E8C}" v="1" dt="2025-01-22T06:04:12.5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448"/>
        <p:guide pos="3168"/>
        <p:guide pos="311"/>
        <p:guide pos="5994"/>
        <p:guide orient="horz" pos="148"/>
        <p:guide orient="horz" pos="474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8B5EBB14-3E58-46C9-8D4E-643B26E91CC3}"/>
    <pc:docChg chg="undo custSel delSld modSld">
      <pc:chgData name="Darcy Roach" userId="ba676ee9-e9b4-49e8-a515-8077106c948d" providerId="ADAL" clId="{8B5EBB14-3E58-46C9-8D4E-643B26E91CC3}" dt="2025-01-22T05:19:54.652" v="1436" actId="47"/>
      <pc:docMkLst>
        <pc:docMk/>
      </pc:docMkLst>
      <pc:sldChg chg="delSp modSp mod">
        <pc:chgData name="Darcy Roach" userId="ba676ee9-e9b4-49e8-a515-8077106c948d" providerId="ADAL" clId="{8B5EBB14-3E58-46C9-8D4E-643B26E91CC3}" dt="2025-01-22T05:19:42.882" v="1435" actId="1076"/>
        <pc:sldMkLst>
          <pc:docMk/>
          <pc:sldMk cId="2009923557" sldId="270"/>
        </pc:sldMkLst>
        <pc:spChg chg="mod">
          <ac:chgData name="Darcy Roach" userId="ba676ee9-e9b4-49e8-a515-8077106c948d" providerId="ADAL" clId="{8B5EBB14-3E58-46C9-8D4E-643B26E91CC3}" dt="2025-01-22T05:11:33.380" v="1199" actId="20577"/>
          <ac:spMkLst>
            <pc:docMk/>
            <pc:sldMk cId="2009923557" sldId="270"/>
            <ac:spMk id="2" creationId="{2FA774CA-3857-9308-4D38-9414B0CC2B95}"/>
          </ac:spMkLst>
        </pc:spChg>
        <pc:spChg chg="mod">
          <ac:chgData name="Darcy Roach" userId="ba676ee9-e9b4-49e8-a515-8077106c948d" providerId="ADAL" clId="{8B5EBB14-3E58-46C9-8D4E-643B26E91CC3}" dt="2025-01-22T05:10:05.858" v="1116" actId="20577"/>
          <ac:spMkLst>
            <pc:docMk/>
            <pc:sldMk cId="2009923557" sldId="270"/>
            <ac:spMk id="4" creationId="{80F49B2F-21D4-F9EB-049F-717A10CB7D84}"/>
          </ac:spMkLst>
        </pc:spChg>
        <pc:spChg chg="mod">
          <ac:chgData name="Darcy Roach" userId="ba676ee9-e9b4-49e8-a515-8077106c948d" providerId="ADAL" clId="{8B5EBB14-3E58-46C9-8D4E-643B26E91CC3}" dt="2025-01-22T05:19:34.513" v="1434" actId="1036"/>
          <ac:spMkLst>
            <pc:docMk/>
            <pc:sldMk cId="2009923557" sldId="270"/>
            <ac:spMk id="9" creationId="{D133E806-E776-5D09-70A7-AA54DF8CEAB0}"/>
          </ac:spMkLst>
        </pc:spChg>
        <pc:spChg chg="mod">
          <ac:chgData name="Darcy Roach" userId="ba676ee9-e9b4-49e8-a515-8077106c948d" providerId="ADAL" clId="{8B5EBB14-3E58-46C9-8D4E-643B26E91CC3}" dt="2025-01-22T05:18:57.068" v="1422" actId="20577"/>
          <ac:spMkLst>
            <pc:docMk/>
            <pc:sldMk cId="2009923557" sldId="270"/>
            <ac:spMk id="10" creationId="{06312B81-BCF1-2796-C112-3DBE0E02F483}"/>
          </ac:spMkLst>
        </pc:spChg>
        <pc:spChg chg="del">
          <ac:chgData name="Darcy Roach" userId="ba676ee9-e9b4-49e8-a515-8077106c948d" providerId="ADAL" clId="{8B5EBB14-3E58-46C9-8D4E-643B26E91CC3}" dt="2025-01-22T04:42:00.385" v="24" actId="478"/>
          <ac:spMkLst>
            <pc:docMk/>
            <pc:sldMk cId="2009923557" sldId="270"/>
            <ac:spMk id="12" creationId="{B11E2A4C-14EF-31AA-4D03-774961082029}"/>
          </ac:spMkLst>
        </pc:spChg>
        <pc:spChg chg="mod">
          <ac:chgData name="Darcy Roach" userId="ba676ee9-e9b4-49e8-a515-8077106c948d" providerId="ADAL" clId="{8B5EBB14-3E58-46C9-8D4E-643B26E91CC3}" dt="2025-01-22T04:41:46.501" v="23" actId="20577"/>
          <ac:spMkLst>
            <pc:docMk/>
            <pc:sldMk cId="2009923557" sldId="270"/>
            <ac:spMk id="13" creationId="{FD2720C9-A79F-BD7F-E179-674AD67D7892}"/>
          </ac:spMkLst>
        </pc:spChg>
        <pc:spChg chg="mod">
          <ac:chgData name="Darcy Roach" userId="ba676ee9-e9b4-49e8-a515-8077106c948d" providerId="ADAL" clId="{8B5EBB14-3E58-46C9-8D4E-643B26E91CC3}" dt="2025-01-22T04:50:51.772" v="226" actId="20577"/>
          <ac:spMkLst>
            <pc:docMk/>
            <pc:sldMk cId="2009923557" sldId="270"/>
            <ac:spMk id="17" creationId="{1BDE5051-9F34-F139-742D-4450E5D6591E}"/>
          </ac:spMkLst>
        </pc:spChg>
        <pc:spChg chg="mod">
          <ac:chgData name="Darcy Roach" userId="ba676ee9-e9b4-49e8-a515-8077106c948d" providerId="ADAL" clId="{8B5EBB14-3E58-46C9-8D4E-643B26E91CC3}" dt="2025-01-22T05:19:34.513" v="1434" actId="1036"/>
          <ac:spMkLst>
            <pc:docMk/>
            <pc:sldMk cId="2009923557" sldId="270"/>
            <ac:spMk id="18" creationId="{8D03D195-CF07-9FB6-6BED-18634344C31B}"/>
          </ac:spMkLst>
        </pc:spChg>
        <pc:spChg chg="mod">
          <ac:chgData name="Darcy Roach" userId="ba676ee9-e9b4-49e8-a515-8077106c948d" providerId="ADAL" clId="{8B5EBB14-3E58-46C9-8D4E-643B26E91CC3}" dt="2025-01-22T05:13:53.161" v="1227" actId="20577"/>
          <ac:spMkLst>
            <pc:docMk/>
            <pc:sldMk cId="2009923557" sldId="270"/>
            <ac:spMk id="19" creationId="{7513C49A-2DF2-8111-FED4-FC07A8EAD258}"/>
          </ac:spMkLst>
        </pc:spChg>
        <pc:spChg chg="mod">
          <ac:chgData name="Darcy Roach" userId="ba676ee9-e9b4-49e8-a515-8077106c948d" providerId="ADAL" clId="{8B5EBB14-3E58-46C9-8D4E-643B26E91CC3}" dt="2025-01-22T05:01:34.012" v="630" actId="20577"/>
          <ac:spMkLst>
            <pc:docMk/>
            <pc:sldMk cId="2009923557" sldId="270"/>
            <ac:spMk id="26" creationId="{1A3D666D-00C8-D106-73C3-9FF300F8618C}"/>
          </ac:spMkLst>
        </pc:spChg>
        <pc:spChg chg="mod">
          <ac:chgData name="Darcy Roach" userId="ba676ee9-e9b4-49e8-a515-8077106c948d" providerId="ADAL" clId="{8B5EBB14-3E58-46C9-8D4E-643B26E91CC3}" dt="2025-01-22T05:17:36.516" v="1343" actId="14100"/>
          <ac:spMkLst>
            <pc:docMk/>
            <pc:sldMk cId="2009923557" sldId="270"/>
            <ac:spMk id="28" creationId="{6059F888-3BDF-A1C0-65E5-CB6FDD43D97C}"/>
          </ac:spMkLst>
        </pc:spChg>
        <pc:spChg chg="mod">
          <ac:chgData name="Darcy Roach" userId="ba676ee9-e9b4-49e8-a515-8077106c948d" providerId="ADAL" clId="{8B5EBB14-3E58-46C9-8D4E-643B26E91CC3}" dt="2025-01-22T04:57:39.440" v="487" actId="20577"/>
          <ac:spMkLst>
            <pc:docMk/>
            <pc:sldMk cId="2009923557" sldId="270"/>
            <ac:spMk id="38" creationId="{AB47A2EE-BF0B-DB05-8B7C-DB6594B2B3D5}"/>
          </ac:spMkLst>
        </pc:spChg>
        <pc:spChg chg="mod">
          <ac:chgData name="Darcy Roach" userId="ba676ee9-e9b4-49e8-a515-8077106c948d" providerId="ADAL" clId="{8B5EBB14-3E58-46C9-8D4E-643B26E91CC3}" dt="2025-01-22T04:54:06.721" v="249" actId="20577"/>
          <ac:spMkLst>
            <pc:docMk/>
            <pc:sldMk cId="2009923557" sldId="270"/>
            <ac:spMk id="175" creationId="{B9775FC7-7124-8CCA-9B1C-7CCD7D3DF384}"/>
          </ac:spMkLst>
        </pc:spChg>
        <pc:grpChg chg="mod">
          <ac:chgData name="Darcy Roach" userId="ba676ee9-e9b4-49e8-a515-8077106c948d" providerId="ADAL" clId="{8B5EBB14-3E58-46C9-8D4E-643B26E91CC3}" dt="2025-01-22T05:19:13.558" v="1423" actId="1076"/>
          <ac:grpSpMkLst>
            <pc:docMk/>
            <pc:sldMk cId="2009923557" sldId="270"/>
            <ac:grpSpMk id="8" creationId="{03FCD47C-F1A4-2B24-9A84-F930D16B0657}"/>
          </ac:grpSpMkLst>
        </pc:grpChg>
        <pc:grpChg chg="mod">
          <ac:chgData name="Darcy Roach" userId="ba676ee9-e9b4-49e8-a515-8077106c948d" providerId="ADAL" clId="{8B5EBB14-3E58-46C9-8D4E-643B26E91CC3}" dt="2025-01-22T05:19:42.882" v="1435" actId="1076"/>
          <ac:grpSpMkLst>
            <pc:docMk/>
            <pc:sldMk cId="2009923557" sldId="270"/>
            <ac:grpSpMk id="16" creationId="{3B914132-98FE-0898-BE9A-58A4A9E0F443}"/>
          </ac:grpSpMkLst>
        </pc:grpChg>
        <pc:cxnChg chg="mod">
          <ac:chgData name="Darcy Roach" userId="ba676ee9-e9b4-49e8-a515-8077106c948d" providerId="ADAL" clId="{8B5EBB14-3E58-46C9-8D4E-643B26E91CC3}" dt="2025-01-22T05:19:19.338" v="1424" actId="14100"/>
          <ac:cxnSpMkLst>
            <pc:docMk/>
            <pc:sldMk cId="2009923557" sldId="270"/>
            <ac:cxnSpMk id="21" creationId="{B0913DE4-461D-CE43-AABC-C4B3D7D22F45}"/>
          </ac:cxnSpMkLst>
        </pc:cxnChg>
        <pc:cxnChg chg="mod">
          <ac:chgData name="Darcy Roach" userId="ba676ee9-e9b4-49e8-a515-8077106c948d" providerId="ADAL" clId="{8B5EBB14-3E58-46C9-8D4E-643B26E91CC3}" dt="2025-01-22T05:19:34.513" v="1434" actId="1036"/>
          <ac:cxnSpMkLst>
            <pc:docMk/>
            <pc:sldMk cId="2009923557" sldId="270"/>
            <ac:cxnSpMk id="24" creationId="{BBFCADA7-3772-6BE2-3153-4C21A1BC6FD4}"/>
          </ac:cxnSpMkLst>
        </pc:cxnChg>
      </pc:sldChg>
      <pc:sldChg chg="del">
        <pc:chgData name="Darcy Roach" userId="ba676ee9-e9b4-49e8-a515-8077106c948d" providerId="ADAL" clId="{8B5EBB14-3E58-46C9-8D4E-643B26E91CC3}" dt="2025-01-22T05:19:54.652" v="1436" actId="47"/>
        <pc:sldMkLst>
          <pc:docMk/>
          <pc:sldMk cId="2793498751" sldId="271"/>
        </pc:sldMkLst>
      </pc:sldChg>
    </pc:docChg>
  </pc:docChgLst>
  <pc:docChgLst>
    <pc:chgData name="Madeleine Brody" userId="e7508620-aa84-4b48-85e6-b3566ae1145c" providerId="ADAL" clId="{B851DE13-16BE-4DC3-ADE4-81A9A3463E8C}"/>
    <pc:docChg chg="modSld">
      <pc:chgData name="Madeleine Brody" userId="e7508620-aa84-4b48-85e6-b3566ae1145c" providerId="ADAL" clId="{B851DE13-16BE-4DC3-ADE4-81A9A3463E8C}" dt="2025-01-22T06:04:12.528" v="0" actId="6549"/>
      <pc:docMkLst>
        <pc:docMk/>
      </pc:docMkLst>
      <pc:sldChg chg="modSp mod">
        <pc:chgData name="Madeleine Brody" userId="e7508620-aa84-4b48-85e6-b3566ae1145c" providerId="ADAL" clId="{B851DE13-16BE-4DC3-ADE4-81A9A3463E8C}" dt="2025-01-22T06:04:12.528" v="0" actId="6549"/>
        <pc:sldMkLst>
          <pc:docMk/>
          <pc:sldMk cId="2009923557" sldId="270"/>
        </pc:sldMkLst>
        <pc:spChg chg="mod">
          <ac:chgData name="Madeleine Brody" userId="e7508620-aa84-4b48-85e6-b3566ae1145c" providerId="ADAL" clId="{B851DE13-16BE-4DC3-ADE4-81A9A3463E8C}" dt="2025-01-22T06:04:12.528" v="0" actId="6549"/>
          <ac:spMkLst>
            <pc:docMk/>
            <pc:sldMk cId="2009923557" sldId="270"/>
            <ac:spMk id="18" creationId="{8D03D195-CF07-9FB6-6BED-18634344C31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1/21/2025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Sadia</a:t>
            </a:r>
          </a:p>
          <a:p>
            <a:r>
              <a:rPr lang="en-US" sz="2800" b="1">
                <a:solidFill>
                  <a:srgbClr val="00AB80"/>
                </a:solidFill>
                <a:latin typeface="Roboto" panose="02000000000000000000" pitchFamily="2" charset="0"/>
                <a:ea typeface="Roboto" panose="02000000000000000000" pitchFamily="2" charset="0"/>
              </a:rPr>
              <a:t>Haque</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599093"/>
            <a:ext cx="2868270" cy="3254096"/>
          </a:xfrm>
          <a:prstGeom prst="rect">
            <a:avLst/>
          </a:prstGeom>
          <a:noFill/>
        </p:spPr>
        <p:txBody>
          <a:bodyPr wrap="square" lIns="0" tIns="0" rIns="0" bIns="0" rtlCol="0" anchor="t">
            <a:spAutoFit/>
          </a:bodyPr>
          <a:lstStyle/>
          <a:p>
            <a:pPr>
              <a:lnSpc>
                <a:spcPts val="1500"/>
              </a:lnSpc>
            </a:pPr>
            <a:r>
              <a:rPr lang="en-AU" sz="1000" spc="13">
                <a:latin typeface="Roboto Light" panose="02000000000000000000" pitchFamily="2" charset="0"/>
                <a:ea typeface="Roboto Light" panose="02000000000000000000" pitchFamily="2" charset="0"/>
                <a:cs typeface="Lato" panose="020F0502020204030203" pitchFamily="34" charset="0"/>
              </a:rPr>
              <a:t>Highly skilled Senior Data Engineer and Software Engineer with over 14 years of extensive experience in Information Technology, specialising in System Design, Software Development, Integration, and Data Engineering.</a:t>
            </a:r>
          </a:p>
          <a:p>
            <a:pPr>
              <a:lnSpc>
                <a:spcPts val="1500"/>
              </a:lnSpc>
            </a:pPr>
            <a:endParaRPr lang="en-AU" sz="1000" spc="13">
              <a:latin typeface="Roboto Light" panose="02000000000000000000" pitchFamily="2" charset="0"/>
              <a:ea typeface="Roboto Light" panose="02000000000000000000" pitchFamily="2" charset="0"/>
              <a:cs typeface="Lato" panose="020F0502020204030203" pitchFamily="34" charset="0"/>
            </a:endParaRPr>
          </a:p>
          <a:p>
            <a:pPr>
              <a:lnSpc>
                <a:spcPts val="1500"/>
              </a:lnSpc>
            </a:pPr>
            <a:r>
              <a:rPr lang="en-AU" sz="1000" spc="13">
                <a:latin typeface="Roboto Light" panose="02000000000000000000" pitchFamily="2" charset="0"/>
                <a:ea typeface="Roboto Light" panose="02000000000000000000" pitchFamily="2" charset="0"/>
                <a:cs typeface="Lato" panose="020F0502020204030203" pitchFamily="34" charset="0"/>
              </a:rPr>
              <a:t>With proven expertise in designing both relational and dimensional data models, Sadia is adept with Medallion Architecture. Skilled at all phases of Agile development methodologies, with extensive knowledge of SOA, RESTful web services, and object-oriented programming techniques. Sadia is well practised in developing and optimising cloud data pipelines, and proficient with tools such as Confluence, JIRA, and Git. A natural leader and team builder, Sadia excels in both collaborative and individual work environments.</a:t>
            </a:r>
            <a:endParaRPr lang="en-US" sz="1000" spc="13">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28799"/>
            <a:ext cx="1510046" cy="1892826"/>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Databricks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Redshift</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Git</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Linux</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Docker</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Jira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JSON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Oracle</a:t>
            </a: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96048"/>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85470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456630"/>
            <a:ext cx="1951941" cy="116955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rPr>
              <a:t>Financial Services</a:t>
            </a:r>
          </a:p>
          <a:p>
            <a:pPr marL="0" indent="0">
              <a:lnSpc>
                <a:spcPct val="150000"/>
              </a:lnSpc>
              <a:buNone/>
            </a:pPr>
            <a:r>
              <a:rPr lang="en-GB" sz="1200">
                <a:solidFill>
                  <a:srgbClr val="00AB80"/>
                </a:solidFill>
              </a:rPr>
              <a:t>Insurance</a:t>
            </a:r>
          </a:p>
          <a:p>
            <a:pPr marL="0" indent="0">
              <a:lnSpc>
                <a:spcPct val="150000"/>
              </a:lnSpc>
              <a:buNone/>
            </a:pPr>
            <a:r>
              <a:rPr lang="en-GB" sz="1200">
                <a:solidFill>
                  <a:srgbClr val="00AB80"/>
                </a:solidFill>
              </a:rPr>
              <a:t>Telecommunications</a:t>
            </a:r>
          </a:p>
          <a:p>
            <a:pPr marL="0" indent="0">
              <a:lnSpc>
                <a:spcPct val="150000"/>
              </a:lnSpc>
              <a:buNone/>
            </a:pPr>
            <a:r>
              <a:rPr lang="en-GB" sz="1200">
                <a:solidFill>
                  <a:srgbClr val="00AB80"/>
                </a:solidFill>
              </a:rPr>
              <a:t>Medical</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211492"/>
            <a:ext cx="1963971" cy="3231654"/>
            <a:chOff x="8106458" y="2681447"/>
            <a:chExt cx="1963971" cy="3231654"/>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63971" cy="3231654"/>
            </a:xfrm>
            <a:prstGeom prst="rect">
              <a:avLst/>
            </a:prstGeom>
            <a:noFill/>
          </p:spPr>
          <p:txBody>
            <a:bodyPr wrap="square" lIns="91440" tIns="45720" rIns="91440" bIns="45720" anchor="t">
              <a:spAutoFit/>
            </a:bodyPr>
            <a:lstStyle/>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a:solidFill>
                    <a:srgbClr val="00AB80"/>
                  </a:solidFill>
                  <a:latin typeface="Roboto Light"/>
                  <a:ea typeface="Calibri"/>
                  <a:cs typeface="Roboto Light"/>
                </a:rPr>
                <a:t>Amazon Web Services –  Certified Data Engineer Associate</a:t>
              </a:r>
              <a:endParaRPr lang="en-GB" sz="1200">
                <a:solidFill>
                  <a:srgbClr val="00AB80"/>
                </a:solidFill>
                <a:effectLst/>
                <a:latin typeface="Roboto Light"/>
                <a:ea typeface="Calibri"/>
                <a:cs typeface="Roboto Light"/>
              </a:endParaRP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a:ea typeface="Calibri"/>
                  <a:cs typeface="Roboto Light"/>
                </a:rPr>
                <a:t>Amazon Web Services –  Certified Cloud Practitioner</a:t>
              </a:r>
              <a:endParaRPr lang="en-GB" sz="1200">
                <a:solidFill>
                  <a:srgbClr val="00AB80"/>
                </a:solidFill>
                <a:effectLst/>
                <a:latin typeface="Roboto Light"/>
                <a:ea typeface="Calibri"/>
                <a:cs typeface="Roboto Light"/>
              </a:endParaRP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a:ea typeface="Calibri"/>
                  <a:cs typeface="Roboto Light"/>
                </a:rPr>
                <a:t>Masters Degree – Advanced Software Engineering</a:t>
              </a:r>
            </a:p>
            <a:p>
              <a:pPr>
                <a:tabLst>
                  <a:tab pos="3819525" algn="l"/>
                  <a:tab pos="3895725" algn="l"/>
                </a:tabLst>
              </a:pPr>
              <a:endParaRPr lang="en-GB" sz="1200">
                <a:solidFill>
                  <a:srgbClr val="00AB80"/>
                </a:solidFill>
                <a:latin typeface="Roboto Light"/>
                <a:ea typeface="Calibri"/>
                <a:cs typeface="Roboto Light"/>
              </a:endParaRPr>
            </a:p>
            <a:p>
              <a:pPr>
                <a:tabLst>
                  <a:tab pos="3819525" algn="l"/>
                  <a:tab pos="3895725" algn="l"/>
                </a:tabLst>
              </a:pPr>
              <a:r>
                <a:rPr lang="en-GB" sz="1200">
                  <a:solidFill>
                    <a:srgbClr val="00AB80"/>
                  </a:solidFill>
                  <a:effectLst/>
                  <a:latin typeface="Roboto Light"/>
                  <a:ea typeface="Calibri"/>
                  <a:cs typeface="Roboto Light"/>
                </a:rPr>
                <a:t>Bachelors Degree</a:t>
              </a:r>
              <a:r>
                <a:rPr lang="en-GB" sz="1200">
                  <a:solidFill>
                    <a:srgbClr val="00AB80"/>
                  </a:solidFill>
                  <a:latin typeface="Roboto Light"/>
                  <a:ea typeface="Calibri"/>
                  <a:cs typeface="Roboto Light"/>
                </a:rPr>
                <a:t> – Computer Science &amp; Engineering</a:t>
              </a:r>
            </a:p>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728799"/>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Microsoft Azure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Amazon Web Service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Visualisation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Quality Assurance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SDLC</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grpSp>
        <p:nvGrpSpPr>
          <p:cNvPr id="16" name="Group 15">
            <a:extLst>
              <a:ext uri="{FF2B5EF4-FFF2-40B4-BE49-F238E27FC236}">
                <a16:creationId xmlns:a16="http://schemas.microsoft.com/office/drawing/2014/main" id="{3B914132-98FE-0898-BE9A-58A4A9E0F443}"/>
              </a:ext>
            </a:extLst>
          </p:cNvPr>
          <p:cNvGrpSpPr/>
          <p:nvPr/>
        </p:nvGrpSpPr>
        <p:grpSpPr>
          <a:xfrm>
            <a:off x="3314487" y="3320387"/>
            <a:ext cx="4715244" cy="2071944"/>
            <a:chOff x="3314487" y="2704348"/>
            <a:chExt cx="4715244" cy="2071944"/>
          </a:xfrm>
        </p:grpSpPr>
        <p:sp>
          <p:nvSpPr>
            <p:cNvPr id="2" name="TextBox 1">
              <a:extLst>
                <a:ext uri="{FF2B5EF4-FFF2-40B4-BE49-F238E27FC236}">
                  <a16:creationId xmlns:a16="http://schemas.microsoft.com/office/drawing/2014/main" id="{2FA774CA-3857-9308-4D38-9414B0CC2B95}"/>
                </a:ext>
              </a:extLst>
            </p:cNvPr>
            <p:cNvSpPr txBox="1"/>
            <p:nvPr/>
          </p:nvSpPr>
          <p:spPr>
            <a:xfrm>
              <a:off x="3314487" y="2704348"/>
              <a:ext cx="4542465" cy="646331"/>
            </a:xfrm>
            <a:prstGeom prst="rect">
              <a:avLst/>
            </a:prstGeom>
            <a:noFill/>
          </p:spPr>
          <p:txBody>
            <a:bodyPr wrap="square" rtlCol="0">
              <a:spAutoFit/>
            </a:bodyPr>
            <a:lstStyle/>
            <a:p>
              <a:r>
                <a:rPr lang="en-AU" sz="1200" b="1">
                  <a:solidFill>
                    <a:srgbClr val="ED7D31"/>
                  </a:solidFill>
                  <a:latin typeface="Roboto" panose="02000000000000000000" pitchFamily="2" charset="0"/>
                  <a:ea typeface="Roboto" panose="02000000000000000000" pitchFamily="2" charset="0"/>
                </a:rPr>
                <a:t>Software Organisation  – Software Engineer</a:t>
              </a:r>
            </a:p>
            <a:p>
              <a:endParaRPr lang="en-AU" sz="1200" b="1">
                <a:solidFill>
                  <a:srgbClr val="ED7D31"/>
                </a:solidFill>
                <a:latin typeface="Roboto" panose="02000000000000000000" pitchFamily="2" charset="0"/>
                <a:ea typeface="Roboto" panose="02000000000000000000" pitchFamily="2" charset="0"/>
              </a:endParaRPr>
            </a:p>
            <a:p>
              <a:endParaRPr lang="en-AU" sz="1200" b="1">
                <a:solidFill>
                  <a:srgbClr val="ED7D31"/>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33777" y="3042549"/>
              <a:ext cx="0" cy="155923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513C49A-2DF2-8111-FED4-FC07A8EAD258}"/>
                </a:ext>
              </a:extLst>
            </p:cNvPr>
            <p:cNvSpPr txBox="1"/>
            <p:nvPr/>
          </p:nvSpPr>
          <p:spPr>
            <a:xfrm>
              <a:off x="3479267" y="2991188"/>
              <a:ext cx="4550464" cy="178510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a:t>Developed software for cultured-plate screening and interpretation, implemented mathematical calculations to generate statistical analysis scripts, and made modifications to the existing systems.</a:t>
              </a:r>
            </a:p>
            <a:p>
              <a:r>
                <a:rPr lang="en-AU" sz="1000"/>
                <a:t>Prepared test cases and executed system verification documents on the APAS instrument, ensuring the accuracy and reliability of the system.</a:t>
              </a:r>
            </a:p>
            <a:p>
              <a:r>
                <a:rPr lang="en-AU" sz="1000"/>
                <a:t>Developed an automated plate culture application that communicates with a robot interface for handling cultured plates and a C++ (AI) application to send and receive data, translating it into a human-readable format.</a:t>
              </a:r>
            </a:p>
            <a:p>
              <a:r>
                <a:rPr lang="en-AU" sz="1000"/>
                <a:t>Implemented statistical analysis scripts to compare microbiologist findings with machine findings, generating various statistical tables including confusion matrix, sensitivity, and specificity.</a:t>
              </a:r>
            </a:p>
          </p:txBody>
        </p:sp>
      </p:grpSp>
      <p:grpSp>
        <p:nvGrpSpPr>
          <p:cNvPr id="8" name="Group 7">
            <a:extLst>
              <a:ext uri="{FF2B5EF4-FFF2-40B4-BE49-F238E27FC236}">
                <a16:creationId xmlns:a16="http://schemas.microsoft.com/office/drawing/2014/main" id="{03FCD47C-F1A4-2B24-9A84-F930D16B0657}"/>
              </a:ext>
            </a:extLst>
          </p:cNvPr>
          <p:cNvGrpSpPr/>
          <p:nvPr/>
        </p:nvGrpSpPr>
        <p:grpSpPr>
          <a:xfrm>
            <a:off x="3401336" y="5675528"/>
            <a:ext cx="4570167" cy="1458362"/>
            <a:chOff x="3411969" y="4671933"/>
            <a:chExt cx="4570167" cy="1458362"/>
          </a:xfrm>
        </p:grpSpPr>
        <p:sp>
          <p:nvSpPr>
            <p:cNvPr id="10" name="TextBox 9">
              <a:extLst>
                <a:ext uri="{FF2B5EF4-FFF2-40B4-BE49-F238E27FC236}">
                  <a16:creationId xmlns:a16="http://schemas.microsoft.com/office/drawing/2014/main" id="{06312B81-BCF1-2796-C112-3DBE0E02F483}"/>
                </a:ext>
              </a:extLst>
            </p:cNvPr>
            <p:cNvSpPr txBox="1"/>
            <p:nvPr/>
          </p:nvSpPr>
          <p:spPr>
            <a:xfrm>
              <a:off x="3576751" y="4806856"/>
              <a:ext cx="4399656" cy="132343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AU" sz="1000"/>
            </a:p>
            <a:p>
              <a:r>
                <a:rPr lang="en-AU" sz="1000"/>
                <a:t>Enhanced features of the in-house built Strata management system and modified debt collection software.</a:t>
              </a:r>
            </a:p>
            <a:p>
              <a:r>
                <a:rPr lang="en-AU" sz="1000"/>
                <a:t>Conducted research and development to identify and understand suitable technologies for Phase 2 of the application.</a:t>
              </a:r>
            </a:p>
            <a:p>
              <a:r>
                <a:rPr lang="en-AU" sz="1000"/>
                <a:t>Fixed bugs and improved processes, brainstorming and implementing ideas for cross-functional team process improvements.</a:t>
              </a:r>
            </a:p>
            <a:p>
              <a:r>
                <a:rPr lang="en-AU" sz="1000"/>
                <a:t>Deployed builds into the staging and production system.</a:t>
              </a: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3442695" y="5004646"/>
              <a:ext cx="0" cy="1041145"/>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059F888-3BDF-A1C0-65E5-CB6FDD43D97C}"/>
                </a:ext>
              </a:extLst>
            </p:cNvPr>
            <p:cNvSpPr txBox="1"/>
            <p:nvPr/>
          </p:nvSpPr>
          <p:spPr>
            <a:xfrm>
              <a:off x="3411969" y="4671933"/>
              <a:ext cx="4570167" cy="276999"/>
            </a:xfrm>
            <a:prstGeom prst="rect">
              <a:avLst/>
            </a:prstGeom>
            <a:noFill/>
          </p:spPr>
          <p:txBody>
            <a:bodyPr wrap="square" rtlCol="0">
              <a:spAutoFit/>
            </a:bodyPr>
            <a:lstStyle/>
            <a:p>
              <a:r>
                <a:rPr lang="en-AU" sz="1200" b="1">
                  <a:solidFill>
                    <a:srgbClr val="A93584"/>
                  </a:solidFill>
                  <a:latin typeface="Roboto" panose="02000000000000000000" pitchFamily="2" charset="0"/>
                  <a:ea typeface="Roboto" panose="02000000000000000000" pitchFamily="2" charset="0"/>
                </a:rPr>
                <a:t>Telecommunications Organisation – Senior Software Developer</a:t>
              </a:r>
            </a:p>
          </p:txBody>
        </p:sp>
      </p:grpSp>
      <p:sp>
        <p:nvSpPr>
          <p:cNvPr id="9" name="TextBox 8">
            <a:extLst>
              <a:ext uri="{FF2B5EF4-FFF2-40B4-BE49-F238E27FC236}">
                <a16:creationId xmlns:a16="http://schemas.microsoft.com/office/drawing/2014/main" id="{D133E806-E776-5D09-70A7-AA54DF8CEAB0}"/>
              </a:ext>
            </a:extLst>
          </p:cNvPr>
          <p:cNvSpPr txBox="1"/>
          <p:nvPr/>
        </p:nvSpPr>
        <p:spPr>
          <a:xfrm>
            <a:off x="3314487" y="1147173"/>
            <a:ext cx="4649978" cy="461665"/>
          </a:xfrm>
          <a:prstGeom prst="rect">
            <a:avLst/>
          </a:prstGeom>
          <a:noFill/>
        </p:spPr>
        <p:txBody>
          <a:bodyPr wrap="square" lIns="91440" tIns="45720" rIns="91440" bIns="45720" rtlCol="0" anchor="t">
            <a:spAutoFit/>
          </a:bodyPr>
          <a:lstStyle/>
          <a:p>
            <a:r>
              <a:rPr lang="en-AU" sz="1200" b="1">
                <a:solidFill>
                  <a:srgbClr val="0059FF"/>
                </a:solidFill>
                <a:latin typeface="Roboto"/>
                <a:ea typeface="Roboto"/>
                <a:cs typeface="Roboto"/>
              </a:rPr>
              <a:t>Australian Financial Services Organisation – Lead Data Engineer</a:t>
            </a:r>
          </a:p>
          <a:p>
            <a:endParaRPr lang="en-AU" sz="1200" b="1">
              <a:solidFill>
                <a:srgbClr val="0059FF"/>
              </a:solidFill>
              <a:latin typeface="Roboto" panose="02000000000000000000" pitchFamily="2" charset="0"/>
              <a:ea typeface="Roboto" panose="02000000000000000000" pitchFamily="2" charset="0"/>
            </a:endParaRPr>
          </a:p>
        </p:txBody>
      </p:sp>
      <p:sp>
        <p:nvSpPr>
          <p:cNvPr id="18" name="TextBox 17">
            <a:extLst>
              <a:ext uri="{FF2B5EF4-FFF2-40B4-BE49-F238E27FC236}">
                <a16:creationId xmlns:a16="http://schemas.microsoft.com/office/drawing/2014/main" id="{8D03D195-CF07-9FB6-6BED-18634344C31B}"/>
              </a:ext>
            </a:extLst>
          </p:cNvPr>
          <p:cNvSpPr txBox="1"/>
          <p:nvPr/>
        </p:nvSpPr>
        <p:spPr>
          <a:xfrm>
            <a:off x="3472488" y="1418172"/>
            <a:ext cx="4405730" cy="1631216"/>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a:latin typeface="Roboto Light"/>
                <a:ea typeface="Roboto Light"/>
                <a:cs typeface="Roboto Light"/>
              </a:rPr>
              <a:t>Led a team of data engineers to address and resolve complex business challenges and delivered impactful and data-driven solutions.</a:t>
            </a:r>
          </a:p>
          <a:p>
            <a:r>
              <a:rPr lang="en-AU">
                <a:latin typeface="Roboto Light"/>
                <a:ea typeface="Roboto Light"/>
                <a:cs typeface="Roboto Light"/>
              </a:rPr>
              <a:t>Developed and maintained data pipelines using AWS cloud technologies.</a:t>
            </a:r>
          </a:p>
          <a:p>
            <a:r>
              <a:rPr lang="en-AU">
                <a:latin typeface="Roboto Light"/>
                <a:ea typeface="Roboto Light"/>
                <a:cs typeface="Roboto Light"/>
              </a:rPr>
              <a:t>Designed and implemented meta-data driven ingestion pipeline.</a:t>
            </a:r>
          </a:p>
          <a:p>
            <a:r>
              <a:rPr lang="en-AU">
                <a:latin typeface="Roboto Light"/>
                <a:ea typeface="Roboto Light"/>
                <a:cs typeface="Roboto Light"/>
              </a:rPr>
              <a:t>Ingested data from on-premises databases and files(XML,JSON,MP4) into a Data Lake, with a focus on road crash and geospatial data.</a:t>
            </a:r>
          </a:p>
          <a:p>
            <a:r>
              <a:rPr lang="en-AU">
                <a:latin typeface="Roboto Light"/>
                <a:ea typeface="Roboto Light"/>
                <a:cs typeface="Roboto Light"/>
              </a:rPr>
              <a:t>Orchestrated workflows using Airflow and transformed data using DBT.</a:t>
            </a:r>
          </a:p>
          <a:p>
            <a:r>
              <a:rPr lang="en-AU">
                <a:latin typeface="Roboto Light"/>
                <a:ea typeface="Roboto Light"/>
                <a:cs typeface="Roboto Light"/>
              </a:rPr>
              <a:t>Enhanced deployment efficiency by improving CI/CD pipelines.</a:t>
            </a:r>
          </a:p>
          <a:p>
            <a:r>
              <a:rPr lang="en-AU">
                <a:latin typeface="Roboto Light"/>
                <a:ea typeface="Roboto Light"/>
                <a:cs typeface="Roboto Light"/>
              </a:rPr>
              <a:t>Created and displayed various plots and diagrams in the UI to facilitate user analysis and understanding.</a:t>
            </a:r>
          </a:p>
        </p:txBody>
      </p:sp>
      <p:cxnSp>
        <p:nvCxnSpPr>
          <p:cNvPr id="24" name="Straight Connector 23">
            <a:extLst>
              <a:ext uri="{FF2B5EF4-FFF2-40B4-BE49-F238E27FC236}">
                <a16:creationId xmlns:a16="http://schemas.microsoft.com/office/drawing/2014/main" id="{BBFCADA7-3772-6BE2-3153-4C21A1BC6FD4}"/>
              </a:ext>
            </a:extLst>
          </p:cNvPr>
          <p:cNvCxnSpPr>
            <a:cxnSpLocks/>
          </p:cNvCxnSpPr>
          <p:nvPr/>
        </p:nvCxnSpPr>
        <p:spPr>
          <a:xfrm>
            <a:off x="3440589" y="1488925"/>
            <a:ext cx="0" cy="1487647"/>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5D78DE8-CA0B-4723-AF37-2B344746F8D2}">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BC6410C-B420-4127-9D32-DC600766FC34}">
  <ds:schemaRefs>
    <ds:schemaRef ds:uri="http://schemas.microsoft.com/sharepoint/v3/contenttype/forms"/>
  </ds:schemaRefs>
</ds:datastoreItem>
</file>

<file path=customXml/itemProps3.xml><?xml version="1.0" encoding="utf-8"?>
<ds:datastoreItem xmlns:ds="http://schemas.openxmlformats.org/officeDocument/2006/customXml" ds:itemID="{6A82A567-584C-4D93-9158-A7B4388F9B7B}">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revision>1</cp:revision>
  <dcterms:created xsi:type="dcterms:W3CDTF">2019-12-03T01:50:37Z</dcterms:created>
  <dcterms:modified xsi:type="dcterms:W3CDTF">2025-01-22T06:04:18Z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