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F2B3F"/>
    <a:srgbClr val="0059FF"/>
    <a:srgbClr val="00AB80"/>
    <a:srgbClr val="A93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748315-3FE5-4AFC-9FB3-8789E0430CD7}" v="2" dt="2022-11-10T02:21:24.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59" d="100"/>
          <a:sy n="59" d="100"/>
        </p:scale>
        <p:origin x="1676" y="28"/>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Martinico" userId="05e381d2-80b7-43e8-b915-faa146d84a0f" providerId="ADAL" clId="{CF69D252-5EB3-3045-A40A-1200B350509F}"/>
    <pc:docChg chg="modSld">
      <pc:chgData name="Paul Martinico" userId="05e381d2-80b7-43e8-b915-faa146d84a0f" providerId="ADAL" clId="{CF69D252-5EB3-3045-A40A-1200B350509F}" dt="2022-11-09T23:54:44.145" v="71" actId="20577"/>
      <pc:docMkLst>
        <pc:docMk/>
      </pc:docMkLst>
      <pc:sldChg chg="modSp mod">
        <pc:chgData name="Paul Martinico" userId="05e381d2-80b7-43e8-b915-faa146d84a0f" providerId="ADAL" clId="{CF69D252-5EB3-3045-A40A-1200B350509F}" dt="2022-11-09T23:54:44.145" v="71" actId="20577"/>
        <pc:sldMkLst>
          <pc:docMk/>
          <pc:sldMk cId="2009923557" sldId="270"/>
        </pc:sldMkLst>
        <pc:spChg chg="mod">
          <ac:chgData name="Paul Martinico" userId="05e381d2-80b7-43e8-b915-faa146d84a0f" providerId="ADAL" clId="{CF69D252-5EB3-3045-A40A-1200B350509F}" dt="2022-11-09T23:52:29.335" v="12" actId="20577"/>
          <ac:spMkLst>
            <pc:docMk/>
            <pc:sldMk cId="2009923557" sldId="270"/>
            <ac:spMk id="4" creationId="{80F49B2F-21D4-F9EB-049F-717A10CB7D84}"/>
          </ac:spMkLst>
        </pc:spChg>
        <pc:spChg chg="mod">
          <ac:chgData name="Paul Martinico" userId="05e381d2-80b7-43e8-b915-faa146d84a0f" providerId="ADAL" clId="{CF69D252-5EB3-3045-A40A-1200B350509F}" dt="2022-11-09T23:54:44.145" v="71" actId="20577"/>
          <ac:spMkLst>
            <pc:docMk/>
            <pc:sldMk cId="2009923557" sldId="270"/>
            <ac:spMk id="19" creationId="{7513C49A-2DF2-8111-FED4-FC07A8EAD258}"/>
          </ac:spMkLst>
        </pc:spChg>
        <pc:spChg chg="mod">
          <ac:chgData name="Paul Martinico" userId="05e381d2-80b7-43e8-b915-faa146d84a0f" providerId="ADAL" clId="{CF69D252-5EB3-3045-A40A-1200B350509F}" dt="2022-11-09T23:53:03.354" v="66" actId="6549"/>
          <ac:spMkLst>
            <pc:docMk/>
            <pc:sldMk cId="2009923557" sldId="270"/>
            <ac:spMk id="49" creationId="{AFFA7D28-DE1A-0F60-E8EF-61D0953FBFC6}"/>
          </ac:spMkLst>
        </pc:spChg>
        <pc:spChg chg="mod">
          <ac:chgData name="Paul Martinico" userId="05e381d2-80b7-43e8-b915-faa146d84a0f" providerId="ADAL" clId="{CF69D252-5EB3-3045-A40A-1200B350509F}" dt="2022-11-09T23:53:41.841" v="70" actId="20577"/>
          <ac:spMkLst>
            <pc:docMk/>
            <pc:sldMk cId="2009923557" sldId="270"/>
            <ac:spMk id="54" creationId="{092E8EE8-EB50-47B2-451E-CA41683BA524}"/>
          </ac:spMkLst>
        </pc:spChg>
      </pc:sldChg>
    </pc:docChg>
  </pc:docChgLst>
  <pc:docChgLst>
    <pc:chgData name="Darcy Roach" userId="ba676ee9-e9b4-49e8-a515-8077106c948d" providerId="ADAL" clId="{82748315-3FE5-4AFC-9FB3-8789E0430CD7}"/>
    <pc:docChg chg="undo custSel modSld">
      <pc:chgData name="Darcy Roach" userId="ba676ee9-e9b4-49e8-a515-8077106c948d" providerId="ADAL" clId="{82748315-3FE5-4AFC-9FB3-8789E0430CD7}" dt="2022-11-15T23:59:30.319" v="8" actId="20577"/>
      <pc:docMkLst>
        <pc:docMk/>
      </pc:docMkLst>
      <pc:sldChg chg="modSp mod">
        <pc:chgData name="Darcy Roach" userId="ba676ee9-e9b4-49e8-a515-8077106c948d" providerId="ADAL" clId="{82748315-3FE5-4AFC-9FB3-8789E0430CD7}" dt="2022-11-15T23:59:30.319" v="8" actId="20577"/>
        <pc:sldMkLst>
          <pc:docMk/>
          <pc:sldMk cId="2009923557" sldId="270"/>
        </pc:sldMkLst>
        <pc:spChg chg="mod">
          <ac:chgData name="Darcy Roach" userId="ba676ee9-e9b4-49e8-a515-8077106c948d" providerId="ADAL" clId="{82748315-3FE5-4AFC-9FB3-8789E0430CD7}" dt="2022-11-15T23:59:30.319" v="8" actId="20577"/>
          <ac:spMkLst>
            <pc:docMk/>
            <pc:sldMk cId="2009923557" sldId="270"/>
            <ac:spMk id="49" creationId="{AFFA7D28-DE1A-0F60-E8EF-61D0953FBFC6}"/>
          </ac:spMkLst>
        </pc:spChg>
        <pc:spChg chg="mod">
          <ac:chgData name="Darcy Roach" userId="ba676ee9-e9b4-49e8-a515-8077106c948d" providerId="ADAL" clId="{82748315-3FE5-4AFC-9FB3-8789E0430CD7}" dt="2022-11-10T02:21:46.930" v="1" actId="21"/>
          <ac:spMkLst>
            <pc:docMk/>
            <pc:sldMk cId="2009923557" sldId="270"/>
            <ac:spMk id="51" creationId="{A2694574-9592-18E9-CB1B-E6D8C3D0358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11/14/2022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11/14/2022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11/14/2022</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93730"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Kelvin </a:t>
            </a:r>
          </a:p>
          <a:p>
            <a:r>
              <a:rPr lang="en-US" sz="2800" b="1" dirty="0">
                <a:solidFill>
                  <a:srgbClr val="00AB80"/>
                </a:solidFill>
                <a:latin typeface="Roboto" panose="02000000000000000000" pitchFamily="2" charset="0"/>
                <a:ea typeface="Roboto" panose="02000000000000000000" pitchFamily="2" charset="0"/>
              </a:rPr>
              <a:t>Lu</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12703" y="1612553"/>
            <a:ext cx="2879597" cy="1715213"/>
          </a:xfrm>
          <a:prstGeom prst="rect">
            <a:avLst/>
          </a:prstGeom>
          <a:noFill/>
        </p:spPr>
        <p:txBody>
          <a:bodyPr wrap="square" lIns="0" tIns="0" rIns="0" bIns="0" rtlCol="0" anchor="t">
            <a:spAutoFit/>
          </a:bodyPr>
          <a:lstStyle/>
          <a:p>
            <a:pPr>
              <a:lnSpc>
                <a:spcPts val="1500"/>
              </a:lnSpc>
            </a:pPr>
            <a:r>
              <a:rPr lang="en-US" sz="1000" spc="13" dirty="0">
                <a:latin typeface="Roboto Light" panose="02000000000000000000" pitchFamily="2" charset="0"/>
                <a:ea typeface="Roboto Light" panose="02000000000000000000" pitchFamily="2" charset="0"/>
                <a:cs typeface="Lato" panose="020F0502020204030203" pitchFamily="34" charset="0"/>
              </a:rPr>
              <a:t>Kelvin is an experienced and proficient Data Engineer who </a:t>
            </a:r>
            <a:r>
              <a:rPr lang="en-US" sz="1000" spc="13" dirty="0" err="1">
                <a:latin typeface="Roboto Light" panose="02000000000000000000" pitchFamily="2" charset="0"/>
                <a:ea typeface="Roboto Light" panose="02000000000000000000" pitchFamily="2" charset="0"/>
                <a:cs typeface="Lato" panose="020F0502020204030203" pitchFamily="34" charset="0"/>
              </a:rPr>
              <a:t>specialises</a:t>
            </a:r>
            <a:r>
              <a:rPr lang="en-US" sz="1000" spc="13" dirty="0">
                <a:latin typeface="Roboto Light" panose="02000000000000000000" pitchFamily="2" charset="0"/>
                <a:ea typeface="Roboto Light" panose="02000000000000000000" pitchFamily="2" charset="0"/>
                <a:cs typeface="Lato" panose="020F0502020204030203" pitchFamily="34" charset="0"/>
              </a:rPr>
              <a:t> in Machine Learning. An AWS Certified Machine Learning Specialist, AWS Certified Big data Specialist, Google Cloud Certified Professional Data Engineer and Google Cloud Certified Machine Learning Specialist Kelvin excels in tackling complex challenges, and is motivated by novel challenges, to continually grow his vast range of skills.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20128"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66274"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Looker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Apache Spark</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Neo4j</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NLP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Graph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Scala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Docker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47073"/>
            <a:ext cx="0" cy="1742936"/>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626425"/>
            <a:ext cx="0" cy="193271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7456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3139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90009"/>
            <a:ext cx="1951941" cy="3785652"/>
            <a:chOff x="8106458" y="2681447"/>
            <a:chExt cx="1951941" cy="378565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785652"/>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Amazon Web Services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Certified Machine Learning Specialist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Amazon Web Services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Certified Big Data Specialist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Platform –  Certified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Platform –</a:t>
              </a: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Machine Learning Specialist</a:t>
              </a:r>
            </a:p>
            <a:p>
              <a:pPr>
                <a:tabLst>
                  <a:tab pos="3819525" algn="l"/>
                  <a:tab pos="3895725" algn="l"/>
                </a:tabLst>
              </a:pP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Master </a:t>
              </a:r>
              <a:r>
                <a:rPr lang="en-GB" sz="1200" dirty="0">
                  <a:solidFill>
                    <a:srgbClr val="00AB80"/>
                  </a:solidFill>
                  <a:latin typeface="Roboto Light" panose="02000000000000000000" pitchFamily="2" charset="0"/>
                  <a:ea typeface="Calibri" panose="020F0502020204030204" pitchFamily="34" charset="0"/>
                </a:rPr>
                <a:t>– Computer Science &amp; Business Administration</a:t>
              </a:r>
            </a:p>
            <a:p>
              <a:pPr>
                <a:tabLst>
                  <a:tab pos="3819525" algn="l"/>
                  <a:tab pos="3895725" algn="l"/>
                </a:tabLst>
              </a:pPr>
              <a:r>
                <a:rPr lang="en-AU" sz="1200" dirty="0">
                  <a:solidFill>
                    <a:srgbClr val="00AB80"/>
                  </a:solidFill>
                  <a:latin typeface="Roboto Light" panose="02000000000000000000" pitchFamily="2" charset="0"/>
                </a:rPr>
                <a:t>Renmin University, China </a:t>
              </a: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291189"/>
            <a:ext cx="3526969"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Entertainment &amp; Gaming Organisation</a:t>
            </a: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Amazon 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SQL Server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Time Series Analysis</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96904"/>
            <a:ext cx="3526969" cy="276999"/>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Financial Services Organisation</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935052"/>
            <a:ext cx="4584890" cy="1938992"/>
            <a:chOff x="5023753" y="4247510"/>
            <a:chExt cx="4757437" cy="1938992"/>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US" sz="1000" dirty="0"/>
                <a:t>Led the POC project to showcase the usage of GCP features, Confluent Cloud, ML and Data Vault. Achievement: </a:t>
              </a:r>
            </a:p>
            <a:p>
              <a:r>
                <a:rPr lang="en-US" sz="1000" dirty="0"/>
                <a:t>Developed data integration solutions between on-prem Kafka and GCP with Confluent Cloud. 		</a:t>
              </a:r>
            </a:p>
            <a:p>
              <a:r>
                <a:rPr lang="en-US" sz="1000" dirty="0"/>
                <a:t>Developed data ingestion solution based on GCS, </a:t>
              </a:r>
              <a:r>
                <a:rPr lang="en-US" sz="1000" dirty="0" err="1"/>
                <a:t>Dataprep</a:t>
              </a:r>
              <a:r>
                <a:rPr lang="en-US" sz="1000" dirty="0"/>
                <a:t>, </a:t>
              </a:r>
              <a:r>
                <a:rPr lang="en-US" sz="1000" dirty="0" err="1"/>
                <a:t>Bigquery</a:t>
              </a:r>
              <a:r>
                <a:rPr lang="en-US" sz="1000" dirty="0"/>
                <a:t>. 	</a:t>
              </a:r>
            </a:p>
            <a:p>
              <a:r>
                <a:rPr lang="en-US" sz="1000" dirty="0"/>
                <a:t>Developed K-Means customer segmentation model based on a limited dataset to showcase how to leverage machine learning with limited data</a:t>
              </a:r>
            </a:p>
            <a:p>
              <a:r>
                <a:rPr lang="en-US" sz="1000" dirty="0"/>
                <a:t>Developed Looker dashboards. </a:t>
              </a:r>
            </a:p>
            <a:p>
              <a:r>
                <a:rPr lang="en-US" sz="1000" dirty="0"/>
                <a:t>Developed Terraform-based CICD system. </a:t>
              </a:r>
            </a:p>
            <a:p>
              <a:r>
                <a:rPr lang="en-US" sz="1000" dirty="0"/>
                <a:t>Demonstrated the usage of Data Catalog, Data Loss Prevention, and Vertex AI Feature Store. </a:t>
              </a:r>
            </a:p>
            <a:p>
              <a:endParaRPr lang="en-GB"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45019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658053"/>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Financial Services Organisation</a:t>
            </a:r>
          </a:p>
        </p:txBody>
      </p:sp>
      <p:sp>
        <p:nvSpPr>
          <p:cNvPr id="49" name="TextBox 48">
            <a:extLst>
              <a:ext uri="{FF2B5EF4-FFF2-40B4-BE49-F238E27FC236}">
                <a16:creationId xmlns:a16="http://schemas.microsoft.com/office/drawing/2014/main" id="{AFFA7D28-DE1A-0F60-E8EF-61D0953FBFC6}"/>
              </a:ext>
            </a:extLst>
          </p:cNvPr>
          <p:cNvSpPr txBox="1"/>
          <p:nvPr/>
        </p:nvSpPr>
        <p:spPr>
          <a:xfrm>
            <a:off x="212703" y="3425611"/>
            <a:ext cx="2924748" cy="1715213"/>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US" dirty="0"/>
              <a:t>Kelvin possesses over 20 years of Data Engineering, Machine Learning experience and software development experience. An autonomous all-rounder, Kelvin is highly skilled in developing data ETL systems, digging out business values from the data, developing presentations using </a:t>
            </a:r>
            <a:r>
              <a:rPr lang="en-US" dirty="0" err="1"/>
              <a:t>PowerBI</a:t>
            </a:r>
            <a:r>
              <a:rPr lang="en-US" dirty="0"/>
              <a:t> or standalone Web apps, and also uncovering hidden insights with pragmatic machine learning solutions. </a:t>
            </a:r>
            <a:endParaRPr lang="en-AU" dirty="0"/>
          </a:p>
        </p:txBody>
      </p:sp>
      <p:sp>
        <p:nvSpPr>
          <p:cNvPr id="51" name="TextBox 50">
            <a:extLst>
              <a:ext uri="{FF2B5EF4-FFF2-40B4-BE49-F238E27FC236}">
                <a16:creationId xmlns:a16="http://schemas.microsoft.com/office/drawing/2014/main" id="{A2694574-9592-18E9-CB1B-E6D8C3D03583}"/>
              </a:ext>
            </a:extLst>
          </p:cNvPr>
          <p:cNvSpPr txBox="1"/>
          <p:nvPr/>
        </p:nvSpPr>
        <p:spPr>
          <a:xfrm>
            <a:off x="3463962" y="3537015"/>
            <a:ext cx="4405084" cy="212365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Established and managed Corporate Data Warehouse migration from an on-premise Sybase IQ database to the Google Cloud Platform. Responsibilities of this role included:</a:t>
            </a:r>
          </a:p>
          <a:p>
            <a:pPr marL="0" indent="0">
              <a:buNone/>
            </a:pPr>
            <a:endParaRPr lang="en-US" sz="200" dirty="0">
              <a:solidFill>
                <a:schemeClr val="bg1"/>
              </a:solidFill>
            </a:endParaRPr>
          </a:p>
          <a:p>
            <a:r>
              <a:rPr lang="en-US" sz="1000" dirty="0">
                <a:solidFill>
                  <a:schemeClr val="bg1"/>
                </a:solidFill>
              </a:rPr>
              <a:t>Extracted and converted all the 1000+ tables and views from source text files in just a few weeks with complex data processing skills. </a:t>
            </a:r>
            <a:r>
              <a:rPr lang="en-US" sz="1000" dirty="0" err="1">
                <a:solidFill>
                  <a:schemeClr val="bg1"/>
                </a:solidFill>
              </a:rPr>
              <a:t>Analysed</a:t>
            </a:r>
            <a:r>
              <a:rPr lang="en-US" sz="1000" dirty="0">
                <a:solidFill>
                  <a:schemeClr val="bg1"/>
                </a:solidFill>
              </a:rPr>
              <a:t> all distinct patterns of 500 stored procedures and suggested ways of restructuring the code when migrating. </a:t>
            </a:r>
          </a:p>
          <a:p>
            <a:r>
              <a:rPr lang="en-US" sz="1000" dirty="0">
                <a:solidFill>
                  <a:schemeClr val="bg1"/>
                </a:solidFill>
              </a:rPr>
              <a:t>Extracted the data object relationships of the tables, views, stored procedures, and Informatica workflows. Set up an easy-to-use graph analysis system to track the data lineage and their clustering relationship. </a:t>
            </a:r>
          </a:p>
          <a:p>
            <a:r>
              <a:rPr lang="en-US" sz="1000" dirty="0">
                <a:solidFill>
                  <a:schemeClr val="bg1"/>
                </a:solidFill>
              </a:rPr>
              <a:t>Reduced the technical risk and paved the way for smooth project delivery. </a:t>
            </a:r>
          </a:p>
        </p:txBody>
      </p:sp>
      <p:sp>
        <p:nvSpPr>
          <p:cNvPr id="54" name="TextBox 53">
            <a:extLst>
              <a:ext uri="{FF2B5EF4-FFF2-40B4-BE49-F238E27FC236}">
                <a16:creationId xmlns:a16="http://schemas.microsoft.com/office/drawing/2014/main" id="{092E8EE8-EB50-47B2-451E-CA41683BA524}"/>
              </a:ext>
            </a:extLst>
          </p:cNvPr>
          <p:cNvSpPr txBox="1"/>
          <p:nvPr/>
        </p:nvSpPr>
        <p:spPr>
          <a:xfrm>
            <a:off x="3472965" y="1363472"/>
            <a:ext cx="4550465"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t>Maintained AWS and private cloud infrastructure with CloudFormation and Ansible; developed DevOps dashboard using React + Node.js; developed a Python SSH operation module to control node servers.</a:t>
            </a:r>
          </a:p>
          <a:p>
            <a:r>
              <a:rPr lang="en-US" sz="1000" dirty="0"/>
              <a:t>Introduced the idea of SRE and used data analysis skill to manage SLA/SLO of application performance. </a:t>
            </a:r>
          </a:p>
          <a:p>
            <a:r>
              <a:rPr lang="en-US" sz="1000" dirty="0"/>
              <a:t>Developed big data ETL systems to ingest data from MS </a:t>
            </a:r>
            <a:r>
              <a:rPr lang="en-US" sz="1000" dirty="0" err="1"/>
              <a:t>Sqlserver</a:t>
            </a:r>
            <a:r>
              <a:rPr lang="en-US" sz="1000" dirty="0"/>
              <a:t> databases, Redshift, and non-relational data sources like Splunk, Rest API, etc. into CDH using Python, Spark, Oozie, Lambda and Airflow. </a:t>
            </a:r>
          </a:p>
          <a:p>
            <a:r>
              <a:rPr lang="en-US" sz="1000" dirty="0"/>
              <a:t>Developed an application to detect system performance anomalies using time series analysis, a system capacity prediction application, and also several NLP projects, for example, topic modelling of technical tickets, text information scoring, topic classification, etc.</a:t>
            </a:r>
          </a:p>
        </p:txBody>
      </p:sp>
      <p:sp>
        <p:nvSpPr>
          <p:cNvPr id="58" name="TextBox 57">
            <a:extLst>
              <a:ext uri="{FF2B5EF4-FFF2-40B4-BE49-F238E27FC236}">
                <a16:creationId xmlns:a16="http://schemas.microsoft.com/office/drawing/2014/main" id="{0CC34BC6-1E49-0ABF-685A-52CF78AD2F71}"/>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Entertainment &amp; Gaming</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Government</a:t>
            </a:r>
          </a:p>
          <a:p>
            <a:pPr marL="0" indent="0">
              <a:lnSpc>
                <a:spcPct val="150000"/>
              </a:lnSpc>
              <a:buNone/>
            </a:pPr>
            <a:endParaRPr lang="en-GB" sz="1200" dirty="0">
              <a:solidFill>
                <a:srgbClr val="00AB80"/>
              </a:solidFill>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A3FC8E-BCE9-4331-802A-F6E2F6F18203}">
  <ds:schemaRefs>
    <ds:schemaRef ds:uri="http://schemas.microsoft.com/office/2006/documentManagement/types"/>
    <ds:schemaRef ds:uri="http://schemas.openxmlformats.org/package/2006/metadata/core-properties"/>
    <ds:schemaRef ds:uri="http://www.w3.org/XML/1998/namespace"/>
    <ds:schemaRef ds:uri="http://purl.org/dc/elements/1.1/"/>
    <ds:schemaRef ds:uri="daf93972-1964-4522-aa34-640805a01c3a"/>
    <ds:schemaRef ds:uri="http://schemas.microsoft.com/office/2006/metadata/properties"/>
    <ds:schemaRef ds:uri="http://purl.org/dc/terms/"/>
    <ds:schemaRef ds:uri="http://schemas.microsoft.com/office/infopath/2007/PartnerControls"/>
    <ds:schemaRef ds:uri="e52cd9e7-35e5-4bd3-9cab-ca6a63c31e52"/>
    <ds:schemaRef ds:uri="http://purl.org/dc/dcmitype/"/>
  </ds:schemaRefs>
</ds:datastoreItem>
</file>

<file path=customXml/itemProps2.xml><?xml version="1.0" encoding="utf-8"?>
<ds:datastoreItem xmlns:ds="http://schemas.openxmlformats.org/officeDocument/2006/customXml" ds:itemID="{D4B9D924-4E44-4096-9A77-7AA6B745F858}"/>
</file>

<file path=customXml/itemProps3.xml><?xml version="1.0" encoding="utf-8"?>
<ds:datastoreItem xmlns:ds="http://schemas.openxmlformats.org/officeDocument/2006/customXml" ds:itemID="{24EFC7D2-6851-4433-B704-A6B16196C9D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6386</TotalTime>
  <Words>590</Words>
  <Application>Microsoft Office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93</cp:revision>
  <dcterms:created xsi:type="dcterms:W3CDTF">2019-12-03T01:50:37Z</dcterms:created>
  <dcterms:modified xsi:type="dcterms:W3CDTF">2022-11-15T23:59:32Z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