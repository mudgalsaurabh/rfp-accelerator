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F2B3F"/>
    <a:srgbClr val="0059FF"/>
    <a:srgbClr val="00AB80"/>
    <a:srgbClr val="A935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56" d="100"/>
          <a:sy n="56" d="100"/>
        </p:scale>
        <p:origin x="1696"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Martinico" userId="S::paul.martinico@intelia.com.au::05e381d2-80b7-43e8-b915-faa146d84a0f" providerId="AD" clId="Web-{983C4ADB-47D2-47E9-A82D-8C488BC3C448}"/>
    <pc:docChg chg="modSld">
      <pc:chgData name="Paul Martinico" userId="S::paul.martinico@intelia.com.au::05e381d2-80b7-43e8-b915-faa146d84a0f" providerId="AD" clId="Web-{983C4ADB-47D2-47E9-A82D-8C488BC3C448}" dt="2023-10-18T02:13:55.956" v="0"/>
      <pc:docMkLst>
        <pc:docMk/>
      </pc:docMkLst>
      <pc:sldChg chg="modSp">
        <pc:chgData name="Paul Martinico" userId="S::paul.martinico@intelia.com.au::05e381d2-80b7-43e8-b915-faa146d84a0f" providerId="AD" clId="Web-{983C4ADB-47D2-47E9-A82D-8C488BC3C448}" dt="2023-10-18T02:13:55.956" v="0"/>
        <pc:sldMkLst>
          <pc:docMk/>
          <pc:sldMk cId="2009923557" sldId="270"/>
        </pc:sldMkLst>
        <pc:spChg chg="mod">
          <ac:chgData name="Paul Martinico" userId="S::paul.martinico@intelia.com.au::05e381d2-80b7-43e8-b915-faa146d84a0f" providerId="AD" clId="Web-{983C4ADB-47D2-47E9-A82D-8C488BC3C448}" dt="2023-10-18T02:13:55.956" v="0"/>
          <ac:spMkLst>
            <pc:docMk/>
            <pc:sldMk cId="2009923557" sldId="270"/>
            <ac:spMk id="26" creationId="{1A3D666D-00C8-D106-73C3-9FF300F8618C}"/>
          </ac:spMkLst>
        </pc:spChg>
      </pc:sldChg>
    </pc:docChg>
  </pc:docChgLst>
  <pc:docChgLst>
    <pc:chgData name="Darcy Roach" userId="ba676ee9-e9b4-49e8-a515-8077106c948d" providerId="ADAL" clId="{5BF02A83-E286-48BB-97CD-A23EB0862AA0}"/>
    <pc:docChg chg="custSel modSld">
      <pc:chgData name="Darcy Roach" userId="ba676ee9-e9b4-49e8-a515-8077106c948d" providerId="ADAL" clId="{5BF02A83-E286-48BB-97CD-A23EB0862AA0}" dt="2024-02-06T23:35:57.678" v="113" actId="14100"/>
      <pc:docMkLst>
        <pc:docMk/>
      </pc:docMkLst>
      <pc:sldChg chg="modSp mod">
        <pc:chgData name="Darcy Roach" userId="ba676ee9-e9b4-49e8-a515-8077106c948d" providerId="ADAL" clId="{5BF02A83-E286-48BB-97CD-A23EB0862AA0}" dt="2024-02-06T23:35:57.678" v="113" actId="14100"/>
        <pc:sldMkLst>
          <pc:docMk/>
          <pc:sldMk cId="2009923557" sldId="270"/>
        </pc:sldMkLst>
        <pc:spChg chg="mod">
          <ac:chgData name="Darcy Roach" userId="ba676ee9-e9b4-49e8-a515-8077106c948d" providerId="ADAL" clId="{5BF02A83-E286-48BB-97CD-A23EB0862AA0}" dt="2024-02-06T23:09:06.993" v="55" actId="14100"/>
          <ac:spMkLst>
            <pc:docMk/>
            <pc:sldMk cId="2009923557" sldId="270"/>
            <ac:spMk id="2" creationId="{2FA774CA-3857-9308-4D38-9414B0CC2B95}"/>
          </ac:spMkLst>
        </pc:spChg>
        <pc:spChg chg="mod">
          <ac:chgData name="Darcy Roach" userId="ba676ee9-e9b4-49e8-a515-8077106c948d" providerId="ADAL" clId="{5BF02A83-E286-48BB-97CD-A23EB0862AA0}" dt="2024-02-06T23:07:51.476" v="30" actId="20577"/>
          <ac:spMkLst>
            <pc:docMk/>
            <pc:sldMk cId="2009923557" sldId="270"/>
            <ac:spMk id="6" creationId="{701E125D-B356-8A2A-B86B-AB6567CEABE1}"/>
          </ac:spMkLst>
        </pc:spChg>
        <pc:spChg chg="mod">
          <ac:chgData name="Darcy Roach" userId="ba676ee9-e9b4-49e8-a515-8077106c948d" providerId="ADAL" clId="{5BF02A83-E286-48BB-97CD-A23EB0862AA0}" dt="2024-02-06T23:09:56.741" v="109" actId="20577"/>
          <ac:spMkLst>
            <pc:docMk/>
            <pc:sldMk cId="2009923557" sldId="270"/>
            <ac:spMk id="28" creationId="{6059F888-3BDF-A1C0-65E5-CB6FDD43D97C}"/>
          </ac:spMkLst>
        </pc:spChg>
        <pc:spChg chg="mod">
          <ac:chgData name="Darcy Roach" userId="ba676ee9-e9b4-49e8-a515-8077106c948d" providerId="ADAL" clId="{5BF02A83-E286-48BB-97CD-A23EB0862AA0}" dt="2024-02-06T23:34:59.076" v="111" actId="20577"/>
          <ac:spMkLst>
            <pc:docMk/>
            <pc:sldMk cId="2009923557" sldId="270"/>
            <ac:spMk id="38" creationId="{AB47A2EE-BF0B-DB05-8B7C-DB6594B2B3D5}"/>
          </ac:spMkLst>
        </pc:spChg>
        <pc:spChg chg="mod">
          <ac:chgData name="Darcy Roach" userId="ba676ee9-e9b4-49e8-a515-8077106c948d" providerId="ADAL" clId="{5BF02A83-E286-48BB-97CD-A23EB0862AA0}" dt="2024-02-06T23:07:02.034" v="2" actId="1076"/>
          <ac:spMkLst>
            <pc:docMk/>
            <pc:sldMk cId="2009923557" sldId="270"/>
            <ac:spMk id="51" creationId="{A2694574-9592-18E9-CB1B-E6D8C3D03583}"/>
          </ac:spMkLst>
        </pc:spChg>
        <pc:grpChg chg="mod">
          <ac:chgData name="Darcy Roach" userId="ba676ee9-e9b4-49e8-a515-8077106c948d" providerId="ADAL" clId="{5BF02A83-E286-48BB-97CD-A23EB0862AA0}" dt="2024-02-06T23:07:20.301" v="5" actId="1076"/>
          <ac:grpSpMkLst>
            <pc:docMk/>
            <pc:sldMk cId="2009923557" sldId="270"/>
            <ac:grpSpMk id="18" creationId="{E0B3FDFC-4A78-346F-E1D4-E183BEB90A60}"/>
          </ac:grpSpMkLst>
        </pc:grpChg>
        <pc:cxnChg chg="mod">
          <ac:chgData name="Darcy Roach" userId="ba676ee9-e9b4-49e8-a515-8077106c948d" providerId="ADAL" clId="{5BF02A83-E286-48BB-97CD-A23EB0862AA0}" dt="2024-02-06T23:06:49.422" v="0" actId="14100"/>
          <ac:cxnSpMkLst>
            <pc:docMk/>
            <pc:sldMk cId="2009923557" sldId="270"/>
            <ac:cxnSpMk id="3" creationId="{67C34E10-2CF8-9BCA-1CC6-D78A3FF9CA80}"/>
          </ac:cxnSpMkLst>
        </pc:cxnChg>
        <pc:cxnChg chg="mod">
          <ac:chgData name="Darcy Roach" userId="ba676ee9-e9b4-49e8-a515-8077106c948d" providerId="ADAL" clId="{5BF02A83-E286-48BB-97CD-A23EB0862AA0}" dt="2024-02-06T23:07:08.400" v="3" actId="14100"/>
          <ac:cxnSpMkLst>
            <pc:docMk/>
            <pc:sldMk cId="2009923557" sldId="270"/>
            <ac:cxnSpMk id="15" creationId="{F87F05F2-DA4C-4F55-A5D0-1887110DF155}"/>
          </ac:cxnSpMkLst>
        </pc:cxnChg>
        <pc:cxnChg chg="mod">
          <ac:chgData name="Darcy Roach" userId="ba676ee9-e9b4-49e8-a515-8077106c948d" providerId="ADAL" clId="{5BF02A83-E286-48BB-97CD-A23EB0862AA0}" dt="2024-02-06T23:09:32.390" v="56" actId="14100"/>
          <ac:cxnSpMkLst>
            <pc:docMk/>
            <pc:sldMk cId="2009923557" sldId="270"/>
            <ac:cxnSpMk id="21" creationId="{B0913DE4-461D-CE43-AABC-C4B3D7D22F45}"/>
          </ac:cxnSpMkLst>
        </pc:cxnChg>
        <pc:cxnChg chg="mod">
          <ac:chgData name="Darcy Roach" userId="ba676ee9-e9b4-49e8-a515-8077106c948d" providerId="ADAL" clId="{5BF02A83-E286-48BB-97CD-A23EB0862AA0}" dt="2024-02-06T23:35:57.678" v="113" actId="14100"/>
          <ac:cxnSpMkLst>
            <pc:docMk/>
            <pc:sldMk cId="2009923557" sldId="270"/>
            <ac:cxnSpMk id="170" creationId="{0D51728F-48BB-14BB-256E-5F0C0284BCDF}"/>
          </ac:cxnSpMkLst>
        </pc:cxnChg>
      </pc:sldChg>
    </pc:docChg>
  </pc:docChgLst>
  <pc:docChgLst>
    <pc:chgData name="Emilio Parente" userId="S::emilio.parente@intelia.com.au::01da3a18-a8c9-4a65-a55b-c6794ec7dcc4" providerId="AD" clId="Web-{81FD4056-CBC7-4D14-B6AD-E42E11A5A63B}"/>
    <pc:docChg chg="modSld">
      <pc:chgData name="Emilio Parente" userId="S::emilio.parente@intelia.com.au::01da3a18-a8c9-4a65-a55b-c6794ec7dcc4" providerId="AD" clId="Web-{81FD4056-CBC7-4D14-B6AD-E42E11A5A63B}" dt="2023-09-24T01:42:11.487" v="28" actId="20577"/>
      <pc:docMkLst>
        <pc:docMk/>
      </pc:docMkLst>
      <pc:sldChg chg="modSp">
        <pc:chgData name="Emilio Parente" userId="S::emilio.parente@intelia.com.au::01da3a18-a8c9-4a65-a55b-c6794ec7dcc4" providerId="AD" clId="Web-{81FD4056-CBC7-4D14-B6AD-E42E11A5A63B}" dt="2023-09-24T01:42:11.487" v="28" actId="20577"/>
        <pc:sldMkLst>
          <pc:docMk/>
          <pc:sldMk cId="2009923557" sldId="270"/>
        </pc:sldMkLst>
        <pc:spChg chg="mod">
          <ac:chgData name="Emilio Parente" userId="S::emilio.parente@intelia.com.au::01da3a18-a8c9-4a65-a55b-c6794ec7dcc4" providerId="AD" clId="Web-{81FD4056-CBC7-4D14-B6AD-E42E11A5A63B}" dt="2023-09-24T01:40:02.843" v="5" actId="20577"/>
          <ac:spMkLst>
            <pc:docMk/>
            <pc:sldMk cId="2009923557" sldId="270"/>
            <ac:spMk id="6" creationId="{701E125D-B356-8A2A-B86B-AB6567CEABE1}"/>
          </ac:spMkLst>
        </pc:spChg>
        <pc:spChg chg="mod">
          <ac:chgData name="Emilio Parente" userId="S::emilio.parente@intelia.com.au::01da3a18-a8c9-4a65-a55b-c6794ec7dcc4" providerId="AD" clId="Web-{81FD4056-CBC7-4D14-B6AD-E42E11A5A63B}" dt="2023-09-24T01:41:28.079" v="21" actId="20577"/>
          <ac:spMkLst>
            <pc:docMk/>
            <pc:sldMk cId="2009923557" sldId="270"/>
            <ac:spMk id="13" creationId="{FD2720C9-A79F-BD7F-E179-674AD67D7892}"/>
          </ac:spMkLst>
        </pc:spChg>
        <pc:spChg chg="mod">
          <ac:chgData name="Emilio Parente" userId="S::emilio.parente@intelia.com.au::01da3a18-a8c9-4a65-a55b-c6794ec7dcc4" providerId="AD" clId="Web-{81FD4056-CBC7-4D14-B6AD-E42E11A5A63B}" dt="2023-09-24T01:41:42.455" v="23" actId="1076"/>
          <ac:spMkLst>
            <pc:docMk/>
            <pc:sldMk cId="2009923557" sldId="270"/>
            <ac:spMk id="17" creationId="{1BDE5051-9F34-F139-742D-4450E5D6591E}"/>
          </ac:spMkLst>
        </pc:spChg>
        <pc:spChg chg="mod">
          <ac:chgData name="Emilio Parente" userId="S::emilio.parente@intelia.com.au::01da3a18-a8c9-4a65-a55b-c6794ec7dcc4" providerId="AD" clId="Web-{81FD4056-CBC7-4D14-B6AD-E42E11A5A63B}" dt="2023-09-24T01:41:42.486" v="24" actId="1076"/>
          <ac:spMkLst>
            <pc:docMk/>
            <pc:sldMk cId="2009923557" sldId="270"/>
            <ac:spMk id="20" creationId="{716A87E2-F657-C1C6-3715-B7C8A7F1E050}"/>
          </ac:spMkLst>
        </pc:spChg>
        <pc:spChg chg="mod">
          <ac:chgData name="Emilio Parente" userId="S::emilio.parente@intelia.com.au::01da3a18-a8c9-4a65-a55b-c6794ec7dcc4" providerId="AD" clId="Web-{81FD4056-CBC7-4D14-B6AD-E42E11A5A63B}" dt="2023-09-24T01:41:31.314" v="22" actId="1076"/>
          <ac:spMkLst>
            <pc:docMk/>
            <pc:sldMk cId="2009923557" sldId="270"/>
            <ac:spMk id="22" creationId="{9D4E289E-1D52-CBDD-E381-40963429D7F1}"/>
          </ac:spMkLst>
        </pc:spChg>
        <pc:spChg chg="mod">
          <ac:chgData name="Emilio Parente" userId="S::emilio.parente@intelia.com.au::01da3a18-a8c9-4a65-a55b-c6794ec7dcc4" providerId="AD" clId="Web-{81FD4056-CBC7-4D14-B6AD-E42E11A5A63B}" dt="2023-09-24T01:42:11.487" v="28" actId="20577"/>
          <ac:spMkLst>
            <pc:docMk/>
            <pc:sldMk cId="2009923557" sldId="270"/>
            <ac:spMk id="49" creationId="{AFFA7D28-DE1A-0F60-E8EF-61D0953FBFC6}"/>
          </ac:spMkLst>
        </pc:spChg>
        <pc:spChg chg="mod">
          <ac:chgData name="Emilio Parente" userId="S::emilio.parente@intelia.com.au::01da3a18-a8c9-4a65-a55b-c6794ec7dcc4" providerId="AD" clId="Web-{81FD4056-CBC7-4D14-B6AD-E42E11A5A63B}" dt="2023-09-24T01:41:02.688" v="13" actId="20577"/>
          <ac:spMkLst>
            <pc:docMk/>
            <pc:sldMk cId="2009923557" sldId="270"/>
            <ac:spMk id="54" creationId="{092E8EE8-EB50-47B2-451E-CA41683BA524}"/>
          </ac:spMkLst>
        </pc:spChg>
        <pc:spChg chg="mod">
          <ac:chgData name="Emilio Parente" userId="S::emilio.parente@intelia.com.au::01da3a18-a8c9-4a65-a55b-c6794ec7dcc4" providerId="AD" clId="Web-{81FD4056-CBC7-4D14-B6AD-E42E11A5A63B}" dt="2023-09-24T01:38:37.295" v="2" actId="20577"/>
          <ac:spMkLst>
            <pc:docMk/>
            <pc:sldMk cId="2009923557" sldId="270"/>
            <ac:spMk id="58" creationId="{0CC34BC6-1E49-0ABF-685A-52CF78AD2F71}"/>
          </ac:spMkLst>
        </pc:spChg>
      </pc:sldChg>
    </pc:docChg>
  </pc:docChgLst>
  <pc:docChgLst>
    <pc:chgData name="Darcy Roach" userId="ba676ee9-e9b4-49e8-a515-8077106c948d" providerId="ADAL" clId="{E7CB08F0-FB45-4D00-8A21-3173CE3443C6}"/>
    <pc:docChg chg="undo custSel modSld">
      <pc:chgData name="Darcy Roach" userId="ba676ee9-e9b4-49e8-a515-8077106c948d" providerId="ADAL" clId="{E7CB08F0-FB45-4D00-8A21-3173CE3443C6}" dt="2024-04-18T04:47:00.853" v="387" actId="20577"/>
      <pc:docMkLst>
        <pc:docMk/>
      </pc:docMkLst>
      <pc:sldChg chg="modSp mod">
        <pc:chgData name="Darcy Roach" userId="ba676ee9-e9b4-49e8-a515-8077106c948d" providerId="ADAL" clId="{E7CB08F0-FB45-4D00-8A21-3173CE3443C6}" dt="2024-04-18T04:47:00.853" v="387" actId="20577"/>
        <pc:sldMkLst>
          <pc:docMk/>
          <pc:sldMk cId="2009923557" sldId="270"/>
        </pc:sldMkLst>
        <pc:spChg chg="mod">
          <ac:chgData name="Darcy Roach" userId="ba676ee9-e9b4-49e8-a515-8077106c948d" providerId="ADAL" clId="{E7CB08F0-FB45-4D00-8A21-3173CE3443C6}" dt="2024-04-18T04:42:50.426" v="322" actId="20577"/>
          <ac:spMkLst>
            <pc:docMk/>
            <pc:sldMk cId="2009923557" sldId="270"/>
            <ac:spMk id="2" creationId="{2FA774CA-3857-9308-4D38-9414B0CC2B95}"/>
          </ac:spMkLst>
        </pc:spChg>
        <pc:spChg chg="mod">
          <ac:chgData name="Darcy Roach" userId="ba676ee9-e9b4-49e8-a515-8077106c948d" providerId="ADAL" clId="{E7CB08F0-FB45-4D00-8A21-3173CE3443C6}" dt="2024-04-18T01:52:05.452" v="59" actId="14100"/>
          <ac:spMkLst>
            <pc:docMk/>
            <pc:sldMk cId="2009923557" sldId="270"/>
            <ac:spMk id="6" creationId="{701E125D-B356-8A2A-B86B-AB6567CEABE1}"/>
          </ac:spMkLst>
        </pc:spChg>
        <pc:spChg chg="mod">
          <ac:chgData name="Darcy Roach" userId="ba676ee9-e9b4-49e8-a515-8077106c948d" providerId="ADAL" clId="{E7CB08F0-FB45-4D00-8A21-3173CE3443C6}" dt="2024-04-18T04:47:00.853" v="387" actId="20577"/>
          <ac:spMkLst>
            <pc:docMk/>
            <pc:sldMk cId="2009923557" sldId="270"/>
            <ac:spMk id="28" creationId="{6059F888-3BDF-A1C0-65E5-CB6FDD43D97C}"/>
          </ac:spMkLst>
        </pc:spChg>
        <pc:spChg chg="mod">
          <ac:chgData name="Darcy Roach" userId="ba676ee9-e9b4-49e8-a515-8077106c948d" providerId="ADAL" clId="{E7CB08F0-FB45-4D00-8A21-3173CE3443C6}" dt="2024-04-18T01:51:19.722" v="5" actId="20577"/>
          <ac:spMkLst>
            <pc:docMk/>
            <pc:sldMk cId="2009923557" sldId="270"/>
            <ac:spMk id="38" creationId="{AB47A2EE-BF0B-DB05-8B7C-DB6594B2B3D5}"/>
          </ac:spMkLst>
        </pc:spChg>
        <pc:spChg chg="mod">
          <ac:chgData name="Darcy Roach" userId="ba676ee9-e9b4-49e8-a515-8077106c948d" providerId="ADAL" clId="{E7CB08F0-FB45-4D00-8A21-3173CE3443C6}" dt="2024-04-18T04:43:48.165" v="351" actId="20577"/>
          <ac:spMkLst>
            <pc:docMk/>
            <pc:sldMk cId="2009923557" sldId="270"/>
            <ac:spMk id="51" creationId="{A2694574-9592-18E9-CB1B-E6D8C3D03583}"/>
          </ac:spMkLst>
        </pc:spChg>
        <pc:spChg chg="mod">
          <ac:chgData name="Darcy Roach" userId="ba676ee9-e9b4-49e8-a515-8077106c948d" providerId="ADAL" clId="{E7CB08F0-FB45-4D00-8A21-3173CE3443C6}" dt="2024-04-18T01:52:13.942" v="82" actId="20577"/>
          <ac:spMkLst>
            <pc:docMk/>
            <pc:sldMk cId="2009923557" sldId="270"/>
            <ac:spMk id="58" creationId="{0CC34BC6-1E49-0ABF-685A-52CF78AD2F71}"/>
          </ac:spMkLst>
        </pc:spChg>
        <pc:grpChg chg="mod">
          <ac:chgData name="Darcy Roach" userId="ba676ee9-e9b4-49e8-a515-8077106c948d" providerId="ADAL" clId="{E7CB08F0-FB45-4D00-8A21-3173CE3443C6}" dt="2024-04-18T04:44:26.323" v="353" actId="1076"/>
          <ac:grpSpMkLst>
            <pc:docMk/>
            <pc:sldMk cId="2009923557" sldId="270"/>
            <ac:grpSpMk id="18" creationId="{E0B3FDFC-4A78-346F-E1D4-E183BEB90A60}"/>
          </ac:grpSpMkLst>
        </pc:grpChg>
        <pc:cxnChg chg="mod">
          <ac:chgData name="Darcy Roach" userId="ba676ee9-e9b4-49e8-a515-8077106c948d" providerId="ADAL" clId="{E7CB08F0-FB45-4D00-8A21-3173CE3443C6}" dt="2024-04-18T04:43:56.046" v="352" actId="14100"/>
          <ac:cxnSpMkLst>
            <pc:docMk/>
            <pc:sldMk cId="2009923557" sldId="270"/>
            <ac:cxnSpMk id="15" creationId="{F87F05F2-DA4C-4F55-A5D0-1887110DF15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4/18/2024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01208" y="113351"/>
            <a:ext cx="2752175" cy="430887"/>
          </a:xfrm>
          <a:prstGeom prst="rect">
            <a:avLst/>
          </a:prstGeom>
          <a:noFill/>
        </p:spPr>
        <p:txBody>
          <a:bodyPr wrap="square" lIns="0" tIns="0" rIns="0" bIns="0" rtlCol="0" anchor="t">
            <a:spAutoFit/>
          </a:bodyPr>
          <a:lstStyle/>
          <a:p>
            <a:r>
              <a:rPr lang="en-US" sz="2800" b="1" dirty="0">
                <a:solidFill>
                  <a:srgbClr val="00AB80"/>
                </a:solidFill>
                <a:latin typeface="Roboto"/>
                <a:ea typeface="Roboto"/>
                <a:cs typeface="Roboto"/>
              </a:rPr>
              <a:t>Kelvin Lu</a:t>
            </a:r>
            <a:endParaRPr lang="en-US" dirty="0"/>
          </a:p>
        </p:txBody>
      </p:sp>
      <p:sp>
        <p:nvSpPr>
          <p:cNvPr id="17" name="TextBox 16">
            <a:extLst>
              <a:ext uri="{FF2B5EF4-FFF2-40B4-BE49-F238E27FC236}">
                <a16:creationId xmlns:a16="http://schemas.microsoft.com/office/drawing/2014/main" id="{1BDE5051-9F34-F139-742D-4450E5D6591E}"/>
              </a:ext>
            </a:extLst>
          </p:cNvPr>
          <p:cNvSpPr txBox="1"/>
          <p:nvPr/>
        </p:nvSpPr>
        <p:spPr>
          <a:xfrm>
            <a:off x="194901" y="1365767"/>
            <a:ext cx="2889923" cy="1333955"/>
          </a:xfrm>
          <a:prstGeom prst="rect">
            <a:avLst/>
          </a:prstGeom>
          <a:noFill/>
        </p:spPr>
        <p:txBody>
          <a:bodyPr wrap="square" lIns="0" tIns="0" rIns="0" bIns="0" rtlCol="0" anchor="t">
            <a:spAutoFit/>
          </a:bodyPr>
          <a:lstStyle/>
          <a:p>
            <a:pPr>
              <a:lnSpc>
                <a:spcPts val="1500"/>
              </a:lnSpc>
            </a:pPr>
            <a:r>
              <a:rPr lang="en-US" sz="1050" spc="13" dirty="0">
                <a:latin typeface="Roboto Light" panose="02000000000000000000" pitchFamily="2" charset="0"/>
                <a:ea typeface="Roboto Light" panose="02000000000000000000" pitchFamily="2" charset="0"/>
                <a:cs typeface="Roboto Light" panose="02000000000000000000" pitchFamily="2" charset="0"/>
              </a:rPr>
              <a:t>Kelvin is an accomplished Data Engineer and Machine Learning Engineer with multiple certifications from AWS, GCP, and Neo4j. He is highly skilled in using cutting-edge technology to solve complex challenges and possesses extensive engineering expertise, as well as sharp business acumen. </a:t>
            </a:r>
            <a:endParaRPr lang="en-US" sz="2000" dirty="0">
              <a:latin typeface="Roboto Light" panose="02000000000000000000" pitchFamily="2" charset="0"/>
              <a:ea typeface="Roboto Light" panose="02000000000000000000" pitchFamily="2" charset="0"/>
              <a:cs typeface="Roboto Light" panose="02000000000000000000" pitchFamily="2"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12652" y="992936"/>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136370" y="667568"/>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 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747849"/>
            <a:ext cx="1510046" cy="2308324"/>
          </a:xfrm>
          <a:prstGeom prst="rect">
            <a:avLst/>
          </a:prstGeom>
          <a:noFill/>
        </p:spPr>
        <p:txBody>
          <a:bodyPr wrap="square" lIns="91440" tIns="45720" rIns="91440" bIns="45720" numCol="1" rtlCol="0" anchor="t">
            <a:spAutoFit/>
          </a:bodyPr>
          <a:lstStyle/>
          <a:p>
            <a:pPr marL="171450" indent="-171450">
              <a:buClr>
                <a:srgbClr val="00AB80"/>
              </a:buClr>
              <a:buFont typeface="Arial,Sans-Serif" panose="020B0604020202020204" pitchFamily="34" charset="0"/>
              <a:buChar char="•"/>
            </a:pPr>
            <a:r>
              <a:rPr lang="en-US" sz="900" dirty="0">
                <a:latin typeface="Roboto Light"/>
                <a:ea typeface="Roboto Light"/>
                <a:cs typeface="Roboto Light"/>
              </a:rPr>
              <a:t>Graph Analysis</a:t>
            </a:r>
          </a:p>
          <a:p>
            <a:pPr marL="171450" indent="-171450">
              <a:buClr>
                <a:srgbClr val="00AB80"/>
              </a:buClr>
              <a:buFont typeface="Arial,Sans-Serif" panose="020B0604020202020204" pitchFamily="34" charset="0"/>
              <a:buChar char="•"/>
            </a:pPr>
            <a:r>
              <a:rPr lang="en-US" sz="900" dirty="0">
                <a:latin typeface="Roboto Light"/>
                <a:ea typeface="Roboto Light"/>
                <a:cs typeface="Roboto Light"/>
              </a:rPr>
              <a:t>Neo4j</a:t>
            </a:r>
          </a:p>
          <a:p>
            <a:pPr marL="171450" indent="-171450">
              <a:buClr>
                <a:srgbClr val="00AB80"/>
              </a:buClr>
              <a:buFont typeface="Arial,Sans-Serif" panose="020B0604020202020204" pitchFamily="34" charset="0"/>
              <a:buChar char="•"/>
            </a:pPr>
            <a:r>
              <a:rPr lang="en-US" sz="900" dirty="0">
                <a:latin typeface="Roboto Light"/>
                <a:ea typeface="Roboto Light"/>
                <a:cs typeface="Roboto Light"/>
              </a:rPr>
              <a:t>NLP</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Looker</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ea typeface="+mn-lt"/>
                <a:cs typeface="+mn-lt"/>
              </a:rPr>
              <a:t>Apache Spark</a:t>
            </a:r>
          </a:p>
          <a:p>
            <a:pPr marL="171450" indent="-171450">
              <a:buClr>
                <a:srgbClr val="00AB80"/>
              </a:buClr>
              <a:buFont typeface="Arial" panose="020B0604020202020204" pitchFamily="34" charset="0"/>
              <a:buChar char="•"/>
            </a:pPr>
            <a:r>
              <a:rPr lang="en-US" sz="900" dirty="0">
                <a:latin typeface="Roboto Light"/>
                <a:ea typeface="Roboto Light"/>
                <a:cs typeface="Roboto Light"/>
              </a:rPr>
              <a:t>Scala</a:t>
            </a:r>
            <a:endParaRPr lang="en-US" dirty="0">
              <a:latin typeface="Roboto Light"/>
              <a:ea typeface="Roboto Light"/>
              <a:cs typeface="Roboto Light"/>
            </a:endParaRPr>
          </a:p>
          <a:p>
            <a:pPr marL="171450" indent="-171450">
              <a:buClr>
                <a:srgbClr val="00AB80"/>
              </a:buClr>
              <a:buFont typeface="Arial,Sans-Serif" panose="020B0604020202020204" pitchFamily="34" charset="0"/>
              <a:buChar char="•"/>
            </a:pPr>
            <a:r>
              <a:rPr lang="en-US" sz="900" dirty="0">
                <a:ea typeface="+mn-lt"/>
                <a:cs typeface="+mn-lt"/>
              </a:rPr>
              <a:t>Java</a:t>
            </a:r>
          </a:p>
          <a:p>
            <a:pPr marL="171450" indent="-171450">
              <a:buClr>
                <a:srgbClr val="00AB80"/>
              </a:buClr>
              <a:buFont typeface="Arial" panose="020B0604020202020204" pitchFamily="34" charset="0"/>
              <a:buChar char="•"/>
            </a:pPr>
            <a:r>
              <a:rPr lang="en-US" sz="900" dirty="0">
                <a:latin typeface="Roboto Light"/>
                <a:ea typeface="Roboto Light"/>
                <a:cs typeface="Roboto Light"/>
              </a:rPr>
              <a:t>Docker</a:t>
            </a:r>
            <a:endParaRPr lang="en-US" dirty="0">
              <a:latin typeface="Roboto Light"/>
              <a:ea typeface="Roboto Light"/>
              <a:cs typeface="Roboto Light"/>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47073"/>
            <a:ext cx="0" cy="1527492"/>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499528"/>
            <a:ext cx="0" cy="133536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7456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383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90009"/>
            <a:ext cx="1951941" cy="3985706"/>
            <a:chOff x="8106458" y="2681447"/>
            <a:chExt cx="1951941" cy="398570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85706"/>
            </a:xfrm>
            <a:prstGeom prst="rect">
              <a:avLst/>
            </a:prstGeom>
            <a:noFill/>
          </p:spPr>
          <p:txBody>
            <a:bodyPr wrap="square" lIns="91440" tIns="45720" rIns="91440" bIns="45720" anchor="t">
              <a:spAutoFit/>
            </a:bodyPr>
            <a:lstStyle/>
            <a:p>
              <a:pPr>
                <a:tabLst>
                  <a:tab pos="3819525" algn="l"/>
                  <a:tab pos="3895725" algn="l"/>
                </a:tabLst>
              </a:pPr>
              <a:endParaRPr lang="en-AU" sz="1100" dirty="0">
                <a:solidFill>
                  <a:srgbClr val="00AB80"/>
                </a:solidFill>
                <a:effectLst/>
                <a:latin typeface="Times New Roman" panose="02020603050405020304" pitchFamily="18" charset="0"/>
                <a:ea typeface="Calibri" panose="020F0502020204030204" pitchFamily="34" charset="0"/>
                <a:cs typeface="Times New Roman"/>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Google Cloud Platform –Certified Data Engineer</a:t>
              </a:r>
            </a:p>
            <a:p>
              <a:pPr>
                <a:tabLst>
                  <a:tab pos="3819525" algn="l"/>
                  <a:tab pos="3895725" algn="l"/>
                </a:tabLst>
              </a:pPr>
              <a:endParaRPr lang="en-GB"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Google Cloud Platform –</a:t>
              </a: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Machine Learning Specialist</a:t>
              </a:r>
            </a:p>
            <a:p>
              <a:pPr>
                <a:tabLst>
                  <a:tab pos="3819525" algn="l"/>
                  <a:tab pos="3895725" algn="l"/>
                </a:tabLst>
              </a:pP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Amazon Web Services –</a:t>
              </a: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Certified Machine Learning Specialist</a:t>
              </a:r>
            </a:p>
            <a:p>
              <a:pPr>
                <a:tabLst>
                  <a:tab pos="3819525" algn="l"/>
                  <a:tab pos="3895725" algn="l"/>
                </a:tabLst>
              </a:pPr>
              <a:endParaRPr lang="en-GB"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Amazon Web Services –</a:t>
              </a:r>
            </a:p>
            <a:p>
              <a:pPr>
                <a:tabLst>
                  <a:tab pos="3819525" algn="l"/>
                  <a:tab pos="3895725" algn="l"/>
                </a:tabLst>
              </a:pPr>
              <a:r>
                <a:rPr lang="en-GB" sz="1100" dirty="0">
                  <a:solidFill>
                    <a:srgbClr val="00AB80"/>
                  </a:solidFill>
                  <a:latin typeface="Roboto Light"/>
                  <a:ea typeface="Calibri" panose="020F0502020204030204" pitchFamily="34" charset="0"/>
                  <a:cs typeface="Roboto Light"/>
                </a:rPr>
                <a:t>Certified Big Data Specialist</a:t>
              </a: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endParaRPr lang="en-US" sz="1100" dirty="0">
                <a:solidFill>
                  <a:srgbClr val="00AB80"/>
                </a:solidFill>
                <a:latin typeface="Roboto Light" panose="02000000000000000000" pitchFamily="2" charset="0"/>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Neo4J Certified Data Scientist</a:t>
              </a:r>
            </a:p>
            <a:p>
              <a:pPr>
                <a:tabLst>
                  <a:tab pos="3819525" algn="l"/>
                  <a:tab pos="3895725" algn="l"/>
                </a:tabLst>
              </a:pP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Neo4J Certified Graph Database Developer</a:t>
              </a:r>
            </a:p>
            <a:p>
              <a:pPr>
                <a:tabLst>
                  <a:tab pos="3819525" algn="l"/>
                  <a:tab pos="3895725" algn="l"/>
                </a:tabLst>
              </a:pPr>
              <a:endParaRPr lang="en-US" sz="1100" dirty="0">
                <a:solidFill>
                  <a:srgbClr val="00AB80"/>
                </a:solidFill>
                <a:latin typeface="Roboto Light"/>
                <a:ea typeface="Calibri" panose="020F0502020204030204" pitchFamily="34" charset="0"/>
                <a:cs typeface="Roboto Light"/>
              </a:endParaRPr>
            </a:p>
            <a:p>
              <a:pPr>
                <a:tabLst>
                  <a:tab pos="3819525" algn="l"/>
                  <a:tab pos="3895725" algn="l"/>
                </a:tabLst>
              </a:pPr>
              <a:r>
                <a:rPr lang="en-US" sz="1100" dirty="0">
                  <a:solidFill>
                    <a:srgbClr val="00AB80"/>
                  </a:solidFill>
                  <a:latin typeface="Roboto Light"/>
                  <a:ea typeface="Calibri" panose="020F0502020204030204" pitchFamily="34" charset="0"/>
                  <a:cs typeface="Roboto Light"/>
                </a:rPr>
                <a:t>Master </a:t>
              </a:r>
              <a:r>
                <a:rPr lang="en-GB" sz="1100" dirty="0">
                  <a:solidFill>
                    <a:srgbClr val="00AB80"/>
                  </a:solidFill>
                  <a:latin typeface="Roboto Light"/>
                  <a:ea typeface="Calibri" panose="020F0502020204030204" pitchFamily="34" charset="0"/>
                  <a:cs typeface="Roboto Light"/>
                </a:rPr>
                <a:t>– Computer Science &amp; Business Administration</a:t>
              </a:r>
            </a:p>
            <a:p>
              <a:pPr>
                <a:tabLst>
                  <a:tab pos="3819525" algn="l"/>
                  <a:tab pos="3895725" algn="l"/>
                </a:tabLst>
              </a:pPr>
              <a:r>
                <a:rPr lang="en-AU" sz="1100" dirty="0">
                  <a:solidFill>
                    <a:srgbClr val="00AB80"/>
                  </a:solidFill>
                  <a:latin typeface="Roboto Light"/>
                  <a:ea typeface="Roboto Light"/>
                  <a:cs typeface="Roboto Light"/>
                </a:rPr>
                <a:t>Renmin University, China </a:t>
              </a:r>
              <a:endParaRPr lang="en-AU" sz="1100" dirty="0">
                <a:solidFill>
                  <a:srgbClr val="00AB80"/>
                </a:solidFill>
                <a:latin typeface="Roboto Light" panose="02000000000000000000" pitchFamily="2" charset="0"/>
                <a:ea typeface="Roboto Light"/>
                <a:cs typeface="Roboto Light"/>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145956"/>
            <a:ext cx="4639254"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AI Tech Organisation – Machine Learning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2" y="574784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Amazon 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Web Services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Time Series Analysis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96904"/>
            <a:ext cx="4785191" cy="276999"/>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Major Australian Logistics Organisation – Senior Data Scientist</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301323"/>
            <a:ext cx="4584890" cy="1938992"/>
            <a:chOff x="5023753" y="4247510"/>
            <a:chExt cx="4757437" cy="193899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t>Led the POC project to showcase the usage of GCP features, Confluent Cloud, ML and Data Vault. Achievement: </a:t>
              </a:r>
            </a:p>
            <a:p>
              <a:r>
                <a:rPr lang="en-US" sz="1000" dirty="0"/>
                <a:t>Developed data integration solutions between on-prem Kafka and GCP with Confluent Cloud. 		</a:t>
              </a:r>
            </a:p>
            <a:p>
              <a:r>
                <a:rPr lang="en-US" sz="1000" dirty="0"/>
                <a:t>Developed data ingestion solution based on GCS, </a:t>
              </a:r>
              <a:r>
                <a:rPr lang="en-US" sz="1000" dirty="0" err="1"/>
                <a:t>Dataprep</a:t>
              </a:r>
              <a:r>
                <a:rPr lang="en-US" sz="1000" dirty="0"/>
                <a:t>, </a:t>
              </a:r>
              <a:r>
                <a:rPr lang="en-US" sz="1000" dirty="0" err="1"/>
                <a:t>Bigquery</a:t>
              </a:r>
              <a:r>
                <a:rPr lang="en-US" sz="1000" dirty="0"/>
                <a:t>. 	</a:t>
              </a:r>
            </a:p>
            <a:p>
              <a:r>
                <a:rPr lang="en-US" sz="1000" dirty="0"/>
                <a:t>Developed K-Means customer segmentation model based on a limited dataset to showcase how to leverage machine learning with limited </a:t>
              </a:r>
              <a:r>
                <a:rPr lang="en-US" sz="1000" dirty="0" err="1"/>
                <a:t>dat</a:t>
              </a:r>
              <a:endParaRPr lang="en-US" sz="1000" dirty="0"/>
            </a:p>
            <a:p>
              <a:r>
                <a:rPr lang="en-US" sz="1000" dirty="0"/>
                <a:t>Developed Looker dashboards. </a:t>
              </a:r>
            </a:p>
            <a:p>
              <a:r>
                <a:rPr lang="en-US" sz="1000" dirty="0"/>
                <a:t>Developed Terraform-based CICD system. </a:t>
              </a:r>
            </a:p>
            <a:p>
              <a:r>
                <a:rPr lang="en-US" sz="1000" dirty="0"/>
                <a:t>Demonstrated the usage of Data Catalog, Data Loss Prevention, and Vertex AI Feature Store. </a:t>
              </a:r>
            </a:p>
            <a:p>
              <a:endParaRPr lang="en-GB"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65014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024324"/>
            <a:ext cx="5080320"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 – Senior ML Engineer</a:t>
            </a:r>
          </a:p>
        </p:txBody>
      </p:sp>
      <p:sp>
        <p:nvSpPr>
          <p:cNvPr id="49" name="TextBox 48">
            <a:extLst>
              <a:ext uri="{FF2B5EF4-FFF2-40B4-BE49-F238E27FC236}">
                <a16:creationId xmlns:a16="http://schemas.microsoft.com/office/drawing/2014/main" id="{AFFA7D28-DE1A-0F60-E8EF-61D0953FBFC6}"/>
              </a:ext>
            </a:extLst>
          </p:cNvPr>
          <p:cNvSpPr txBox="1"/>
          <p:nvPr/>
        </p:nvSpPr>
        <p:spPr>
          <a:xfrm>
            <a:off x="200064" y="2804655"/>
            <a:ext cx="2935074" cy="2486258"/>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sz="1050" dirty="0">
                <a:latin typeface="Roboto Light"/>
                <a:ea typeface="Roboto Light"/>
                <a:cs typeface="Roboto Light"/>
              </a:rPr>
              <a:t>With more than 5 years of experience in Data Engineering and Machine Learning, in addition to over 15 years of software development expertise, Kelvin is a versatile and self-directed professional. He excels in developing data ETL systems, deriving business value from data, and uncovering hidden insights through pragmatic machine learning solutions. Kelvin is also proficient in developing integrations into source systems using both custom code (Python, SQL) as well as using managed services (</a:t>
            </a:r>
            <a:r>
              <a:rPr lang="en-US" sz="1050" dirty="0" err="1">
                <a:latin typeface="Roboto Light"/>
                <a:ea typeface="Roboto Light"/>
                <a:cs typeface="Roboto Light"/>
              </a:rPr>
              <a:t>Fivetran</a:t>
            </a:r>
            <a:r>
              <a:rPr lang="en-US" sz="1050" dirty="0">
                <a:latin typeface="Roboto Light"/>
                <a:ea typeface="Roboto Light"/>
                <a:cs typeface="Roboto Light"/>
              </a:rPr>
              <a:t>, </a:t>
            </a:r>
            <a:r>
              <a:rPr lang="en-US" sz="1050" dirty="0" err="1">
                <a:latin typeface="Roboto Light"/>
                <a:ea typeface="Roboto Light"/>
                <a:cs typeface="Roboto Light"/>
              </a:rPr>
              <a:t>Matillion</a:t>
            </a:r>
            <a:r>
              <a:rPr lang="en-US" sz="1050" dirty="0">
                <a:latin typeface="Roboto Light"/>
                <a:ea typeface="Roboto Light"/>
                <a:cs typeface="Roboto Light"/>
              </a:rPr>
              <a:t>).</a:t>
            </a:r>
          </a:p>
          <a:p>
            <a:r>
              <a:rPr lang="en-US" sz="1050" dirty="0">
                <a:latin typeface="Roboto Light"/>
                <a:ea typeface="Roboto Light"/>
                <a:cs typeface="Roboto Light"/>
              </a:rPr>
              <a:t>.</a:t>
            </a:r>
            <a:endParaRPr lang="en-US" sz="1050" dirty="0"/>
          </a:p>
        </p:txBody>
      </p:sp>
      <p:sp>
        <p:nvSpPr>
          <p:cNvPr id="51" name="TextBox 50">
            <a:extLst>
              <a:ext uri="{FF2B5EF4-FFF2-40B4-BE49-F238E27FC236}">
                <a16:creationId xmlns:a16="http://schemas.microsoft.com/office/drawing/2014/main" id="{A2694574-9592-18E9-CB1B-E6D8C3D03583}"/>
              </a:ext>
            </a:extLst>
          </p:cNvPr>
          <p:cNvSpPr txBox="1"/>
          <p:nvPr/>
        </p:nvSpPr>
        <p:spPr>
          <a:xfrm>
            <a:off x="3463962" y="3410118"/>
            <a:ext cx="4405084" cy="1508105"/>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The customer b</a:t>
            </a:r>
            <a:r>
              <a:rPr lang="en-AU" sz="1000" dirty="0" err="1">
                <a:solidFill>
                  <a:schemeClr val="bg1"/>
                </a:solidFill>
              </a:rPr>
              <a:t>oasts</a:t>
            </a:r>
            <a:r>
              <a:rPr lang="en-AU" sz="1000" dirty="0">
                <a:solidFill>
                  <a:schemeClr val="bg1"/>
                </a:solidFill>
              </a:rPr>
              <a:t> a long and successful track record in computer vision, having established themselves in the ANZ market and now setting their sights on global expansion.</a:t>
            </a:r>
            <a:r>
              <a:rPr lang="en-US" sz="1000" dirty="0">
                <a:solidFill>
                  <a:schemeClr val="bg1"/>
                </a:solidFill>
              </a:rPr>
              <a:t> Achievements of this role included:</a:t>
            </a:r>
          </a:p>
          <a:p>
            <a:pPr marL="0" indent="0">
              <a:buNone/>
            </a:pPr>
            <a:endParaRPr lang="en-US" sz="200" dirty="0">
              <a:solidFill>
                <a:schemeClr val="bg1"/>
              </a:solidFill>
            </a:endParaRPr>
          </a:p>
          <a:p>
            <a:r>
              <a:rPr lang="en-AU" sz="1000" dirty="0">
                <a:solidFill>
                  <a:schemeClr val="bg1"/>
                </a:solidFill>
                <a:latin typeface="Roboto Light"/>
                <a:ea typeface="Roboto Light"/>
                <a:cs typeface="Roboto Light"/>
              </a:rPr>
              <a:t>Lead technical role in uplifting the customer’s ML system into Google Cloud Platform</a:t>
            </a:r>
          </a:p>
          <a:p>
            <a:r>
              <a:rPr lang="en-AU" sz="1000" dirty="0">
                <a:solidFill>
                  <a:schemeClr val="bg1"/>
                </a:solidFill>
                <a:latin typeface="Roboto Light"/>
                <a:ea typeface="Roboto Light"/>
                <a:cs typeface="Roboto Light"/>
              </a:rPr>
              <a:t>Provided a blueprint for </a:t>
            </a:r>
            <a:r>
              <a:rPr lang="en-AU" sz="1000" dirty="0" err="1">
                <a:solidFill>
                  <a:schemeClr val="bg1"/>
                </a:solidFill>
                <a:latin typeface="Roboto Light"/>
                <a:ea typeface="Roboto Light"/>
                <a:cs typeface="Roboto Light"/>
              </a:rPr>
              <a:t>MLOps</a:t>
            </a:r>
            <a:r>
              <a:rPr lang="en-AU" sz="1000" dirty="0">
                <a:solidFill>
                  <a:schemeClr val="bg1"/>
                </a:solidFill>
                <a:latin typeface="Roboto Light"/>
                <a:ea typeface="Roboto Light"/>
                <a:cs typeface="Roboto Light"/>
              </a:rPr>
              <a:t> enhancement</a:t>
            </a:r>
          </a:p>
          <a:p>
            <a:r>
              <a:rPr lang="en-AU" sz="1000" dirty="0">
                <a:solidFill>
                  <a:schemeClr val="bg1"/>
                </a:solidFill>
                <a:latin typeface="Roboto Light"/>
                <a:ea typeface="Roboto Light"/>
                <a:cs typeface="Roboto Light"/>
              </a:rPr>
              <a:t>Implemented and distributed training at ten-fold the training speed</a:t>
            </a:r>
          </a:p>
          <a:p>
            <a:r>
              <a:rPr lang="en-AU" sz="1000" dirty="0">
                <a:solidFill>
                  <a:schemeClr val="bg1"/>
                </a:solidFill>
                <a:latin typeface="Roboto Light"/>
                <a:ea typeface="Roboto Light"/>
                <a:cs typeface="Roboto Light"/>
              </a:rPr>
              <a:t>Implemented the data processing and </a:t>
            </a:r>
            <a:r>
              <a:rPr lang="en-AU" sz="1000" dirty="0" err="1">
                <a:solidFill>
                  <a:schemeClr val="bg1"/>
                </a:solidFill>
                <a:latin typeface="Roboto Light"/>
                <a:ea typeface="Roboto Light"/>
                <a:cs typeface="Roboto Light"/>
              </a:rPr>
              <a:t>pipelineled</a:t>
            </a:r>
            <a:r>
              <a:rPr lang="en-AU" sz="1000" dirty="0">
                <a:solidFill>
                  <a:schemeClr val="bg1"/>
                </a:solidFill>
                <a:latin typeface="Roboto Light"/>
                <a:ea typeface="Roboto Light"/>
                <a:cs typeface="Roboto Light"/>
              </a:rPr>
              <a:t> the transfer learning proof-of-concept</a:t>
            </a:r>
            <a:endParaRPr lang="en-US" sz="1000" dirty="0">
              <a:solidFill>
                <a:schemeClr val="bg1"/>
              </a:solidFill>
            </a:endParaRPr>
          </a:p>
        </p:txBody>
      </p:sp>
      <p:sp>
        <p:nvSpPr>
          <p:cNvPr id="54" name="TextBox 53">
            <a:extLst>
              <a:ext uri="{FF2B5EF4-FFF2-40B4-BE49-F238E27FC236}">
                <a16:creationId xmlns:a16="http://schemas.microsoft.com/office/drawing/2014/main" id="{092E8EE8-EB50-47B2-451E-CA41683BA524}"/>
              </a:ext>
            </a:extLst>
          </p:cNvPr>
          <p:cNvSpPr txBox="1"/>
          <p:nvPr/>
        </p:nvSpPr>
        <p:spPr>
          <a:xfrm>
            <a:off x="3472965" y="1363472"/>
            <a:ext cx="4550465" cy="1631216"/>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US" sz="1000" dirty="0">
                <a:latin typeface="Roboto Light"/>
                <a:ea typeface="Roboto Light"/>
                <a:cs typeface="Roboto Light"/>
              </a:rPr>
              <a:t>Partnered with high-level stakeholders, led the national rezoning project as the senior data scientist. Won trust from the client through high quality delivery and thought leadership. The project utilized ML technologies such as Geospatial analysis, </a:t>
            </a:r>
            <a:r>
              <a:rPr lang="en-US" sz="1000" dirty="0" err="1">
                <a:latin typeface="Roboto Light"/>
                <a:ea typeface="Roboto Light"/>
                <a:cs typeface="Roboto Light"/>
              </a:rPr>
              <a:t>DBScan</a:t>
            </a:r>
            <a:r>
              <a:rPr lang="en-US" sz="1000" dirty="0">
                <a:latin typeface="Roboto Light"/>
                <a:ea typeface="Roboto Light"/>
                <a:cs typeface="Roboto Light"/>
              </a:rPr>
              <a:t> and </a:t>
            </a:r>
            <a:r>
              <a:rPr lang="en-US" sz="1000" dirty="0" err="1">
                <a:latin typeface="Roboto Light"/>
                <a:ea typeface="Roboto Light"/>
                <a:cs typeface="Roboto Light"/>
              </a:rPr>
              <a:t>LightGBM</a:t>
            </a:r>
            <a:r>
              <a:rPr lang="en-US" sz="1000" dirty="0">
                <a:latin typeface="Roboto Light"/>
                <a:ea typeface="Roboto Light"/>
                <a:cs typeface="Roboto Light"/>
              </a:rPr>
              <a:t>.</a:t>
            </a:r>
          </a:p>
          <a:p>
            <a:r>
              <a:rPr lang="en-US" sz="1000" dirty="0">
                <a:latin typeface="Roboto Light"/>
                <a:ea typeface="Roboto Light"/>
                <a:cs typeface="Roboto Light"/>
              </a:rPr>
              <a:t>Developing and implementing data pipelines using Kafka / Confluent</a:t>
            </a:r>
            <a:endParaRPr lang="en-US" dirty="0"/>
          </a:p>
          <a:p>
            <a:r>
              <a:rPr lang="en-US" sz="1000" dirty="0">
                <a:latin typeface="Roboto Light"/>
                <a:ea typeface="Roboto Light"/>
                <a:cs typeface="Roboto Light"/>
              </a:rPr>
              <a:t>Designing, building and managing Apache Airflow workflows (ELT and ETL) for a number of different source and sink systems</a:t>
            </a:r>
            <a:endParaRPr lang="en-US" dirty="0"/>
          </a:p>
          <a:p>
            <a:r>
              <a:rPr lang="en-US" sz="1000" dirty="0">
                <a:latin typeface="Roboto Light"/>
                <a:ea typeface="Roboto Light"/>
                <a:cs typeface="Roboto Light"/>
              </a:rPr>
              <a:t>Working with a variety of data sources, including cloud storage, databases, and APIs</a:t>
            </a:r>
            <a:endParaRPr lang="en-US" dirty="0"/>
          </a:p>
          <a:p>
            <a:r>
              <a:rPr lang="en-US" sz="1000" dirty="0">
                <a:latin typeface="Roboto Light"/>
                <a:ea typeface="Roboto Light"/>
                <a:cs typeface="Roboto Light"/>
              </a:rPr>
              <a:t>Leading and mentoring data engineering teams</a:t>
            </a:r>
            <a:endParaRPr lang="en-US" dirty="0"/>
          </a:p>
        </p:txBody>
      </p:sp>
      <p:sp>
        <p:nvSpPr>
          <p:cNvPr id="58" name="TextBox 57">
            <a:extLst>
              <a:ext uri="{FF2B5EF4-FFF2-40B4-BE49-F238E27FC236}">
                <a16:creationId xmlns:a16="http://schemas.microsoft.com/office/drawing/2014/main" id="{0CC34BC6-1E49-0ABF-685A-52CF78AD2F71}"/>
              </a:ext>
            </a:extLst>
          </p:cNvPr>
          <p:cNvSpPr txBox="1"/>
          <p:nvPr/>
        </p:nvSpPr>
        <p:spPr>
          <a:xfrm>
            <a:off x="8118489" y="1456630"/>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latin typeface="Roboto Light"/>
                <a:ea typeface="Roboto Light"/>
              </a:rPr>
              <a:t>Logistics</a:t>
            </a:r>
            <a:endParaRPr lang="en-GB" sz="1200" dirty="0">
              <a:solidFill>
                <a:srgbClr val="00AB80"/>
              </a:solidFill>
            </a:endParaRP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Entertainment &amp; Gaming</a:t>
            </a:r>
            <a:endParaRPr lang="en-GB" dirty="0"/>
          </a:p>
          <a:p>
            <a:pPr marL="0" indent="0">
              <a:lnSpc>
                <a:spcPct val="150000"/>
              </a:lnSpc>
              <a:buNone/>
            </a:pPr>
            <a:r>
              <a:rPr lang="en-GB" sz="1200" dirty="0">
                <a:solidFill>
                  <a:srgbClr val="00AB80"/>
                </a:solidFill>
              </a:rPr>
              <a:t>Government</a:t>
            </a:r>
          </a:p>
          <a:p>
            <a:pPr marL="0" indent="0">
              <a:lnSpc>
                <a:spcPct val="150000"/>
              </a:lnSpc>
              <a:buNone/>
            </a:pPr>
            <a:endParaRPr lang="en-GB" sz="1200" dirty="0">
              <a:solidFill>
                <a:srgbClr val="00AB80"/>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A3FC8E-BCE9-4331-802A-F6E2F6F18203}">
  <ds:schemaRefs>
    <ds:schemaRef ds:uri="http://schemas.microsoft.com/office/2006/metadata/properties"/>
    <ds:schemaRef ds:uri="http://www.w3.org/XML/1998/namespace"/>
    <ds:schemaRef ds:uri="http://purl.org/dc/elements/1.1/"/>
    <ds:schemaRef ds:uri="http://purl.org/dc/dcmitype/"/>
    <ds:schemaRef ds:uri="http://schemas.microsoft.com/office/2006/documentManagement/types"/>
    <ds:schemaRef ds:uri="e52cd9e7-35e5-4bd3-9cab-ca6a63c31e52"/>
    <ds:schemaRef ds:uri="http://purl.org/dc/terms/"/>
    <ds:schemaRef ds:uri="http://schemas.microsoft.com/office/infopath/2007/PartnerControls"/>
    <ds:schemaRef ds:uri="http://schemas.openxmlformats.org/package/2006/metadata/core-properties"/>
    <ds:schemaRef ds:uri="daf93972-1964-4522-aa34-640805a01c3a"/>
  </ds:schemaRefs>
</ds:datastoreItem>
</file>

<file path=customXml/itemProps2.xml><?xml version="1.0" encoding="utf-8"?>
<ds:datastoreItem xmlns:ds="http://schemas.openxmlformats.org/officeDocument/2006/customXml" ds:itemID="{24EFC7D2-6851-4433-B704-A6B16196C9D6}">
  <ds:schemaRefs>
    <ds:schemaRef ds:uri="http://schemas.microsoft.com/sharepoint/v3/contenttype/forms"/>
  </ds:schemaRefs>
</ds:datastoreItem>
</file>

<file path=customXml/itemProps3.xml><?xml version="1.0" encoding="utf-8"?>
<ds:datastoreItem xmlns:ds="http://schemas.openxmlformats.org/officeDocument/2006/customXml" ds:itemID="{B8B5CF26-CDE7-4525-AA67-986F36FB93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3945</TotalTime>
  <Words>543</Words>
  <Application>Microsoft Office PowerPoint</Application>
  <PresentationFormat>Custom</PresentationFormat>
  <Paragraphs>85</Paragraphs>
  <Slides>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Arial,Sans-Serif</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261</cp:revision>
  <dcterms:created xsi:type="dcterms:W3CDTF">2019-12-03T01:50:37Z</dcterms:created>
  <dcterms:modified xsi:type="dcterms:W3CDTF">2024-04-18T04:47:10Z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