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0059FF"/>
    <a:srgbClr val="00AB8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E5285C-1673-46EF-ADCC-0EBC6557112D}" v="147" dt="2024-02-29T04:18:16.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io Parente" userId="S::emilio.parente@intelia.com.au::01da3a18-a8c9-4a65-a55b-c6794ec7dcc4" providerId="AD" clId="Web-{C28E2D32-2D33-433D-B0FD-2E6F587EBAD6}"/>
    <pc:docChg chg="modSld">
      <pc:chgData name="Emilio Parente" userId="S::emilio.parente@intelia.com.au::01da3a18-a8c9-4a65-a55b-c6794ec7dcc4" providerId="AD" clId="Web-{C28E2D32-2D33-433D-B0FD-2E6F587EBAD6}" dt="2023-09-24T02:08:13.026" v="24" actId="20577"/>
      <pc:docMkLst>
        <pc:docMk/>
      </pc:docMkLst>
      <pc:sldChg chg="modSp">
        <pc:chgData name="Emilio Parente" userId="S::emilio.parente@intelia.com.au::01da3a18-a8c9-4a65-a55b-c6794ec7dcc4" providerId="AD" clId="Web-{C28E2D32-2D33-433D-B0FD-2E6F587EBAD6}" dt="2023-09-24T02:08:13.026" v="24" actId="20577"/>
        <pc:sldMkLst>
          <pc:docMk/>
          <pc:sldMk cId="2009923557" sldId="270"/>
        </pc:sldMkLst>
        <pc:spChg chg="mod">
          <ac:chgData name="Emilio Parente" userId="S::emilio.parente@intelia.com.au::01da3a18-a8c9-4a65-a55b-c6794ec7dcc4" providerId="AD" clId="Web-{C28E2D32-2D33-433D-B0FD-2E6F587EBAD6}" dt="2023-09-24T02:06:03.615" v="20" actId="20577"/>
          <ac:spMkLst>
            <pc:docMk/>
            <pc:sldMk cId="2009923557" sldId="270"/>
            <ac:spMk id="12" creationId="{70DE989F-A988-8C86-5720-1FE5B119EB30}"/>
          </ac:spMkLst>
        </pc:spChg>
        <pc:spChg chg="mod">
          <ac:chgData name="Emilio Parente" userId="S::emilio.parente@intelia.com.au::01da3a18-a8c9-4a65-a55b-c6794ec7dcc4" providerId="AD" clId="Web-{C28E2D32-2D33-433D-B0FD-2E6F587EBAD6}" dt="2023-09-24T02:07:53.134" v="22" actId="20577"/>
          <ac:spMkLst>
            <pc:docMk/>
            <pc:sldMk cId="2009923557" sldId="270"/>
            <ac:spMk id="26" creationId="{1A3D666D-00C8-D106-73C3-9FF300F8618C}"/>
          </ac:spMkLst>
        </pc:spChg>
        <pc:spChg chg="mod">
          <ac:chgData name="Emilio Parente" userId="S::emilio.parente@intelia.com.au::01da3a18-a8c9-4a65-a55b-c6794ec7dcc4" providerId="AD" clId="Web-{C28E2D32-2D33-433D-B0FD-2E6F587EBAD6}" dt="2023-09-24T02:08:13.026" v="24" actId="20577"/>
          <ac:spMkLst>
            <pc:docMk/>
            <pc:sldMk cId="2009923557" sldId="270"/>
            <ac:spMk id="38" creationId="{AB47A2EE-BF0B-DB05-8B7C-DB6594B2B3D5}"/>
          </ac:spMkLst>
        </pc:spChg>
      </pc:sldChg>
    </pc:docChg>
  </pc:docChgLst>
  <pc:docChgLst>
    <pc:chgData name="Darcy Roach" userId="ba676ee9-e9b4-49e8-a515-8077106c948d" providerId="ADAL" clId="{26653EFE-1987-405C-9021-40903B8A0DAF}"/>
    <pc:docChg chg="undo custSel modSld">
      <pc:chgData name="Darcy Roach" userId="ba676ee9-e9b4-49e8-a515-8077106c948d" providerId="ADAL" clId="{26653EFE-1987-405C-9021-40903B8A0DAF}" dt="2024-02-06T23:29:41.102" v="340" actId="20577"/>
      <pc:docMkLst>
        <pc:docMk/>
      </pc:docMkLst>
      <pc:sldChg chg="modSp mod">
        <pc:chgData name="Darcy Roach" userId="ba676ee9-e9b4-49e8-a515-8077106c948d" providerId="ADAL" clId="{26653EFE-1987-405C-9021-40903B8A0DAF}" dt="2024-02-06T23:29:41.102" v="340" actId="20577"/>
        <pc:sldMkLst>
          <pc:docMk/>
          <pc:sldMk cId="2009923557" sldId="270"/>
        </pc:sldMkLst>
        <pc:spChg chg="mod">
          <ac:chgData name="Darcy Roach" userId="ba676ee9-e9b4-49e8-a515-8077106c948d" providerId="ADAL" clId="{26653EFE-1987-405C-9021-40903B8A0DAF}" dt="2024-02-06T23:25:28.006" v="189" actId="20577"/>
          <ac:spMkLst>
            <pc:docMk/>
            <pc:sldMk cId="2009923557" sldId="270"/>
            <ac:spMk id="4" creationId="{80F49B2F-21D4-F9EB-049F-717A10CB7D84}"/>
          </ac:spMkLst>
        </pc:spChg>
        <pc:spChg chg="mod">
          <ac:chgData name="Darcy Roach" userId="ba676ee9-e9b4-49e8-a515-8077106c948d" providerId="ADAL" clId="{26653EFE-1987-405C-9021-40903B8A0DAF}" dt="2024-02-06T23:16:03.706" v="40" actId="20577"/>
          <ac:spMkLst>
            <pc:docMk/>
            <pc:sldMk cId="2009923557" sldId="270"/>
            <ac:spMk id="12" creationId="{70DE989F-A988-8C86-5720-1FE5B119EB30}"/>
          </ac:spMkLst>
        </pc:spChg>
        <pc:spChg chg="mod">
          <ac:chgData name="Darcy Roach" userId="ba676ee9-e9b4-49e8-a515-8077106c948d" providerId="ADAL" clId="{26653EFE-1987-405C-9021-40903B8A0DAF}" dt="2024-02-06T23:21:45.750" v="154" actId="20577"/>
          <ac:spMkLst>
            <pc:docMk/>
            <pc:sldMk cId="2009923557" sldId="270"/>
            <ac:spMk id="19" creationId="{7513C49A-2DF2-8111-FED4-FC07A8EAD258}"/>
          </ac:spMkLst>
        </pc:spChg>
        <pc:spChg chg="mod">
          <ac:chgData name="Darcy Roach" userId="ba676ee9-e9b4-49e8-a515-8077106c948d" providerId="ADAL" clId="{26653EFE-1987-405C-9021-40903B8A0DAF}" dt="2024-02-06T23:18:25.070" v="71" actId="20577"/>
          <ac:spMkLst>
            <pc:docMk/>
            <pc:sldMk cId="2009923557" sldId="270"/>
            <ac:spMk id="31" creationId="{5D644C1D-FE62-9752-27C7-42A94F729A86}"/>
          </ac:spMkLst>
        </pc:spChg>
        <pc:spChg chg="mod">
          <ac:chgData name="Darcy Roach" userId="ba676ee9-e9b4-49e8-a515-8077106c948d" providerId="ADAL" clId="{26653EFE-1987-405C-9021-40903B8A0DAF}" dt="2024-02-06T23:29:41.102" v="340" actId="20577"/>
          <ac:spMkLst>
            <pc:docMk/>
            <pc:sldMk cId="2009923557" sldId="270"/>
            <ac:spMk id="38" creationId="{AB47A2EE-BF0B-DB05-8B7C-DB6594B2B3D5}"/>
          </ac:spMkLst>
        </pc:spChg>
        <pc:grpChg chg="mod">
          <ac:chgData name="Darcy Roach" userId="ba676ee9-e9b4-49e8-a515-8077106c948d" providerId="ADAL" clId="{26653EFE-1987-405C-9021-40903B8A0DAF}" dt="2024-02-06T23:22:13.935" v="156" actId="1076"/>
          <ac:grpSpMkLst>
            <pc:docMk/>
            <pc:sldMk cId="2009923557" sldId="270"/>
            <ac:grpSpMk id="18" creationId="{A89C5C9F-9D07-D503-5C41-180EAD3D5355}"/>
          </ac:grpSpMkLst>
        </pc:grpChg>
        <pc:grpChg chg="mod">
          <ac:chgData name="Darcy Roach" userId="ba676ee9-e9b4-49e8-a515-8077106c948d" providerId="ADAL" clId="{26653EFE-1987-405C-9021-40903B8A0DAF}" dt="2024-02-06T23:22:04.341" v="155" actId="1076"/>
          <ac:grpSpMkLst>
            <pc:docMk/>
            <pc:sldMk cId="2009923557" sldId="270"/>
            <ac:grpSpMk id="45" creationId="{7C004A0F-26FD-81BE-0DC7-EDCD01D4194B}"/>
          </ac:grpSpMkLst>
        </pc:grpChg>
        <pc:cxnChg chg="mod">
          <ac:chgData name="Darcy Roach" userId="ba676ee9-e9b4-49e8-a515-8077106c948d" providerId="ADAL" clId="{26653EFE-1987-405C-9021-40903B8A0DAF}" dt="2024-02-06T23:14:11.585" v="0" actId="14100"/>
          <ac:cxnSpMkLst>
            <pc:docMk/>
            <pc:sldMk cId="2009923557" sldId="270"/>
            <ac:cxnSpMk id="3" creationId="{67C34E10-2CF8-9BCA-1CC6-D78A3FF9CA80}"/>
          </ac:cxnSpMkLst>
        </pc:cxnChg>
      </pc:sldChg>
    </pc:docChg>
  </pc:docChgLst>
  <pc:docChgLst>
    <pc:chgData name="Paul Lucas" userId="be661782-8896-4357-adc6-793bd86d3a38" providerId="ADAL" clId="{4EE5285C-1673-46EF-ADCC-0EBC6557112D}"/>
    <pc:docChg chg="custSel modSld">
      <pc:chgData name="Paul Lucas" userId="be661782-8896-4357-adc6-793bd86d3a38" providerId="ADAL" clId="{4EE5285C-1673-46EF-ADCC-0EBC6557112D}" dt="2024-02-29T04:18:16.513" v="178" actId="20577"/>
      <pc:docMkLst>
        <pc:docMk/>
      </pc:docMkLst>
      <pc:sldChg chg="modSp mod">
        <pc:chgData name="Paul Lucas" userId="be661782-8896-4357-adc6-793bd86d3a38" providerId="ADAL" clId="{4EE5285C-1673-46EF-ADCC-0EBC6557112D}" dt="2024-02-29T04:18:16.513" v="178" actId="20577"/>
        <pc:sldMkLst>
          <pc:docMk/>
          <pc:sldMk cId="2009923557" sldId="270"/>
        </pc:sldMkLst>
        <pc:spChg chg="mod">
          <ac:chgData name="Paul Lucas" userId="be661782-8896-4357-adc6-793bd86d3a38" providerId="ADAL" clId="{4EE5285C-1673-46EF-ADCC-0EBC6557112D}" dt="2024-02-29T04:17:23.393" v="146" actId="6549"/>
          <ac:spMkLst>
            <pc:docMk/>
            <pc:sldMk cId="2009923557" sldId="270"/>
            <ac:spMk id="4" creationId="{80F49B2F-21D4-F9EB-049F-717A10CB7D84}"/>
          </ac:spMkLst>
        </pc:spChg>
        <pc:spChg chg="mod">
          <ac:chgData name="Paul Lucas" userId="be661782-8896-4357-adc6-793bd86d3a38" providerId="ADAL" clId="{4EE5285C-1673-46EF-ADCC-0EBC6557112D}" dt="2024-02-29T02:57:56.430" v="31" actId="313"/>
          <ac:spMkLst>
            <pc:docMk/>
            <pc:sldMk cId="2009923557" sldId="270"/>
            <ac:spMk id="12" creationId="{70DE989F-A988-8C86-5720-1FE5B119EB30}"/>
          </ac:spMkLst>
        </pc:spChg>
        <pc:spChg chg="mod">
          <ac:chgData name="Paul Lucas" userId="be661782-8896-4357-adc6-793bd86d3a38" providerId="ADAL" clId="{4EE5285C-1673-46EF-ADCC-0EBC6557112D}" dt="2024-02-29T04:15:59.439" v="132" actId="20577"/>
          <ac:spMkLst>
            <pc:docMk/>
            <pc:sldMk cId="2009923557" sldId="270"/>
            <ac:spMk id="17" creationId="{1BDE5051-9F34-F139-742D-4450E5D6591E}"/>
          </ac:spMkLst>
        </pc:spChg>
        <pc:spChg chg="mod">
          <ac:chgData name="Paul Lucas" userId="be661782-8896-4357-adc6-793bd86d3a38" providerId="ADAL" clId="{4EE5285C-1673-46EF-ADCC-0EBC6557112D}" dt="2024-02-29T04:18:16.513" v="178" actId="20577"/>
          <ac:spMkLst>
            <pc:docMk/>
            <pc:sldMk cId="2009923557" sldId="270"/>
            <ac:spMk id="31" creationId="{5D644C1D-FE62-9752-27C7-42A94F729A8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2/28/2024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2/28/2024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2/28/2024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2/28/2024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Subash </a:t>
            </a:r>
            <a:r>
              <a:rPr lang="en-US" sz="2800" b="1" err="1">
                <a:solidFill>
                  <a:srgbClr val="00AB80"/>
                </a:solidFill>
                <a:latin typeface="Roboto" panose="02000000000000000000" pitchFamily="2" charset="0"/>
                <a:ea typeface="Roboto" panose="02000000000000000000" pitchFamily="2" charset="0"/>
              </a:rPr>
              <a:t>Sundarraj</a:t>
            </a:r>
            <a:endParaRPr lang="en-US" sz="2800" b="1">
              <a:solidFill>
                <a:srgbClr val="00AB80"/>
              </a:solidFill>
              <a:latin typeface="Roboto" panose="02000000000000000000" pitchFamily="2" charset="0"/>
              <a:ea typeface="Roboto" panose="02000000000000000000" pitchFamily="2" charset="0"/>
            </a:endParaRP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87858"/>
            <a:ext cx="2868270" cy="3231654"/>
          </a:xfrm>
          <a:prstGeom prst="rect">
            <a:avLst/>
          </a:prstGeom>
          <a:noFill/>
        </p:spPr>
        <p:txBody>
          <a:bodyPr wrap="square" lIns="0" tIns="0" rIns="0" bIns="0" rtlCol="0" anchor="t">
            <a:spAutoFit/>
          </a:bodyPr>
          <a:lstStyle/>
          <a:p>
            <a:pPr algn="l"/>
            <a:r>
              <a:rPr lang="en-AU" sz="1000" spc="13">
                <a:latin typeface="Roboto Light"/>
                <a:ea typeface="Roboto Light"/>
                <a:cs typeface="Lato"/>
              </a:rPr>
              <a:t>Subash is a Data / Cloud Engineer with 9 years of experience in building data intensive,</a:t>
            </a:r>
          </a:p>
          <a:p>
            <a:pPr algn="l"/>
            <a:r>
              <a:rPr lang="en-AU" sz="1000" spc="13">
                <a:latin typeface="Roboto Light"/>
                <a:ea typeface="Roboto Light"/>
                <a:cs typeface="Lato"/>
              </a:rPr>
              <a:t>value driven &amp; robust data solutions on distributed cloud systems with high customer satisfaction.</a:t>
            </a:r>
          </a:p>
          <a:p>
            <a:pPr algn="l"/>
            <a:endParaRPr lang="en-AU" sz="1000" spc="13">
              <a:latin typeface="Roboto Light"/>
              <a:ea typeface="Roboto Light"/>
              <a:cs typeface="Lato"/>
            </a:endParaRPr>
          </a:p>
          <a:p>
            <a:r>
              <a:rPr lang="en-AU" sz="1000" spc="13">
                <a:latin typeface="Roboto Light"/>
                <a:ea typeface="Roboto Light"/>
                <a:cs typeface="Lato"/>
              </a:rPr>
              <a:t>Subash is tech-agnostic and holds Google Cloud Platform Professional Data Engineer, AWS Cloud Practitioner, Snowflake Snow Pro Core, Fivetran Technical and Scrum Master Certifications. Subash delivers true value to business through data as a proven data engineering and BI expert across a range of domains particularly Retail, Institutional Banking and Insurance. </a:t>
            </a:r>
          </a:p>
          <a:p>
            <a:endParaRPr lang="en-AU" sz="1000" spc="13">
              <a:latin typeface="Roboto Light"/>
              <a:ea typeface="Roboto Light"/>
              <a:cs typeface="Lato"/>
            </a:endParaRPr>
          </a:p>
          <a:p>
            <a:pPr algn="l"/>
            <a:r>
              <a:rPr lang="en-AU" sz="1000" spc="13">
                <a:latin typeface="Roboto Light"/>
                <a:ea typeface="Roboto Light"/>
                <a:cs typeface="Lato"/>
              </a:rPr>
              <a:t>Subash is an exceptionally clever individual with a keen eye for creative solutions, impressive problem-solving abilities, and an astute analytical mindset. His work ethic is admirable and his interpersonal skills and capability to tackle complex software issues. are exemplary. Capability to tackle complex software issues.</a:t>
            </a:r>
            <a:endParaRPr lang="en-US" sz="1000" spc="13">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308324"/>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a:latin typeface="Roboto Light"/>
                <a:ea typeface="Roboto Light"/>
                <a:cs typeface="Roboto Light"/>
              </a:rPr>
              <a:t>Fivetran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Hadoop</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Unix</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Qlik</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Apache</a:t>
            </a:r>
          </a:p>
          <a:p>
            <a:pPr>
              <a:buClr>
                <a:srgbClr val="00AB80"/>
              </a:buCl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57163"/>
            <a:ext cx="0" cy="1624162"/>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392039"/>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7382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607483"/>
            <a:ext cx="1951941" cy="4339650"/>
            <a:chOff x="8106458" y="2681447"/>
            <a:chExt cx="1951941" cy="433965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4339650"/>
            </a:xfrm>
            <a:prstGeom prst="rect">
              <a:avLst/>
            </a:prstGeom>
            <a:noFill/>
          </p:spPr>
          <p:txBody>
            <a:bodyPr wrap="square" lIns="91440" tIns="45720" rIns="91440" bIns="45720" anchor="t">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Google Cloud  | Certified Data Engineer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Amazon Web Services | Certified Cloud Practitioner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Collibra | Certified Workflow Engineer &amp; Data Steward</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Snowflake | Snow Pro Core Certification</a:t>
              </a: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a:ea typeface="Calibri" panose="020F0502020204030204" pitchFamily="34" charset="0"/>
                  <a:cs typeface="Roboto Light"/>
                </a:rPr>
                <a:t>Masters </a:t>
              </a:r>
              <a:r>
                <a:rPr lang="en-GB" sz="1200">
                  <a:solidFill>
                    <a:srgbClr val="00AB80"/>
                  </a:solidFill>
                  <a:latin typeface="Roboto Light"/>
                  <a:ea typeface="Calibri" panose="020F0502020204030204" pitchFamily="34" charset="0"/>
                  <a:cs typeface="Roboto Light"/>
                </a:rPr>
                <a:t>– Computer Applications | Bharathiyar University, India</a:t>
              </a:r>
              <a:endParaRPr lang="en-GB" sz="1200">
                <a:solidFill>
                  <a:srgbClr val="00AB80"/>
                </a:solidFill>
                <a:effectLst/>
                <a:latin typeface="Roboto Light"/>
                <a:ea typeface="Calibri" panose="020F0502020204030204" pitchFamily="34" charset="0"/>
                <a:cs typeface="Roboto Light"/>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a:ea typeface="Calibri" panose="020F0502020204030204" pitchFamily="34" charset="0"/>
                  <a:cs typeface="Roboto Light"/>
                </a:rPr>
                <a:t>Bachelor</a:t>
              </a:r>
              <a:r>
                <a:rPr lang="en-GB" sz="1200">
                  <a:solidFill>
                    <a:srgbClr val="00AB80"/>
                  </a:solidFill>
                  <a:latin typeface="Roboto Light"/>
                  <a:ea typeface="Calibri" panose="020F0502020204030204" pitchFamily="34" charset="0"/>
                  <a:cs typeface="Roboto Light"/>
                </a:rPr>
                <a:t> – Science, Computer Science | </a:t>
              </a:r>
              <a:r>
                <a:rPr lang="en-GB" sz="1200" err="1">
                  <a:solidFill>
                    <a:srgbClr val="00AB80"/>
                  </a:solidFill>
                  <a:latin typeface="Roboto Light"/>
                  <a:ea typeface="Calibri" panose="020F0502020204030204" pitchFamily="34" charset="0"/>
                  <a:cs typeface="Roboto Light"/>
                </a:rPr>
                <a:t>Bharathiyar</a:t>
              </a:r>
              <a:r>
                <a:rPr lang="en-GB" sz="1200">
                  <a:solidFill>
                    <a:srgbClr val="00AB80"/>
                  </a:solidFill>
                  <a:latin typeface="Roboto Light"/>
                  <a:ea typeface="Calibri" panose="020F0502020204030204" pitchFamily="34" charset="0"/>
                  <a:cs typeface="Roboto Light"/>
                </a:rPr>
                <a:t> University</a:t>
              </a:r>
              <a:endParaRPr lang="en-GB" sz="1200">
                <a:solidFill>
                  <a:srgbClr val="00AB80"/>
                </a:solidFill>
                <a:effectLst/>
                <a:latin typeface="Roboto Light"/>
                <a:ea typeface="Calibri" panose="020F0502020204030204" pitchFamily="34" charset="0"/>
                <a:cs typeface="Roboto Light"/>
              </a:endParaRPr>
            </a:p>
            <a:p>
              <a:pPr>
                <a:tabLst>
                  <a:tab pos="3819525" algn="l"/>
                  <a:tab pos="3895725" algn="l"/>
                </a:tabLst>
              </a:pPr>
              <a:endParaRPr lang="en-GB" sz="1200">
                <a:solidFill>
                  <a:srgbClr val="00AB80"/>
                </a:solidFill>
                <a:latin typeface="Roboto Light" panose="02000000000000000000" pitchFamily="2"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698493"/>
            <a:ext cx="1570024"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Google Cloud</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AWS </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System Integration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Deep Learning</a:t>
            </a:r>
          </a:p>
          <a:p>
            <a:pPr marL="171450" indent="-171450">
              <a:buClr>
                <a:srgbClr val="00AB80"/>
              </a:buClr>
              <a:buFont typeface="Arial" panose="020B0604020202020204" pitchFamily="34" charset="0"/>
              <a:buChar char="•"/>
            </a:pPr>
            <a:endParaRPr lang="en-AU"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14265"/>
            <a:ext cx="4631164" cy="276999"/>
          </a:xfrm>
          <a:prstGeom prst="rect">
            <a:avLst/>
          </a:prstGeom>
          <a:noFill/>
        </p:spPr>
        <p:txBody>
          <a:bodyPr wrap="square" rtlCol="0">
            <a:spAutoFit/>
          </a:bodyPr>
          <a:lstStyle/>
          <a:p>
            <a:r>
              <a:rPr lang="en-US" sz="1200" b="1">
                <a:solidFill>
                  <a:srgbClr val="0059FF"/>
                </a:solidFill>
                <a:latin typeface="Roboto" panose="02000000000000000000" pitchFamily="2" charset="0"/>
                <a:ea typeface="Roboto" panose="02000000000000000000" pitchFamily="2" charset="0"/>
              </a:rPr>
              <a:t>Data &amp; Analytics Consultancy </a:t>
            </a:r>
            <a:r>
              <a:rPr lang="en-AU" sz="1200" b="1">
                <a:solidFill>
                  <a:srgbClr val="0059FF"/>
                </a:solidFill>
                <a:latin typeface="Roboto" panose="02000000000000000000" pitchFamily="2" charset="0"/>
                <a:ea typeface="Roboto" panose="02000000000000000000" pitchFamily="2" charset="0"/>
              </a:rPr>
              <a:t>–  Data Engineer</a:t>
            </a:r>
            <a:r>
              <a:rPr lang="en-US" sz="1200" b="1">
                <a:solidFill>
                  <a:srgbClr val="0059FF"/>
                </a:solidFill>
                <a:latin typeface="Roboto" panose="02000000000000000000" pitchFamily="2" charset="0"/>
                <a:ea typeface="Roboto" panose="02000000000000000000" pitchFamily="2" charset="0"/>
              </a:rPr>
              <a:t> </a:t>
            </a:r>
            <a:endParaRPr lang="en-AU" sz="1200" b="1">
              <a:solidFill>
                <a:srgbClr val="0059FF"/>
              </a:solidFill>
              <a:latin typeface="Roboto" panose="02000000000000000000" pitchFamily="2" charset="0"/>
              <a:ea typeface="Roboto" panose="02000000000000000000" pitchFamily="2" charset="0"/>
            </a:endParaRPr>
          </a:p>
        </p:txBody>
      </p:sp>
      <p:grpSp>
        <p:nvGrpSpPr>
          <p:cNvPr id="18" name="Group 17">
            <a:extLst>
              <a:ext uri="{FF2B5EF4-FFF2-40B4-BE49-F238E27FC236}">
                <a16:creationId xmlns:a16="http://schemas.microsoft.com/office/drawing/2014/main" id="{A89C5C9F-9D07-D503-5C41-180EAD3D5355}"/>
              </a:ext>
            </a:extLst>
          </p:cNvPr>
          <p:cNvGrpSpPr/>
          <p:nvPr/>
        </p:nvGrpSpPr>
        <p:grpSpPr>
          <a:xfrm>
            <a:off x="3335752" y="5532834"/>
            <a:ext cx="4782734" cy="2217656"/>
            <a:chOff x="3335752" y="5617697"/>
            <a:chExt cx="4782734" cy="2217656"/>
          </a:xfrm>
        </p:grpSpPr>
        <p:sp>
          <p:nvSpPr>
            <p:cNvPr id="19" name="TextBox 18">
              <a:extLst>
                <a:ext uri="{FF2B5EF4-FFF2-40B4-BE49-F238E27FC236}">
                  <a16:creationId xmlns:a16="http://schemas.microsoft.com/office/drawing/2014/main" id="{7513C49A-2DF2-8111-FED4-FC07A8EAD258}"/>
                </a:ext>
              </a:extLst>
            </p:cNvPr>
            <p:cNvSpPr txBox="1"/>
            <p:nvPr/>
          </p:nvSpPr>
          <p:spPr>
            <a:xfrm>
              <a:off x="3462567" y="5896361"/>
              <a:ext cx="4655916" cy="1938992"/>
            </a:xfrm>
            <a:prstGeom prst="rect">
              <a:avLst/>
            </a:prstGeom>
            <a:noFill/>
          </p:spPr>
          <p:txBody>
            <a:bodyPr wrap="square" numCol="1" rtlCol="0">
              <a:spAutoFit/>
            </a:bodyPr>
            <a:lstStyle>
              <a:defPPr>
                <a:defRPr lang="en-US"/>
              </a:defPPr>
              <a:lvl1pPr indent="0">
                <a:buClr>
                  <a:srgbClr val="00AB80"/>
                </a:buClr>
                <a:buFont typeface="Arial" panose="020B0604020202020204" pitchFamily="34" charset="0"/>
                <a:buNone/>
                <a:defRPr sz="1000">
                  <a:solidFill>
                    <a:schemeClr val="bg1"/>
                  </a:solidFill>
                  <a:latin typeface="Roboto Light" panose="02000000000000000000" pitchFamily="2" charset="0"/>
                  <a:ea typeface="Roboto Light" panose="02000000000000000000" pitchFamily="2" charset="0"/>
                </a:defRPr>
              </a:lvl1pPr>
            </a:lstStyle>
            <a:p>
              <a:pPr marL="171450" indent="-171450">
                <a:buFont typeface="Arial" panose="020B0604020202020204" pitchFamily="34" charset="0"/>
                <a:buChar char="•"/>
              </a:pPr>
              <a:r>
                <a:rPr lang="en-AU"/>
                <a:t>Designed, built and maintained efficient, reliable and reusable C# code</a:t>
              </a:r>
            </a:p>
            <a:p>
              <a:pPr marL="171450" indent="-171450">
                <a:buFont typeface="Arial" panose="020B0604020202020204" pitchFamily="34" charset="0"/>
                <a:buChar char="•"/>
              </a:pPr>
              <a:r>
                <a:rPr lang="en-AU"/>
                <a:t>Identified process bottlenecks, suggest and implement solutions to them</a:t>
              </a:r>
            </a:p>
            <a:p>
              <a:pPr marL="171450" indent="-171450">
                <a:buFont typeface="Arial" panose="020B0604020202020204" pitchFamily="34" charset="0"/>
                <a:buChar char="•"/>
              </a:pPr>
              <a:r>
                <a:rPr lang="en-AU"/>
                <a:t>Supported the team in maintaining the code quality &amp; release management</a:t>
              </a:r>
            </a:p>
            <a:p>
              <a:pPr marL="171450" indent="-171450">
                <a:buFont typeface="Arial" panose="020B0604020202020204" pitchFamily="34" charset="0"/>
                <a:buChar char="•"/>
              </a:pPr>
              <a:r>
                <a:rPr lang="en-AU"/>
                <a:t>Analysed, designed and developed, test/implementation of lending applications</a:t>
              </a:r>
            </a:p>
            <a:p>
              <a:pPr marL="171450" indent="-171450">
                <a:buFont typeface="Arial" panose="020B0604020202020204" pitchFamily="34" charset="0"/>
                <a:buChar char="•"/>
              </a:pPr>
              <a:r>
                <a:rPr lang="en-AU"/>
                <a:t>Prepared and analysed the data to identify adoption rate, density, disparity, business / functional issues, data patterns and trends.</a:t>
              </a:r>
            </a:p>
            <a:p>
              <a:pPr marL="171450" indent="-171450">
                <a:buFont typeface="Arial" panose="020B0604020202020204" pitchFamily="34" charset="0"/>
                <a:buChar char="•"/>
              </a:pPr>
              <a:r>
                <a:rPr lang="en-AU"/>
                <a:t>Created interactive Tableau dashboards </a:t>
              </a:r>
            </a:p>
            <a:p>
              <a:pPr marL="171450" indent="-171450">
                <a:buFont typeface="Arial" panose="020B0604020202020204" pitchFamily="34" charset="0"/>
                <a:buChar char="•"/>
              </a:pPr>
              <a:r>
                <a:rPr lang="en-AU"/>
                <a:t>Leveraged high-volume data to create models that depict trends</a:t>
              </a:r>
            </a:p>
            <a:p>
              <a:pPr marL="171450" indent="-171450">
                <a:buFont typeface="Arial" panose="020B0604020202020204" pitchFamily="34" charset="0"/>
                <a:buChar char="•"/>
              </a:pPr>
              <a:r>
                <a:rPr lang="en-AU"/>
                <a:t>Presented the findings to a wider forum of business members, to assist with making critical decisions</a:t>
              </a:r>
            </a:p>
            <a:p>
              <a:pPr marL="171450" indent="-171450">
                <a:buFont typeface="Arial" panose="020B0604020202020204" pitchFamily="34" charset="0"/>
                <a:buChar char="•"/>
              </a:pPr>
              <a:endParaRPr lang="en-AU"/>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28144" y="5961311"/>
              <a:ext cx="0" cy="1631315"/>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335752" y="5617697"/>
              <a:ext cx="4782734" cy="276999"/>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Australian Big 4 Bank – Software Engineer / Data Analyst</a:t>
              </a:r>
            </a:p>
          </p:txBody>
        </p:sp>
      </p:grpSp>
      <p:sp>
        <p:nvSpPr>
          <p:cNvPr id="12" name="TextBox 11">
            <a:extLst>
              <a:ext uri="{FF2B5EF4-FFF2-40B4-BE49-F238E27FC236}">
                <a16:creationId xmlns:a16="http://schemas.microsoft.com/office/drawing/2014/main" id="{70DE989F-A988-8C86-5720-1FE5B119EB30}"/>
              </a:ext>
            </a:extLst>
          </p:cNvPr>
          <p:cNvSpPr txBox="1"/>
          <p:nvPr/>
        </p:nvSpPr>
        <p:spPr>
          <a:xfrm>
            <a:off x="3463961" y="1250451"/>
            <a:ext cx="4533549" cy="181588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a:solidFill>
                <a:schemeClr val="bg1"/>
              </a:solidFill>
            </a:endParaRPr>
          </a:p>
          <a:p>
            <a:pPr marL="0" indent="0">
              <a:buNone/>
            </a:pPr>
            <a:r>
              <a:rPr lang="en-AU" sz="1000">
                <a:solidFill>
                  <a:schemeClr val="bg1"/>
                </a:solidFill>
              </a:rPr>
              <a:t>Worked with multiple clients in various teams, responsibilities included:</a:t>
            </a:r>
          </a:p>
          <a:p>
            <a:r>
              <a:rPr lang="en-AU" sz="1000">
                <a:solidFill>
                  <a:schemeClr val="bg1"/>
                </a:solidFill>
              </a:rPr>
              <a:t>Created/maintained self-sustaining and resilient data lake/data warehouse with audit/logging capabilities (Snowflake, RDS, Hive, etc)</a:t>
            </a:r>
          </a:p>
          <a:p>
            <a:r>
              <a:rPr lang="en-AU" sz="1000">
                <a:solidFill>
                  <a:schemeClr val="bg1"/>
                </a:solidFill>
              </a:rPr>
              <a:t>Modelled, built and maintained data pipelines from various sources (Internal &amp; External Infra) and prep the data for further processing</a:t>
            </a:r>
          </a:p>
          <a:p>
            <a:r>
              <a:rPr lang="en-AU" sz="1000">
                <a:solidFill>
                  <a:schemeClr val="bg1"/>
                </a:solidFill>
              </a:rPr>
              <a:t>Created/maintained standard and ESB Talend jobs for data processing (Unpack, CDC, Star Schema, etc). Also, manage TAC and its resources (Nexus, GIT)</a:t>
            </a:r>
          </a:p>
          <a:p>
            <a:r>
              <a:rPr lang="en-AU" sz="1000">
                <a:solidFill>
                  <a:schemeClr val="bg1"/>
                </a:solidFill>
              </a:rPr>
              <a:t>Identified process pitfalls, work on enhancements and performance improvements</a:t>
            </a:r>
          </a:p>
          <a:p>
            <a:r>
              <a:rPr lang="en-AU" sz="1000">
                <a:solidFill>
                  <a:schemeClr val="bg1"/>
                </a:solidFill>
                <a:latin typeface="Roboto Light"/>
                <a:ea typeface="Roboto Light"/>
                <a:cs typeface="Roboto Light"/>
              </a:rPr>
              <a:t>Developed integrations into source systems using </a:t>
            </a:r>
            <a:r>
              <a:rPr lang="en-AU" sz="1000" err="1">
                <a:solidFill>
                  <a:schemeClr val="bg1"/>
                </a:solidFill>
                <a:latin typeface="Roboto Light"/>
                <a:ea typeface="Roboto Light"/>
                <a:cs typeface="Roboto Light"/>
              </a:rPr>
              <a:t>Fivetran</a:t>
            </a:r>
            <a:endParaRPr lang="en-AU" sz="1000">
              <a:solidFill>
                <a:schemeClr val="bg1"/>
              </a:solidFill>
              <a:latin typeface="Roboto Light"/>
              <a:ea typeface="Roboto Light"/>
              <a:cs typeface="Roboto Light"/>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121989"/>
            <a:ext cx="5029198" cy="2478801"/>
            <a:chOff x="3335753" y="3451682"/>
            <a:chExt cx="5029198" cy="2478801"/>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762375"/>
              <a:ext cx="0" cy="193157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3451682"/>
              <a:ext cx="5029198" cy="461665"/>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Australian Big 4 Bank – Data Engineer</a:t>
              </a:r>
            </a:p>
            <a:p>
              <a:endParaRPr lang="en-AU" sz="1200" b="1">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652936"/>
              <a:ext cx="4423172"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a:p>
            <a:p>
              <a:r>
                <a:rPr lang="en-AU" sz="1000"/>
                <a:t>Created and maintained a data lake hosted on Google Cloud Platform with multiple streams of incoming and outgoing data sources.</a:t>
              </a:r>
            </a:p>
            <a:p>
              <a:r>
                <a:rPr lang="en-AU" sz="1000"/>
                <a:t>Created self-sustaining ETL / ELT models to transform the data to fit into reporting models by handling huge datasets sourced from multiple systems with audit and error handling mechanisms.</a:t>
              </a:r>
            </a:p>
            <a:p>
              <a:r>
                <a:rPr lang="en-AU" sz="1000"/>
                <a:t>Created data models, design specifications and design database solutions to meet application requirements as per the design standards.</a:t>
              </a:r>
            </a:p>
            <a:p>
              <a:r>
                <a:rPr lang="en-AU" sz="1000"/>
                <a:t>Created automated and optimised schedulers to fetch and store complex data from different tables in remote databases (database links, SQL loaders, etc)</a:t>
              </a:r>
            </a:p>
            <a:p>
              <a:r>
                <a:rPr lang="en-AU" sz="1000"/>
                <a:t>Participated in end-to-end stakeholder co-ordination, communication, development and deployment of solutions, issue root cause analysis and resolving high-priority incidents.</a:t>
              </a:r>
            </a:p>
            <a:p>
              <a:endParaRPr lang="en-AU" sz="1000"/>
            </a:p>
          </p:txBody>
        </p:sp>
      </p:grpSp>
      <p:sp>
        <p:nvSpPr>
          <p:cNvPr id="43" name="TextBox 42">
            <a:extLst>
              <a:ext uri="{FF2B5EF4-FFF2-40B4-BE49-F238E27FC236}">
                <a16:creationId xmlns:a16="http://schemas.microsoft.com/office/drawing/2014/main" id="{2F7F9DCD-ABFD-3411-96C4-EDE25D98CDEB}"/>
              </a:ext>
            </a:extLst>
          </p:cNvPr>
          <p:cNvSpPr txBox="1"/>
          <p:nvPr/>
        </p:nvSpPr>
        <p:spPr>
          <a:xfrm>
            <a:off x="8118489" y="1456630"/>
            <a:ext cx="1951941" cy="89255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Retail</a:t>
            </a:r>
          </a:p>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Insurance</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Joel Collins</DisplayName>
        <AccountId>13</AccountId>
        <AccountType/>
      </UserInfo>
      <UserInfo>
        <DisplayName>Darcy Roach</DisplayName>
        <AccountId>14</AccountId>
        <AccountType/>
      </UserInfo>
    </SharedWithUsers>
  </documentManagement>
</p:properties>
</file>

<file path=customXml/itemProps1.xml><?xml version="1.0" encoding="utf-8"?>
<ds:datastoreItem xmlns:ds="http://schemas.openxmlformats.org/officeDocument/2006/customXml" ds:itemID="{872DA3EA-4475-42ED-9B1C-A0A01A1CFF31}">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B79DDFC6-124A-4859-BB62-4C7039BA48C0}">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2024-02-29T04:18:50Z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