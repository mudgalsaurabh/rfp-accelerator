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0F2B3F"/>
    <a:srgbClr val="0059FF"/>
    <a:srgbClr val="00AB80"/>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3817A1-B520-4657-A8EA-171528B778A3}" v="3" dt="2023-05-01T23:21:36.496"/>
    <p1510:client id="{59B22301-2F46-4A16-AA3A-D12F8C6A2717}" v="1" dt="2023-02-17T03:38:10.6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2"/>
    <p:restoredTop sz="96357" autoAdjust="0"/>
  </p:normalViewPr>
  <p:slideViewPr>
    <p:cSldViewPr snapToGrid="0">
      <p:cViewPr varScale="1">
        <p:scale>
          <a:sx n="101" d="100"/>
          <a:sy n="101" d="100"/>
        </p:scale>
        <p:origin x="1686" y="-3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59B22301-2F46-4A16-AA3A-D12F8C6A2717}"/>
    <pc:docChg chg="undo custSel modSld">
      <pc:chgData name="Darcy Roach" userId="ba676ee9-e9b4-49e8-a515-8077106c948d" providerId="ADAL" clId="{59B22301-2F46-4A16-AA3A-D12F8C6A2717}" dt="2023-02-17T03:44:50.588" v="1824" actId="1076"/>
      <pc:docMkLst>
        <pc:docMk/>
      </pc:docMkLst>
      <pc:sldChg chg="modSp mod">
        <pc:chgData name="Darcy Roach" userId="ba676ee9-e9b4-49e8-a515-8077106c948d" providerId="ADAL" clId="{59B22301-2F46-4A16-AA3A-D12F8C6A2717}" dt="2023-02-17T03:44:50.588" v="1824" actId="1076"/>
        <pc:sldMkLst>
          <pc:docMk/>
          <pc:sldMk cId="2009923557" sldId="270"/>
        </pc:sldMkLst>
        <pc:spChg chg="mod">
          <ac:chgData name="Darcy Roach" userId="ba676ee9-e9b4-49e8-a515-8077106c948d" providerId="ADAL" clId="{59B22301-2F46-4A16-AA3A-D12F8C6A2717}" dt="2023-02-17T03:17:24.094" v="914" actId="20577"/>
          <ac:spMkLst>
            <pc:docMk/>
            <pc:sldMk cId="2009923557" sldId="270"/>
            <ac:spMk id="2" creationId="{2FA774CA-3857-9308-4D38-9414B0CC2B95}"/>
          </ac:spMkLst>
        </pc:spChg>
        <pc:spChg chg="mod">
          <ac:chgData name="Darcy Roach" userId="ba676ee9-e9b4-49e8-a515-8077106c948d" providerId="ADAL" clId="{59B22301-2F46-4A16-AA3A-D12F8C6A2717}" dt="2023-02-17T01:32:27.589" v="703" actId="20577"/>
          <ac:spMkLst>
            <pc:docMk/>
            <pc:sldMk cId="2009923557" sldId="270"/>
            <ac:spMk id="4" creationId="{80F49B2F-21D4-F9EB-049F-717A10CB7D84}"/>
          </ac:spMkLst>
        </pc:spChg>
        <pc:spChg chg="mod">
          <ac:chgData name="Darcy Roach" userId="ba676ee9-e9b4-49e8-a515-8077106c948d" providerId="ADAL" clId="{59B22301-2F46-4A16-AA3A-D12F8C6A2717}" dt="2023-02-17T03:15:34.930" v="802" actId="20577"/>
          <ac:spMkLst>
            <pc:docMk/>
            <pc:sldMk cId="2009923557" sldId="270"/>
            <ac:spMk id="6" creationId="{701E125D-B356-8A2A-B86B-AB6567CEABE1}"/>
          </ac:spMkLst>
        </pc:spChg>
        <pc:spChg chg="mod">
          <ac:chgData name="Darcy Roach" userId="ba676ee9-e9b4-49e8-a515-8077106c948d" providerId="ADAL" clId="{59B22301-2F46-4A16-AA3A-D12F8C6A2717}" dt="2023-02-17T03:39:39.762" v="1748" actId="20577"/>
          <ac:spMkLst>
            <pc:docMk/>
            <pc:sldMk cId="2009923557" sldId="270"/>
            <ac:spMk id="12" creationId="{70DE989F-A988-8C86-5720-1FE5B119EB30}"/>
          </ac:spMkLst>
        </pc:spChg>
        <pc:spChg chg="mod">
          <ac:chgData name="Darcy Roach" userId="ba676ee9-e9b4-49e8-a515-8077106c948d" providerId="ADAL" clId="{59B22301-2F46-4A16-AA3A-D12F8C6A2717}" dt="2023-02-16T21:38:42.014" v="34" actId="20577"/>
          <ac:spMkLst>
            <pc:docMk/>
            <pc:sldMk cId="2009923557" sldId="270"/>
            <ac:spMk id="13" creationId="{FD2720C9-A79F-BD7F-E179-674AD67D7892}"/>
          </ac:spMkLst>
        </pc:spChg>
        <pc:spChg chg="mod">
          <ac:chgData name="Darcy Roach" userId="ba676ee9-e9b4-49e8-a515-8077106c948d" providerId="ADAL" clId="{59B22301-2F46-4A16-AA3A-D12F8C6A2717}" dt="2023-02-16T22:34:55.987" v="164" actId="1076"/>
          <ac:spMkLst>
            <pc:docMk/>
            <pc:sldMk cId="2009923557" sldId="270"/>
            <ac:spMk id="14" creationId="{476A2B4B-DF73-B449-C876-B221F898C872}"/>
          </ac:spMkLst>
        </pc:spChg>
        <pc:spChg chg="mod">
          <ac:chgData name="Darcy Roach" userId="ba676ee9-e9b4-49e8-a515-8077106c948d" providerId="ADAL" clId="{59B22301-2F46-4A16-AA3A-D12F8C6A2717}" dt="2023-02-17T01:30:39.975" v="656" actId="6549"/>
          <ac:spMkLst>
            <pc:docMk/>
            <pc:sldMk cId="2009923557" sldId="270"/>
            <ac:spMk id="17" creationId="{1BDE5051-9F34-F139-742D-4450E5D6591E}"/>
          </ac:spMkLst>
        </pc:spChg>
        <pc:spChg chg="mod">
          <ac:chgData name="Darcy Roach" userId="ba676ee9-e9b4-49e8-a515-8077106c948d" providerId="ADAL" clId="{59B22301-2F46-4A16-AA3A-D12F8C6A2717}" dt="2023-02-17T03:44:40.945" v="1823" actId="1076"/>
          <ac:spMkLst>
            <pc:docMk/>
            <pc:sldMk cId="2009923557" sldId="270"/>
            <ac:spMk id="19" creationId="{7513C49A-2DF2-8111-FED4-FC07A8EAD258}"/>
          </ac:spMkLst>
        </pc:spChg>
        <pc:spChg chg="mod">
          <ac:chgData name="Darcy Roach" userId="ba676ee9-e9b4-49e8-a515-8077106c948d" providerId="ADAL" clId="{59B22301-2F46-4A16-AA3A-D12F8C6A2717}" dt="2023-02-16T21:52:26.808" v="49" actId="20577"/>
          <ac:spMkLst>
            <pc:docMk/>
            <pc:sldMk cId="2009923557" sldId="270"/>
            <ac:spMk id="22" creationId="{9D4E289E-1D52-CBDD-E381-40963429D7F1}"/>
          </ac:spMkLst>
        </pc:spChg>
        <pc:spChg chg="mod">
          <ac:chgData name="Darcy Roach" userId="ba676ee9-e9b4-49e8-a515-8077106c948d" providerId="ADAL" clId="{59B22301-2F46-4A16-AA3A-D12F8C6A2717}" dt="2023-02-16T22:34:51.683" v="163" actId="14100"/>
          <ac:spMkLst>
            <pc:docMk/>
            <pc:sldMk cId="2009923557" sldId="270"/>
            <ac:spMk id="23" creationId="{5D7A612B-9DC7-1D9B-3085-CDB0F937FDB8}"/>
          </ac:spMkLst>
        </pc:spChg>
        <pc:spChg chg="mod">
          <ac:chgData name="Darcy Roach" userId="ba676ee9-e9b4-49e8-a515-8077106c948d" providerId="ADAL" clId="{59B22301-2F46-4A16-AA3A-D12F8C6A2717}" dt="2023-02-16T22:36:18.105" v="209" actId="20577"/>
          <ac:spMkLst>
            <pc:docMk/>
            <pc:sldMk cId="2009923557" sldId="270"/>
            <ac:spMk id="26" creationId="{1A3D666D-00C8-D106-73C3-9FF300F8618C}"/>
          </ac:spMkLst>
        </pc:spChg>
        <pc:spChg chg="mod">
          <ac:chgData name="Darcy Roach" userId="ba676ee9-e9b4-49e8-a515-8077106c948d" providerId="ADAL" clId="{59B22301-2F46-4A16-AA3A-D12F8C6A2717}" dt="2023-02-17T03:44:40.945" v="1823" actId="1076"/>
          <ac:spMkLst>
            <pc:docMk/>
            <pc:sldMk cId="2009923557" sldId="270"/>
            <ac:spMk id="28" creationId="{6059F888-3BDF-A1C0-65E5-CB6FDD43D97C}"/>
          </ac:spMkLst>
        </pc:spChg>
        <pc:spChg chg="mod">
          <ac:chgData name="Darcy Roach" userId="ba676ee9-e9b4-49e8-a515-8077106c948d" providerId="ADAL" clId="{59B22301-2F46-4A16-AA3A-D12F8C6A2717}" dt="2023-02-17T03:42:35.911" v="1786" actId="20577"/>
          <ac:spMkLst>
            <pc:docMk/>
            <pc:sldMk cId="2009923557" sldId="270"/>
            <ac:spMk id="31" creationId="{5D644C1D-FE62-9752-27C7-42A94F729A86}"/>
          </ac:spMkLst>
        </pc:spChg>
        <pc:spChg chg="mod">
          <ac:chgData name="Darcy Roach" userId="ba676ee9-e9b4-49e8-a515-8077106c948d" providerId="ADAL" clId="{59B22301-2F46-4A16-AA3A-D12F8C6A2717}" dt="2023-02-16T22:59:35.482" v="393" actId="20577"/>
          <ac:spMkLst>
            <pc:docMk/>
            <pc:sldMk cId="2009923557" sldId="270"/>
            <ac:spMk id="38" creationId="{AB47A2EE-BF0B-DB05-8B7C-DB6594B2B3D5}"/>
          </ac:spMkLst>
        </pc:spChg>
        <pc:spChg chg="mod">
          <ac:chgData name="Darcy Roach" userId="ba676ee9-e9b4-49e8-a515-8077106c948d" providerId="ADAL" clId="{59B22301-2F46-4A16-AA3A-D12F8C6A2717}" dt="2023-02-16T22:42:48.298" v="280" actId="20577"/>
          <ac:spMkLst>
            <pc:docMk/>
            <pc:sldMk cId="2009923557" sldId="270"/>
            <ac:spMk id="43" creationId="{2F7F9DCD-ABFD-3411-96C4-EDE25D98CDEB}"/>
          </ac:spMkLst>
        </pc:spChg>
        <pc:grpChg chg="mod">
          <ac:chgData name="Darcy Roach" userId="ba676ee9-e9b4-49e8-a515-8077106c948d" providerId="ADAL" clId="{59B22301-2F46-4A16-AA3A-D12F8C6A2717}" dt="2023-02-17T03:44:50.588" v="1824" actId="1076"/>
          <ac:grpSpMkLst>
            <pc:docMk/>
            <pc:sldMk cId="2009923557" sldId="270"/>
            <ac:grpSpMk id="45" creationId="{7C004A0F-26FD-81BE-0DC7-EDCD01D4194B}"/>
          </ac:grpSpMkLst>
        </pc:grpChg>
        <pc:cxnChg chg="mod">
          <ac:chgData name="Darcy Roach" userId="ba676ee9-e9b4-49e8-a515-8077106c948d" providerId="ADAL" clId="{59B22301-2F46-4A16-AA3A-D12F8C6A2717}" dt="2023-02-17T03:39:50.569" v="1750" actId="14100"/>
          <ac:cxnSpMkLst>
            <pc:docMk/>
            <pc:sldMk cId="2009923557" sldId="270"/>
            <ac:cxnSpMk id="3" creationId="{67C34E10-2CF8-9BCA-1CC6-D78A3FF9CA80}"/>
          </ac:cxnSpMkLst>
        </pc:cxnChg>
        <pc:cxnChg chg="mod">
          <ac:chgData name="Darcy Roach" userId="ba676ee9-e9b4-49e8-a515-8077106c948d" providerId="ADAL" clId="{59B22301-2F46-4A16-AA3A-D12F8C6A2717}" dt="2023-02-17T03:44:40.945" v="1823" actId="1076"/>
          <ac:cxnSpMkLst>
            <pc:docMk/>
            <pc:sldMk cId="2009923557" sldId="270"/>
            <ac:cxnSpMk id="21" creationId="{B0913DE4-461D-CE43-AABC-C4B3D7D22F45}"/>
          </ac:cxnSpMkLst>
        </pc:cxnChg>
      </pc:sldChg>
    </pc:docChg>
  </pc:docChgLst>
  <pc:docChgLst>
    <pc:chgData name="Paul Martinico" userId="S::paul.martinico@intelia.com.au::05e381d2-80b7-43e8-b915-faa146d84a0f" providerId="AD" clId="Web-{313817A1-B520-4657-A8EA-171528B778A3}"/>
    <pc:docChg chg="modSld">
      <pc:chgData name="Paul Martinico" userId="S::paul.martinico@intelia.com.au::05e381d2-80b7-43e8-b915-faa146d84a0f" providerId="AD" clId="Web-{313817A1-B520-4657-A8EA-171528B778A3}" dt="2023-05-01T23:21:34.355" v="1" actId="20577"/>
      <pc:docMkLst>
        <pc:docMk/>
      </pc:docMkLst>
      <pc:sldChg chg="modSp">
        <pc:chgData name="Paul Martinico" userId="S::paul.martinico@intelia.com.au::05e381d2-80b7-43e8-b915-faa146d84a0f" providerId="AD" clId="Web-{313817A1-B520-4657-A8EA-171528B778A3}" dt="2023-05-01T23:21:34.355" v="1" actId="20577"/>
        <pc:sldMkLst>
          <pc:docMk/>
          <pc:sldMk cId="2009923557" sldId="270"/>
        </pc:sldMkLst>
        <pc:spChg chg="mod">
          <ac:chgData name="Paul Martinico" userId="S::paul.martinico@intelia.com.au::05e381d2-80b7-43e8-b915-faa146d84a0f" providerId="AD" clId="Web-{313817A1-B520-4657-A8EA-171528B778A3}" dt="2023-05-01T23:21:34.355" v="1" actId="20577"/>
          <ac:spMkLst>
            <pc:docMk/>
            <pc:sldMk cId="2009923557" sldId="270"/>
            <ac:spMk id="17" creationId="{1BDE5051-9F34-F139-742D-4450E5D6591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5/1/2023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5/1/2023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5/1/2023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5/1/2023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Sandip Chaturvedi</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616250"/>
            <a:ext cx="2868270" cy="2792431"/>
          </a:xfrm>
          <a:prstGeom prst="rect">
            <a:avLst/>
          </a:prstGeom>
          <a:noFill/>
        </p:spPr>
        <p:txBody>
          <a:bodyPr wrap="square" lIns="0" tIns="0" rIns="0" bIns="0" rtlCol="0" anchor="t">
            <a:spAutoFit/>
          </a:bodyPr>
          <a:lstStyle/>
          <a:p>
            <a:pPr algn="l"/>
            <a:r>
              <a:rPr lang="en-AU" sz="1000" spc="13" dirty="0">
                <a:latin typeface="Roboto Light"/>
                <a:ea typeface="Roboto Light"/>
                <a:cs typeface="Lato"/>
              </a:rPr>
              <a:t>Sandip is a decisive, result oriented Principal Consultant and Strategist with more than 25 years of experience in Data Architecture, Solution Design and Delivery of Analytics, BI and Data-warehouse platforms.</a:t>
            </a:r>
          </a:p>
          <a:p>
            <a:pPr algn="l"/>
            <a:endParaRPr lang="en-AU" sz="1000" spc="13" dirty="0">
              <a:latin typeface="Roboto Light"/>
              <a:ea typeface="Roboto Light"/>
              <a:cs typeface="Lato"/>
            </a:endParaRPr>
          </a:p>
          <a:p>
            <a:r>
              <a:rPr lang="en-AU" sz="1000" spc="13" dirty="0">
                <a:latin typeface="Roboto Light"/>
                <a:ea typeface="Roboto Light"/>
                <a:cs typeface="Lato"/>
              </a:rPr>
              <a:t>Currently performing the role of Enterprise Data Architect - responsible and accountable for all data initiatives within the Enterprise Architecture </a:t>
            </a:r>
            <a:r>
              <a:rPr lang="en-AU" sz="1000" spc="13">
                <a:latin typeface="Roboto Light"/>
                <a:ea typeface="Roboto Light"/>
                <a:cs typeface="Lato"/>
              </a:rPr>
              <a:t>team and</a:t>
            </a:r>
            <a:r>
              <a:rPr lang="en-AU" sz="1000" spc="13" dirty="0">
                <a:latin typeface="Roboto Light"/>
                <a:ea typeface="Roboto Light"/>
                <a:cs typeface="Lato"/>
              </a:rPr>
              <a:t> ensuring the end state data architecture will support the corporate and IT strategy.  He also has accountability for the enterprise data artefacts including the Data Capability Model, Data Strategy and Reference Architecture.</a:t>
            </a:r>
          </a:p>
          <a:p>
            <a:pPr algn="l"/>
            <a:endParaRPr lang="en-AU" sz="1000" spc="13" dirty="0">
              <a:latin typeface="Roboto Light"/>
              <a:ea typeface="Roboto Light"/>
              <a:cs typeface="Lato"/>
            </a:endParaRPr>
          </a:p>
          <a:p>
            <a:pPr algn="l"/>
            <a:r>
              <a:rPr lang="en-AU" sz="1000" spc="13" dirty="0">
                <a:latin typeface="Roboto Light"/>
                <a:ea typeface="Roboto Light"/>
                <a:cs typeface="Lato"/>
              </a:rPr>
              <a:t>Sandip has worked across various industries including energy, insurance and large enterprises. </a:t>
            </a:r>
          </a:p>
          <a:p>
            <a:pPr>
              <a:lnSpc>
                <a:spcPts val="1500"/>
              </a:lnSpc>
            </a:pPr>
            <a:endParaRPr lang="en-US"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244310"/>
            <a:ext cx="2991223" cy="240725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03962"/>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Azure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 Server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Power BI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OFSAA Apps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ODIEE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OBIEE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PL/SQL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Databases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a:t>
            </a:r>
            <a:r>
              <a:rPr lang="en-US" sz="900" dirty="0" err="1">
                <a:latin typeface="Roboto Light" panose="02000000000000000000" pitchFamily="2" charset="0"/>
                <a:ea typeface="Roboto Light" panose="02000000000000000000" pitchFamily="2" charset="0"/>
              </a:rPr>
              <a:t>.Net</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Forms 6i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 3.x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SSIS</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57163"/>
            <a:ext cx="0" cy="1732246"/>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81996"/>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92879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97440"/>
            <a:ext cx="1951941" cy="2215991"/>
            <a:chOff x="8106458" y="2681447"/>
            <a:chExt cx="1951941" cy="2215991"/>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215991"/>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The Open Group</a:t>
              </a:r>
              <a:r>
                <a:rPr lang="en-GB" sz="1200" dirty="0">
                  <a:solidFill>
                    <a:srgbClr val="00AB80"/>
                  </a:solidFill>
                  <a:effectLst/>
                  <a:latin typeface="Roboto Light" panose="02000000000000000000" pitchFamily="2" charset="0"/>
                  <a:ea typeface="Calibri" panose="020F0502020204030204" pitchFamily="34" charset="0"/>
                </a:rPr>
                <a:t> Certified |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TOGAF 9 Certified</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Diploma – Commerce | </a:t>
              </a:r>
              <a:r>
                <a:rPr lang="en-GB" sz="1200" dirty="0">
                  <a:solidFill>
                    <a:srgbClr val="00AB80"/>
                  </a:solidFill>
                  <a:latin typeface="Roboto Light" panose="02000000000000000000" pitchFamily="2" charset="0"/>
                </a:rPr>
                <a:t>Indira Gandhi National Open University</a:t>
              </a:r>
              <a:r>
                <a:rPr lang="en-US" sz="1200" dirty="0">
                  <a:solidFill>
                    <a:srgbClr val="00AB80"/>
                  </a:solidFill>
                  <a:latin typeface="Roboto Light" panose="02000000000000000000" pitchFamily="2" charset="0"/>
                </a:rPr>
                <a:t>, India</a:t>
              </a:r>
              <a:endParaRPr lang="en-GB" sz="1200" dirty="0">
                <a:solidFill>
                  <a:srgbClr val="00AB80"/>
                </a:solidFill>
                <a:latin typeface="Roboto Light" panose="02000000000000000000" pitchFamily="2" charset="0"/>
              </a:endParaRP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Commerce |</a:t>
              </a:r>
              <a:r>
                <a:rPr lang="en-GB" sz="1800" dirty="0">
                  <a:effectLst/>
                  <a:latin typeface="Roboto Light" panose="02000000000000000000" pitchFamily="2" charset="0"/>
                  <a:ea typeface="Calibri" panose="020F0502020204030204" pitchFamily="34" charset="0"/>
                  <a:cs typeface="Times New Roman" panose="02020603050405020304" pitchFamily="18" charset="0"/>
                </a:rPr>
                <a:t> </a:t>
              </a:r>
              <a:r>
                <a:rPr lang="en-GB" sz="1200" dirty="0">
                  <a:solidFill>
                    <a:srgbClr val="00AB80"/>
                  </a:solidFill>
                  <a:latin typeface="Roboto Light" panose="02000000000000000000" pitchFamily="2" charset="0"/>
                </a:rPr>
                <a:t>Indira Gandhi National Open University</a:t>
              </a:r>
              <a:r>
                <a:rPr lang="en-US" sz="1200" dirty="0">
                  <a:solidFill>
                    <a:srgbClr val="00AB80"/>
                  </a:solidFill>
                  <a:latin typeface="Roboto Light" panose="02000000000000000000" pitchFamily="2" charset="0"/>
                </a:rPr>
                <a:t>, India</a:t>
              </a:r>
              <a:endParaRPr lang="en-GB" sz="1200" dirty="0">
                <a:solidFill>
                  <a:srgbClr val="00AB80"/>
                </a:solidFill>
                <a:latin typeface="Roboto Light" panose="02000000000000000000" pitchFamily="2"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608505"/>
            <a:ext cx="1570024"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Program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SDLC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Architecture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Architecture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Modeling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Operational Data Store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00728"/>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64814"/>
            <a:ext cx="46311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Major Insurance Company </a:t>
            </a:r>
            <a:r>
              <a:rPr lang="en-AU" sz="1200" b="1" dirty="0">
                <a:solidFill>
                  <a:srgbClr val="0059FF"/>
                </a:solidFill>
                <a:latin typeface="Roboto" panose="02000000000000000000" pitchFamily="2" charset="0"/>
                <a:ea typeface="Roboto" panose="02000000000000000000" pitchFamily="2" charset="0"/>
              </a:rPr>
              <a:t>– Principal Data Architect</a:t>
            </a:r>
            <a:r>
              <a:rPr lang="en-US" sz="1200" b="1" dirty="0">
                <a:solidFill>
                  <a:srgbClr val="0059FF"/>
                </a:solidFill>
                <a:latin typeface="Roboto" panose="02000000000000000000" pitchFamily="2" charset="0"/>
                <a:ea typeface="Roboto" panose="02000000000000000000" pitchFamily="2" charset="0"/>
              </a:rPr>
              <a:t> </a:t>
            </a:r>
            <a:endParaRPr lang="en-AU" sz="1200" b="1" dirty="0">
              <a:solidFill>
                <a:srgbClr val="0059FF"/>
              </a:solidFill>
              <a:latin typeface="Roboto" panose="02000000000000000000" pitchFamily="2" charset="0"/>
              <a:ea typeface="Roboto" panose="02000000000000000000" pitchFamily="2" charset="0"/>
            </a:endParaRPr>
          </a:p>
        </p:txBody>
      </p:sp>
      <p:sp>
        <p:nvSpPr>
          <p:cNvPr id="19" name="TextBox 18">
            <a:extLst>
              <a:ext uri="{FF2B5EF4-FFF2-40B4-BE49-F238E27FC236}">
                <a16:creationId xmlns:a16="http://schemas.microsoft.com/office/drawing/2014/main" id="{7513C49A-2DF2-8111-FED4-FC07A8EAD258}"/>
              </a:ext>
            </a:extLst>
          </p:cNvPr>
          <p:cNvSpPr txBox="1"/>
          <p:nvPr/>
        </p:nvSpPr>
        <p:spPr>
          <a:xfrm>
            <a:off x="3462567" y="6068322"/>
            <a:ext cx="4560861" cy="1631216"/>
          </a:xfrm>
          <a:prstGeom prst="rect">
            <a:avLst/>
          </a:prstGeom>
          <a:noFill/>
        </p:spPr>
        <p:txBody>
          <a:bodyPr wrap="square" numCol="1" rtlCol="0">
            <a:spAutoFit/>
          </a:bodyPr>
          <a:lstStyle>
            <a:defPPr>
              <a:defRPr lang="en-US"/>
            </a:defPPr>
            <a:lvl1pPr indent="0">
              <a:buClr>
                <a:srgbClr val="00AB80"/>
              </a:buClr>
              <a:buFont typeface="Arial" panose="020B0604020202020204" pitchFamily="34" charset="0"/>
              <a:buNone/>
              <a:defRPr sz="1000">
                <a:solidFill>
                  <a:schemeClr val="bg1"/>
                </a:solidFill>
                <a:latin typeface="Roboto Light" panose="02000000000000000000" pitchFamily="2" charset="0"/>
                <a:ea typeface="Roboto Light" panose="02000000000000000000" pitchFamily="2" charset="0"/>
              </a:defRPr>
            </a:lvl1pPr>
          </a:lstStyle>
          <a:p>
            <a:pPr marL="171450" indent="-171450">
              <a:buFont typeface="Arial" panose="020B0604020202020204" pitchFamily="34" charset="0"/>
              <a:buChar char="•"/>
            </a:pPr>
            <a:r>
              <a:rPr lang="en-AU" dirty="0"/>
              <a:t>Delivered Foundation Information Architecture for the data platform using Microsoft Big Data and Azure Cloud Technologies</a:t>
            </a:r>
          </a:p>
          <a:p>
            <a:pPr marL="171450" indent="-171450">
              <a:buFont typeface="Arial" panose="020B0604020202020204" pitchFamily="34" charset="0"/>
              <a:buChar char="•"/>
            </a:pPr>
            <a:r>
              <a:rPr lang="en-AU" dirty="0"/>
              <a:t>Delivered BI Reporting Implementation approach and strategy for Power BI</a:t>
            </a:r>
          </a:p>
          <a:p>
            <a:pPr marL="171450" indent="-171450">
              <a:buFont typeface="Arial" panose="020B0604020202020204" pitchFamily="34" charset="0"/>
              <a:buChar char="•"/>
            </a:pPr>
            <a:r>
              <a:rPr lang="en-AU" dirty="0"/>
              <a:t>Delivery of Operational Reports </a:t>
            </a:r>
          </a:p>
          <a:p>
            <a:pPr marL="171450" indent="-171450">
              <a:buFont typeface="Arial" panose="020B0604020202020204" pitchFamily="34" charset="0"/>
              <a:buChar char="•"/>
            </a:pPr>
            <a:r>
              <a:rPr lang="en-AU" dirty="0"/>
              <a:t>Architecture and Design of BI Semantic and Integration Data Serving Layers</a:t>
            </a:r>
          </a:p>
          <a:p>
            <a:pPr marL="171450" indent="-171450">
              <a:buFont typeface="Arial" panose="020B0604020202020204" pitchFamily="34" charset="0"/>
              <a:buChar char="•"/>
            </a:pPr>
            <a:r>
              <a:rPr lang="en-AU" dirty="0"/>
              <a:t>Delivery of Integration Architecture and Integration Pattern’s design library</a:t>
            </a:r>
          </a:p>
          <a:p>
            <a:pPr marL="171450" indent="-171450">
              <a:buFont typeface="Arial" panose="020B0604020202020204" pitchFamily="34" charset="0"/>
              <a:buChar char="•"/>
            </a:pPr>
            <a:r>
              <a:rPr lang="en-AU" dirty="0"/>
              <a:t>Implementation and execution of Integration Governance Practice</a:t>
            </a:r>
          </a:p>
          <a:p>
            <a:pPr marL="171450" indent="-171450">
              <a:buFont typeface="Arial" panose="020B0604020202020204" pitchFamily="34" charset="0"/>
              <a:buChar char="•"/>
            </a:pPr>
            <a:r>
              <a:rPr lang="en-AU" dirty="0"/>
              <a:t>Delivery of APIs code &amp; configuration support and execute Integration Governance Framework </a:t>
            </a:r>
          </a:p>
          <a:p>
            <a:pPr marL="171450" indent="-171450">
              <a:buFont typeface="Arial" panose="020B0604020202020204" pitchFamily="34" charset="0"/>
              <a:buChar char="•"/>
            </a:pPr>
            <a:r>
              <a:rPr lang="en-AU" dirty="0"/>
              <a:t>Data Migration to Azure Platform.</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35140" y="6189963"/>
            <a:ext cx="0" cy="108925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59F888-3BDF-A1C0-65E5-CB6FDD43D97C}"/>
              </a:ext>
            </a:extLst>
          </p:cNvPr>
          <p:cNvSpPr txBox="1"/>
          <p:nvPr/>
        </p:nvSpPr>
        <p:spPr>
          <a:xfrm>
            <a:off x="3389385" y="5840338"/>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Global Health Insurance Company – Information Analytics Lead</a:t>
            </a:r>
          </a:p>
          <a:p>
            <a:endParaRPr lang="en-AU" sz="1200" b="1" dirty="0">
              <a:solidFill>
                <a:srgbClr val="A93584"/>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341540"/>
            <a:ext cx="4533549" cy="196977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Architected and governed parts of the Unified Data Platform</a:t>
            </a:r>
          </a:p>
          <a:p>
            <a:r>
              <a:rPr lang="en-AU" sz="1000" dirty="0">
                <a:solidFill>
                  <a:schemeClr val="bg1"/>
                </a:solidFill>
              </a:rPr>
              <a:t>Defined customer’s Data Eco-system and delivered a Solution Overview Document (including Enterprise Data Reference Architecture + Data Capability) of the Unified Data Platform</a:t>
            </a:r>
          </a:p>
          <a:p>
            <a:r>
              <a:rPr lang="en-AU" sz="1000" dirty="0">
                <a:solidFill>
                  <a:schemeClr val="bg1"/>
                </a:solidFill>
              </a:rPr>
              <a:t>Delivered Foundational UDP Data Operations Operating Model and associated service catalogue and its process design</a:t>
            </a:r>
          </a:p>
          <a:p>
            <a:r>
              <a:rPr lang="en-AU" sz="1000" dirty="0">
                <a:solidFill>
                  <a:schemeClr val="bg1"/>
                </a:solidFill>
              </a:rPr>
              <a:t>Delivered Data Artefacts Management model including UDP Knowledgebase</a:t>
            </a:r>
          </a:p>
          <a:p>
            <a:r>
              <a:rPr lang="en-AU" sz="1000" dirty="0">
                <a:solidFill>
                  <a:schemeClr val="bg1"/>
                </a:solidFill>
              </a:rPr>
              <a:t>Delivered Analytics &amp; BI self-service model and associated service catalogue and its process design</a:t>
            </a:r>
          </a:p>
          <a:p>
            <a:r>
              <a:rPr lang="en-AU" sz="1000" dirty="0">
                <a:solidFill>
                  <a:schemeClr val="bg1"/>
                </a:solidFill>
              </a:rPr>
              <a:t>Worked on developing Google Looker Architecture</a:t>
            </a:r>
          </a:p>
          <a:p>
            <a:endParaRPr lang="en-US" sz="1000" dirty="0">
              <a:solidFill>
                <a:schemeClr val="bg1"/>
              </a:solidFill>
            </a:endParaRP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3" y="3176882"/>
            <a:ext cx="5029198" cy="2786577"/>
            <a:chOff x="3335753" y="3451682"/>
            <a:chExt cx="5029198" cy="2786577"/>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790632"/>
              <a:ext cx="0" cy="221964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3451682"/>
              <a:ext cx="5029198"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Major Australian Energy Operator – Enterprise Data Architect</a:t>
              </a:r>
            </a:p>
            <a:p>
              <a:endParaRPr lang="en-AU" sz="1200" b="1" dirty="0">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652936"/>
              <a:ext cx="4651412" cy="2585323"/>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Ensured information architecture was aligned with target state and capable of supporting corporate IT strategy </a:t>
              </a:r>
            </a:p>
            <a:p>
              <a:r>
                <a:rPr lang="en-AU" sz="1000" dirty="0"/>
                <a:t>Management of enterprise data artefacts i.e. Data Capability Model, Data Strategy, Reference Architecture</a:t>
              </a:r>
            </a:p>
            <a:p>
              <a:r>
                <a:rPr lang="en-AU" sz="1000" dirty="0"/>
                <a:t>Research and evaluation of new technologies and products </a:t>
              </a:r>
            </a:p>
            <a:p>
              <a:r>
                <a:rPr lang="en-AU" sz="1000" dirty="0"/>
                <a:t>Delivered Enterprise Data Capability Architecture and Architecture Principles</a:t>
              </a:r>
            </a:p>
            <a:p>
              <a:r>
                <a:rPr lang="en-AU" sz="1000" dirty="0"/>
                <a:t>Delivered Enterprise Data Strategy – collaborated with senior stakeholders   to establish strategic direction &amp; defined information management roadmap</a:t>
              </a:r>
            </a:p>
            <a:p>
              <a:r>
                <a:rPr lang="en-AU" sz="1000" dirty="0"/>
                <a:t>Delivered revalidation of data modelling approach</a:t>
              </a:r>
            </a:p>
            <a:p>
              <a:r>
                <a:rPr lang="en-AU" sz="1000" dirty="0"/>
                <a:t>Delivered Conceptual architecture for ODMT (Operations Decision Making Tools) to support control room transformation</a:t>
              </a:r>
            </a:p>
            <a:p>
              <a:r>
                <a:rPr lang="en-AU" sz="1000" dirty="0"/>
                <a:t>Delivered the AIML ( Artificial Intelligence and Machine learning) whitepaper based on the POC conducted with Microsoft and Google platform</a:t>
              </a:r>
            </a:p>
            <a:p>
              <a:r>
                <a:rPr lang="en-AU" sz="1000" dirty="0"/>
                <a:t>Worked closely with senior stakeholders in business and technology to ensure enterprise data alignment</a:t>
              </a:r>
            </a:p>
            <a:p>
              <a:endParaRPr lang="en-AU" sz="1000" dirty="0"/>
            </a:p>
          </p:txBody>
        </p:sp>
      </p:grpSp>
      <p:sp>
        <p:nvSpPr>
          <p:cNvPr id="43" name="TextBox 42">
            <a:extLst>
              <a:ext uri="{FF2B5EF4-FFF2-40B4-BE49-F238E27FC236}">
                <a16:creationId xmlns:a16="http://schemas.microsoft.com/office/drawing/2014/main" id="{2F7F9DCD-ABFD-3411-96C4-EDE25D98CDEB}"/>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Insurance</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Big 4 Bank</a:t>
            </a: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Healthcare</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9A1283-7A47-4767-91D2-5BCCAE646712}"/>
</file>

<file path=customXml/itemProps2.xml><?xml version="1.0" encoding="utf-8"?>
<ds:datastoreItem xmlns:ds="http://schemas.openxmlformats.org/officeDocument/2006/customXml" ds:itemID="{B79DDFC6-124A-4859-BB62-4C7039BA48C0}">
  <ds:schemaRefs>
    <ds:schemaRef ds:uri="http://purl.org/dc/dcmitype/"/>
    <ds:schemaRef ds:uri="http://www.w3.org/XML/1998/namespace"/>
    <ds:schemaRef ds:uri="http://schemas.microsoft.com/office/2006/documentManagement/types"/>
    <ds:schemaRef ds:uri="http://purl.org/dc/elements/1.1/"/>
    <ds:schemaRef ds:uri="e52cd9e7-35e5-4bd3-9cab-ca6a63c31e52"/>
    <ds:schemaRef ds:uri="http://schemas.microsoft.com/office/2006/metadata/properties"/>
    <ds:schemaRef ds:uri="http://schemas.microsoft.com/office/infopath/2007/PartnerControls"/>
    <ds:schemaRef ds:uri="http://schemas.openxmlformats.org/package/2006/metadata/core-properties"/>
    <ds:schemaRef ds:uri="daf93972-1964-4522-aa34-640805a01c3a"/>
    <ds:schemaRef ds:uri="http://purl.org/dc/terms/"/>
  </ds:schemaRefs>
</ds:datastoreItem>
</file>

<file path=customXml/itemProps3.xml><?xml version="1.0" encoding="utf-8"?>
<ds:datastoreItem xmlns:ds="http://schemas.openxmlformats.org/officeDocument/2006/customXml" ds:itemID="{3EAAB431-6FA9-4678-BFEA-63CD1CAD6FC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2774</TotalTime>
  <Words>514</Words>
  <Application>Microsoft Office PowerPoint</Application>
  <PresentationFormat>Custom</PresentationFormat>
  <Paragraphs>82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cp:revision>
  <dcterms:created xsi:type="dcterms:W3CDTF">2019-12-03T01:50:37Z</dcterms:created>
  <dcterms:modified xsi:type="dcterms:W3CDTF">2023-05-01T23:21:45Z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