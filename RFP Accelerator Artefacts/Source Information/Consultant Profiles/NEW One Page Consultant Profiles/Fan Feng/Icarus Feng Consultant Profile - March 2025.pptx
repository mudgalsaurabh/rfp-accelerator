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9FF"/>
    <a:srgbClr val="ED7D31"/>
    <a:srgbClr val="A93584"/>
    <a:srgbClr val="0F2B3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08E8F9-B262-49C7-A4BF-E69040567D3D}" v="50" dt="2025-03-17T04:04:11.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16A870E8-0C61-4ABB-8896-5FE8389CAC0A}"/>
    <pc:docChg chg="undo custSel modSld">
      <pc:chgData name="Darcy Roach" userId="ba676ee9-e9b4-49e8-a515-8077106c948d" providerId="ADAL" clId="{16A870E8-0C61-4ABB-8896-5FE8389CAC0A}" dt="2025-03-17T00:12:45.657" v="397" actId="1076"/>
      <pc:docMkLst>
        <pc:docMk/>
      </pc:docMkLst>
      <pc:sldChg chg="modSp mod modNotesTx">
        <pc:chgData name="Darcy Roach" userId="ba676ee9-e9b4-49e8-a515-8077106c948d" providerId="ADAL" clId="{16A870E8-0C61-4ABB-8896-5FE8389CAC0A}" dt="2025-03-17T00:12:45.657" v="397" actId="1076"/>
        <pc:sldMkLst>
          <pc:docMk/>
          <pc:sldMk cId="2009923557" sldId="270"/>
        </pc:sldMkLst>
        <pc:spChg chg="mod">
          <ac:chgData name="Darcy Roach" userId="ba676ee9-e9b4-49e8-a515-8077106c948d" providerId="ADAL" clId="{16A870E8-0C61-4ABB-8896-5FE8389CAC0A}" dt="2025-03-17T00:03:31.691" v="199" actId="14100"/>
          <ac:spMkLst>
            <pc:docMk/>
            <pc:sldMk cId="2009923557" sldId="270"/>
            <ac:spMk id="6" creationId="{701E125D-B356-8A2A-B86B-AB6567CEABE1}"/>
          </ac:spMkLst>
        </pc:spChg>
        <pc:spChg chg="mod">
          <ac:chgData name="Darcy Roach" userId="ba676ee9-e9b4-49e8-a515-8077106c948d" providerId="ADAL" clId="{16A870E8-0C61-4ABB-8896-5FE8389CAC0A}" dt="2025-03-17T00:11:48.471" v="392" actId="20577"/>
          <ac:spMkLst>
            <pc:docMk/>
            <pc:sldMk cId="2009923557" sldId="270"/>
            <ac:spMk id="8" creationId="{59FEB941-5146-6B10-4E4D-8A4ADE918AEF}"/>
          </ac:spMkLst>
        </pc:spChg>
        <pc:spChg chg="mod">
          <ac:chgData name="Darcy Roach" userId="ba676ee9-e9b4-49e8-a515-8077106c948d" providerId="ADAL" clId="{16A870E8-0C61-4ABB-8896-5FE8389CAC0A}" dt="2025-03-17T00:12:22.079" v="394" actId="20577"/>
          <ac:spMkLst>
            <pc:docMk/>
            <pc:sldMk cId="2009923557" sldId="270"/>
            <ac:spMk id="10" creationId="{06312B81-BCF1-2796-C112-3DBE0E02F483}"/>
          </ac:spMkLst>
        </pc:spChg>
        <pc:spChg chg="mod">
          <ac:chgData name="Darcy Roach" userId="ba676ee9-e9b4-49e8-a515-8077106c948d" providerId="ADAL" clId="{16A870E8-0C61-4ABB-8896-5FE8389CAC0A}" dt="2025-03-17T00:03:07.985" v="155" actId="1076"/>
          <ac:spMkLst>
            <pc:docMk/>
            <pc:sldMk cId="2009923557" sldId="270"/>
            <ac:spMk id="39" creationId="{3EA81938-6A76-B850-B0E8-A5F905AEBA98}"/>
          </ac:spMkLst>
        </pc:spChg>
        <pc:spChg chg="mod ord">
          <ac:chgData name="Darcy Roach" userId="ba676ee9-e9b4-49e8-a515-8077106c948d" providerId="ADAL" clId="{16A870E8-0C61-4ABB-8896-5FE8389CAC0A}" dt="2025-03-17T00:02:55.817" v="154" actId="20577"/>
          <ac:spMkLst>
            <pc:docMk/>
            <pc:sldMk cId="2009923557" sldId="270"/>
            <ac:spMk id="175" creationId="{B9775FC7-7124-8CCA-9B1C-7CCD7D3DF384}"/>
          </ac:spMkLst>
        </pc:spChg>
        <pc:grpChg chg="mod">
          <ac:chgData name="Darcy Roach" userId="ba676ee9-e9b4-49e8-a515-8077106c948d" providerId="ADAL" clId="{16A870E8-0C61-4ABB-8896-5FE8389CAC0A}" dt="2025-03-17T00:03:07.985" v="155" actId="1076"/>
          <ac:grpSpMkLst>
            <pc:docMk/>
            <pc:sldMk cId="2009923557" sldId="270"/>
            <ac:grpSpMk id="5" creationId="{980A06B1-0A2F-7DF6-91DB-0F6DFA896A23}"/>
          </ac:grpSpMkLst>
        </pc:grpChg>
        <pc:grpChg chg="mod">
          <ac:chgData name="Darcy Roach" userId="ba676ee9-e9b4-49e8-a515-8077106c948d" providerId="ADAL" clId="{16A870E8-0C61-4ABB-8896-5FE8389CAC0A}" dt="2025-03-17T00:12:45.657" v="397" actId="1076"/>
          <ac:grpSpMkLst>
            <pc:docMk/>
            <pc:sldMk cId="2009923557" sldId="270"/>
            <ac:grpSpMk id="9" creationId="{E7DD910D-15D0-5CBC-B70B-D2480ECA3DCA}"/>
          </ac:grpSpMkLst>
        </pc:grpChg>
        <pc:grpChg chg="mod">
          <ac:chgData name="Darcy Roach" userId="ba676ee9-e9b4-49e8-a515-8077106c948d" providerId="ADAL" clId="{16A870E8-0C61-4ABB-8896-5FE8389CAC0A}" dt="2025-03-17T00:12:29.152" v="395" actId="1076"/>
          <ac:grpSpMkLst>
            <pc:docMk/>
            <pc:sldMk cId="2009923557" sldId="270"/>
            <ac:grpSpMk id="12" creationId="{C465E181-1D5D-D878-8A71-F5848AAF858F}"/>
          </ac:grpSpMkLst>
        </pc:grpChg>
        <pc:picChg chg="mod">
          <ac:chgData name="Darcy Roach" userId="ba676ee9-e9b4-49e8-a515-8077106c948d" providerId="ADAL" clId="{16A870E8-0C61-4ABB-8896-5FE8389CAC0A}" dt="2025-03-17T00:03:10.703" v="156" actId="1076"/>
          <ac:picMkLst>
            <pc:docMk/>
            <pc:sldMk cId="2009923557" sldId="270"/>
            <ac:picMk id="33" creationId="{20B94328-DB79-FB55-B636-C97F5174B4C4}"/>
          </ac:picMkLst>
        </pc:picChg>
        <pc:cxnChg chg="mod">
          <ac:chgData name="Darcy Roach" userId="ba676ee9-e9b4-49e8-a515-8077106c948d" providerId="ADAL" clId="{16A870E8-0C61-4ABB-8896-5FE8389CAC0A}" dt="2025-03-17T00:12:33.635" v="396" actId="14100"/>
          <ac:cxnSpMkLst>
            <pc:docMk/>
            <pc:sldMk cId="2009923557" sldId="270"/>
            <ac:cxnSpMk id="15" creationId="{F87F05F2-DA4C-4F55-A5D0-1887110DF155}"/>
          </ac:cxnSpMkLst>
        </pc:cxnChg>
      </pc:sldChg>
    </pc:docChg>
  </pc:docChgLst>
  <pc:docChgLst>
    <pc:chgData name="Joel Collins" userId="d3ae1526-77cd-4d01-b42b-68ae1cb060b9" providerId="ADAL" clId="{F408E8F9-B262-49C7-A4BF-E69040567D3D}"/>
    <pc:docChg chg="modSld">
      <pc:chgData name="Joel Collins" userId="d3ae1526-77cd-4d01-b42b-68ae1cb060b9" providerId="ADAL" clId="{F408E8F9-B262-49C7-A4BF-E69040567D3D}" dt="2025-03-17T04:04:11.627" v="49" actId="20577"/>
      <pc:docMkLst>
        <pc:docMk/>
      </pc:docMkLst>
      <pc:sldChg chg="modSp mod">
        <pc:chgData name="Joel Collins" userId="d3ae1526-77cd-4d01-b42b-68ae1cb060b9" providerId="ADAL" clId="{F408E8F9-B262-49C7-A4BF-E69040567D3D}" dt="2025-03-17T04:04:11.627" v="49" actId="20577"/>
        <pc:sldMkLst>
          <pc:docMk/>
          <pc:sldMk cId="2009923557" sldId="270"/>
        </pc:sldMkLst>
        <pc:spChg chg="mod">
          <ac:chgData name="Joel Collins" userId="d3ae1526-77cd-4d01-b42b-68ae1cb060b9" providerId="ADAL" clId="{F408E8F9-B262-49C7-A4BF-E69040567D3D}" dt="2025-03-17T04:04:11.627" v="49" actId="20577"/>
          <ac:spMkLst>
            <pc:docMk/>
            <pc:sldMk cId="2009923557" sldId="270"/>
            <ac:spMk id="2" creationId="{2FA774CA-3857-9308-4D38-9414B0CC2B95}"/>
          </ac:spMkLst>
        </pc:spChg>
        <pc:spChg chg="mod">
          <ac:chgData name="Joel Collins" userId="d3ae1526-77cd-4d01-b42b-68ae1cb060b9" providerId="ADAL" clId="{F408E8F9-B262-49C7-A4BF-E69040567D3D}" dt="2025-03-17T03:58:07.485" v="24" actId="1035"/>
          <ac:spMkLst>
            <pc:docMk/>
            <pc:sldMk cId="2009923557" sldId="270"/>
            <ac:spMk id="4" creationId="{80F49B2F-21D4-F9EB-049F-717A10CB7D84}"/>
          </ac:spMkLst>
        </pc:spChg>
        <pc:spChg chg="mod">
          <ac:chgData name="Joel Collins" userId="d3ae1526-77cd-4d01-b42b-68ae1cb060b9" providerId="ADAL" clId="{F408E8F9-B262-49C7-A4BF-E69040567D3D}" dt="2025-03-17T04:04:05.738" v="44" actId="20577"/>
          <ac:spMkLst>
            <pc:docMk/>
            <pc:sldMk cId="2009923557" sldId="270"/>
            <ac:spMk id="10" creationId="{06312B81-BCF1-2796-C112-3DBE0E02F483}"/>
          </ac:spMkLst>
        </pc:spChg>
        <pc:spChg chg="mod">
          <ac:chgData name="Joel Collins" userId="d3ae1526-77cd-4d01-b42b-68ae1cb060b9" providerId="ADAL" clId="{F408E8F9-B262-49C7-A4BF-E69040567D3D}" dt="2025-03-17T03:58:19.708" v="40" actId="20577"/>
          <ac:spMkLst>
            <pc:docMk/>
            <pc:sldMk cId="2009923557" sldId="270"/>
            <ac:spMk id="17" creationId="{1BDE5051-9F34-F139-742D-4450E5D6591E}"/>
          </ac:spMkLst>
        </pc:spChg>
      </pc:sldChg>
    </pc:docChg>
  </pc:docChgLst>
  <pc:docChgLst>
    <pc:chgData name="Emilio Parente" userId="01da3a18-a8c9-4a65-a55b-c6794ec7dcc4" providerId="ADAL" clId="{3792E9A4-F930-4CF9-BD08-C9A31396C8C2}"/>
    <pc:docChg chg="modSld">
      <pc:chgData name="Emilio Parente" userId="01da3a18-a8c9-4a65-a55b-c6794ec7dcc4" providerId="ADAL" clId="{3792E9A4-F930-4CF9-BD08-C9A31396C8C2}" dt="2023-09-24T01:54:59.424" v="15" actId="20577"/>
      <pc:docMkLst>
        <pc:docMk/>
      </pc:docMkLst>
      <pc:sldChg chg="modSp mod">
        <pc:chgData name="Emilio Parente" userId="01da3a18-a8c9-4a65-a55b-c6794ec7dcc4" providerId="ADAL" clId="{3792E9A4-F930-4CF9-BD08-C9A31396C8C2}" dt="2023-09-24T01:54:59.424" v="15" actId="20577"/>
        <pc:sldMkLst>
          <pc:docMk/>
          <pc:sldMk cId="200992355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F8DF5DE-CD12-4DC8-8600-3B3C540EC07D}" type="datetimeFigureOut">
              <a:rPr lang="en-AU" smtClean="0"/>
              <a:t>16/03/2025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CFEA82A-1A27-41A4-9870-7AB0FB23B0A4}" type="slidenum">
              <a:rPr lang="en-AU" smtClean="0"/>
              <a:t>‹#›</a:t>
            </a:fld>
            <a:endParaRPr lang="en-AU"/>
          </a:p>
        </p:txBody>
      </p:sp>
    </p:spTree>
    <p:extLst>
      <p:ext uri="{BB962C8B-B14F-4D97-AF65-F5344CB8AC3E}">
        <p14:creationId xmlns:p14="http://schemas.microsoft.com/office/powerpoint/2010/main" val="1686406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Financial Services </a:t>
            </a:r>
            <a:r>
              <a:rPr lang="en-US" err="1"/>
              <a:t>Organisation</a:t>
            </a:r>
            <a:r>
              <a:rPr lang="en-US"/>
              <a:t> – Data Engineer</a:t>
            </a:r>
          </a:p>
          <a:p>
            <a:pPr marL="171450" lvl="0" indent="-171450">
              <a:buSzPts val="1000"/>
              <a:buFont typeface="Arial" panose="020B0604020202020204" pitchFamily="34" charset="0"/>
              <a:buChar char="•"/>
              <a:tabLst>
                <a:tab pos="457200" algn="l"/>
              </a:tabLst>
            </a:pPr>
            <a:r>
              <a:rPr lang="en-AU" sz="1200">
                <a:solidFill>
                  <a:schemeClr val="bg1"/>
                </a:solidFill>
              </a:rPr>
              <a:t>Ran spikes and proof of concepts to support the solution design</a:t>
            </a:r>
          </a:p>
          <a:p>
            <a:pPr marL="171450" lvl="0" indent="-171450">
              <a:buSzPts val="1000"/>
              <a:buFont typeface="Arial" panose="020B0604020202020204" pitchFamily="34" charset="0"/>
              <a:buChar char="•"/>
              <a:tabLst>
                <a:tab pos="457200" algn="l"/>
              </a:tabLst>
            </a:pPr>
            <a:r>
              <a:rPr lang="en-AU" sz="1200">
                <a:solidFill>
                  <a:schemeClr val="bg1"/>
                </a:solidFill>
              </a:rPr>
              <a:t>Created comprehensive documentation to have the design endorsed by both the engineering team and architect team </a:t>
            </a:r>
          </a:p>
          <a:p>
            <a:pPr marL="171450" lvl="0" indent="-171450">
              <a:buSzPts val="1000"/>
              <a:buFont typeface="Arial" panose="020B0604020202020204" pitchFamily="34" charset="0"/>
              <a:buChar char="•"/>
              <a:tabLst>
                <a:tab pos="457200" algn="l"/>
              </a:tabLst>
            </a:pPr>
            <a:r>
              <a:rPr lang="en-AU" sz="1200">
                <a:solidFill>
                  <a:schemeClr val="bg1"/>
                </a:solidFill>
              </a:rPr>
              <a:t>Implemented the solution design in a non-prod environment and performed testing</a:t>
            </a:r>
          </a:p>
          <a:p>
            <a:pPr marL="171450" lvl="0" indent="-171450">
              <a:buSzPts val="1000"/>
              <a:buFont typeface="Arial" panose="020B0604020202020204" pitchFamily="34" charset="0"/>
              <a:buChar char="•"/>
              <a:tabLst>
                <a:tab pos="457200" algn="l"/>
              </a:tabLst>
            </a:pPr>
            <a:r>
              <a:rPr lang="en-AU" sz="1200">
                <a:solidFill>
                  <a:schemeClr val="bg1"/>
                </a:solidFill>
              </a:rPr>
              <a:t>Provided support documentation and guidance to the client tech team and clarified anything required relating to GCP</a:t>
            </a:r>
          </a:p>
          <a:p>
            <a:pPr marL="171450" lvl="0" indent="-171450">
              <a:buSzPts val="1000"/>
              <a:buFont typeface="Arial" panose="020B0604020202020204" pitchFamily="34" charset="0"/>
              <a:buChar char="•"/>
              <a:tabLst>
                <a:tab pos="457200" algn="l"/>
              </a:tabLst>
            </a:pPr>
            <a:r>
              <a:rPr lang="en-AU" sz="1200">
                <a:solidFill>
                  <a:schemeClr val="bg1"/>
                </a:solidFill>
              </a:rPr>
              <a:t>Developed streaming data pipeline using </a:t>
            </a:r>
            <a:r>
              <a:rPr lang="en-AU" sz="1200" err="1">
                <a:solidFill>
                  <a:schemeClr val="bg1"/>
                </a:solidFill>
              </a:rPr>
              <a:t>apache</a:t>
            </a:r>
            <a:r>
              <a:rPr lang="en-AU" sz="1200">
                <a:solidFill>
                  <a:schemeClr val="bg1"/>
                </a:solidFill>
              </a:rPr>
              <a:t>-beam (GCP Dataflow) and Confluent Kafka &amp;batch data pipeline using GCP Composer</a:t>
            </a:r>
          </a:p>
          <a:p>
            <a:pPr marL="171450" lvl="0" indent="-171450">
              <a:buSzPts val="1000"/>
              <a:buFont typeface="Arial" panose="020B0604020202020204" pitchFamily="34" charset="0"/>
              <a:buChar char="•"/>
              <a:tabLst>
                <a:tab pos="457200" algn="l"/>
              </a:tabLst>
            </a:pPr>
            <a:r>
              <a:rPr lang="en-AU" sz="1200">
                <a:solidFill>
                  <a:schemeClr val="bg1"/>
                </a:solidFill>
              </a:rPr>
              <a:t>Built platform infrastructures using Terraform</a:t>
            </a:r>
          </a:p>
          <a:p>
            <a:pPr marL="171450" lvl="0" indent="-171450">
              <a:buSzPts val="1000"/>
              <a:buFont typeface="Arial" panose="020B0604020202020204" pitchFamily="34" charset="0"/>
              <a:buChar char="•"/>
              <a:tabLst>
                <a:tab pos="457200" algn="l"/>
              </a:tabLst>
            </a:pPr>
            <a:r>
              <a:rPr lang="en-AU" sz="1200">
                <a:solidFill>
                  <a:schemeClr val="bg1"/>
                </a:solidFill>
              </a:rPr>
              <a:t>Developed CICD pipeline for application deployment</a:t>
            </a:r>
          </a:p>
          <a:p>
            <a:endParaRPr lang="en-AU"/>
          </a:p>
        </p:txBody>
      </p:sp>
      <p:sp>
        <p:nvSpPr>
          <p:cNvPr id="4" name="Slide Number Placeholder 3"/>
          <p:cNvSpPr>
            <a:spLocks noGrp="1"/>
          </p:cNvSpPr>
          <p:nvPr>
            <p:ph type="sldNum" sz="quarter" idx="5"/>
          </p:nvPr>
        </p:nvSpPr>
        <p:spPr/>
        <p:txBody>
          <a:bodyPr/>
          <a:lstStyle/>
          <a:p>
            <a:fld id="{7CFEA82A-1A27-41A4-9870-7AB0FB23B0A4}" type="slidenum">
              <a:rPr lang="en-AU" smtClean="0"/>
              <a:t>1</a:t>
            </a:fld>
            <a:endParaRPr lang="en-AU"/>
          </a:p>
        </p:txBody>
      </p:sp>
    </p:spTree>
    <p:extLst>
      <p:ext uri="{BB962C8B-B14F-4D97-AF65-F5344CB8AC3E}">
        <p14:creationId xmlns:p14="http://schemas.microsoft.com/office/powerpoint/2010/main" val="3441461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3/16/2025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3/16/2025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Logistics</a:t>
            </a:r>
          </a:p>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IT Consulting</a:t>
            </a:r>
          </a:p>
          <a:p>
            <a:pPr marL="0" indent="0">
              <a:lnSpc>
                <a:spcPct val="150000"/>
              </a:lnSpc>
              <a:buNone/>
            </a:pPr>
            <a:endParaRPr lang="en-GB" sz="1200">
              <a:solidFill>
                <a:srgbClr val="00AB80"/>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760388"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Icarus </a:t>
            </a:r>
          </a:p>
          <a:p>
            <a:r>
              <a:rPr lang="en-US" sz="2800" b="1">
                <a:solidFill>
                  <a:srgbClr val="00AB80"/>
                </a:solidFill>
                <a:latin typeface="Roboto" panose="02000000000000000000" pitchFamily="2" charset="0"/>
                <a:ea typeface="Roboto" panose="02000000000000000000" pitchFamily="2" charset="0"/>
              </a:rPr>
              <a:t>Feng</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6" y="1560956"/>
            <a:ext cx="2916523" cy="1715213"/>
          </a:xfrm>
          <a:prstGeom prst="rect">
            <a:avLst/>
          </a:prstGeom>
          <a:noFill/>
        </p:spPr>
        <p:txBody>
          <a:bodyPr wrap="square" lIns="0" tIns="0" rIns="0" bIns="0" rtlCol="0" anchor="t">
            <a:spAutoFit/>
          </a:bodyPr>
          <a:lstStyle/>
          <a:p>
            <a:pPr>
              <a:lnSpc>
                <a:spcPts val="1500"/>
              </a:lnSpc>
            </a:pPr>
            <a:r>
              <a:rPr lang="en-AU" sz="1000" spc="13">
                <a:latin typeface="Roboto Light" panose="02000000000000000000" pitchFamily="2" charset="0"/>
                <a:ea typeface="Roboto Light" panose="02000000000000000000" pitchFamily="2" charset="0"/>
                <a:cs typeface="Lato" panose="020F0502020204030203" pitchFamily="34" charset="0"/>
              </a:rPr>
              <a:t>Icarus is a Google Cloud Certified Professional Data Engineer, Cloud Architect, Cloud Engineer, Developer and subject matter expert in designing and implementing data pipeline solutions on GCP (Google Cloud Platform). Icarus is also highly skilled at implementing batch and streaming pipelines with Apache Beam, Python, SDK and Apache Airflow.</a:t>
            </a:r>
          </a:p>
          <a:p>
            <a:pPr>
              <a:lnSpc>
                <a:spcPts val="1500"/>
              </a:lnSpc>
            </a:pPr>
            <a:endParaRPr lang="en-AU" sz="1000" spc="13">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40984" y="978708"/>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BigQuery</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Studio</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Flow</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Confluent</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Tensorflow</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Apache Beam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Docker</a:t>
            </a: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14782"/>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82658"/>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6597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91449"/>
            <a:ext cx="1963972" cy="4178067"/>
            <a:chOff x="8106458" y="2681447"/>
            <a:chExt cx="1963972" cy="4178067"/>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4178067"/>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15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15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a:solidFill>
                    <a:srgbClr val="00AB80"/>
                  </a:solidFill>
                  <a:latin typeface="Roboto Light" panose="02000000000000000000" pitchFamily="2" charset="0"/>
                  <a:ea typeface="Calibri" panose="020F0502020204030204" pitchFamily="34" charset="0"/>
                </a:rPr>
                <a:t>Google Cloud</a:t>
              </a:r>
              <a:r>
                <a:rPr lang="en-GB" sz="1150">
                  <a:solidFill>
                    <a:srgbClr val="00AB80"/>
                  </a:solidFill>
                  <a:effectLst/>
                  <a:latin typeface="Roboto Light" panose="02000000000000000000" pitchFamily="2" charset="0"/>
                  <a:ea typeface="Calibri" panose="020F0502020204030204" pitchFamily="34" charset="0"/>
                </a:rPr>
                <a:t> Certified | Machine Learning Engineer</a:t>
              </a:r>
            </a:p>
            <a:p>
              <a:pPr>
                <a:tabLst>
                  <a:tab pos="3819525" algn="l"/>
                  <a:tab pos="3895725" algn="l"/>
                </a:tabLst>
              </a:pPr>
              <a:endParaRPr lang="en-GB" sz="115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a:solidFill>
                    <a:srgbClr val="00AB80"/>
                  </a:solidFill>
                  <a:latin typeface="Roboto Light" panose="02000000000000000000" pitchFamily="2" charset="0"/>
                  <a:ea typeface="Calibri" panose="020F0502020204030204" pitchFamily="34" charset="0"/>
                </a:rPr>
                <a:t>Google Cloud </a:t>
              </a:r>
              <a:r>
                <a:rPr lang="en-GB" sz="1150">
                  <a:solidFill>
                    <a:srgbClr val="00AB80"/>
                  </a:solidFill>
                  <a:effectLst/>
                  <a:latin typeface="Roboto Light" panose="02000000000000000000" pitchFamily="2" charset="0"/>
                  <a:ea typeface="Calibri" panose="020F0502020204030204" pitchFamily="34" charset="0"/>
                </a:rPr>
                <a:t>Certified | Professional Cloud Architect</a:t>
              </a:r>
              <a:endParaRPr lang="en-GB" sz="115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15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a:solidFill>
                    <a:srgbClr val="00AB80"/>
                  </a:solidFill>
                  <a:latin typeface="Roboto Light" panose="02000000000000000000" pitchFamily="2" charset="0"/>
                  <a:ea typeface="Calibri" panose="020F0502020204030204" pitchFamily="34" charset="0"/>
                </a:rPr>
                <a:t>Google Cloud</a:t>
              </a:r>
              <a:r>
                <a:rPr lang="en-GB" sz="1150">
                  <a:solidFill>
                    <a:srgbClr val="00AB80"/>
                  </a:solidFill>
                  <a:effectLst/>
                  <a:latin typeface="Roboto Light" panose="02000000000000000000" pitchFamily="2" charset="0"/>
                  <a:ea typeface="Calibri" panose="020F0502020204030204" pitchFamily="34" charset="0"/>
                </a:rPr>
                <a:t> Certified | Professional Developer</a:t>
              </a:r>
            </a:p>
            <a:p>
              <a:pPr>
                <a:tabLst>
                  <a:tab pos="3819525" algn="l"/>
                  <a:tab pos="3895725" algn="l"/>
                </a:tabLst>
              </a:pPr>
              <a:endParaRPr lang="en-GB" sz="115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a:solidFill>
                    <a:srgbClr val="00AB80"/>
                  </a:solidFill>
                  <a:latin typeface="Roboto Light" panose="02000000000000000000" pitchFamily="2" charset="0"/>
                  <a:ea typeface="Calibri" panose="020F0502020204030204" pitchFamily="34" charset="0"/>
                </a:rPr>
                <a:t>Master - Information Technology,</a:t>
              </a:r>
            </a:p>
            <a:p>
              <a:pPr>
                <a:tabLst>
                  <a:tab pos="3819525" algn="l"/>
                  <a:tab pos="3895725" algn="l"/>
                </a:tabLst>
              </a:pPr>
              <a:r>
                <a:rPr lang="en-GB" sz="1150">
                  <a:solidFill>
                    <a:srgbClr val="00AB80"/>
                  </a:solidFill>
                  <a:latin typeface="Roboto Light" panose="02000000000000000000" pitchFamily="2" charset="0"/>
                  <a:ea typeface="Calibri" panose="020F0502020204030204" pitchFamily="34" charset="0"/>
                </a:rPr>
                <a:t>University of Melbourne</a:t>
              </a:r>
            </a:p>
            <a:p>
              <a:pPr>
                <a:tabLst>
                  <a:tab pos="3819525" algn="l"/>
                  <a:tab pos="3895725" algn="l"/>
                </a:tabLst>
              </a:pPr>
              <a:endParaRPr lang="en-GB" sz="115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a:solidFill>
                    <a:srgbClr val="00AB80"/>
                  </a:solidFill>
                  <a:effectLst/>
                  <a:latin typeface="Roboto Light" panose="02000000000000000000" pitchFamily="2" charset="0"/>
                  <a:ea typeface="Calibri" panose="020F0502020204030204" pitchFamily="34" charset="0"/>
                </a:rPr>
                <a:t>Bachelor</a:t>
              </a:r>
              <a:r>
                <a:rPr lang="en-GB" sz="1150">
                  <a:solidFill>
                    <a:srgbClr val="00AB80"/>
                  </a:solidFill>
                  <a:latin typeface="Roboto Light" panose="02000000000000000000" pitchFamily="2" charset="0"/>
                  <a:ea typeface="Calibri" panose="020F0502020204030204" pitchFamily="34" charset="0"/>
                </a:rPr>
                <a:t> -  Information Technology, </a:t>
              </a:r>
            </a:p>
            <a:p>
              <a:pPr>
                <a:tabLst>
                  <a:tab pos="3819525" algn="l"/>
                  <a:tab pos="3895725" algn="l"/>
                </a:tabLst>
              </a:pPr>
              <a:r>
                <a:rPr lang="en-GB" sz="1150">
                  <a:solidFill>
                    <a:srgbClr val="00AB80"/>
                  </a:solidFill>
                  <a:latin typeface="Roboto Light" panose="02000000000000000000" pitchFamily="2" charset="0"/>
                  <a:ea typeface="Calibri" panose="020F0502020204030204" pitchFamily="34" charset="0"/>
                </a:rPr>
                <a:t>Queensland University of Technology</a:t>
              </a: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grpSp>
        <p:nvGrpSpPr>
          <p:cNvPr id="12" name="Group 11">
            <a:extLst>
              <a:ext uri="{FF2B5EF4-FFF2-40B4-BE49-F238E27FC236}">
                <a16:creationId xmlns:a16="http://schemas.microsoft.com/office/drawing/2014/main" id="{C465E181-1D5D-D878-8A71-F5848AAF858F}"/>
              </a:ext>
            </a:extLst>
          </p:cNvPr>
          <p:cNvGrpSpPr/>
          <p:nvPr/>
        </p:nvGrpSpPr>
        <p:grpSpPr>
          <a:xfrm>
            <a:off x="3361806" y="5165607"/>
            <a:ext cx="4673655" cy="2658606"/>
            <a:chOff x="3335753" y="5068700"/>
            <a:chExt cx="4673655" cy="2658606"/>
          </a:xfrm>
        </p:grpSpPr>
        <p:grpSp>
          <p:nvGrpSpPr>
            <p:cNvPr id="163" name="Group 162">
              <a:extLst>
                <a:ext uri="{FF2B5EF4-FFF2-40B4-BE49-F238E27FC236}">
                  <a16:creationId xmlns:a16="http://schemas.microsoft.com/office/drawing/2014/main" id="{E52FDF9F-B084-9074-7DB9-539AD5456487}"/>
                </a:ext>
              </a:extLst>
            </p:cNvPr>
            <p:cNvGrpSpPr/>
            <p:nvPr/>
          </p:nvGrpSpPr>
          <p:grpSpPr>
            <a:xfrm>
              <a:off x="3428144" y="5326649"/>
              <a:ext cx="4581264" cy="2400657"/>
              <a:chOff x="5030740" y="2225627"/>
              <a:chExt cx="4893498" cy="2400657"/>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64764"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a:buSzPts val="1000"/>
                  <a:tabLst>
                    <a:tab pos="457200" algn="l"/>
                  </a:tabLst>
                </a:pPr>
                <a:endParaRPr lang="en-AU" sz="1000"/>
              </a:p>
              <a:p>
                <a:pPr>
                  <a:buSzPts val="1000"/>
                  <a:tabLst>
                    <a:tab pos="457200" algn="l"/>
                  </a:tabLst>
                </a:pPr>
                <a:r>
                  <a:rPr lang="en-AU" sz="1000"/>
                  <a:t>Main coder of </a:t>
                </a:r>
                <a:r>
                  <a:rPr lang="en-AU" sz="1000" err="1"/>
                  <a:t>DTaaS</a:t>
                </a:r>
                <a:r>
                  <a:rPr lang="en-AU" sz="1000"/>
                  <a:t>, which is a data tokenisation solution to encrypt sensitive data in the cloud using GCP Dataflow.</a:t>
                </a:r>
              </a:p>
              <a:p>
                <a:pPr>
                  <a:buSzPts val="1000"/>
                  <a:tabLst>
                    <a:tab pos="457200" algn="l"/>
                  </a:tabLst>
                </a:pPr>
                <a:r>
                  <a:rPr lang="en-AU" sz="1000"/>
                  <a:t>Built and managed project infrastructure, IAM and UAM using Terraform</a:t>
                </a:r>
              </a:p>
              <a:p>
                <a:pPr>
                  <a:buSzPts val="1000"/>
                  <a:tabLst>
                    <a:tab pos="457200" algn="l"/>
                  </a:tabLst>
                </a:pPr>
                <a:r>
                  <a:rPr lang="en-AU" sz="1000"/>
                  <a:t>Enabled project CI/CD to deploy data pipeline solutions using Cloud Build and Bamboo</a:t>
                </a:r>
              </a:p>
              <a:p>
                <a:pPr>
                  <a:buSzPts val="1000"/>
                  <a:tabLst>
                    <a:tab pos="457200" algn="l"/>
                  </a:tabLst>
                </a:pPr>
                <a:r>
                  <a:rPr lang="en-AU" sz="1000"/>
                  <a:t>Built logging, monitoring and alerting system on GCP </a:t>
                </a:r>
                <a:r>
                  <a:rPr lang="en-AU" sz="1000" err="1"/>
                  <a:t>Stackdriver</a:t>
                </a:r>
                <a:r>
                  <a:rPr lang="en-AU" sz="1000"/>
                  <a:t>, with Slack</a:t>
                </a:r>
              </a:p>
              <a:p>
                <a:pPr>
                  <a:buSzPts val="1000"/>
                  <a:tabLst>
                    <a:tab pos="457200" algn="l"/>
                  </a:tabLst>
                </a:pPr>
                <a:r>
                  <a:rPr lang="en-AU" sz="1000"/>
                  <a:t>Designed and built data pipelines on GCP Kubernetes Engine using Airflow</a:t>
                </a:r>
              </a:p>
              <a:p>
                <a:pPr>
                  <a:buSzPts val="1000"/>
                  <a:tabLst>
                    <a:tab pos="457200" algn="l"/>
                  </a:tabLst>
                </a:pPr>
                <a:r>
                  <a:rPr lang="en-AU" sz="1000"/>
                  <a:t>Designed and built Functional-test suites using Robot Test Framework and enabled CI/CD to deploy to GCP Kubernetes Engine</a:t>
                </a:r>
              </a:p>
              <a:p>
                <a:pPr>
                  <a:buSzPts val="1000"/>
                  <a:tabLst>
                    <a:tab pos="457200" algn="l"/>
                  </a:tabLst>
                </a:pPr>
                <a:r>
                  <a:rPr lang="en-AU" sz="1000"/>
                  <a:t>Fixed vulnerabilities of multiple application images via </a:t>
                </a:r>
                <a:r>
                  <a:rPr lang="en-AU" sz="1000" err="1"/>
                  <a:t>Dockerfile</a:t>
                </a:r>
                <a:endParaRPr lang="en-AU" sz="1000"/>
              </a:p>
              <a:p>
                <a:pPr>
                  <a:buSzPts val="1000"/>
                  <a:tabLst>
                    <a:tab pos="457200" algn="l"/>
                  </a:tabLst>
                </a:pPr>
                <a:r>
                  <a:rPr lang="en-AU" sz="1000"/>
                  <a:t>Built and managed project infrastructure, IAM and UAM using Terraform</a:t>
                </a:r>
              </a:p>
              <a:p>
                <a:pPr>
                  <a:buSzPts val="1000"/>
                  <a:tabLst>
                    <a:tab pos="457200" algn="l"/>
                  </a:tabLst>
                </a:pPr>
                <a:r>
                  <a:rPr lang="en-AU" sz="1000"/>
                  <a:t>Designed and built Functional-test suites using Robot Test Framework</a:t>
                </a:r>
              </a:p>
              <a:p>
                <a:pPr>
                  <a:buSzPts val="1000"/>
                  <a:tabLst>
                    <a:tab pos="457200" algn="l"/>
                  </a:tabLst>
                </a:pPr>
                <a:r>
                  <a:rPr lang="en-AU" sz="1000"/>
                  <a:t>Onboarded the team to Shared GKE Cluster and enabled CI/CD to deploy workloads to the Shared GKE Cluster</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205440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2FA774CA-3857-9308-4D38-9414B0CC2B95}"/>
                </a:ext>
              </a:extLst>
            </p:cNvPr>
            <p:cNvSpPr txBox="1"/>
            <p:nvPr/>
          </p:nvSpPr>
          <p:spPr>
            <a:xfrm>
              <a:off x="3335753" y="5068700"/>
              <a:ext cx="4651228" cy="461665"/>
            </a:xfrm>
            <a:prstGeom prst="rect">
              <a:avLst/>
            </a:prstGeom>
            <a:noFill/>
          </p:spPr>
          <p:txBody>
            <a:bodyPr wrap="square" rtlCol="0">
              <a:spAutoFit/>
            </a:bodyPr>
            <a:lstStyle/>
            <a:p>
              <a:endParaRPr lang="en-AU" sz="1200" b="1">
                <a:solidFill>
                  <a:srgbClr val="A93584"/>
                </a:solidFill>
                <a:latin typeface="Roboto" panose="02000000000000000000" pitchFamily="2" charset="0"/>
                <a:ea typeface="Roboto" panose="02000000000000000000" pitchFamily="2" charset="0"/>
              </a:endParaRPr>
            </a:p>
            <a:p>
              <a:r>
                <a:rPr lang="en-AU" sz="1200" b="1">
                  <a:solidFill>
                    <a:srgbClr val="A93584"/>
                  </a:solidFill>
                  <a:latin typeface="Roboto" panose="02000000000000000000" pitchFamily="2" charset="0"/>
                  <a:ea typeface="Roboto" panose="02000000000000000000" pitchFamily="2" charset="0"/>
                </a:rPr>
                <a:t>Australian Big 4 Bank – Cloud Engineer </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1065" y="5686205"/>
            <a:ext cx="1528457"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Cloud Architecture </a:t>
            </a:r>
            <a:r>
              <a:rPr lang="en-US" sz="900">
                <a:latin typeface="Roboto Light" panose="02000000000000000000" pitchFamily="2" charset="0"/>
                <a:ea typeface="Roboto Light" panose="02000000000000000000" pitchFamily="2" charset="0"/>
              </a:rPr>
              <a:t>Amazon Web Services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Structures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Visualisations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Cloud Engineering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Web Development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Artificial Intelligence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34" name="Group 33">
            <a:extLst>
              <a:ext uri="{FF2B5EF4-FFF2-40B4-BE49-F238E27FC236}">
                <a16:creationId xmlns:a16="http://schemas.microsoft.com/office/drawing/2014/main" id="{0BBEF8AB-50F3-A0AA-9946-9CFF5A8CFABB}"/>
              </a:ext>
            </a:extLst>
          </p:cNvPr>
          <p:cNvGrpSpPr/>
          <p:nvPr/>
        </p:nvGrpSpPr>
        <p:grpSpPr>
          <a:xfrm>
            <a:off x="3359463" y="982605"/>
            <a:ext cx="4618775" cy="2168907"/>
            <a:chOff x="3321267" y="1094557"/>
            <a:chExt cx="4618775" cy="2168907"/>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555"/>
              <a:ext cx="0" cy="167113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1094557"/>
              <a:ext cx="4372899" cy="461665"/>
            </a:xfrm>
            <a:prstGeom prst="rect">
              <a:avLst/>
            </a:prstGeom>
            <a:noFill/>
          </p:spPr>
          <p:txBody>
            <a:bodyPr wrap="square" rtlCol="0">
              <a:spAutoFit/>
            </a:bodyPr>
            <a:lstStyle/>
            <a:p>
              <a:r>
                <a:rPr lang="en-US" sz="1200" b="1">
                  <a:solidFill>
                    <a:srgbClr val="0059FF"/>
                  </a:solidFill>
                  <a:latin typeface="Roboto" panose="02000000000000000000" pitchFamily="2" charset="0"/>
                  <a:ea typeface="Roboto" panose="02000000000000000000" pitchFamily="2" charset="0"/>
                </a:rPr>
                <a:t>Major Telecommunications Organisation – Data Engineer</a:t>
              </a:r>
            </a:p>
            <a:p>
              <a:endParaRPr lang="en-AU" sz="1200" b="1">
                <a:solidFill>
                  <a:srgbClr val="0059FF"/>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24472"/>
              <a:ext cx="4476081"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lvl="0">
                <a:buSzPts val="1000"/>
                <a:tabLst>
                  <a:tab pos="457200" algn="l"/>
                </a:tabLst>
              </a:pPr>
              <a:r>
                <a:rPr lang="en-AU" sz="1000">
                  <a:solidFill>
                    <a:schemeClr val="bg1"/>
                  </a:solidFill>
                </a:rPr>
                <a:t>Developed the clients Data Platform to enable ELT capability in GCP for their team</a:t>
              </a:r>
            </a:p>
            <a:p>
              <a:pPr lvl="0">
                <a:buSzPts val="1000"/>
                <a:tabLst>
                  <a:tab pos="457200" algn="l"/>
                </a:tabLst>
              </a:pPr>
              <a:r>
                <a:rPr lang="en-AU" sz="1000">
                  <a:solidFill>
                    <a:schemeClr val="bg1"/>
                  </a:solidFill>
                </a:rPr>
                <a:t>Refactored the NDC Hive system and corresponding query/scripts/ to transform-logic to GCP using Composer and </a:t>
              </a:r>
              <a:r>
                <a:rPr lang="en-AU" sz="1000" err="1">
                  <a:solidFill>
                    <a:schemeClr val="bg1"/>
                  </a:solidFill>
                </a:rPr>
                <a:t>Dataform</a:t>
              </a:r>
              <a:endParaRPr lang="en-AU" sz="1000">
                <a:solidFill>
                  <a:schemeClr val="bg1"/>
                </a:solidFill>
              </a:endParaRPr>
            </a:p>
            <a:p>
              <a:pPr lvl="0">
                <a:buSzPts val="1000"/>
                <a:tabLst>
                  <a:tab pos="457200" algn="l"/>
                </a:tabLst>
              </a:pPr>
              <a:r>
                <a:rPr lang="en-AU" sz="1000">
                  <a:solidFill>
                    <a:schemeClr val="bg1"/>
                  </a:solidFill>
                </a:rPr>
                <a:t>Built the Data Pipeline to enable data ingestion to GCP in both Batch and Streaming requirements using Dataflow</a:t>
              </a:r>
            </a:p>
            <a:p>
              <a:pPr lvl="0">
                <a:buSzPts val="1000"/>
                <a:tabLst>
                  <a:tab pos="457200" algn="l"/>
                </a:tabLst>
              </a:pPr>
              <a:r>
                <a:rPr lang="en-AU" sz="1000">
                  <a:solidFill>
                    <a:schemeClr val="bg1"/>
                  </a:solidFill>
                </a:rPr>
                <a:t>Supported system tests, feature deployment and releases</a:t>
              </a:r>
            </a:p>
            <a:p>
              <a:pPr lvl="0">
                <a:buSzPts val="1000"/>
                <a:tabLst>
                  <a:tab pos="457200" algn="l"/>
                </a:tabLst>
              </a:pPr>
              <a:r>
                <a:rPr lang="en-AU" sz="1000">
                  <a:solidFill>
                    <a:schemeClr val="bg1"/>
                  </a:solidFill>
                </a:rPr>
                <a:t>Conducted daily meetings with the client TMO testing team to support pipeline defect fix and feature enhancements</a:t>
              </a:r>
            </a:p>
            <a:p>
              <a:pPr lvl="0">
                <a:buSzPts val="1000"/>
                <a:tabLst>
                  <a:tab pos="457200" algn="l"/>
                </a:tabLst>
              </a:pPr>
              <a:r>
                <a:rPr lang="en-AU" sz="1000">
                  <a:solidFill>
                    <a:schemeClr val="bg1"/>
                  </a:solidFill>
                </a:rPr>
                <a:t>Conducted weekly meeting with the client for pipeline code walkthroughs and answered any technical questions</a:t>
              </a:r>
            </a:p>
            <a:p>
              <a:pPr lvl="0">
                <a:buSzPts val="1000"/>
                <a:tabLst>
                  <a:tab pos="457200" algn="l"/>
                </a:tabLst>
              </a:pPr>
              <a:r>
                <a:rPr lang="en-AU" sz="1000">
                  <a:solidFill>
                    <a:schemeClr val="bg1"/>
                  </a:solidFill>
                </a:rPr>
                <a:t>Mentored and shadowed team members who had no GCP experience</a:t>
              </a:r>
            </a:p>
          </p:txBody>
        </p:sp>
      </p:grpSp>
      <p:grpSp>
        <p:nvGrpSpPr>
          <p:cNvPr id="9" name="Group 8">
            <a:extLst>
              <a:ext uri="{FF2B5EF4-FFF2-40B4-BE49-F238E27FC236}">
                <a16:creationId xmlns:a16="http://schemas.microsoft.com/office/drawing/2014/main" id="{E7DD910D-15D0-5CBC-B70B-D2480ECA3DCA}"/>
              </a:ext>
            </a:extLst>
          </p:cNvPr>
          <p:cNvGrpSpPr/>
          <p:nvPr/>
        </p:nvGrpSpPr>
        <p:grpSpPr>
          <a:xfrm>
            <a:off x="3373955" y="3166471"/>
            <a:ext cx="4683934" cy="2171686"/>
            <a:chOff x="3303046" y="6194352"/>
            <a:chExt cx="4709988" cy="2305839"/>
          </a:xfrm>
        </p:grpSpPr>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4427756" cy="490184"/>
            </a:xfrm>
            <a:prstGeom prst="rect">
              <a:avLst/>
            </a:prstGeom>
            <a:noFill/>
          </p:spPr>
          <p:txBody>
            <a:bodyPr wrap="square" rtlCol="0">
              <a:spAutoFit/>
            </a:bodyPr>
            <a:lstStyle/>
            <a:p>
              <a:r>
                <a:rPr lang="en-US" sz="1200" b="1">
                  <a:solidFill>
                    <a:srgbClr val="ED7D31"/>
                  </a:solidFill>
                  <a:latin typeface="Roboto" panose="02000000000000000000" pitchFamily="2" charset="0"/>
                  <a:ea typeface="Roboto" panose="02000000000000000000" pitchFamily="2" charset="0"/>
                </a:rPr>
                <a:t>Leading Australian Logistics Organisation – Data Engineer</a:t>
              </a:r>
            </a:p>
            <a:p>
              <a:endParaRPr lang="en-AU" sz="1200" b="1">
                <a:solidFill>
                  <a:srgbClr val="ED7D31"/>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441420"/>
              <a:ext cx="4584890" cy="2058771"/>
              <a:chOff x="5023753" y="4494578"/>
              <a:chExt cx="4757437" cy="2058771"/>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721716" cy="205877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Built data pipeline to enable data migration from data source to GCP in order to decommission Teradata license</a:t>
                </a:r>
              </a:p>
              <a:p>
                <a:r>
                  <a:rPr lang="en-AU" sz="1000"/>
                  <a:t>Developed and maintained pipeline feature to cater for various requirements using GCP Composer and Dataflow</a:t>
                </a:r>
              </a:p>
              <a:p>
                <a:r>
                  <a:rPr lang="en-AU" sz="1000"/>
                  <a:t>Improve project CI/CD in Cloud Build to enable better and quicker deployments</a:t>
                </a:r>
              </a:p>
              <a:p>
                <a:r>
                  <a:rPr lang="en-AU" sz="1000"/>
                  <a:t>Managed project infrastructures and permissions via Flyway and Terraform</a:t>
                </a:r>
              </a:p>
              <a:p>
                <a:r>
                  <a:rPr lang="en-AU" sz="1000"/>
                  <a:t>Refactored Teradata Transform views and corresponding logic to GCP </a:t>
                </a:r>
                <a:r>
                  <a:rPr lang="en-AU" sz="1000" err="1"/>
                  <a:t>BigQuery</a:t>
                </a:r>
                <a:r>
                  <a:rPr lang="en-AU" sz="1000"/>
                  <a:t> using DBT</a:t>
                </a:r>
              </a:p>
              <a:p>
                <a:r>
                  <a:rPr lang="en-AU" sz="1000"/>
                  <a:t>Built and implemented pipeline feature for Project Phase5 Scope, which export the data out from </a:t>
                </a:r>
                <a:r>
                  <a:rPr lang="en-AU" sz="1000" err="1"/>
                  <a:t>BigQuery</a:t>
                </a:r>
                <a:r>
                  <a:rPr lang="en-AU" sz="1000"/>
                  <a:t> to GCS</a:t>
                </a:r>
              </a:p>
              <a:p>
                <a:endParaRPr lang="en-AU" sz="100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579160"/>
                <a:ext cx="0" cy="1677068"/>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grpSp>
      <p:sp>
        <p:nvSpPr>
          <p:cNvPr id="24" name="TextBox 23">
            <a:extLst>
              <a:ext uri="{FF2B5EF4-FFF2-40B4-BE49-F238E27FC236}">
                <a16:creationId xmlns:a16="http://schemas.microsoft.com/office/drawing/2014/main" id="{DA7DC68F-A139-2CA6-E246-41CFE6165B5B}"/>
              </a:ext>
            </a:extLst>
          </p:cNvPr>
          <p:cNvSpPr txBox="1"/>
          <p:nvPr/>
        </p:nvSpPr>
        <p:spPr>
          <a:xfrm>
            <a:off x="240984" y="3180179"/>
            <a:ext cx="2910115" cy="152285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a:t>Icarus has hands-on experience with building project infrastructure on Terraform, solid knowledge of Docker, Kubernetes, and Helm. Proficient with functional test suites using Robot Test Framework and designing and developing CI/CD pipelines using Cloud build/Bamboo. Icarus is fast learning and a great team player who loves to achieve goals and delight the customer.</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Props1.xml><?xml version="1.0" encoding="utf-8"?>
<ds:datastoreItem xmlns:ds="http://schemas.openxmlformats.org/officeDocument/2006/customXml" ds:itemID="{090AB415-6E59-4D12-8947-2EB135D6AA59}">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3.xml><?xml version="1.0" encoding="utf-8"?>
<ds:datastoreItem xmlns:ds="http://schemas.openxmlformats.org/officeDocument/2006/customXml" ds:itemID="{5DED3751-8046-450E-BBF0-0C652FE3CD2B}">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2025-03-17T04:04:36Z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