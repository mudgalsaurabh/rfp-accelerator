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9FF"/>
    <a:srgbClr val="ED7D31"/>
    <a:srgbClr val="A93584"/>
    <a:srgbClr val="0F2B3F"/>
    <a:srgbClr val="00AB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p:restoredTop sz="95595"/>
  </p:normalViewPr>
  <p:slideViewPr>
    <p:cSldViewPr snapToGrid="0" snapToObjects="1">
      <p:cViewPr varScale="1">
        <p:scale>
          <a:sx n="101" d="100"/>
          <a:sy n="101" d="100"/>
        </p:scale>
        <p:origin x="2148" y="72"/>
      </p:cViewPr>
      <p:guideLst>
        <p:guide orient="horz" pos="2448"/>
        <p:guide pos="3168"/>
        <p:guide pos="311"/>
        <p:guide pos="5994"/>
        <p:guide orient="horz" pos="148"/>
        <p:guide orient="horz" pos="4748"/>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310CC1B3-F8BC-4313-BCBD-91F94E49A612}"/>
    <pc:docChg chg="custSel modSld">
      <pc:chgData name="Darcy Roach" userId="ba676ee9-e9b4-49e8-a515-8077106c948d" providerId="ADAL" clId="{310CC1B3-F8BC-4313-BCBD-91F94E49A612}" dt="2023-04-04T00:33:05.623" v="983" actId="20577"/>
      <pc:docMkLst>
        <pc:docMk/>
      </pc:docMkLst>
      <pc:sldChg chg="addSp delSp modSp mod">
        <pc:chgData name="Darcy Roach" userId="ba676ee9-e9b4-49e8-a515-8077106c948d" providerId="ADAL" clId="{310CC1B3-F8BC-4313-BCBD-91F94E49A612}" dt="2023-04-04T00:33:05.623" v="983" actId="20577"/>
        <pc:sldMkLst>
          <pc:docMk/>
          <pc:sldMk cId="2009923557" sldId="270"/>
        </pc:sldMkLst>
        <pc:spChg chg="mod">
          <ac:chgData name="Darcy Roach" userId="ba676ee9-e9b4-49e8-a515-8077106c948d" providerId="ADAL" clId="{310CC1B3-F8BC-4313-BCBD-91F94E49A612}" dt="2023-04-03T23:33:36.006" v="463" actId="20577"/>
          <ac:spMkLst>
            <pc:docMk/>
            <pc:sldMk cId="2009923557" sldId="270"/>
            <ac:spMk id="2" creationId="{2FA774CA-3857-9308-4D38-9414B0CC2B95}"/>
          </ac:spMkLst>
        </pc:spChg>
        <pc:spChg chg="mod">
          <ac:chgData name="Darcy Roach" userId="ba676ee9-e9b4-49e8-a515-8077106c948d" providerId="ADAL" clId="{310CC1B3-F8BC-4313-BCBD-91F94E49A612}" dt="2023-04-04T00:33:05.623" v="983" actId="20577"/>
          <ac:spMkLst>
            <pc:docMk/>
            <pc:sldMk cId="2009923557" sldId="270"/>
            <ac:spMk id="4" creationId="{80F49B2F-21D4-F9EB-049F-717A10CB7D84}"/>
          </ac:spMkLst>
        </pc:spChg>
        <pc:spChg chg="mod">
          <ac:chgData name="Darcy Roach" userId="ba676ee9-e9b4-49e8-a515-8077106c948d" providerId="ADAL" clId="{310CC1B3-F8BC-4313-BCBD-91F94E49A612}" dt="2023-04-03T23:34:17.324" v="541" actId="20577"/>
          <ac:spMkLst>
            <pc:docMk/>
            <pc:sldMk cId="2009923557" sldId="270"/>
            <ac:spMk id="6" creationId="{701E125D-B356-8A2A-B86B-AB6567CEABE1}"/>
          </ac:spMkLst>
        </pc:spChg>
        <pc:spChg chg="mod">
          <ac:chgData name="Darcy Roach" userId="ba676ee9-e9b4-49e8-a515-8077106c948d" providerId="ADAL" clId="{310CC1B3-F8BC-4313-BCBD-91F94E49A612}" dt="2023-04-04T00:13:23.090" v="727" actId="20577"/>
          <ac:spMkLst>
            <pc:docMk/>
            <pc:sldMk cId="2009923557" sldId="270"/>
            <ac:spMk id="8" creationId="{59FEB941-5146-6B10-4E4D-8A4ADE918AEF}"/>
          </ac:spMkLst>
        </pc:spChg>
        <pc:spChg chg="mod">
          <ac:chgData name="Darcy Roach" userId="ba676ee9-e9b4-49e8-a515-8077106c948d" providerId="ADAL" clId="{310CC1B3-F8BC-4313-BCBD-91F94E49A612}" dt="2023-04-04T00:04:43.969" v="580" actId="20577"/>
          <ac:spMkLst>
            <pc:docMk/>
            <pc:sldMk cId="2009923557" sldId="270"/>
            <ac:spMk id="10" creationId="{06312B81-BCF1-2796-C112-3DBE0E02F483}"/>
          </ac:spMkLst>
        </pc:spChg>
        <pc:spChg chg="mod">
          <ac:chgData name="Darcy Roach" userId="ba676ee9-e9b4-49e8-a515-8077106c948d" providerId="ADAL" clId="{310CC1B3-F8BC-4313-BCBD-91F94E49A612}" dt="2023-04-03T00:12:42.485" v="23" actId="20577"/>
          <ac:spMkLst>
            <pc:docMk/>
            <pc:sldMk cId="2009923557" sldId="270"/>
            <ac:spMk id="13" creationId="{FD2720C9-A79F-BD7F-E179-674AD67D7892}"/>
          </ac:spMkLst>
        </pc:spChg>
        <pc:spChg chg="mod">
          <ac:chgData name="Darcy Roach" userId="ba676ee9-e9b4-49e8-a515-8077106c948d" providerId="ADAL" clId="{310CC1B3-F8BC-4313-BCBD-91F94E49A612}" dt="2023-04-04T00:21:38.936" v="889" actId="20577"/>
          <ac:spMkLst>
            <pc:docMk/>
            <pc:sldMk cId="2009923557" sldId="270"/>
            <ac:spMk id="17" creationId="{1BDE5051-9F34-F139-742D-4450E5D6591E}"/>
          </ac:spMkLst>
        </pc:spChg>
        <pc:spChg chg="mod">
          <ac:chgData name="Darcy Roach" userId="ba676ee9-e9b4-49e8-a515-8077106c948d" providerId="ADAL" clId="{310CC1B3-F8BC-4313-BCBD-91F94E49A612}" dt="2023-04-03T23:32:16.477" v="368" actId="20577"/>
          <ac:spMkLst>
            <pc:docMk/>
            <pc:sldMk cId="2009923557" sldId="270"/>
            <ac:spMk id="19" creationId="{7513C49A-2DF2-8111-FED4-FC07A8EAD258}"/>
          </ac:spMkLst>
        </pc:spChg>
        <pc:spChg chg="mod">
          <ac:chgData name="Darcy Roach" userId="ba676ee9-e9b4-49e8-a515-8077106c948d" providerId="ADAL" clId="{310CC1B3-F8BC-4313-BCBD-91F94E49A612}" dt="2023-04-03T00:12:57.773" v="25" actId="1037"/>
          <ac:spMkLst>
            <pc:docMk/>
            <pc:sldMk cId="2009923557" sldId="270"/>
            <ac:spMk id="22" creationId="{9D4E289E-1D52-CBDD-E381-40963429D7F1}"/>
          </ac:spMkLst>
        </pc:spChg>
        <pc:spChg chg="add mod">
          <ac:chgData name="Darcy Roach" userId="ba676ee9-e9b4-49e8-a515-8077106c948d" providerId="ADAL" clId="{310CC1B3-F8BC-4313-BCBD-91F94E49A612}" dt="2023-04-04T00:21:19.038" v="884" actId="1076"/>
          <ac:spMkLst>
            <pc:docMk/>
            <pc:sldMk cId="2009923557" sldId="270"/>
            <ac:spMk id="24" creationId="{DA7DC68F-A139-2CA6-E246-41CFE6165B5B}"/>
          </ac:spMkLst>
        </pc:spChg>
        <pc:spChg chg="mod">
          <ac:chgData name="Darcy Roach" userId="ba676ee9-e9b4-49e8-a515-8077106c948d" providerId="ADAL" clId="{310CC1B3-F8BC-4313-BCBD-91F94E49A612}" dt="2023-04-04T00:23:25.838" v="960" actId="20577"/>
          <ac:spMkLst>
            <pc:docMk/>
            <pc:sldMk cId="2009923557" sldId="270"/>
            <ac:spMk id="26" creationId="{1A3D666D-00C8-D106-73C3-9FF300F8618C}"/>
          </ac:spMkLst>
        </pc:spChg>
        <pc:spChg chg="mod ord">
          <ac:chgData name="Darcy Roach" userId="ba676ee9-e9b4-49e8-a515-8077106c948d" providerId="ADAL" clId="{310CC1B3-F8BC-4313-BCBD-91F94E49A612}" dt="2023-04-03T23:33:48.819" v="481" actId="14100"/>
          <ac:spMkLst>
            <pc:docMk/>
            <pc:sldMk cId="2009923557" sldId="270"/>
            <ac:spMk id="28" creationId="{6059F888-3BDF-A1C0-65E5-CB6FDD43D97C}"/>
          </ac:spMkLst>
        </pc:spChg>
        <pc:spChg chg="del">
          <ac:chgData name="Darcy Roach" userId="ba676ee9-e9b4-49e8-a515-8077106c948d" providerId="ADAL" clId="{310CC1B3-F8BC-4313-BCBD-91F94E49A612}" dt="2023-04-03T00:14:23.102" v="39" actId="21"/>
          <ac:spMkLst>
            <pc:docMk/>
            <pc:sldMk cId="2009923557" sldId="270"/>
            <ac:spMk id="37" creationId="{FD455699-2218-9DB9-D907-E04C8F8833F1}"/>
          </ac:spMkLst>
        </pc:spChg>
        <pc:spChg chg="mod">
          <ac:chgData name="Darcy Roach" userId="ba676ee9-e9b4-49e8-a515-8077106c948d" providerId="ADAL" clId="{310CC1B3-F8BC-4313-BCBD-91F94E49A612}" dt="2023-04-03T23:21:07.786" v="298" actId="20577"/>
          <ac:spMkLst>
            <pc:docMk/>
            <pc:sldMk cId="2009923557" sldId="270"/>
            <ac:spMk id="38" creationId="{AB47A2EE-BF0B-DB05-8B7C-DB6594B2B3D5}"/>
          </ac:spMkLst>
        </pc:spChg>
        <pc:spChg chg="mod">
          <ac:chgData name="Darcy Roach" userId="ba676ee9-e9b4-49e8-a515-8077106c948d" providerId="ADAL" clId="{310CC1B3-F8BC-4313-BCBD-91F94E49A612}" dt="2023-04-04T00:15:34.704" v="746" actId="20577"/>
          <ac:spMkLst>
            <pc:docMk/>
            <pc:sldMk cId="2009923557" sldId="270"/>
            <ac:spMk id="175" creationId="{B9775FC7-7124-8CCA-9B1C-7CCD7D3DF384}"/>
          </ac:spMkLst>
        </pc:spChg>
        <pc:grpChg chg="mod">
          <ac:chgData name="Darcy Roach" userId="ba676ee9-e9b4-49e8-a515-8077106c948d" providerId="ADAL" clId="{310CC1B3-F8BC-4313-BCBD-91F94E49A612}" dt="2023-04-04T00:13:45.906" v="729" actId="1076"/>
          <ac:grpSpMkLst>
            <pc:docMk/>
            <pc:sldMk cId="2009923557" sldId="270"/>
            <ac:grpSpMk id="9" creationId="{E7DD910D-15D0-5CBC-B70B-D2480ECA3DCA}"/>
          </ac:grpSpMkLst>
        </pc:grpChg>
        <pc:grpChg chg="mod">
          <ac:chgData name="Darcy Roach" userId="ba676ee9-e9b4-49e8-a515-8077106c948d" providerId="ADAL" clId="{310CC1B3-F8BC-4313-BCBD-91F94E49A612}" dt="2023-04-04T00:13:45.906" v="729" actId="1076"/>
          <ac:grpSpMkLst>
            <pc:docMk/>
            <pc:sldMk cId="2009923557" sldId="270"/>
            <ac:grpSpMk id="12" creationId="{C465E181-1D5D-D878-8A71-F5848AAF858F}"/>
          </ac:grpSpMkLst>
        </pc:grpChg>
        <pc:grpChg chg="mod">
          <ac:chgData name="Darcy Roach" userId="ba676ee9-e9b4-49e8-a515-8077106c948d" providerId="ADAL" clId="{310CC1B3-F8BC-4313-BCBD-91F94E49A612}" dt="2023-04-04T00:15:05.950" v="732" actId="1036"/>
          <ac:grpSpMkLst>
            <pc:docMk/>
            <pc:sldMk cId="2009923557" sldId="270"/>
            <ac:grpSpMk id="34" creationId="{0BBEF8AB-50F3-A0AA-9946-9CFF5A8CFABB}"/>
          </ac:grpSpMkLst>
        </pc:grpChg>
        <pc:cxnChg chg="mod">
          <ac:chgData name="Darcy Roach" userId="ba676ee9-e9b4-49e8-a515-8077106c948d" providerId="ADAL" clId="{310CC1B3-F8BC-4313-BCBD-91F94E49A612}" dt="2023-04-04T00:31:52.359" v="961" actId="14100"/>
          <ac:cxnSpMkLst>
            <pc:docMk/>
            <pc:sldMk cId="2009923557" sldId="270"/>
            <ac:cxnSpMk id="170" creationId="{0D51728F-48BB-14BB-256E-5F0C0284BCDF}"/>
          </ac:cxnSpMkLst>
        </pc:cxnChg>
      </pc:sldChg>
    </pc:docChg>
  </pc:docChgLst>
  <pc:docChgLst>
    <pc:chgData name="Darcy Roach" userId="ba676ee9-e9b4-49e8-a515-8077106c948d" providerId="ADAL" clId="{8E164EF9-ADA7-49AF-8440-AEF82B124698}"/>
    <pc:docChg chg="undo custSel modSld">
      <pc:chgData name="Darcy Roach" userId="ba676ee9-e9b4-49e8-a515-8077106c948d" providerId="ADAL" clId="{8E164EF9-ADA7-49AF-8440-AEF82B124698}" dt="2023-07-25T05:23:17.856" v="409" actId="1076"/>
      <pc:docMkLst>
        <pc:docMk/>
      </pc:docMkLst>
      <pc:sldChg chg="modSp mod">
        <pc:chgData name="Darcy Roach" userId="ba676ee9-e9b4-49e8-a515-8077106c948d" providerId="ADAL" clId="{8E164EF9-ADA7-49AF-8440-AEF82B124698}" dt="2023-07-25T05:23:17.856" v="409" actId="1076"/>
        <pc:sldMkLst>
          <pc:docMk/>
          <pc:sldMk cId="2009923557" sldId="270"/>
        </pc:sldMkLst>
        <pc:spChg chg="mod">
          <ac:chgData name="Darcy Roach" userId="ba676ee9-e9b4-49e8-a515-8077106c948d" providerId="ADAL" clId="{8E164EF9-ADA7-49AF-8440-AEF82B124698}" dt="2023-07-25T05:18:21.024" v="359" actId="20577"/>
          <ac:spMkLst>
            <pc:docMk/>
            <pc:sldMk cId="2009923557" sldId="270"/>
            <ac:spMk id="6" creationId="{701E125D-B356-8A2A-B86B-AB6567CEABE1}"/>
          </ac:spMkLst>
        </pc:spChg>
        <pc:spChg chg="mod">
          <ac:chgData name="Darcy Roach" userId="ba676ee9-e9b4-49e8-a515-8077106c948d" providerId="ADAL" clId="{8E164EF9-ADA7-49AF-8440-AEF82B124698}" dt="2023-07-25T05:17:47.835" v="354" actId="20577"/>
          <ac:spMkLst>
            <pc:docMk/>
            <pc:sldMk cId="2009923557" sldId="270"/>
            <ac:spMk id="8" creationId="{59FEB941-5146-6B10-4E4D-8A4ADE918AEF}"/>
          </ac:spMkLst>
        </pc:spChg>
        <pc:spChg chg="mod">
          <ac:chgData name="Darcy Roach" userId="ba676ee9-e9b4-49e8-a515-8077106c948d" providerId="ADAL" clId="{8E164EF9-ADA7-49AF-8440-AEF82B124698}" dt="2023-07-25T05:22:47.035" v="408" actId="14100"/>
          <ac:spMkLst>
            <pc:docMk/>
            <pc:sldMk cId="2009923557" sldId="270"/>
            <ac:spMk id="10" creationId="{06312B81-BCF1-2796-C112-3DBE0E02F483}"/>
          </ac:spMkLst>
        </pc:spChg>
        <pc:spChg chg="mod">
          <ac:chgData name="Darcy Roach" userId="ba676ee9-e9b4-49e8-a515-8077106c948d" providerId="ADAL" clId="{8E164EF9-ADA7-49AF-8440-AEF82B124698}" dt="2023-07-25T05:20:20.791" v="377" actId="20577"/>
          <ac:spMkLst>
            <pc:docMk/>
            <pc:sldMk cId="2009923557" sldId="270"/>
            <ac:spMk id="19" creationId="{7513C49A-2DF2-8111-FED4-FC07A8EAD258}"/>
          </ac:spMkLst>
        </pc:spChg>
        <pc:spChg chg="mod">
          <ac:chgData name="Darcy Roach" userId="ba676ee9-e9b4-49e8-a515-8077106c948d" providerId="ADAL" clId="{8E164EF9-ADA7-49AF-8440-AEF82B124698}" dt="2023-07-25T04:56:50.212" v="2" actId="207"/>
          <ac:spMkLst>
            <pc:docMk/>
            <pc:sldMk cId="2009923557" sldId="270"/>
            <ac:spMk id="28" creationId="{6059F888-3BDF-A1C0-65E5-CB6FDD43D97C}"/>
          </ac:spMkLst>
        </pc:spChg>
        <pc:grpChg chg="mod">
          <ac:chgData name="Darcy Roach" userId="ba676ee9-e9b4-49e8-a515-8077106c948d" providerId="ADAL" clId="{8E164EF9-ADA7-49AF-8440-AEF82B124698}" dt="2023-07-25T05:19:49.693" v="360" actId="1076"/>
          <ac:grpSpMkLst>
            <pc:docMk/>
            <pc:sldMk cId="2009923557" sldId="270"/>
            <ac:grpSpMk id="9" creationId="{E7DD910D-15D0-5CBC-B70B-D2480ECA3DCA}"/>
          </ac:grpSpMkLst>
        </pc:grpChg>
        <pc:grpChg chg="mod">
          <ac:chgData name="Darcy Roach" userId="ba676ee9-e9b4-49e8-a515-8077106c948d" providerId="ADAL" clId="{8E164EF9-ADA7-49AF-8440-AEF82B124698}" dt="2023-07-25T05:23:17.856" v="409" actId="1076"/>
          <ac:grpSpMkLst>
            <pc:docMk/>
            <pc:sldMk cId="2009923557" sldId="270"/>
            <ac:grpSpMk id="12" creationId="{C465E181-1D5D-D878-8A71-F5848AAF858F}"/>
          </ac:grpSpMkLst>
        </pc:grpChg>
        <pc:grpChg chg="mod">
          <ac:chgData name="Darcy Roach" userId="ba676ee9-e9b4-49e8-a515-8077106c948d" providerId="ADAL" clId="{8E164EF9-ADA7-49AF-8440-AEF82B124698}" dt="2023-07-25T04:57:20.648" v="6" actId="1076"/>
          <ac:grpSpMkLst>
            <pc:docMk/>
            <pc:sldMk cId="2009923557" sldId="270"/>
            <ac:grpSpMk id="34" creationId="{0BBEF8AB-50F3-A0AA-9946-9CFF5A8CFABB}"/>
          </ac:grpSpMkLst>
        </pc:grpChg>
        <pc:cxnChg chg="mod">
          <ac:chgData name="Darcy Roach" userId="ba676ee9-e9b4-49e8-a515-8077106c948d" providerId="ADAL" clId="{8E164EF9-ADA7-49AF-8440-AEF82B124698}" dt="2023-07-25T05:17:55.592" v="355" actId="14100"/>
          <ac:cxnSpMkLst>
            <pc:docMk/>
            <pc:sldMk cId="2009923557" sldId="270"/>
            <ac:cxnSpMk id="3" creationId="{67C34E10-2CF8-9BCA-1CC6-D78A3FF9CA80}"/>
          </ac:cxnSpMkLst>
        </pc:cxnChg>
        <pc:cxnChg chg="mod">
          <ac:chgData name="Darcy Roach" userId="ba676ee9-e9b4-49e8-a515-8077106c948d" providerId="ADAL" clId="{8E164EF9-ADA7-49AF-8440-AEF82B124698}" dt="2023-07-25T04:56:55.973" v="3" actId="208"/>
          <ac:cxnSpMkLst>
            <pc:docMk/>
            <pc:sldMk cId="2009923557" sldId="270"/>
            <ac:cxnSpMk id="21" creationId="{B0913DE4-461D-CE43-AABC-C4B3D7D22F45}"/>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7/25/2023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7/25/2023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7/25/2023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7/25/2023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7/25/2023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7/25/2023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7/25/2023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7/25/2023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7/25/2023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7/25/2023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7/25/2023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7/25/2023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760388"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Icarus </a:t>
            </a:r>
          </a:p>
          <a:p>
            <a:r>
              <a:rPr lang="en-US" sz="2800" b="1" dirty="0">
                <a:solidFill>
                  <a:srgbClr val="00AB80"/>
                </a:solidFill>
                <a:latin typeface="Roboto" panose="02000000000000000000" pitchFamily="2" charset="0"/>
                <a:ea typeface="Roboto" panose="02000000000000000000" pitchFamily="2" charset="0"/>
              </a:rPr>
              <a:t>Feng</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34576" y="1560956"/>
            <a:ext cx="2916523" cy="1715213"/>
          </a:xfrm>
          <a:prstGeom prst="rect">
            <a:avLst/>
          </a:prstGeom>
          <a:noFill/>
        </p:spPr>
        <p:txBody>
          <a:bodyPr wrap="square" lIns="0" tIns="0" rIns="0" bIns="0" rtlCol="0" anchor="t">
            <a:spAutoFit/>
          </a:bodyPr>
          <a:lstStyle/>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Icarus is a Google Cloud Certified Professional Data Engineer, Cloud Architect, Developer and subject matter expert in designing and implementing data pipeline solutions on GCP (Google Cloud Platform). Icarus is also highly skilled at implementing batch and streaming pipelines with Apache Beam, Python, SDK and Apache Airflow.</a:t>
            </a:r>
          </a:p>
          <a:p>
            <a:pPr>
              <a:lnSpc>
                <a:spcPts val="1500"/>
              </a:lnSpc>
            </a:pPr>
            <a:endParaRPr lang="en-AU" sz="1000" spc="13" dirty="0">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40984" y="978708"/>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47849"/>
            <a:ext cx="1510046"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BigQuery</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Kubernetes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Java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Studio</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Flow</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Git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Pub/Sub</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Tensorflow</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Apache Beam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Docker</a:t>
            </a:r>
          </a:p>
          <a:p>
            <a:pPr>
              <a:buClr>
                <a:srgbClr val="00AB80"/>
              </a:buCl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964735"/>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965979"/>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sp>
        <p:nvSpPr>
          <p:cNvPr id="175" name="TextBox 174">
            <a:extLst>
              <a:ext uri="{FF2B5EF4-FFF2-40B4-BE49-F238E27FC236}">
                <a16:creationId xmlns:a16="http://schemas.microsoft.com/office/drawing/2014/main" id="{B9775FC7-7124-8CCA-9B1C-7CCD7D3DF384}"/>
              </a:ext>
            </a:extLst>
          </p:cNvPr>
          <p:cNvSpPr txBox="1"/>
          <p:nvPr/>
        </p:nvSpPr>
        <p:spPr>
          <a:xfrm>
            <a:off x="8118489" y="1456630"/>
            <a:ext cx="1951941" cy="172354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Logistics</a:t>
            </a:r>
          </a:p>
          <a:p>
            <a:pPr marL="0" indent="0">
              <a:lnSpc>
                <a:spcPct val="150000"/>
              </a:lnSpc>
              <a:buNone/>
            </a:pPr>
            <a:r>
              <a:rPr lang="en-GB" sz="1200" dirty="0">
                <a:solidFill>
                  <a:srgbClr val="00AB80"/>
                </a:solidFill>
              </a:rPr>
              <a:t>Retail</a:t>
            </a:r>
          </a:p>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Insurance</a:t>
            </a:r>
          </a:p>
          <a:p>
            <a:pPr marL="0" indent="0">
              <a:lnSpc>
                <a:spcPct val="150000"/>
              </a:lnSpc>
              <a:buNone/>
            </a:pPr>
            <a:r>
              <a:rPr lang="en-GB" sz="1200" dirty="0">
                <a:solidFill>
                  <a:srgbClr val="00AB80"/>
                </a:solidFill>
              </a:rPr>
              <a:t>IT Consulting</a:t>
            </a:r>
          </a:p>
          <a:p>
            <a:pPr marL="0" indent="0">
              <a:lnSpc>
                <a:spcPct val="150000"/>
              </a:lnSpc>
              <a:buNone/>
            </a:pPr>
            <a:endParaRPr lang="en-GB" sz="1200" dirty="0">
              <a:solidFill>
                <a:srgbClr val="00AB80"/>
              </a:solidFill>
            </a:endParaRP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180179"/>
            <a:ext cx="1963972" cy="3970318"/>
            <a:chOff x="8106458" y="2681447"/>
            <a:chExt cx="1963972" cy="3970318"/>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63972" cy="3970318"/>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Data Engineer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Google Cloud </a:t>
              </a:r>
              <a:r>
                <a:rPr lang="en-GB" sz="1200" dirty="0">
                  <a:solidFill>
                    <a:srgbClr val="00AB80"/>
                  </a:solidFill>
                  <a:effectLst/>
                  <a:latin typeface="Roboto Light" panose="02000000000000000000" pitchFamily="2" charset="0"/>
                  <a:ea typeface="Calibri" panose="020F0502020204030204" pitchFamily="34" charset="0"/>
                </a:rPr>
                <a:t>Certified | Professional Cloud Architect</a:t>
              </a: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Google Cloud</a:t>
              </a:r>
              <a:r>
                <a:rPr lang="en-GB" sz="1200" dirty="0">
                  <a:solidFill>
                    <a:srgbClr val="00AB80"/>
                  </a:solidFill>
                  <a:effectLst/>
                  <a:latin typeface="Roboto Light" panose="02000000000000000000" pitchFamily="2" charset="0"/>
                  <a:ea typeface="Calibri" panose="020F0502020204030204" pitchFamily="34" charset="0"/>
                </a:rPr>
                <a:t> Certified | Professional Developer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Master - Information Technology,</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University of Melbourne</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Information Technology, </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Queensland University of Technology</a:t>
              </a: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p:txBody>
        </p:sp>
      </p:grpSp>
      <p:grpSp>
        <p:nvGrpSpPr>
          <p:cNvPr id="12" name="Group 11">
            <a:extLst>
              <a:ext uri="{FF2B5EF4-FFF2-40B4-BE49-F238E27FC236}">
                <a16:creationId xmlns:a16="http://schemas.microsoft.com/office/drawing/2014/main" id="{C465E181-1D5D-D878-8A71-F5848AAF858F}"/>
              </a:ext>
            </a:extLst>
          </p:cNvPr>
          <p:cNvGrpSpPr/>
          <p:nvPr/>
        </p:nvGrpSpPr>
        <p:grpSpPr>
          <a:xfrm>
            <a:off x="3361806" y="5080208"/>
            <a:ext cx="4673655" cy="2658606"/>
            <a:chOff x="3335753" y="5068700"/>
            <a:chExt cx="4673655" cy="2658606"/>
          </a:xfrm>
        </p:grpSpPr>
        <p:grpSp>
          <p:nvGrpSpPr>
            <p:cNvPr id="163" name="Group 162">
              <a:extLst>
                <a:ext uri="{FF2B5EF4-FFF2-40B4-BE49-F238E27FC236}">
                  <a16:creationId xmlns:a16="http://schemas.microsoft.com/office/drawing/2014/main" id="{E52FDF9F-B084-9074-7DB9-539AD5456487}"/>
                </a:ext>
              </a:extLst>
            </p:cNvPr>
            <p:cNvGrpSpPr/>
            <p:nvPr/>
          </p:nvGrpSpPr>
          <p:grpSpPr>
            <a:xfrm>
              <a:off x="3428144" y="5326649"/>
              <a:ext cx="4581264" cy="2400657"/>
              <a:chOff x="5030740" y="2225627"/>
              <a:chExt cx="4893498" cy="2400657"/>
            </a:xfrm>
          </p:grpSpPr>
          <p:sp>
            <p:nvSpPr>
              <p:cNvPr id="10" name="TextBox 9">
                <a:extLst>
                  <a:ext uri="{FF2B5EF4-FFF2-40B4-BE49-F238E27FC236}">
                    <a16:creationId xmlns:a16="http://schemas.microsoft.com/office/drawing/2014/main" id="{06312B81-BCF1-2796-C112-3DBE0E02F483}"/>
                  </a:ext>
                </a:extLst>
              </p:cNvPr>
              <p:cNvSpPr txBox="1"/>
              <p:nvPr/>
            </p:nvSpPr>
            <p:spPr>
              <a:xfrm>
                <a:off x="5059474" y="2225627"/>
                <a:ext cx="4864764" cy="240065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a:buSzPts val="1000"/>
                  <a:tabLst>
                    <a:tab pos="457200" algn="l"/>
                  </a:tabLst>
                </a:pPr>
                <a:r>
                  <a:rPr lang="en-AU" sz="1000" dirty="0"/>
                  <a:t>Main coder of </a:t>
                </a:r>
                <a:r>
                  <a:rPr lang="en-AU" sz="1000" dirty="0" err="1"/>
                  <a:t>DTaaS</a:t>
                </a:r>
                <a:r>
                  <a:rPr lang="en-AU" sz="1000" dirty="0"/>
                  <a:t>, which is a data tokenisation solution to encrypt sensitive data in the cloud using GCP Dataflow.</a:t>
                </a:r>
              </a:p>
              <a:p>
                <a:pPr>
                  <a:buSzPts val="1000"/>
                  <a:tabLst>
                    <a:tab pos="457200" algn="l"/>
                  </a:tabLst>
                </a:pPr>
                <a:r>
                  <a:rPr lang="en-AU" sz="1000" dirty="0"/>
                  <a:t>Built and managed project infrastructure, IAM and UAM using Terraform</a:t>
                </a:r>
              </a:p>
              <a:p>
                <a:pPr>
                  <a:buSzPts val="1000"/>
                  <a:tabLst>
                    <a:tab pos="457200" algn="l"/>
                  </a:tabLst>
                </a:pPr>
                <a:r>
                  <a:rPr lang="en-AU" sz="1000" dirty="0"/>
                  <a:t>Enabled project CI/CD to deploy data pipeline solutions using Cloud Build and Bamboo</a:t>
                </a:r>
              </a:p>
              <a:p>
                <a:pPr>
                  <a:buSzPts val="1000"/>
                  <a:tabLst>
                    <a:tab pos="457200" algn="l"/>
                  </a:tabLst>
                </a:pPr>
                <a:r>
                  <a:rPr lang="en-AU" sz="1000" dirty="0"/>
                  <a:t>Built logging, monitoring and alerting system on GCP </a:t>
                </a:r>
                <a:r>
                  <a:rPr lang="en-AU" sz="1000" dirty="0" err="1"/>
                  <a:t>Stackdriver</a:t>
                </a:r>
                <a:r>
                  <a:rPr lang="en-AU" sz="1000" dirty="0"/>
                  <a:t>, with Slack</a:t>
                </a:r>
              </a:p>
              <a:p>
                <a:pPr>
                  <a:buSzPts val="1000"/>
                  <a:tabLst>
                    <a:tab pos="457200" algn="l"/>
                  </a:tabLst>
                </a:pPr>
                <a:r>
                  <a:rPr lang="en-AU" sz="1000" dirty="0"/>
                  <a:t>Designed and built data pipelines on GCP Kubernetes Engine using Apache Airflow</a:t>
                </a:r>
              </a:p>
              <a:p>
                <a:pPr>
                  <a:buSzPts val="1000"/>
                  <a:tabLst>
                    <a:tab pos="457200" algn="l"/>
                  </a:tabLst>
                </a:pPr>
                <a:r>
                  <a:rPr lang="en-AU" sz="1000" dirty="0"/>
                  <a:t>Designed and built Functional-test suites using Robot Test Framework and enabled CI/CD to deploy to GCP Kubernetes Engine</a:t>
                </a:r>
              </a:p>
              <a:p>
                <a:pPr>
                  <a:buSzPts val="1000"/>
                  <a:tabLst>
                    <a:tab pos="457200" algn="l"/>
                  </a:tabLst>
                </a:pPr>
                <a:r>
                  <a:rPr lang="en-AU" sz="1000" dirty="0"/>
                  <a:t>Fixed vulnerabilities of multiple application images via </a:t>
                </a:r>
                <a:r>
                  <a:rPr lang="en-AU" sz="1000" dirty="0" err="1"/>
                  <a:t>Dockerfile</a:t>
                </a:r>
                <a:endParaRPr lang="en-AU" sz="1000" dirty="0"/>
              </a:p>
              <a:p>
                <a:pPr>
                  <a:buSzPts val="1000"/>
                  <a:tabLst>
                    <a:tab pos="457200" algn="l"/>
                  </a:tabLst>
                </a:pPr>
                <a:r>
                  <a:rPr lang="en-AU" sz="1000" dirty="0"/>
                  <a:t>Built and managed project infrastructure, IAM and UAM using Terraform</a:t>
                </a:r>
              </a:p>
              <a:p>
                <a:pPr>
                  <a:buSzPts val="1000"/>
                  <a:tabLst>
                    <a:tab pos="457200" algn="l"/>
                  </a:tabLst>
                </a:pPr>
                <a:r>
                  <a:rPr lang="en-AU" sz="1000" dirty="0"/>
                  <a:t>Designed and built Functional-test suites using Robot Test Framework</a:t>
                </a:r>
              </a:p>
              <a:p>
                <a:pPr>
                  <a:buSzPts val="1000"/>
                  <a:tabLst>
                    <a:tab pos="457200" algn="l"/>
                  </a:tabLst>
                </a:pPr>
                <a:r>
                  <a:rPr lang="en-AU" sz="1000" dirty="0"/>
                  <a:t>Onboarded the team to Shared GKE Cluster and enabled CI/CD to deploy workloads to the Shared GKE Cluster</a:t>
                </a: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2294036"/>
                <a:ext cx="0" cy="2024472"/>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2FA774CA-3857-9308-4D38-9414B0CC2B95}"/>
                </a:ext>
              </a:extLst>
            </p:cNvPr>
            <p:cNvSpPr txBox="1"/>
            <p:nvPr/>
          </p:nvSpPr>
          <p:spPr>
            <a:xfrm>
              <a:off x="3335753" y="5068700"/>
              <a:ext cx="4651228" cy="276999"/>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Australian Big 4 Bank – Data Engineer </a:t>
              </a: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31065" y="5747849"/>
            <a:ext cx="1528457"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Amazon Web Services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Wrangling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Structures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Visualisations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Cloud Architecture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Web Development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Artificial Intelligence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Machine Learning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Cloud Computing</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grpSp>
        <p:nvGrpSpPr>
          <p:cNvPr id="34" name="Group 33">
            <a:extLst>
              <a:ext uri="{FF2B5EF4-FFF2-40B4-BE49-F238E27FC236}">
                <a16:creationId xmlns:a16="http://schemas.microsoft.com/office/drawing/2014/main" id="{0BBEF8AB-50F3-A0AA-9946-9CFF5A8CFABB}"/>
              </a:ext>
            </a:extLst>
          </p:cNvPr>
          <p:cNvGrpSpPr/>
          <p:nvPr/>
        </p:nvGrpSpPr>
        <p:grpSpPr>
          <a:xfrm>
            <a:off x="3359463" y="982605"/>
            <a:ext cx="4618775" cy="2015019"/>
            <a:chOff x="3321267" y="1094557"/>
            <a:chExt cx="4618775" cy="2015019"/>
          </a:xfrm>
        </p:grpSpPr>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05555"/>
              <a:ext cx="0" cy="1671132"/>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01E125D-B356-8A2A-B86B-AB6567CEABE1}"/>
                </a:ext>
              </a:extLst>
            </p:cNvPr>
            <p:cNvSpPr txBox="1"/>
            <p:nvPr/>
          </p:nvSpPr>
          <p:spPr>
            <a:xfrm>
              <a:off x="3321267" y="1094557"/>
              <a:ext cx="3526969" cy="461665"/>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Financial Services </a:t>
              </a:r>
              <a:r>
                <a:rPr lang="en-US" sz="1200" b="1" dirty="0" err="1">
                  <a:solidFill>
                    <a:srgbClr val="0059FF"/>
                  </a:solidFill>
                  <a:latin typeface="Roboto" panose="02000000000000000000" pitchFamily="2" charset="0"/>
                  <a:ea typeface="Roboto" panose="02000000000000000000" pitchFamily="2" charset="0"/>
                </a:rPr>
                <a:t>Organisation</a:t>
              </a:r>
              <a:r>
                <a:rPr lang="en-US" sz="1200" b="1" dirty="0">
                  <a:solidFill>
                    <a:srgbClr val="0059FF"/>
                  </a:solidFill>
                  <a:latin typeface="Roboto" panose="02000000000000000000" pitchFamily="2" charset="0"/>
                  <a:ea typeface="Roboto" panose="02000000000000000000" pitchFamily="2" charset="0"/>
                </a:rPr>
                <a:t> – Data Engineer</a:t>
              </a:r>
            </a:p>
            <a:p>
              <a:endParaRPr lang="en-AU" sz="1200" b="1" dirty="0">
                <a:solidFill>
                  <a:srgbClr val="0059FF"/>
                </a:solidFill>
                <a:latin typeface="Roboto" panose="02000000000000000000" pitchFamily="2" charset="0"/>
                <a:ea typeface="Roboto" panose="02000000000000000000" pitchFamily="2" charset="0"/>
              </a:endParaRP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1324472"/>
              <a:ext cx="4476081" cy="1785104"/>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lvl="0">
                <a:buSzPts val="1000"/>
                <a:tabLst>
                  <a:tab pos="457200" algn="l"/>
                </a:tabLst>
              </a:pPr>
              <a:r>
                <a:rPr lang="en-AU" sz="1000" dirty="0">
                  <a:solidFill>
                    <a:schemeClr val="bg1"/>
                  </a:solidFill>
                </a:rPr>
                <a:t>Ran spikes and proof of concepts to support the solution design</a:t>
              </a:r>
            </a:p>
            <a:p>
              <a:pPr lvl="0">
                <a:buSzPts val="1000"/>
                <a:tabLst>
                  <a:tab pos="457200" algn="l"/>
                </a:tabLst>
              </a:pPr>
              <a:r>
                <a:rPr lang="en-AU" sz="1000" dirty="0">
                  <a:solidFill>
                    <a:schemeClr val="bg1"/>
                  </a:solidFill>
                </a:rPr>
                <a:t>Created comprehensive documentation to have the design endorsed by both the engineering team and architect team </a:t>
              </a:r>
            </a:p>
            <a:p>
              <a:pPr lvl="0">
                <a:buSzPts val="1000"/>
                <a:tabLst>
                  <a:tab pos="457200" algn="l"/>
                </a:tabLst>
              </a:pPr>
              <a:r>
                <a:rPr lang="en-AU" sz="1000" dirty="0">
                  <a:solidFill>
                    <a:schemeClr val="bg1"/>
                  </a:solidFill>
                </a:rPr>
                <a:t>Implemented the solution design in a non-prod environment and performed testing</a:t>
              </a:r>
            </a:p>
            <a:p>
              <a:pPr lvl="0">
                <a:buSzPts val="1000"/>
                <a:tabLst>
                  <a:tab pos="457200" algn="l"/>
                </a:tabLst>
              </a:pPr>
              <a:r>
                <a:rPr lang="en-AU" sz="1000" dirty="0">
                  <a:solidFill>
                    <a:schemeClr val="bg1"/>
                  </a:solidFill>
                </a:rPr>
                <a:t>Provided support documentation and guidance to the client tech team and clarified anything required relating to GCP</a:t>
              </a:r>
            </a:p>
            <a:p>
              <a:pPr lvl="0">
                <a:buSzPts val="1000"/>
                <a:tabLst>
                  <a:tab pos="457200" algn="l"/>
                </a:tabLst>
              </a:pPr>
              <a:r>
                <a:rPr lang="en-AU" sz="1000" dirty="0">
                  <a:solidFill>
                    <a:schemeClr val="bg1"/>
                  </a:solidFill>
                </a:rPr>
                <a:t>Developed streaming data pipeline using </a:t>
              </a:r>
              <a:r>
                <a:rPr lang="en-AU" sz="1000" dirty="0" err="1">
                  <a:solidFill>
                    <a:schemeClr val="bg1"/>
                  </a:solidFill>
                </a:rPr>
                <a:t>apache</a:t>
              </a:r>
              <a:r>
                <a:rPr lang="en-AU" sz="1000" dirty="0">
                  <a:solidFill>
                    <a:schemeClr val="bg1"/>
                  </a:solidFill>
                </a:rPr>
                <a:t>-beam (GCP Dataflow) and Confluent Kafka &amp;batch data pipeline using GCP Composer</a:t>
              </a:r>
            </a:p>
            <a:p>
              <a:pPr lvl="0">
                <a:buSzPts val="1000"/>
                <a:tabLst>
                  <a:tab pos="457200" algn="l"/>
                </a:tabLst>
              </a:pPr>
              <a:r>
                <a:rPr lang="en-AU" sz="1000" dirty="0">
                  <a:solidFill>
                    <a:schemeClr val="bg1"/>
                  </a:solidFill>
                </a:rPr>
                <a:t>Built platform infrastructures using Terraform</a:t>
              </a:r>
            </a:p>
            <a:p>
              <a:pPr lvl="0">
                <a:buSzPts val="1000"/>
                <a:tabLst>
                  <a:tab pos="457200" algn="l"/>
                </a:tabLst>
              </a:pPr>
              <a:r>
                <a:rPr lang="en-AU" sz="1000" dirty="0">
                  <a:solidFill>
                    <a:schemeClr val="bg1"/>
                  </a:solidFill>
                </a:rPr>
                <a:t>Developed CICD pipeline for application deployment</a:t>
              </a:r>
            </a:p>
          </p:txBody>
        </p:sp>
      </p:grpSp>
      <p:grpSp>
        <p:nvGrpSpPr>
          <p:cNvPr id="9" name="Group 8">
            <a:extLst>
              <a:ext uri="{FF2B5EF4-FFF2-40B4-BE49-F238E27FC236}">
                <a16:creationId xmlns:a16="http://schemas.microsoft.com/office/drawing/2014/main" id="{E7DD910D-15D0-5CBC-B70B-D2480ECA3DCA}"/>
              </a:ext>
            </a:extLst>
          </p:cNvPr>
          <p:cNvGrpSpPr/>
          <p:nvPr/>
        </p:nvGrpSpPr>
        <p:grpSpPr>
          <a:xfrm>
            <a:off x="3329099" y="3023049"/>
            <a:ext cx="4683934" cy="2171686"/>
            <a:chOff x="3303046" y="6194352"/>
            <a:chExt cx="4709988" cy="2305839"/>
          </a:xfrm>
        </p:grpSpPr>
        <p:sp>
          <p:nvSpPr>
            <p:cNvPr id="28" name="TextBox 27">
              <a:extLst>
                <a:ext uri="{FF2B5EF4-FFF2-40B4-BE49-F238E27FC236}">
                  <a16:creationId xmlns:a16="http://schemas.microsoft.com/office/drawing/2014/main" id="{6059F888-3BDF-A1C0-65E5-CB6FDD43D97C}"/>
                </a:ext>
              </a:extLst>
            </p:cNvPr>
            <p:cNvSpPr txBox="1"/>
            <p:nvPr/>
          </p:nvSpPr>
          <p:spPr>
            <a:xfrm>
              <a:off x="3303046" y="6194352"/>
              <a:ext cx="4427756" cy="490184"/>
            </a:xfrm>
            <a:prstGeom prst="rect">
              <a:avLst/>
            </a:prstGeom>
            <a:noFill/>
          </p:spPr>
          <p:txBody>
            <a:bodyPr wrap="square" rtlCol="0">
              <a:spAutoFit/>
            </a:bodyPr>
            <a:lstStyle/>
            <a:p>
              <a:r>
                <a:rPr lang="en-US" sz="1200" b="1" dirty="0">
                  <a:solidFill>
                    <a:srgbClr val="ED7D31"/>
                  </a:solidFill>
                  <a:latin typeface="Roboto" panose="02000000000000000000" pitchFamily="2" charset="0"/>
                  <a:ea typeface="Roboto" panose="02000000000000000000" pitchFamily="2" charset="0"/>
                </a:rPr>
                <a:t>Leading Australian Logistics </a:t>
              </a:r>
              <a:r>
                <a:rPr lang="en-US" sz="1200" b="1" dirty="0" err="1">
                  <a:solidFill>
                    <a:srgbClr val="ED7D31"/>
                  </a:solidFill>
                  <a:latin typeface="Roboto" panose="02000000000000000000" pitchFamily="2" charset="0"/>
                  <a:ea typeface="Roboto" panose="02000000000000000000" pitchFamily="2" charset="0"/>
                </a:rPr>
                <a:t>Organisation</a:t>
              </a:r>
              <a:r>
                <a:rPr lang="en-US" sz="1200" b="1" dirty="0">
                  <a:solidFill>
                    <a:srgbClr val="ED7D31"/>
                  </a:solidFill>
                  <a:latin typeface="Roboto" panose="02000000000000000000" pitchFamily="2" charset="0"/>
                  <a:ea typeface="Roboto" panose="02000000000000000000" pitchFamily="2" charset="0"/>
                </a:rPr>
                <a:t> – Data Engineer</a:t>
              </a:r>
            </a:p>
            <a:p>
              <a:endParaRPr lang="en-AU" sz="1200" b="1" dirty="0">
                <a:solidFill>
                  <a:srgbClr val="ED7D31"/>
                </a:solidFill>
                <a:latin typeface="Roboto" panose="02000000000000000000" pitchFamily="2" charset="0"/>
                <a:ea typeface="Roboto" panose="02000000000000000000" pitchFamily="2" charset="0"/>
              </a:endParaRP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6441420"/>
              <a:ext cx="4584890" cy="2058771"/>
              <a:chOff x="5023753" y="4494578"/>
              <a:chExt cx="4757437" cy="2058771"/>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494578"/>
                <a:ext cx="4721716" cy="205877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Built data pipeline to enable data migration from </a:t>
                </a:r>
                <a:r>
                  <a:rPr lang="en-AU" sz="1000" dirty="0" err="1"/>
                  <a:t>Auspost</a:t>
                </a:r>
                <a:r>
                  <a:rPr lang="en-AU" sz="1000" dirty="0"/>
                  <a:t> data source to GCP in order to decommission Teradata license</a:t>
                </a:r>
              </a:p>
              <a:p>
                <a:r>
                  <a:rPr lang="en-AU" sz="1000" dirty="0"/>
                  <a:t>Developed and maintained pipeline feature to cater for various requirements using GCP Composer and Dataflow</a:t>
                </a:r>
              </a:p>
              <a:p>
                <a:r>
                  <a:rPr lang="en-AU" sz="1000" dirty="0"/>
                  <a:t>Improve project CI/CD in Cloud Build to enable better and quicker deployments</a:t>
                </a:r>
              </a:p>
              <a:p>
                <a:r>
                  <a:rPr lang="en-AU" sz="1000" dirty="0"/>
                  <a:t>Managed project infrastructures and permissions via Flyway and Terraform</a:t>
                </a:r>
              </a:p>
              <a:p>
                <a:r>
                  <a:rPr lang="en-AU" sz="1000" dirty="0"/>
                  <a:t>Refactored Teradata Transform views and corresponding logic to GCP </a:t>
                </a:r>
                <a:r>
                  <a:rPr lang="en-AU" sz="1000" dirty="0" err="1"/>
                  <a:t>BigQuery</a:t>
                </a:r>
                <a:r>
                  <a:rPr lang="en-AU" sz="1000" dirty="0"/>
                  <a:t> using DBT</a:t>
                </a:r>
              </a:p>
              <a:p>
                <a:r>
                  <a:rPr lang="en-AU" sz="1000" dirty="0"/>
                  <a:t>Built and implemented pipeline feature for Project Phase5 Scope, which export the data out from </a:t>
                </a:r>
                <a:r>
                  <a:rPr lang="en-AU" sz="1000" dirty="0" err="1"/>
                  <a:t>BigQuery</a:t>
                </a:r>
                <a:r>
                  <a:rPr lang="en-AU" sz="1000" dirty="0"/>
                  <a:t> to GCS</a:t>
                </a:r>
              </a:p>
              <a:p>
                <a:endParaRPr lang="en-AU"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579160"/>
                <a:ext cx="0" cy="1780301"/>
              </a:xfrm>
              <a:prstGeom prst="line">
                <a:avLst/>
              </a:prstGeom>
              <a:ln w="19050">
                <a:solidFill>
                  <a:srgbClr val="ED7D31"/>
                </a:solidFill>
              </a:ln>
            </p:spPr>
            <p:style>
              <a:lnRef idx="1">
                <a:schemeClr val="accent1"/>
              </a:lnRef>
              <a:fillRef idx="0">
                <a:schemeClr val="accent1"/>
              </a:fillRef>
              <a:effectRef idx="0">
                <a:schemeClr val="accent1"/>
              </a:effectRef>
              <a:fontRef idx="minor">
                <a:schemeClr val="tx1"/>
              </a:fontRef>
            </p:style>
          </p:cxnSp>
        </p:grpSp>
      </p:grpSp>
      <p:sp>
        <p:nvSpPr>
          <p:cNvPr id="24" name="TextBox 23">
            <a:extLst>
              <a:ext uri="{FF2B5EF4-FFF2-40B4-BE49-F238E27FC236}">
                <a16:creationId xmlns:a16="http://schemas.microsoft.com/office/drawing/2014/main" id="{DA7DC68F-A139-2CA6-E246-41CFE6165B5B}"/>
              </a:ext>
            </a:extLst>
          </p:cNvPr>
          <p:cNvSpPr txBox="1"/>
          <p:nvPr/>
        </p:nvSpPr>
        <p:spPr>
          <a:xfrm>
            <a:off x="240984" y="3180179"/>
            <a:ext cx="2910115" cy="1522853"/>
          </a:xfrm>
          <a:prstGeom prst="rect">
            <a:avLst/>
          </a:prstGeom>
          <a:noFill/>
        </p:spPr>
        <p:txBody>
          <a:bodyPr wrap="square" lIns="0" tIns="0" rIns="0" bIns="0" rtlCol="0" anchor="t">
            <a:spAutoFit/>
          </a:bodyPr>
          <a:lstStyle>
            <a:defPPr>
              <a:defRPr lang="en-US"/>
            </a:defPPr>
            <a:lvl1pPr>
              <a:lnSpc>
                <a:spcPts val="1500"/>
              </a:lnSpc>
              <a:defRPr sz="1000" spc="13">
                <a:latin typeface="Roboto Light" panose="02000000000000000000" pitchFamily="2" charset="0"/>
                <a:ea typeface="Roboto Light" panose="02000000000000000000" pitchFamily="2" charset="0"/>
                <a:cs typeface="Lato" panose="020F0502020204030203" pitchFamily="34" charset="0"/>
              </a:defRPr>
            </a:lvl1pPr>
          </a:lstStyle>
          <a:p>
            <a:r>
              <a:rPr lang="en-AU" dirty="0"/>
              <a:t>Icarus has hands-on experience with building project infrastructure on Terraform, solid knowledge of Docker, Kubernetes, and Helm. Proficient with functional test suites using Robot Test Framework and designing and developing CI/CD pipelines using Cloud build/Bamboo. Icarus is fast learning and a great team player who loves to achieve goals and delight the customer.</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5604DA7-C5E1-49DD-8C41-CCB449994644}">
  <ds:schemaRefs>
    <ds:schemaRef ds:uri="http://schemas.microsoft.com/sharepoint/v3/contenttype/forms"/>
  </ds:schemaRefs>
</ds:datastoreItem>
</file>

<file path=customXml/itemProps2.xml><?xml version="1.0" encoding="utf-8"?>
<ds:datastoreItem xmlns:ds="http://schemas.openxmlformats.org/officeDocument/2006/customXml" ds:itemID="{5727ED21-9CB1-4F97-A80D-E627D69E376B}"/>
</file>

<file path=customXml/itemProps3.xml><?xml version="1.0" encoding="utf-8"?>
<ds:datastoreItem xmlns:ds="http://schemas.openxmlformats.org/officeDocument/2006/customXml" ds:itemID="{5DED3751-8046-450E-BBF0-0C652FE3CD2B}">
  <ds:schemaRefs>
    <ds:schemaRef ds:uri="http://purl.org/dc/elements/1.1/"/>
    <ds:schemaRef ds:uri="http://purl.org/dc/terms/"/>
    <ds:schemaRef ds:uri="6b920ebc-3252-4293-abd7-b10e8ed2381a"/>
    <ds:schemaRef ds:uri="http://schemas.microsoft.com/office/infopath/2007/PartnerControls"/>
    <ds:schemaRef ds:uri="http://purl.org/dc/dcmitype/"/>
    <ds:schemaRef ds:uri="http://www.w3.org/XML/1998/namespace"/>
    <ds:schemaRef ds:uri="6230feca-9d7b-41a9-b53d-d6f1bbda9326"/>
    <ds:schemaRef ds:uri="http://schemas.microsoft.com/office/2006/documentManagement/type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11195</TotalTime>
  <Words>559</Words>
  <Application>Microsoft Office PowerPoint</Application>
  <PresentationFormat>Custom</PresentationFormat>
  <Paragraphs>82</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95</cp:revision>
  <dcterms:created xsi:type="dcterms:W3CDTF">2019-12-03T01:50:37Z</dcterms:created>
  <dcterms:modified xsi:type="dcterms:W3CDTF">2023-07-25T05:23:26Z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