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0EC440-DE43-45F9-AB0C-9D55FBE2C79E}" v="3" dt="2023-06-01T05:42:50.4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59" d="100"/>
          <a:sy n="59" d="100"/>
        </p:scale>
        <p:origin x="1372" y="-5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F80EC440-DE43-45F9-AB0C-9D55FBE2C79E}"/>
    <pc:docChg chg="undo custSel modSld">
      <pc:chgData name="Darcy Roach" userId="ba676ee9-e9b4-49e8-a515-8077106c948d" providerId="ADAL" clId="{F80EC440-DE43-45F9-AB0C-9D55FBE2C79E}" dt="2023-06-01T05:43:02.795" v="900" actId="14100"/>
      <pc:docMkLst>
        <pc:docMk/>
      </pc:docMkLst>
      <pc:sldChg chg="addSp delSp modSp mod">
        <pc:chgData name="Darcy Roach" userId="ba676ee9-e9b4-49e8-a515-8077106c948d" providerId="ADAL" clId="{F80EC440-DE43-45F9-AB0C-9D55FBE2C79E}" dt="2023-06-01T05:43:02.795" v="900" actId="14100"/>
        <pc:sldMkLst>
          <pc:docMk/>
          <pc:sldMk cId="2009923557" sldId="270"/>
        </pc:sldMkLst>
        <pc:spChg chg="mod">
          <ac:chgData name="Darcy Roach" userId="ba676ee9-e9b4-49e8-a515-8077106c948d" providerId="ADAL" clId="{F80EC440-DE43-45F9-AB0C-9D55FBE2C79E}" dt="2023-06-01T05:29:46.426" v="682" actId="20577"/>
          <ac:spMkLst>
            <pc:docMk/>
            <pc:sldMk cId="2009923557" sldId="270"/>
            <ac:spMk id="2" creationId="{2FA774CA-3857-9308-4D38-9414B0CC2B95}"/>
          </ac:spMkLst>
        </pc:spChg>
        <pc:spChg chg="mod">
          <ac:chgData name="Darcy Roach" userId="ba676ee9-e9b4-49e8-a515-8077106c948d" providerId="ADAL" clId="{F80EC440-DE43-45F9-AB0C-9D55FBE2C79E}" dt="2023-06-01T04:39:30.411" v="269" actId="20577"/>
          <ac:spMkLst>
            <pc:docMk/>
            <pc:sldMk cId="2009923557" sldId="270"/>
            <ac:spMk id="4" creationId="{80F49B2F-21D4-F9EB-049F-717A10CB7D84}"/>
          </ac:spMkLst>
        </pc:spChg>
        <pc:spChg chg="add del">
          <ac:chgData name="Darcy Roach" userId="ba676ee9-e9b4-49e8-a515-8077106c948d" providerId="ADAL" clId="{F80EC440-DE43-45F9-AB0C-9D55FBE2C79E}" dt="2023-06-01T05:13:55.738" v="470" actId="22"/>
          <ac:spMkLst>
            <pc:docMk/>
            <pc:sldMk cId="2009923557" sldId="270"/>
            <ac:spMk id="9" creationId="{470F3A80-2F40-54EE-8BEF-08EB9D0D19BF}"/>
          </ac:spMkLst>
        </pc:spChg>
        <pc:spChg chg="mod">
          <ac:chgData name="Darcy Roach" userId="ba676ee9-e9b4-49e8-a515-8077106c948d" providerId="ADAL" clId="{F80EC440-DE43-45F9-AB0C-9D55FBE2C79E}" dt="2023-06-01T05:01:10.408" v="329" actId="20577"/>
          <ac:spMkLst>
            <pc:docMk/>
            <pc:sldMk cId="2009923557" sldId="270"/>
            <ac:spMk id="12" creationId="{70DE989F-A988-8C86-5720-1FE5B119EB30}"/>
          </ac:spMkLst>
        </pc:spChg>
        <pc:spChg chg="mod">
          <ac:chgData name="Darcy Roach" userId="ba676ee9-e9b4-49e8-a515-8077106c948d" providerId="ADAL" clId="{F80EC440-DE43-45F9-AB0C-9D55FBE2C79E}" dt="2023-06-01T04:08:34.053" v="35" actId="20577"/>
          <ac:spMkLst>
            <pc:docMk/>
            <pc:sldMk cId="2009923557" sldId="270"/>
            <ac:spMk id="13" creationId="{FD2720C9-A79F-BD7F-E179-674AD67D7892}"/>
          </ac:spMkLst>
        </pc:spChg>
        <pc:spChg chg="add mod">
          <ac:chgData name="Darcy Roach" userId="ba676ee9-e9b4-49e8-a515-8077106c948d" providerId="ADAL" clId="{F80EC440-DE43-45F9-AB0C-9D55FBE2C79E}" dt="2023-06-01T05:42:50.499" v="898" actId="571"/>
          <ac:spMkLst>
            <pc:docMk/>
            <pc:sldMk cId="2009923557" sldId="270"/>
            <ac:spMk id="16" creationId="{10EAE75D-3E31-5BBC-1D8A-6A9E4A422FFA}"/>
          </ac:spMkLst>
        </pc:spChg>
        <pc:spChg chg="mod">
          <ac:chgData name="Darcy Roach" userId="ba676ee9-e9b4-49e8-a515-8077106c948d" providerId="ADAL" clId="{F80EC440-DE43-45F9-AB0C-9D55FBE2C79E}" dt="2023-06-01T04:12:19.137" v="63" actId="20577"/>
          <ac:spMkLst>
            <pc:docMk/>
            <pc:sldMk cId="2009923557" sldId="270"/>
            <ac:spMk id="17" creationId="{1BDE5051-9F34-F139-742D-4450E5D6591E}"/>
          </ac:spMkLst>
        </pc:spChg>
        <pc:spChg chg="mod">
          <ac:chgData name="Darcy Roach" userId="ba676ee9-e9b4-49e8-a515-8077106c948d" providerId="ADAL" clId="{F80EC440-DE43-45F9-AB0C-9D55FBE2C79E}" dt="2023-06-01T05:42:50.499" v="898" actId="571"/>
          <ac:spMkLst>
            <pc:docMk/>
            <pc:sldMk cId="2009923557" sldId="270"/>
            <ac:spMk id="21" creationId="{D26E041A-3C00-ED87-9FB8-875DCF683EE5}"/>
          </ac:spMkLst>
        </pc:spChg>
        <pc:spChg chg="mod">
          <ac:chgData name="Darcy Roach" userId="ba676ee9-e9b4-49e8-a515-8077106c948d" providerId="ADAL" clId="{F80EC440-DE43-45F9-AB0C-9D55FBE2C79E}" dt="2023-06-01T05:29:09.538" v="663" actId="20577"/>
          <ac:spMkLst>
            <pc:docMk/>
            <pc:sldMk cId="2009923557" sldId="270"/>
            <ac:spMk id="31" creationId="{5D644C1D-FE62-9752-27C7-42A94F729A86}"/>
          </ac:spMkLst>
        </pc:spChg>
        <pc:spChg chg="mod">
          <ac:chgData name="Darcy Roach" userId="ba676ee9-e9b4-49e8-a515-8077106c948d" providerId="ADAL" clId="{F80EC440-DE43-45F9-AB0C-9D55FBE2C79E}" dt="2023-06-01T05:42:25.885" v="896"/>
          <ac:spMkLst>
            <pc:docMk/>
            <pc:sldMk cId="2009923557" sldId="270"/>
            <ac:spMk id="38" creationId="{AB47A2EE-BF0B-DB05-8B7C-DB6594B2B3D5}"/>
          </ac:spMkLst>
        </pc:spChg>
        <pc:spChg chg="mod">
          <ac:chgData name="Darcy Roach" userId="ba676ee9-e9b4-49e8-a515-8077106c948d" providerId="ADAL" clId="{F80EC440-DE43-45F9-AB0C-9D55FBE2C79E}" dt="2023-06-01T05:42:54.831" v="899" actId="1076"/>
          <ac:spMkLst>
            <pc:docMk/>
            <pc:sldMk cId="2009923557" sldId="270"/>
            <ac:spMk id="39" creationId="{3EA81938-6A76-B850-B0E8-A5F905AEBA98}"/>
          </ac:spMkLst>
        </pc:spChg>
        <pc:spChg chg="mod">
          <ac:chgData name="Darcy Roach" userId="ba676ee9-e9b4-49e8-a515-8077106c948d" providerId="ADAL" clId="{F80EC440-DE43-45F9-AB0C-9D55FBE2C79E}" dt="2023-06-01T05:31:03.716" v="733" actId="20577"/>
          <ac:spMkLst>
            <pc:docMk/>
            <pc:sldMk cId="2009923557" sldId="270"/>
            <ac:spMk id="48" creationId="{2E936835-C132-4204-2E91-FE9D8E6EC671}"/>
          </ac:spMkLst>
        </pc:spChg>
        <pc:spChg chg="mod">
          <ac:chgData name="Darcy Roach" userId="ba676ee9-e9b4-49e8-a515-8077106c948d" providerId="ADAL" clId="{F80EC440-DE43-45F9-AB0C-9D55FBE2C79E}" dt="2023-06-01T05:29:24.447" v="667" actId="20577"/>
          <ac:spMkLst>
            <pc:docMk/>
            <pc:sldMk cId="2009923557" sldId="270"/>
            <ac:spMk id="54" creationId="{4F1DF6EC-2D10-1310-483C-35027A70DDA1}"/>
          </ac:spMkLst>
        </pc:spChg>
        <pc:spChg chg="mod">
          <ac:chgData name="Darcy Roach" userId="ba676ee9-e9b4-49e8-a515-8077106c948d" providerId="ADAL" clId="{F80EC440-DE43-45F9-AB0C-9D55FBE2C79E}" dt="2023-06-01T05:29:55.708" v="694" actId="20577"/>
          <ac:spMkLst>
            <pc:docMk/>
            <pc:sldMk cId="2009923557" sldId="270"/>
            <ac:spMk id="55" creationId="{20D856C0-6C6C-30D2-8947-79D3F4B5FE07}"/>
          </ac:spMkLst>
        </pc:spChg>
        <pc:spChg chg="mod">
          <ac:chgData name="Darcy Roach" userId="ba676ee9-e9b4-49e8-a515-8077106c948d" providerId="ADAL" clId="{F80EC440-DE43-45F9-AB0C-9D55FBE2C79E}" dt="2023-06-01T04:32:09.699" v="182" actId="20577"/>
          <ac:spMkLst>
            <pc:docMk/>
            <pc:sldMk cId="2009923557" sldId="270"/>
            <ac:spMk id="60" creationId="{FD202519-197D-24FE-C4B7-F4419021EC1E}"/>
          </ac:spMkLst>
        </pc:spChg>
        <pc:grpChg chg="mod">
          <ac:chgData name="Darcy Roach" userId="ba676ee9-e9b4-49e8-a515-8077106c948d" providerId="ADAL" clId="{F80EC440-DE43-45F9-AB0C-9D55FBE2C79E}" dt="2023-06-01T05:42:54.831" v="899" actId="1076"/>
          <ac:grpSpMkLst>
            <pc:docMk/>
            <pc:sldMk cId="2009923557" sldId="270"/>
            <ac:grpSpMk id="5" creationId="{980A06B1-0A2F-7DF6-91DB-0F6DFA896A23}"/>
          </ac:grpSpMkLst>
        </pc:grpChg>
        <pc:grpChg chg="mod">
          <ac:chgData name="Darcy Roach" userId="ba676ee9-e9b4-49e8-a515-8077106c948d" providerId="ADAL" clId="{F80EC440-DE43-45F9-AB0C-9D55FBE2C79E}" dt="2023-06-01T05:29:18.319" v="664" actId="1076"/>
          <ac:grpSpMkLst>
            <pc:docMk/>
            <pc:sldMk cId="2009923557" sldId="270"/>
            <ac:grpSpMk id="10" creationId="{A6927CF3-C0AD-7B0E-CC21-BDD13E4FAF2F}"/>
          </ac:grpSpMkLst>
        </pc:grpChg>
        <pc:grpChg chg="add mod">
          <ac:chgData name="Darcy Roach" userId="ba676ee9-e9b4-49e8-a515-8077106c948d" providerId="ADAL" clId="{F80EC440-DE43-45F9-AB0C-9D55FBE2C79E}" dt="2023-06-01T05:42:50.499" v="898" actId="571"/>
          <ac:grpSpMkLst>
            <pc:docMk/>
            <pc:sldMk cId="2009923557" sldId="270"/>
            <ac:grpSpMk id="18" creationId="{C0E47A2A-00EC-64EE-CF16-EA03429189F6}"/>
          </ac:grpSpMkLst>
        </pc:grpChg>
        <pc:grpChg chg="mod">
          <ac:chgData name="Darcy Roach" userId="ba676ee9-e9b4-49e8-a515-8077106c948d" providerId="ADAL" clId="{F80EC440-DE43-45F9-AB0C-9D55FBE2C79E}" dt="2023-06-01T05:18:05.535" v="570" actId="1035"/>
          <ac:grpSpMkLst>
            <pc:docMk/>
            <pc:sldMk cId="2009923557" sldId="270"/>
            <ac:grpSpMk id="45" creationId="{7C004A0F-26FD-81BE-0DC7-EDCD01D4194B}"/>
          </ac:grpSpMkLst>
        </pc:grpChg>
        <pc:cxnChg chg="mod">
          <ac:chgData name="Darcy Roach" userId="ba676ee9-e9b4-49e8-a515-8077106c948d" providerId="ADAL" clId="{F80EC440-DE43-45F9-AB0C-9D55FBE2C79E}" dt="2023-06-01T05:42:50.499" v="898" actId="571"/>
          <ac:cxnSpMkLst>
            <pc:docMk/>
            <pc:sldMk cId="2009923557" sldId="270"/>
            <ac:cxnSpMk id="19" creationId="{4BDD48CD-1499-E953-07BA-A7B81FB5E167}"/>
          </ac:cxnSpMkLst>
        </pc:cxnChg>
        <pc:cxnChg chg="mod">
          <ac:chgData name="Darcy Roach" userId="ba676ee9-e9b4-49e8-a515-8077106c948d" providerId="ADAL" clId="{F80EC440-DE43-45F9-AB0C-9D55FBE2C79E}" dt="2023-06-01T05:36:44.869" v="816"/>
          <ac:cxnSpMkLst>
            <pc:docMk/>
            <pc:sldMk cId="2009923557" sldId="270"/>
            <ac:cxnSpMk id="40" creationId="{872A9DC1-BA60-5A54-0907-130AE22B314D}"/>
          </ac:cxnSpMkLst>
        </pc:cxnChg>
        <pc:cxnChg chg="mod">
          <ac:chgData name="Darcy Roach" userId="ba676ee9-e9b4-49e8-a515-8077106c948d" providerId="ADAL" clId="{F80EC440-DE43-45F9-AB0C-9D55FBE2C79E}" dt="2023-06-01T05:43:02.795" v="900" actId="14100"/>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6/1/2023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6/1/2023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6/1/2023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6/1/2023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6/1/2023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Ankita Shephali</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928002" cy="923330"/>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Ankita is a Data Engineer with over 10 years of experience in software development. Ankita has hands on experience on various offerings of Google Cloud Platform such as Big Data tools including Data Warehouse, Data Lake, Data streaming Pipelines and Data Visualisation tools.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Linx</a:t>
            </a:r>
            <a:r>
              <a:rPr lang="en-US" sz="900" dirty="0">
                <a:latin typeface="Roboto Light" panose="02000000000000000000" pitchFamily="2" charset="0"/>
                <a:ea typeface="Roboto Light" panose="02000000000000000000" pitchFamily="2" charset="0"/>
              </a:rPr>
              <a:t>/Unix Scripting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.NET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174781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49419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00339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709643"/>
            <a:ext cx="1951941" cy="3231654"/>
            <a:chOff x="8106458" y="2681447"/>
            <a:chExt cx="1951941" cy="323165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231654"/>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a:t>
              </a:r>
              <a:r>
                <a:rPr lang="en-GB" sz="1200" dirty="0">
                  <a:solidFill>
                    <a:srgbClr val="00AB80"/>
                  </a:solidFill>
                  <a:latin typeface="Roboto Light" panose="02000000000000000000" pitchFamily="2" charset="0"/>
                  <a:ea typeface="Calibri" panose="020F0502020204030204" pitchFamily="34" charset="0"/>
                </a:rPr>
                <a:t>Course</a:t>
              </a:r>
              <a:r>
                <a:rPr lang="en-GB" sz="1200" dirty="0">
                  <a:solidFill>
                    <a:srgbClr val="00AB80"/>
                  </a:solidFill>
                  <a:effectLst/>
                  <a:latin typeface="Roboto Light" panose="02000000000000000000" pitchFamily="2" charset="0"/>
                  <a:ea typeface="Calibri" panose="020F0502020204030204" pitchFamily="34" charset="0"/>
                </a:rPr>
                <a:t> | </a:t>
              </a:r>
              <a:r>
                <a:rPr lang="en-AU" sz="1200" dirty="0">
                  <a:solidFill>
                    <a:srgbClr val="00AB80"/>
                  </a:solidFill>
                  <a:effectLst/>
                  <a:latin typeface="Roboto Light" panose="02000000000000000000" pitchFamily="2" charset="0"/>
                  <a:ea typeface="Calibri" panose="020F0502020204030204" pitchFamily="34" charset="0"/>
                </a:rPr>
                <a:t>Data Engineering on Google Cloud Platform</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Coursera</a:t>
              </a:r>
              <a:r>
                <a:rPr lang="en-GB" sz="1200" dirty="0">
                  <a:solidFill>
                    <a:srgbClr val="00AB80"/>
                  </a:solidFill>
                  <a:effectLst/>
                  <a:latin typeface="Roboto Light" panose="02000000000000000000" pitchFamily="2" charset="0"/>
                  <a:ea typeface="Calibri" panose="020F0502020204030204" pitchFamily="34" charset="0"/>
                </a:rPr>
                <a:t> | </a:t>
              </a:r>
              <a:r>
                <a:rPr lang="en-AU" sz="1200" dirty="0">
                  <a:solidFill>
                    <a:srgbClr val="00AB80"/>
                  </a:solidFill>
                  <a:effectLst/>
                  <a:latin typeface="Roboto Light" panose="02000000000000000000" pitchFamily="2" charset="0"/>
                  <a:ea typeface="Calibri" panose="020F0502020204030204" pitchFamily="34" charset="0"/>
                </a:rPr>
                <a:t>Getting Started with Google Kubernetes Engine</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a:t>
              </a:r>
              <a:r>
                <a:rPr lang="en-GB" sz="1200" dirty="0">
                  <a:solidFill>
                    <a:srgbClr val="00AB80"/>
                  </a:solidFill>
                  <a:effectLst/>
                  <a:latin typeface="Roboto Light" panose="02000000000000000000" pitchFamily="2" charset="0"/>
                  <a:ea typeface="Calibri" panose="020F0502020204030204" pitchFamily="34" charset="0"/>
                </a:rPr>
                <a:t>r</a:t>
              </a:r>
              <a:r>
                <a:rPr lang="en-GB" sz="1200" dirty="0">
                  <a:solidFill>
                    <a:srgbClr val="00AB80"/>
                  </a:solidFill>
                  <a:latin typeface="Roboto Light" panose="02000000000000000000" pitchFamily="2" charset="0"/>
                  <a:ea typeface="Calibri" panose="020F0502020204030204" pitchFamily="34" charset="0"/>
                </a:rPr>
                <a:t> – Software Engineering | </a:t>
              </a:r>
              <a:r>
                <a:rPr lang="en-AU" sz="1200" dirty="0">
                  <a:solidFill>
                    <a:srgbClr val="00AB80"/>
                  </a:solidFill>
                  <a:effectLst/>
                  <a:latin typeface="Roboto Light" panose="02000000000000000000" pitchFamily="2" charset="0"/>
                  <a:ea typeface="Calibri" panose="020F0502020204030204" pitchFamily="34" charset="0"/>
                </a:rPr>
                <a:t>Birla Institute of Technology &amp; Science, India </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Computer Science &amp; Electronics | </a:t>
              </a:r>
              <a:r>
                <a:rPr lang="en-US" sz="1200" dirty="0">
                  <a:solidFill>
                    <a:srgbClr val="00AB80"/>
                  </a:solidFill>
                  <a:latin typeface="Roboto Light" panose="02000000000000000000" pitchFamily="2" charset="0"/>
                  <a:ea typeface="Calibri" panose="020F0502020204030204" pitchFamily="34" charset="0"/>
                </a:rPr>
                <a:t> </a:t>
              </a:r>
              <a:r>
                <a:rPr lang="en-US" sz="1200" dirty="0" err="1">
                  <a:solidFill>
                    <a:srgbClr val="00AB80"/>
                  </a:solidFill>
                  <a:latin typeface="Roboto Light" panose="02000000000000000000" pitchFamily="2" charset="0"/>
                  <a:ea typeface="Calibri" panose="020F0502020204030204" pitchFamily="34" charset="0"/>
                </a:rPr>
                <a:t>Banasthali</a:t>
              </a:r>
              <a:r>
                <a:rPr lang="en-US" sz="1200" dirty="0">
                  <a:solidFill>
                    <a:srgbClr val="00AB80"/>
                  </a:solidFill>
                  <a:latin typeface="Roboto Light" panose="02000000000000000000" pitchFamily="2" charset="0"/>
                  <a:ea typeface="Calibri" panose="020F0502020204030204" pitchFamily="34" charset="0"/>
                </a:rPr>
                <a:t> Vidyapith, India </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Master Data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Financial Services Company </a:t>
            </a:r>
            <a:r>
              <a:rPr lang="en-AU" sz="1200" b="1" dirty="0">
                <a:solidFill>
                  <a:srgbClr val="0059FF"/>
                </a:solidFill>
                <a:latin typeface="Roboto" panose="02000000000000000000" pitchFamily="2" charset="0"/>
                <a:ea typeface="Roboto" panose="02000000000000000000" pitchFamily="2" charset="0"/>
              </a:rPr>
              <a:t>– GCP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212365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Performed the ELT (Extract Load Transform) process using GCP products such as GCS Bucket &amp; Big Query to clean and transform the data and made it ready to be ingested in the pay models.</a:t>
            </a:r>
          </a:p>
          <a:p>
            <a:r>
              <a:rPr lang="en-AU" sz="1000" dirty="0">
                <a:solidFill>
                  <a:schemeClr val="bg1"/>
                </a:solidFill>
              </a:rPr>
              <a:t>Created underlying objects that drive the various Tableau reports which is shared with the customer in order to give useful insights about their data</a:t>
            </a:r>
          </a:p>
          <a:p>
            <a:r>
              <a:rPr lang="en-AU" sz="1000" dirty="0">
                <a:solidFill>
                  <a:schemeClr val="bg1"/>
                </a:solidFill>
              </a:rPr>
              <a:t>Engaged with the client to understand their Payroll &amp; HR systems as part of the customer onboarding process</a:t>
            </a:r>
          </a:p>
          <a:p>
            <a:r>
              <a:rPr lang="en-AU" sz="1000" dirty="0">
                <a:solidFill>
                  <a:schemeClr val="bg1"/>
                </a:solidFill>
              </a:rPr>
              <a:t>Conducted Business Requirement Transfer workshops to gather detailed requirements, understand the system </a:t>
            </a:r>
            <a:r>
              <a:rPr lang="en-AU" sz="1000" dirty="0" err="1">
                <a:solidFill>
                  <a:schemeClr val="bg1"/>
                </a:solidFill>
              </a:rPr>
              <a:t>behavior</a:t>
            </a:r>
            <a:r>
              <a:rPr lang="en-AU" sz="1000" dirty="0">
                <a:solidFill>
                  <a:schemeClr val="bg1"/>
                </a:solidFill>
              </a:rPr>
              <a:t> and perform the data mapping with the internal product schema</a:t>
            </a:r>
          </a:p>
          <a:p>
            <a:r>
              <a:rPr lang="en-AU" sz="1000" dirty="0">
                <a:solidFill>
                  <a:schemeClr val="bg1"/>
                </a:solidFill>
              </a:rPr>
              <a:t>Prepared Data Request Forms which acts as a data transfer agreement to ensure that everything that's required for payment analysis was received</a:t>
            </a:r>
          </a:p>
          <a:p>
            <a:endParaRPr lang="en-AU"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186378"/>
            <a:ext cx="5029198" cy="2774794"/>
            <a:chOff x="3335753" y="2997642"/>
            <a:chExt cx="5029198" cy="2947354"/>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219580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Data Management Organisation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98896"/>
              <a:ext cx="4423172" cy="274610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Conducted workshops for prospect and existing clients in ANZ region to provide an insight into Data Virtualisation and how the Data Virtualisation Platform fits into an organisation landscape and the benefit it provides to the business in terms of performance and cost.</a:t>
              </a:r>
            </a:p>
            <a:p>
              <a:r>
                <a:rPr lang="en-AU" sz="1000" dirty="0"/>
                <a:t>Conducted Advisory sessions for existing customers to provide technical guidance to minimise surprises and risks </a:t>
              </a:r>
            </a:p>
            <a:p>
              <a:r>
                <a:rPr lang="en-AU" sz="1000" dirty="0"/>
                <a:t>Successfully implemented Platform as a Unified Data Access Layer hat has data distributed across multiple data sources. Including traditional structured data sources such as databases, data warehouses etc and less structured data sources such as Web Services, SAAS applications, Hadoop etc.  </a:t>
              </a:r>
            </a:p>
            <a:p>
              <a:r>
                <a:rPr lang="en-AU" sz="1000" dirty="0"/>
                <a:t>Collaborated with clients for </a:t>
              </a:r>
              <a:r>
                <a:rPr lang="en-AU" sz="1000" dirty="0" err="1"/>
                <a:t>strategising</a:t>
              </a:r>
              <a:r>
                <a:rPr lang="en-AU" sz="1000" dirty="0"/>
                <a:t> the migration of on-premises applications to cloud using the Platform which accelerates the migration process without disrupting users and applications during the migration </a:t>
              </a:r>
            </a:p>
            <a:p>
              <a:endParaRPr lang="en-AU" sz="1000" dirty="0"/>
            </a:p>
            <a:p>
              <a:endParaRPr lang="en-AU" sz="1000" dirty="0"/>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89255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Insurance</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21267" y="5650636"/>
            <a:ext cx="4782734" cy="2013996"/>
            <a:chOff x="3335752" y="5766857"/>
            <a:chExt cx="4782734" cy="2013996"/>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Telecommunications Organisation – Software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5995749"/>
              <a:ext cx="4435479"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Built a Python script to upload the event data records (EDRs) generated by PCRF system to Cloud Storage. The files were then imported into Optus’ data warehouse (</a:t>
              </a:r>
              <a:r>
                <a:rPr lang="en-AU" dirty="0" err="1"/>
                <a:t>BigQuery</a:t>
              </a:r>
              <a:r>
                <a:rPr lang="en-AU" dirty="0"/>
                <a:t>).</a:t>
              </a:r>
            </a:p>
            <a:p>
              <a:r>
                <a:rPr lang="en-AU" dirty="0"/>
                <a:t>Provided assistance in building the visualisation on Tableau with </a:t>
              </a:r>
              <a:r>
                <a:rPr lang="en-AU" dirty="0" err="1"/>
                <a:t>BigQuery</a:t>
              </a:r>
              <a:r>
                <a:rPr lang="en-AU" dirty="0"/>
                <a:t> as a data source to generate product insights.</a:t>
              </a:r>
            </a:p>
            <a:p>
              <a:r>
                <a:rPr lang="en-AU" dirty="0"/>
                <a:t>Lead the System Integration Testing for VoLTE migration from Cisco PCRF to </a:t>
              </a:r>
              <a:r>
                <a:rPr lang="en-AU" dirty="0" err="1"/>
                <a:t>Openet</a:t>
              </a:r>
              <a:r>
                <a:rPr lang="en-AU" dirty="0"/>
                <a:t> PCRF</a:t>
              </a:r>
            </a:p>
            <a:p>
              <a:r>
                <a:rPr lang="en-AU" dirty="0"/>
                <a:t>Designed PL/SQL packages/functions to perform complex manipulations in data feeds.</a:t>
              </a:r>
            </a:p>
            <a:p>
              <a:r>
                <a:rPr lang="en-AU" dirty="0"/>
                <a:t>Successfully deployed the </a:t>
              </a:r>
              <a:r>
                <a:rPr lang="en-AU" dirty="0" err="1"/>
                <a:t>Openet</a:t>
              </a:r>
              <a:r>
                <a:rPr lang="en-AU" dirty="0"/>
                <a:t> PCRF solution for Fixed Line, Mobile Data and VoLTE in Optus network.</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FD202519-197D-24FE-C4B7-F4419021EC1E}"/>
              </a:ext>
            </a:extLst>
          </p:cNvPr>
          <p:cNvSpPr txBox="1"/>
          <p:nvPr/>
        </p:nvSpPr>
        <p:spPr>
          <a:xfrm>
            <a:off x="252769" y="2702997"/>
            <a:ext cx="2873026" cy="2462213"/>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dirty="0"/>
              <a:t>Ankita has worked with various technologies including SQL, Relational Database such as ORACLE and </a:t>
            </a:r>
            <a:r>
              <a:rPr lang="en-AU" dirty="0" err="1"/>
              <a:t>VoltDB</a:t>
            </a:r>
            <a:r>
              <a:rPr lang="en-AU" dirty="0"/>
              <a:t>, NoSQL Database such as Big Table and MongoDB, Python and Java. In her previous roles Ankita has been involved in all phases of the software development life cycle and has developed her tremendous ability to design, construct, install, test and maintain highly scalable systems.</a:t>
            </a:r>
          </a:p>
          <a:p>
            <a:endParaRPr lang="en-AU" dirty="0"/>
          </a:p>
          <a:p>
            <a:r>
              <a:rPr lang="en-AU" dirty="0"/>
              <a:t>Using her great written and verbal communication skills Ankita is able to function effectively as part of a team as well as independently to help organisations reach their end goals. </a:t>
            </a:r>
          </a:p>
          <a:p>
            <a:endParaRPr lang="en-AU" dirty="0"/>
          </a:p>
          <a:p>
            <a:endParaRPr lang="en-US"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2.xml><?xml version="1.0" encoding="utf-8"?>
<ds:datastoreItem xmlns:ds="http://schemas.openxmlformats.org/officeDocument/2006/customXml" ds:itemID="{B79DDFC6-124A-4859-BB62-4C7039BA48C0}">
  <ds:schemaRefs>
    <ds:schemaRef ds:uri="http://schemas.microsoft.com/office/2006/metadata/properties"/>
    <ds:schemaRef ds:uri="http://purl.org/dc/dcmitype/"/>
    <ds:schemaRef ds:uri="daf93972-1964-4522-aa34-640805a01c3a"/>
    <ds:schemaRef ds:uri="http://schemas.microsoft.com/office/2006/documentManagement/types"/>
    <ds:schemaRef ds:uri="http://purl.org/dc/terms/"/>
    <ds:schemaRef ds:uri="http://schemas.microsoft.com/office/infopath/2007/PartnerControls"/>
    <ds:schemaRef ds:uri="e52cd9e7-35e5-4bd3-9cab-ca6a63c31e52"/>
    <ds:schemaRef ds:uri="http://schemas.openxmlformats.org/package/2006/metadata/core-properties"/>
    <ds:schemaRef ds:uri="http://www.w3.org/XML/1998/namespace"/>
    <ds:schemaRef ds:uri="http://purl.org/dc/elements/1.1/"/>
  </ds:schemaRefs>
</ds:datastoreItem>
</file>

<file path=customXml/itemProps3.xml><?xml version="1.0" encoding="utf-8"?>
<ds:datastoreItem xmlns:ds="http://schemas.openxmlformats.org/officeDocument/2006/customXml" ds:itemID="{953D8154-2D10-41E9-94BA-6CFBDD50B1C5}"/>
</file>

<file path=docProps/app.xml><?xml version="1.0" encoding="utf-8"?>
<Properties xmlns="http://schemas.openxmlformats.org/officeDocument/2006/extended-properties" xmlns:vt="http://schemas.openxmlformats.org/officeDocument/2006/docPropsVTypes">
  <Template>Office Theme</Template>
  <TotalTime>3785</TotalTime>
  <Words>631</Words>
  <Application>Microsoft Office PowerPoint</Application>
  <PresentationFormat>Custom</PresentationFormat>
  <Paragraphs>70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cp:revision>
  <dcterms:created xsi:type="dcterms:W3CDTF">2019-12-03T01:50:37Z</dcterms:created>
  <dcterms:modified xsi:type="dcterms:W3CDTF">2023-06-01T05:43:08Z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