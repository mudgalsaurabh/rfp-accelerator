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B80"/>
    <a:srgbClr val="A93584"/>
    <a:srgbClr val="0F2B3F"/>
    <a:srgbClr val="0059FF"/>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02"/>
    <p:restoredTop sz="96357" autoAdjust="0"/>
  </p:normalViewPr>
  <p:slideViewPr>
    <p:cSldViewPr snapToGrid="0">
      <p:cViewPr varScale="1">
        <p:scale>
          <a:sx n="96" d="100"/>
          <a:sy n="96" d="100"/>
        </p:scale>
        <p:origin x="1740" y="72"/>
      </p:cViewPr>
      <p:guideLst>
        <p:guide orient="horz" pos="2448"/>
        <p:guide pos="3168"/>
        <p:guide pos="311"/>
        <p:guide pos="5994"/>
        <p:guide orient="horz" pos="148"/>
        <p:guide orient="horz" pos="47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586D55FE-D16F-48EF-A34E-15D0F100F59D}"/>
    <pc:docChg chg="modSld">
      <pc:chgData name="Darcy Roach" userId="ba676ee9-e9b4-49e8-a515-8077106c948d" providerId="ADAL" clId="{586D55FE-D16F-48EF-A34E-15D0F100F59D}" dt="2024-09-09T05:09:15.596" v="62" actId="14100"/>
      <pc:docMkLst>
        <pc:docMk/>
      </pc:docMkLst>
      <pc:sldChg chg="modSp mod">
        <pc:chgData name="Darcy Roach" userId="ba676ee9-e9b4-49e8-a515-8077106c948d" providerId="ADAL" clId="{586D55FE-D16F-48EF-A34E-15D0F100F59D}" dt="2024-09-09T05:09:15.596" v="62" actId="14100"/>
        <pc:sldMkLst>
          <pc:docMk/>
          <pc:sldMk cId="2009923557" sldId="270"/>
        </pc:sldMkLst>
        <pc:spChg chg="mod">
          <ac:chgData name="Darcy Roach" userId="ba676ee9-e9b4-49e8-a515-8077106c948d" providerId="ADAL" clId="{586D55FE-D16F-48EF-A34E-15D0F100F59D}" dt="2024-09-09T05:08:50.211" v="60" actId="20577"/>
          <ac:spMkLst>
            <pc:docMk/>
            <pc:sldMk cId="2009923557" sldId="270"/>
            <ac:spMk id="38" creationId="{AB47A2EE-BF0B-DB05-8B7C-DB6594B2B3D5}"/>
          </ac:spMkLst>
        </pc:spChg>
        <pc:cxnChg chg="mod">
          <ac:chgData name="Darcy Roach" userId="ba676ee9-e9b4-49e8-a515-8077106c948d" providerId="ADAL" clId="{586D55FE-D16F-48EF-A34E-15D0F100F59D}" dt="2024-09-09T05:09:15.596" v="62" actId="14100"/>
          <ac:cxnSpMkLst>
            <pc:docMk/>
            <pc:sldMk cId="2009923557" sldId="270"/>
            <ac:cxnSpMk id="56" creationId="{C0271841-9AD2-76A9-36A3-77AD3CD1ED17}"/>
          </ac:cxnSpMkLst>
        </pc:cxnChg>
        <pc:cxnChg chg="mod">
          <ac:chgData name="Darcy Roach" userId="ba676ee9-e9b4-49e8-a515-8077106c948d" providerId="ADAL" clId="{586D55FE-D16F-48EF-A34E-15D0F100F59D}" dt="2024-09-09T05:09:07.871" v="61" actId="14100"/>
          <ac:cxnSpMkLst>
            <pc:docMk/>
            <pc:sldMk cId="2009923557" sldId="270"/>
            <ac:cxnSpMk id="170" creationId="{0D51728F-48BB-14BB-256E-5F0C0284BCDF}"/>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p>
        </p:txBody>
      </p:sp>
      <p:sp>
        <p:nvSpPr>
          <p:cNvPr id="4" name="Date Placeholder 3"/>
          <p:cNvSpPr>
            <a:spLocks noGrp="1"/>
          </p:cNvSpPr>
          <p:nvPr>
            <p:ph type="dt" sz="half" idx="10"/>
          </p:nvPr>
        </p:nvSpPr>
        <p:spPr/>
        <p:txBody>
          <a:bodyPr/>
          <a:lstStyle/>
          <a:p>
            <a:fld id="{449057BF-143F-654A-BE61-7BF52D905453}" type="datetimeFigureOut">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057BF-143F-654A-BE61-7BF52D905453}" type="datetimeFigureOut">
              <a:rPr lang="en-US" smtClean="0"/>
              <a:t>9/9/2024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057BF-143F-654A-BE61-7BF52D905453}" type="datetimeFigureOut">
              <a:rPr lang="en-US" smtClean="0"/>
              <a:t>9/9/2024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057BF-143F-654A-BE61-7BF52D905453}" type="datetimeFigureOut">
              <a:rPr lang="en-US" smtClean="0"/>
              <a:t>9/9/2024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9/9/2024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9/9/2024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9/9/2024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9/9/2024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9/9/2024</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25629" y="120831"/>
            <a:ext cx="2168863" cy="861774"/>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Ankita Shephali</a:t>
            </a:r>
          </a:p>
        </p:txBody>
      </p:sp>
      <p:sp>
        <p:nvSpPr>
          <p:cNvPr id="17" name="TextBox 16">
            <a:extLst>
              <a:ext uri="{FF2B5EF4-FFF2-40B4-BE49-F238E27FC236}">
                <a16:creationId xmlns:a16="http://schemas.microsoft.com/office/drawing/2014/main" id="{1BDE5051-9F34-F139-742D-4450E5D6591E}"/>
              </a:ext>
            </a:extLst>
          </p:cNvPr>
          <p:cNvSpPr txBox="1"/>
          <p:nvPr/>
        </p:nvSpPr>
        <p:spPr>
          <a:xfrm>
            <a:off x="250509" y="1634583"/>
            <a:ext cx="2928002" cy="923330"/>
          </a:xfrm>
          <a:prstGeom prst="rect">
            <a:avLst/>
          </a:prstGeom>
          <a:noFill/>
        </p:spPr>
        <p:txBody>
          <a:bodyPr wrap="square" lIns="0" tIns="0" rIns="0" bIns="0" rtlCol="0" anchor="t">
            <a:spAutoFit/>
          </a:bodyPr>
          <a:lstStyle/>
          <a:p>
            <a:pPr algn="l"/>
            <a:r>
              <a:rPr lang="en-AU" sz="1000" spc="13" dirty="0">
                <a:latin typeface="Roboto Light"/>
                <a:ea typeface="Roboto Light"/>
                <a:cs typeface="Lato"/>
              </a:rPr>
              <a:t>Ankita is a Data Engineer with over 10 years of experience in software development. Ankita has hands on experience on various offerings of Google Cloud Platform such as Big Data tools including Data Warehouse, Data Lake, Data streaming Pipelines and Data Visualisation tools. </a:t>
            </a:r>
          </a:p>
        </p:txBody>
      </p:sp>
      <p:sp>
        <p:nvSpPr>
          <p:cNvPr id="20" name="TextBox 19">
            <a:extLst>
              <a:ext uri="{FF2B5EF4-FFF2-40B4-BE49-F238E27FC236}">
                <a16:creationId xmlns:a16="http://schemas.microsoft.com/office/drawing/2014/main" id="{716A87E2-F657-C1C6-3715-B7C8A7F1E050}"/>
              </a:ext>
            </a:extLst>
          </p:cNvPr>
          <p:cNvSpPr txBox="1"/>
          <p:nvPr/>
        </p:nvSpPr>
        <p:spPr>
          <a:xfrm>
            <a:off x="152027" y="1239722"/>
            <a:ext cx="5029200" cy="310341"/>
          </a:xfrm>
          <a:prstGeom prst="rect">
            <a:avLst/>
          </a:prstGeom>
          <a:noFill/>
        </p:spPr>
        <p:txBody>
          <a:bodyPr wrap="square">
            <a:spAutoFit/>
          </a:bodyPr>
          <a:lstStyle/>
          <a:p>
            <a:pPr>
              <a:lnSpc>
                <a:spcPts val="1812"/>
              </a:lnSpc>
            </a:pPr>
            <a:r>
              <a:rPr lang="en-US" sz="1400" b="1" spc="13">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250509" y="959224"/>
            <a:ext cx="2489720" cy="218008"/>
          </a:xfrm>
          <a:prstGeom prst="rect">
            <a:avLst/>
          </a:prstGeom>
          <a:noFill/>
        </p:spPr>
        <p:txBody>
          <a:bodyPr wrap="square" lIns="0" tIns="0" rIns="0" bIns="0" rtlCol="0" anchor="t">
            <a:spAutoFit/>
          </a:bodyPr>
          <a:lstStyle/>
          <a:p>
            <a:pPr>
              <a:lnSpc>
                <a:spcPts val="1812"/>
              </a:lnSpc>
            </a:pPr>
            <a:r>
              <a:rPr lang="en-US" sz="1400" spc="13" dirty="0">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Senior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716674" y="5693950"/>
            <a:ext cx="1510046" cy="2446824"/>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Big Query</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SQL</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Informatica</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SSIS </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Tableau</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Google Data Studio</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SAP</a:t>
            </a:r>
          </a:p>
          <a:p>
            <a:pPr marL="171450" indent="-171450">
              <a:buClr>
                <a:srgbClr val="00AB80"/>
              </a:buClr>
              <a:buFont typeface="Arial" panose="020B0604020202020204" pitchFamily="34" charset="0"/>
              <a:buChar char="•"/>
            </a:pPr>
            <a:r>
              <a:rPr lang="en-US" sz="900" dirty="0" err="1">
                <a:latin typeface="Roboto Light" panose="02000000000000000000" pitchFamily="2" charset="0"/>
                <a:ea typeface="Roboto Light" panose="02000000000000000000" pitchFamily="2" charset="0"/>
              </a:rPr>
              <a:t>Linx</a:t>
            </a:r>
            <a:r>
              <a:rPr lang="en-US" sz="900" dirty="0">
                <a:latin typeface="Roboto Light" panose="02000000000000000000" pitchFamily="2" charset="0"/>
                <a:ea typeface="Roboto Light" panose="02000000000000000000" pitchFamily="2" charset="0"/>
              </a:rPr>
              <a:t>/Unix Scripting </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Jira</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Confluence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C#</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Java</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.NET</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a:buClr>
                <a:srgbClr val="00AB80"/>
              </a:buCl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319232"/>
            <a:ext cx="0" cy="1747818"/>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2494199"/>
            <a:ext cx="1648720" cy="215444"/>
          </a:xfrm>
          <a:prstGeom prst="rect">
            <a:avLst/>
          </a:prstGeom>
          <a:noFill/>
        </p:spPr>
        <p:txBody>
          <a:bodyPr wrap="none" lIns="0" tIns="0" rIns="0" bIns="0" rtlCol="0">
            <a:spAutoFit/>
          </a:bodyPr>
          <a:lstStyle/>
          <a:p>
            <a:pPr algn="ctr"/>
            <a:r>
              <a:rPr lang="en-US" sz="1400" b="1" spc="388" dirty="0">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7"/>
            <a:ext cx="0" cy="5352852"/>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a:solidFill>
                  <a:schemeClr val="bg1"/>
                </a:solidFill>
                <a:latin typeface="Roboto" panose="02000000000000000000" pitchFamily="2" charset="0"/>
                <a:ea typeface="Roboto" panose="02000000000000000000" pitchFamily="2" charset="0"/>
              </a:rPr>
              <a:t>Industry</a:t>
            </a:r>
          </a:p>
          <a:p>
            <a:r>
              <a:rPr lang="en-US" sz="1400" b="1" spc="388">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2709643"/>
            <a:ext cx="1951941" cy="3600986"/>
            <a:chOff x="8106458" y="2681447"/>
            <a:chExt cx="1951941" cy="3600986"/>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51941" cy="3600986"/>
            </a:xfrm>
            <a:prstGeom prst="rect">
              <a:avLst/>
            </a:prstGeom>
            <a:noFill/>
          </p:spPr>
          <p:txBody>
            <a:bodyPr wrap="square">
              <a:spAutoFit/>
            </a:bodyPr>
            <a:lstStyle/>
            <a:p>
              <a:pPr>
                <a:tabLst>
                  <a:tab pos="3819525" algn="l"/>
                  <a:tab pos="3895725" algn="l"/>
                </a:tabLst>
              </a:pPr>
              <a:endParaRPr lang="en-AU" sz="1200" dirty="0">
                <a:solidFill>
                  <a:srgbClr val="00AB80"/>
                </a:solidFill>
                <a:effectLst/>
                <a:latin typeface="Times New Roman" panose="02020603050405020304" pitchFamily="18"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Google Cloud | Certified </a:t>
              </a:r>
              <a:r>
                <a:rPr lang="en-AU" sz="1200" dirty="0">
                  <a:solidFill>
                    <a:srgbClr val="00AB80"/>
                  </a:solidFill>
                  <a:effectLst/>
                  <a:latin typeface="Roboto Light" panose="02000000000000000000" pitchFamily="2" charset="0"/>
                  <a:ea typeface="Calibri" panose="020F0502020204030204" pitchFamily="34" charset="0"/>
                </a:rPr>
                <a:t>Data Engineer</a:t>
              </a:r>
            </a:p>
            <a:p>
              <a:pPr>
                <a:tabLst>
                  <a:tab pos="3819525" algn="l"/>
                  <a:tab pos="3895725" algn="l"/>
                </a:tabLst>
              </a:pPr>
              <a:endParaRPr lang="en-AU"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AU" sz="1200" dirty="0">
                  <a:solidFill>
                    <a:srgbClr val="00AB80"/>
                  </a:solidFill>
                  <a:effectLst/>
                  <a:latin typeface="Roboto Light" panose="02000000000000000000" pitchFamily="2" charset="0"/>
                  <a:ea typeface="Calibri" panose="020F0502020204030204" pitchFamily="34" charset="0"/>
                </a:rPr>
                <a:t>Databricks</a:t>
              </a:r>
              <a:r>
                <a:rPr lang="en-GB" sz="1200" dirty="0">
                  <a:solidFill>
                    <a:srgbClr val="00AB80"/>
                  </a:solidFill>
                  <a:effectLst/>
                  <a:latin typeface="Roboto Light" panose="02000000000000000000" pitchFamily="2" charset="0"/>
                  <a:ea typeface="Calibri" panose="020F0502020204030204" pitchFamily="34" charset="0"/>
                </a:rPr>
                <a:t> | Certified </a:t>
              </a:r>
              <a:r>
                <a:rPr lang="en-AU" sz="1200" dirty="0">
                  <a:solidFill>
                    <a:srgbClr val="00AB80"/>
                  </a:solidFill>
                  <a:effectLst/>
                  <a:latin typeface="Roboto Light" panose="02000000000000000000" pitchFamily="2" charset="0"/>
                  <a:ea typeface="Calibri" panose="020F0502020204030204" pitchFamily="34" charset="0"/>
                </a:rPr>
                <a:t>Data Engineer Professional</a:t>
              </a: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Coursera</a:t>
              </a:r>
              <a:r>
                <a:rPr lang="en-GB" sz="1200" dirty="0">
                  <a:solidFill>
                    <a:srgbClr val="00AB80"/>
                  </a:solidFill>
                  <a:effectLst/>
                  <a:latin typeface="Roboto Light" panose="02000000000000000000" pitchFamily="2" charset="0"/>
                  <a:ea typeface="Calibri" panose="020F0502020204030204" pitchFamily="34" charset="0"/>
                </a:rPr>
                <a:t> | </a:t>
              </a:r>
              <a:r>
                <a:rPr lang="en-AU" sz="1200" dirty="0">
                  <a:solidFill>
                    <a:srgbClr val="00AB80"/>
                  </a:solidFill>
                  <a:effectLst/>
                  <a:latin typeface="Roboto Light" panose="02000000000000000000" pitchFamily="2" charset="0"/>
                  <a:ea typeface="Calibri" panose="020F0502020204030204" pitchFamily="34" charset="0"/>
                </a:rPr>
                <a:t>Getting Started with Google Kubernetes Engine</a:t>
              </a: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Maste</a:t>
              </a:r>
              <a:r>
                <a:rPr lang="en-GB" sz="1200" dirty="0">
                  <a:solidFill>
                    <a:srgbClr val="00AB80"/>
                  </a:solidFill>
                  <a:effectLst/>
                  <a:latin typeface="Roboto Light" panose="02000000000000000000" pitchFamily="2" charset="0"/>
                  <a:ea typeface="Calibri" panose="020F0502020204030204" pitchFamily="34" charset="0"/>
                </a:rPr>
                <a:t>r</a:t>
              </a:r>
              <a:r>
                <a:rPr lang="en-GB" sz="1200" dirty="0">
                  <a:solidFill>
                    <a:srgbClr val="00AB80"/>
                  </a:solidFill>
                  <a:latin typeface="Roboto Light" panose="02000000000000000000" pitchFamily="2" charset="0"/>
                  <a:ea typeface="Calibri" panose="020F0502020204030204" pitchFamily="34" charset="0"/>
                </a:rPr>
                <a:t> – Software Engineering | </a:t>
              </a:r>
              <a:r>
                <a:rPr lang="en-AU" sz="1200" dirty="0">
                  <a:solidFill>
                    <a:srgbClr val="00AB80"/>
                  </a:solidFill>
                  <a:effectLst/>
                  <a:latin typeface="Roboto Light" panose="02000000000000000000" pitchFamily="2" charset="0"/>
                  <a:ea typeface="Calibri" panose="020F0502020204030204" pitchFamily="34" charset="0"/>
                </a:rPr>
                <a:t>Birla Institute of Technology &amp; Science, India </a:t>
              </a: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Bachelor</a:t>
              </a:r>
              <a:r>
                <a:rPr lang="en-GB" sz="1200" dirty="0">
                  <a:solidFill>
                    <a:srgbClr val="00AB80"/>
                  </a:solidFill>
                  <a:latin typeface="Roboto Light" panose="02000000000000000000" pitchFamily="2" charset="0"/>
                  <a:ea typeface="Calibri" panose="020F0502020204030204" pitchFamily="34" charset="0"/>
                </a:rPr>
                <a:t> – Computer Science &amp; Electronics | </a:t>
              </a:r>
              <a:r>
                <a:rPr lang="en-US" sz="1200" dirty="0">
                  <a:solidFill>
                    <a:srgbClr val="00AB80"/>
                  </a:solidFill>
                  <a:latin typeface="Roboto Light" panose="02000000000000000000" pitchFamily="2" charset="0"/>
                  <a:ea typeface="Calibri" panose="020F0502020204030204" pitchFamily="34" charset="0"/>
                </a:rPr>
                <a:t> </a:t>
              </a:r>
              <a:r>
                <a:rPr lang="en-US" sz="1200" dirty="0" err="1">
                  <a:solidFill>
                    <a:srgbClr val="00AB80"/>
                  </a:solidFill>
                  <a:latin typeface="Roboto Light" panose="02000000000000000000" pitchFamily="2" charset="0"/>
                  <a:ea typeface="Calibri" panose="020F0502020204030204" pitchFamily="34" charset="0"/>
                </a:rPr>
                <a:t>Banasthali</a:t>
              </a:r>
              <a:r>
                <a:rPr lang="en-US" sz="1200" dirty="0">
                  <a:solidFill>
                    <a:srgbClr val="00AB80"/>
                  </a:solidFill>
                  <a:latin typeface="Roboto Light" panose="02000000000000000000" pitchFamily="2" charset="0"/>
                  <a:ea typeface="Calibri" panose="020F0502020204030204" pitchFamily="34" charset="0"/>
                </a:rPr>
                <a:t> Vidyapith, India </a:t>
              </a:r>
              <a:endParaRPr lang="en-GB" sz="1200" dirty="0">
                <a:solidFill>
                  <a:srgbClr val="00AB80"/>
                </a:solidFill>
                <a:latin typeface="Roboto Light" panose="02000000000000000000" pitchFamily="2" charset="0"/>
                <a:ea typeface="Calibri" panose="020F0502020204030204" pitchFamily="34" charset="0"/>
              </a:endParaRPr>
            </a:p>
          </p:txBody>
        </p:sp>
      </p:grpSp>
      <p:sp>
        <p:nvSpPr>
          <p:cNvPr id="4" name="TextBox 3">
            <a:extLst>
              <a:ext uri="{FF2B5EF4-FFF2-40B4-BE49-F238E27FC236}">
                <a16:creationId xmlns:a16="http://schemas.microsoft.com/office/drawing/2014/main" id="{80F49B2F-21D4-F9EB-049F-717A10CB7D84}"/>
              </a:ext>
            </a:extLst>
          </p:cNvPr>
          <p:cNvSpPr txBox="1"/>
          <p:nvPr/>
        </p:nvSpPr>
        <p:spPr>
          <a:xfrm>
            <a:off x="127339" y="5698493"/>
            <a:ext cx="1557991" cy="2169825"/>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Google Cloud Platform</a:t>
            </a: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Engineering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Migration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Analytics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Warehousing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Wrangling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integration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Software Development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Shell Scripting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Requirements Analysis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Software Development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Master Data Management</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21267" y="1026883"/>
            <a:ext cx="4631164" cy="276999"/>
          </a:xfrm>
          <a:prstGeom prst="rect">
            <a:avLst/>
          </a:prstGeom>
          <a:noFill/>
        </p:spPr>
        <p:txBody>
          <a:bodyPr wrap="square" rtlCol="0">
            <a:spAutoFit/>
          </a:bodyPr>
          <a:lstStyle/>
          <a:p>
            <a:r>
              <a:rPr lang="en-US" sz="1200" b="1" dirty="0">
                <a:solidFill>
                  <a:srgbClr val="0059FF"/>
                </a:solidFill>
                <a:latin typeface="Roboto" panose="02000000000000000000" pitchFamily="2" charset="0"/>
                <a:ea typeface="Roboto" panose="02000000000000000000" pitchFamily="2" charset="0"/>
              </a:rPr>
              <a:t>Financial Services Company </a:t>
            </a:r>
            <a:r>
              <a:rPr lang="en-AU" sz="1200" b="1" dirty="0">
                <a:solidFill>
                  <a:srgbClr val="0059FF"/>
                </a:solidFill>
                <a:latin typeface="Roboto" panose="02000000000000000000" pitchFamily="2" charset="0"/>
                <a:ea typeface="Roboto" panose="02000000000000000000" pitchFamily="2" charset="0"/>
              </a:rPr>
              <a:t>– GCP Data Engineer</a:t>
            </a:r>
            <a:r>
              <a:rPr lang="en-US" sz="1200" b="1" dirty="0">
                <a:solidFill>
                  <a:srgbClr val="0059FF"/>
                </a:solidFill>
                <a:latin typeface="Roboto" panose="02000000000000000000" pitchFamily="2" charset="0"/>
                <a:ea typeface="Roboto" panose="02000000000000000000" pitchFamily="2" charset="0"/>
              </a:rPr>
              <a:t> </a:t>
            </a:r>
            <a:endParaRPr lang="en-AU" sz="1200" b="1" dirty="0">
              <a:solidFill>
                <a:srgbClr val="0059FF"/>
              </a:solidFill>
              <a:latin typeface="Roboto" panose="02000000000000000000" pitchFamily="2" charset="0"/>
              <a:ea typeface="Roboto" panose="02000000000000000000" pitchFamily="2" charset="0"/>
            </a:endParaRPr>
          </a:p>
        </p:txBody>
      </p:sp>
      <p:sp>
        <p:nvSpPr>
          <p:cNvPr id="12" name="TextBox 11">
            <a:extLst>
              <a:ext uri="{FF2B5EF4-FFF2-40B4-BE49-F238E27FC236}">
                <a16:creationId xmlns:a16="http://schemas.microsoft.com/office/drawing/2014/main" id="{70DE989F-A988-8C86-5720-1FE5B119EB30}"/>
              </a:ext>
            </a:extLst>
          </p:cNvPr>
          <p:cNvSpPr txBox="1"/>
          <p:nvPr/>
        </p:nvSpPr>
        <p:spPr>
          <a:xfrm>
            <a:off x="3463961" y="1232965"/>
            <a:ext cx="4533549" cy="2123658"/>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buNone/>
            </a:pPr>
            <a:endParaRPr lang="en-US" sz="200" dirty="0">
              <a:solidFill>
                <a:schemeClr val="bg1"/>
              </a:solidFill>
            </a:endParaRPr>
          </a:p>
          <a:p>
            <a:r>
              <a:rPr lang="en-AU" sz="1000" dirty="0">
                <a:solidFill>
                  <a:schemeClr val="bg1"/>
                </a:solidFill>
              </a:rPr>
              <a:t>Performed the ELT (Extract Load Transform) process using GCP products such as GCS Bucket &amp; Big Query to clean and transform the data and made it ready to be ingested in the pay models.</a:t>
            </a:r>
          </a:p>
          <a:p>
            <a:r>
              <a:rPr lang="en-AU" sz="1000" dirty="0">
                <a:solidFill>
                  <a:schemeClr val="bg1"/>
                </a:solidFill>
              </a:rPr>
              <a:t>Created underlying objects that drive the various Tableau reports which is shared with the customer in order to give useful insights about their data</a:t>
            </a:r>
          </a:p>
          <a:p>
            <a:r>
              <a:rPr lang="en-AU" sz="1000" dirty="0">
                <a:solidFill>
                  <a:schemeClr val="bg1"/>
                </a:solidFill>
              </a:rPr>
              <a:t>Engaged with the client to understand their Payroll &amp; HR systems as part of the customer onboarding process</a:t>
            </a:r>
          </a:p>
          <a:p>
            <a:r>
              <a:rPr lang="en-AU" sz="1000" dirty="0">
                <a:solidFill>
                  <a:schemeClr val="bg1"/>
                </a:solidFill>
              </a:rPr>
              <a:t>Conducted Business Requirement Transfer workshops to gather detailed requirements, understand the system </a:t>
            </a:r>
            <a:r>
              <a:rPr lang="en-AU" sz="1000" dirty="0" err="1">
                <a:solidFill>
                  <a:schemeClr val="bg1"/>
                </a:solidFill>
              </a:rPr>
              <a:t>behavior</a:t>
            </a:r>
            <a:r>
              <a:rPr lang="en-AU" sz="1000" dirty="0">
                <a:solidFill>
                  <a:schemeClr val="bg1"/>
                </a:solidFill>
              </a:rPr>
              <a:t> and perform the data mapping with the internal product schema</a:t>
            </a:r>
          </a:p>
          <a:p>
            <a:r>
              <a:rPr lang="en-AU" sz="1000" dirty="0">
                <a:solidFill>
                  <a:schemeClr val="bg1"/>
                </a:solidFill>
              </a:rPr>
              <a:t>Prepared Data Request Forms which acts as a data transfer agreement to ensure that everything that's required for payment analysis was received</a:t>
            </a:r>
          </a:p>
          <a:p>
            <a:endParaRPr lang="en-AU" sz="1000" dirty="0">
              <a:solidFill>
                <a:schemeClr val="bg1"/>
              </a:solidFill>
            </a:endParaRPr>
          </a:p>
        </p:txBody>
      </p:sp>
      <p:grpSp>
        <p:nvGrpSpPr>
          <p:cNvPr id="45" name="Group 44">
            <a:extLst>
              <a:ext uri="{FF2B5EF4-FFF2-40B4-BE49-F238E27FC236}">
                <a16:creationId xmlns:a16="http://schemas.microsoft.com/office/drawing/2014/main" id="{7C004A0F-26FD-81BE-0DC7-EDCD01D4194B}"/>
              </a:ext>
            </a:extLst>
          </p:cNvPr>
          <p:cNvGrpSpPr/>
          <p:nvPr/>
        </p:nvGrpSpPr>
        <p:grpSpPr>
          <a:xfrm>
            <a:off x="3335753" y="3186378"/>
            <a:ext cx="5029198" cy="2774794"/>
            <a:chOff x="3335753" y="2997642"/>
            <a:chExt cx="5029198" cy="2947354"/>
          </a:xfrm>
        </p:grpSpPr>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3428144" y="3336592"/>
              <a:ext cx="0" cy="2195804"/>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2FA774CA-3857-9308-4D38-9414B0CC2B95}"/>
                </a:ext>
              </a:extLst>
            </p:cNvPr>
            <p:cNvSpPr txBox="1"/>
            <p:nvPr/>
          </p:nvSpPr>
          <p:spPr>
            <a:xfrm>
              <a:off x="3335753" y="2997642"/>
              <a:ext cx="5029198" cy="490375"/>
            </a:xfrm>
            <a:prstGeom prst="rect">
              <a:avLst/>
            </a:prstGeom>
            <a:noFill/>
          </p:spPr>
          <p:txBody>
            <a:bodyPr wrap="square" rtlCol="0">
              <a:spAutoFit/>
            </a:bodyPr>
            <a:lstStyle/>
            <a:p>
              <a:r>
                <a:rPr lang="en-AU" sz="1200" b="1" dirty="0">
                  <a:solidFill>
                    <a:srgbClr val="ED7D31"/>
                  </a:solidFill>
                  <a:latin typeface="Roboto" panose="02000000000000000000" pitchFamily="2" charset="0"/>
                  <a:ea typeface="Roboto" panose="02000000000000000000" pitchFamily="2" charset="0"/>
                </a:rPr>
                <a:t>Data Management Organisation – Senior Data Engineer</a:t>
              </a:r>
            </a:p>
            <a:p>
              <a:endParaRPr lang="en-AU" sz="1200" b="1" dirty="0">
                <a:solidFill>
                  <a:srgbClr val="ED7D31"/>
                </a:solidFill>
                <a:latin typeface="Roboto" panose="02000000000000000000" pitchFamily="2" charset="0"/>
                <a:ea typeface="Roboto" panose="02000000000000000000" pitchFamily="2" charset="0"/>
              </a:endParaRPr>
            </a:p>
          </p:txBody>
        </p:sp>
        <p:sp>
          <p:nvSpPr>
            <p:cNvPr id="31" name="TextBox 30">
              <a:extLst>
                <a:ext uri="{FF2B5EF4-FFF2-40B4-BE49-F238E27FC236}">
                  <a16:creationId xmlns:a16="http://schemas.microsoft.com/office/drawing/2014/main" id="{5D644C1D-FE62-9752-27C7-42A94F729A86}"/>
                </a:ext>
              </a:extLst>
            </p:cNvPr>
            <p:cNvSpPr txBox="1"/>
            <p:nvPr/>
          </p:nvSpPr>
          <p:spPr>
            <a:xfrm>
              <a:off x="3455046" y="3198896"/>
              <a:ext cx="4423172" cy="2746100"/>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endParaRPr lang="en-US" sz="200" dirty="0"/>
            </a:p>
            <a:p>
              <a:r>
                <a:rPr lang="en-AU" sz="1000" dirty="0"/>
                <a:t>Conducted workshops for prospect and existing clients in ANZ region to provide an insight into Data Virtualisation and how the Data Virtualisation Platform fits into an organisation landscape and the benefit it provides to the business in terms of performance and cost.</a:t>
              </a:r>
            </a:p>
            <a:p>
              <a:r>
                <a:rPr lang="en-AU" sz="1000" dirty="0"/>
                <a:t>Conducted Advisory sessions for existing customers to provide technical guidance to minimise surprises and risks </a:t>
              </a:r>
            </a:p>
            <a:p>
              <a:r>
                <a:rPr lang="en-AU" sz="1000" dirty="0"/>
                <a:t>Successfully implemented Platform as a Unified Data Access Layer hat has data distributed across multiple data sources. Including traditional structured data sources such as databases, data warehouses etc and less structured data sources such as Web Services, SAAS applications, Hadoop etc.  </a:t>
              </a:r>
            </a:p>
            <a:p>
              <a:r>
                <a:rPr lang="en-AU" sz="1000" dirty="0"/>
                <a:t>Collaborated with clients for </a:t>
              </a:r>
              <a:r>
                <a:rPr lang="en-AU" sz="1000" dirty="0" err="1"/>
                <a:t>strategising</a:t>
              </a:r>
              <a:r>
                <a:rPr lang="en-AU" sz="1000" dirty="0"/>
                <a:t> the migration of on-premises applications to cloud using the Platform which accelerates the migration process without disrupting users and applications during the migration </a:t>
              </a:r>
            </a:p>
            <a:p>
              <a:endParaRPr lang="en-AU" sz="1000" dirty="0"/>
            </a:p>
            <a:p>
              <a:endParaRPr lang="en-AU" sz="1000" dirty="0"/>
            </a:p>
          </p:txBody>
        </p:sp>
      </p:grpSp>
      <p:sp>
        <p:nvSpPr>
          <p:cNvPr id="48" name="TextBox 47">
            <a:extLst>
              <a:ext uri="{FF2B5EF4-FFF2-40B4-BE49-F238E27FC236}">
                <a16:creationId xmlns:a16="http://schemas.microsoft.com/office/drawing/2014/main" id="{2E936835-C132-4204-2E91-FE9D8E6EC671}"/>
              </a:ext>
            </a:extLst>
          </p:cNvPr>
          <p:cNvSpPr txBox="1"/>
          <p:nvPr/>
        </p:nvSpPr>
        <p:spPr>
          <a:xfrm>
            <a:off x="8118489" y="1456630"/>
            <a:ext cx="1951941" cy="892552"/>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dirty="0">
                <a:solidFill>
                  <a:srgbClr val="00AB80"/>
                </a:solidFill>
              </a:rPr>
              <a:t>Financial Services</a:t>
            </a:r>
          </a:p>
          <a:p>
            <a:pPr marL="0" indent="0">
              <a:lnSpc>
                <a:spcPct val="150000"/>
              </a:lnSpc>
              <a:buNone/>
            </a:pPr>
            <a:r>
              <a:rPr lang="en-GB" sz="1200" dirty="0">
                <a:solidFill>
                  <a:srgbClr val="00AB80"/>
                </a:solidFill>
              </a:rPr>
              <a:t>Telecommunications</a:t>
            </a:r>
          </a:p>
          <a:p>
            <a:pPr marL="0" indent="0">
              <a:lnSpc>
                <a:spcPct val="150000"/>
              </a:lnSpc>
              <a:buNone/>
            </a:pPr>
            <a:r>
              <a:rPr lang="en-GB" sz="1200" dirty="0">
                <a:solidFill>
                  <a:srgbClr val="00AB80"/>
                </a:solidFill>
              </a:rPr>
              <a:t>Insurance</a:t>
            </a:r>
          </a:p>
        </p:txBody>
      </p:sp>
      <p:grpSp>
        <p:nvGrpSpPr>
          <p:cNvPr id="10" name="Group 9">
            <a:extLst>
              <a:ext uri="{FF2B5EF4-FFF2-40B4-BE49-F238E27FC236}">
                <a16:creationId xmlns:a16="http://schemas.microsoft.com/office/drawing/2014/main" id="{A6927CF3-C0AD-7B0E-CC21-BDD13E4FAF2F}"/>
              </a:ext>
            </a:extLst>
          </p:cNvPr>
          <p:cNvGrpSpPr/>
          <p:nvPr/>
        </p:nvGrpSpPr>
        <p:grpSpPr>
          <a:xfrm>
            <a:off x="3321267" y="5650636"/>
            <a:ext cx="4782734" cy="2013996"/>
            <a:chOff x="3335752" y="5766857"/>
            <a:chExt cx="4782734" cy="2013996"/>
          </a:xfrm>
        </p:grpSpPr>
        <p:sp>
          <p:nvSpPr>
            <p:cNvPr id="55" name="TextBox 54">
              <a:extLst>
                <a:ext uri="{FF2B5EF4-FFF2-40B4-BE49-F238E27FC236}">
                  <a16:creationId xmlns:a16="http://schemas.microsoft.com/office/drawing/2014/main" id="{20D856C0-6C6C-30D2-8947-79D3F4B5FE07}"/>
                </a:ext>
              </a:extLst>
            </p:cNvPr>
            <p:cNvSpPr txBox="1"/>
            <p:nvPr/>
          </p:nvSpPr>
          <p:spPr>
            <a:xfrm>
              <a:off x="3335752" y="5766857"/>
              <a:ext cx="4782734" cy="461665"/>
            </a:xfrm>
            <a:prstGeom prst="rect">
              <a:avLst/>
            </a:prstGeom>
            <a:noFill/>
          </p:spPr>
          <p:txBody>
            <a:bodyPr wrap="square" rtlCol="0">
              <a:spAutoFit/>
            </a:bodyPr>
            <a:lstStyle/>
            <a:p>
              <a:r>
                <a:rPr lang="en-AU" sz="1200" b="1" dirty="0">
                  <a:solidFill>
                    <a:srgbClr val="A93584"/>
                  </a:solidFill>
                  <a:latin typeface="Roboto" panose="02000000000000000000" pitchFamily="2" charset="0"/>
                  <a:ea typeface="Roboto" panose="02000000000000000000" pitchFamily="2" charset="0"/>
                </a:rPr>
                <a:t>Telecommunications Organisation – Software Engineer</a:t>
              </a:r>
            </a:p>
            <a:p>
              <a:endParaRPr lang="en-AU" sz="1200" b="1" dirty="0">
                <a:solidFill>
                  <a:srgbClr val="A93584"/>
                </a:solidFill>
                <a:latin typeface="Roboto" panose="02000000000000000000" pitchFamily="2" charset="0"/>
                <a:ea typeface="Roboto" panose="02000000000000000000" pitchFamily="2" charset="0"/>
              </a:endParaRPr>
            </a:p>
          </p:txBody>
        </p:sp>
        <p:sp>
          <p:nvSpPr>
            <p:cNvPr id="54" name="TextBox 53">
              <a:extLst>
                <a:ext uri="{FF2B5EF4-FFF2-40B4-BE49-F238E27FC236}">
                  <a16:creationId xmlns:a16="http://schemas.microsoft.com/office/drawing/2014/main" id="{4F1DF6EC-2D10-1310-483C-35027A70DDA1}"/>
                </a:ext>
              </a:extLst>
            </p:cNvPr>
            <p:cNvSpPr txBox="1"/>
            <p:nvPr/>
          </p:nvSpPr>
          <p:spPr>
            <a:xfrm>
              <a:off x="3469640" y="5995749"/>
              <a:ext cx="4435479" cy="1785104"/>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1000">
                  <a:solidFill>
                    <a:schemeClr val="bg1"/>
                  </a:solidFill>
                  <a:latin typeface="Roboto Light" panose="02000000000000000000" pitchFamily="2" charset="0"/>
                  <a:ea typeface="Roboto Light" panose="02000000000000000000" pitchFamily="2" charset="0"/>
                </a:defRPr>
              </a:lvl1pPr>
            </a:lstStyle>
            <a:p>
              <a:r>
                <a:rPr lang="en-AU" dirty="0"/>
                <a:t>Built a Python script to upload the event data records (EDRs) generated by PCRF system to Cloud Storage. The files were then imported into Optus’ data warehouse (</a:t>
              </a:r>
              <a:r>
                <a:rPr lang="en-AU" dirty="0" err="1"/>
                <a:t>BigQuery</a:t>
              </a:r>
              <a:r>
                <a:rPr lang="en-AU" dirty="0"/>
                <a:t>).</a:t>
              </a:r>
            </a:p>
            <a:p>
              <a:r>
                <a:rPr lang="en-AU" dirty="0"/>
                <a:t>Provided assistance in building the visualisation on Tableau with </a:t>
              </a:r>
              <a:r>
                <a:rPr lang="en-AU" dirty="0" err="1"/>
                <a:t>BigQuery</a:t>
              </a:r>
              <a:r>
                <a:rPr lang="en-AU" dirty="0"/>
                <a:t> as a data source to generate product insights.</a:t>
              </a:r>
            </a:p>
            <a:p>
              <a:r>
                <a:rPr lang="en-AU" dirty="0"/>
                <a:t>Lead the System Integration Testing for VoLTE migration from Cisco PCRF to </a:t>
              </a:r>
              <a:r>
                <a:rPr lang="en-AU" dirty="0" err="1"/>
                <a:t>Openet</a:t>
              </a:r>
              <a:r>
                <a:rPr lang="en-AU" dirty="0"/>
                <a:t> PCRF</a:t>
              </a:r>
            </a:p>
            <a:p>
              <a:r>
                <a:rPr lang="en-AU" dirty="0"/>
                <a:t>Designed PL/SQL packages/functions to perform complex manipulations in data feeds.</a:t>
              </a:r>
            </a:p>
            <a:p>
              <a:r>
                <a:rPr lang="en-AU" dirty="0"/>
                <a:t>Successfully deployed the </a:t>
              </a:r>
              <a:r>
                <a:rPr lang="en-AU" dirty="0" err="1"/>
                <a:t>Openet</a:t>
              </a:r>
              <a:r>
                <a:rPr lang="en-AU" dirty="0"/>
                <a:t> PCRF solution for Fixed Line, Mobile Data and VoLTE in Optus network.</a:t>
              </a:r>
            </a:p>
          </p:txBody>
        </p:sp>
        <p:cxnSp>
          <p:nvCxnSpPr>
            <p:cNvPr id="56" name="Straight Connector 55">
              <a:extLst>
                <a:ext uri="{FF2B5EF4-FFF2-40B4-BE49-F238E27FC236}">
                  <a16:creationId xmlns:a16="http://schemas.microsoft.com/office/drawing/2014/main" id="{C0271841-9AD2-76A9-36A3-77AD3CD1ED17}"/>
                </a:ext>
              </a:extLst>
            </p:cNvPr>
            <p:cNvCxnSpPr>
              <a:cxnSpLocks/>
            </p:cNvCxnSpPr>
            <p:nvPr/>
          </p:nvCxnSpPr>
          <p:spPr>
            <a:xfrm>
              <a:off x="3430684" y="6077707"/>
              <a:ext cx="0" cy="1690083"/>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sp>
        <p:nvSpPr>
          <p:cNvPr id="60" name="TextBox 59">
            <a:extLst>
              <a:ext uri="{FF2B5EF4-FFF2-40B4-BE49-F238E27FC236}">
                <a16:creationId xmlns:a16="http://schemas.microsoft.com/office/drawing/2014/main" id="{FD202519-197D-24FE-C4B7-F4419021EC1E}"/>
              </a:ext>
            </a:extLst>
          </p:cNvPr>
          <p:cNvSpPr txBox="1"/>
          <p:nvPr/>
        </p:nvSpPr>
        <p:spPr>
          <a:xfrm>
            <a:off x="252769" y="2702997"/>
            <a:ext cx="2873026" cy="2462213"/>
          </a:xfrm>
          <a:prstGeom prst="rect">
            <a:avLst/>
          </a:prstGeom>
          <a:noFill/>
        </p:spPr>
        <p:txBody>
          <a:bodyPr wrap="square" lIns="0" tIns="0" rIns="0" bIns="0" rtlCol="0" anchor="t">
            <a:spAutoFit/>
          </a:bodyPr>
          <a:lstStyle>
            <a:defPPr>
              <a:defRPr lang="en-US"/>
            </a:defPPr>
            <a:lvl1pPr>
              <a:defRPr sz="1000" spc="13">
                <a:latin typeface="Roboto Light"/>
                <a:ea typeface="Roboto Light"/>
                <a:cs typeface="Lato"/>
              </a:defRPr>
            </a:lvl1pPr>
          </a:lstStyle>
          <a:p>
            <a:r>
              <a:rPr lang="en-AU" dirty="0"/>
              <a:t>Ankita has worked with various technologies including SQL, Relational Database such as ORACLE and </a:t>
            </a:r>
            <a:r>
              <a:rPr lang="en-AU" dirty="0" err="1"/>
              <a:t>VoltDB</a:t>
            </a:r>
            <a:r>
              <a:rPr lang="en-AU" dirty="0"/>
              <a:t>, NoSQL Database such as Big Table and MongoDB, Python and Java. In her previous roles Ankita has been involved in all phases of the software development life cycle and has developed her tremendous ability to design, construct, install, test and maintain highly scalable systems.</a:t>
            </a:r>
          </a:p>
          <a:p>
            <a:endParaRPr lang="en-AU" dirty="0"/>
          </a:p>
          <a:p>
            <a:r>
              <a:rPr lang="en-AU" dirty="0"/>
              <a:t>Using her great written and verbal communication skills Ankita is able to function effectively as part of a team as well as independently to help organisations reach their end goals. </a:t>
            </a:r>
          </a:p>
          <a:p>
            <a:endParaRPr lang="en-AU" dirty="0"/>
          </a:p>
          <a:p>
            <a:endParaRPr lang="en-US" dirty="0"/>
          </a:p>
        </p:txBody>
      </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e52cd9e7-35e5-4bd3-9cab-ca6a63c31e52">
      <UserInfo>
        <DisplayName>Joel Collins</DisplayName>
        <AccountId>13</AccountId>
        <AccountType/>
      </UserInfo>
      <UserInfo>
        <DisplayName>Darcy Roach</DisplayName>
        <AccountId>14</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79DDFC6-124A-4859-BB62-4C7039BA48C0}">
  <ds:schemaRefs>
    <ds:schemaRef ds:uri="http://purl.org/dc/dcmitype/"/>
    <ds:schemaRef ds:uri="http://purl.org/dc/terms/"/>
    <ds:schemaRef ds:uri="http://schemas.microsoft.com/office/infopath/2007/PartnerControls"/>
    <ds:schemaRef ds:uri="http://www.w3.org/XML/1998/namespace"/>
    <ds:schemaRef ds:uri="http://purl.org/dc/elements/1.1/"/>
    <ds:schemaRef ds:uri="http://schemas.openxmlformats.org/package/2006/metadata/core-properties"/>
    <ds:schemaRef ds:uri="http://schemas.microsoft.com/office/2006/metadata/properties"/>
    <ds:schemaRef ds:uri="http://schemas.microsoft.com/office/2006/documentManagement/types"/>
    <ds:schemaRef ds:uri="e52cd9e7-35e5-4bd3-9cab-ca6a63c31e52"/>
    <ds:schemaRef ds:uri="daf93972-1964-4522-aa34-640805a01c3a"/>
  </ds:schemaRefs>
</ds:datastoreItem>
</file>

<file path=customXml/itemProps2.xml><?xml version="1.0" encoding="utf-8"?>
<ds:datastoreItem xmlns:ds="http://schemas.openxmlformats.org/officeDocument/2006/customXml" ds:itemID="{3EAAB431-6FA9-4678-BFEA-63CD1CAD6FC2}">
  <ds:schemaRefs>
    <ds:schemaRef ds:uri="http://schemas.microsoft.com/sharepoint/v3/contenttype/forms"/>
  </ds:schemaRefs>
</ds:datastoreItem>
</file>

<file path=customXml/itemProps3.xml><?xml version="1.0" encoding="utf-8"?>
<ds:datastoreItem xmlns:ds="http://schemas.openxmlformats.org/officeDocument/2006/customXml" ds:itemID="{B391A732-31AB-4F94-9B35-24FE9C91D90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f93972-1964-4522-aa34-640805a01c3a"/>
    <ds:schemaRef ds:uri="e52cd9e7-35e5-4bd3-9cab-ca6a63c31e5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3788</TotalTime>
  <Words>633</Words>
  <Application>Microsoft Office PowerPoint</Application>
  <PresentationFormat>Custom</PresentationFormat>
  <Paragraphs>72</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Calibri</vt:lpstr>
      <vt:lpstr>Calibri Light</vt:lpstr>
      <vt:lpstr>Libre Caslon Text</vt:lpstr>
      <vt:lpstr>Roboto</vt:lpstr>
      <vt:lpstr>Roboto Light</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9</cp:revision>
  <dcterms:created xsi:type="dcterms:W3CDTF">2019-12-03T01:50:37Z</dcterms:created>
  <dcterms:modified xsi:type="dcterms:W3CDTF">2024-09-09T05:09:16Z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