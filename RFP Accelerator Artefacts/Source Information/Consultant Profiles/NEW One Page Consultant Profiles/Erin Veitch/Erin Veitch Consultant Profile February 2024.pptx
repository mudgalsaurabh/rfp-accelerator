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E19FC-D4F8-53EC-20BE-0FDC40C0DDEC}" v="20" dt="2024-09-30T04:52:40.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70" d="100"/>
          <a:sy n="70" d="100"/>
        </p:scale>
        <p:origin x="1324" y="3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DA726DB-411F-42B3-AC3D-825379514C8E}"/>
    <pc:docChg chg="modSld">
      <pc:chgData name="Darcy Roach" userId="ba676ee9-e9b4-49e8-a515-8077106c948d" providerId="ADAL" clId="{2DA726DB-411F-42B3-AC3D-825379514C8E}" dt="2023-12-14T01:42:07.613" v="0" actId="20577"/>
      <pc:docMkLst>
        <pc:docMk/>
      </pc:docMkLst>
      <pc:sldChg chg="modSp mod">
        <pc:chgData name="Darcy Roach" userId="ba676ee9-e9b4-49e8-a515-8077106c948d" providerId="ADAL" clId="{2DA726DB-411F-42B3-AC3D-825379514C8E}" dt="2023-12-14T01:42:07.613" v="0" actId="20577"/>
        <pc:sldMkLst>
          <pc:docMk/>
          <pc:sldMk cId="2009923557" sldId="270"/>
        </pc:sldMkLst>
        <pc:spChg chg="mod">
          <ac:chgData name="Darcy Roach" userId="ba676ee9-e9b4-49e8-a515-8077106c948d" providerId="ADAL" clId="{2DA726DB-411F-42B3-AC3D-825379514C8E}" dt="2023-12-14T01:42:07.613" v="0" actId="20577"/>
          <ac:spMkLst>
            <pc:docMk/>
            <pc:sldMk cId="2009923557" sldId="270"/>
            <ac:spMk id="17" creationId="{1BDE5051-9F34-F139-742D-4450E5D6591E}"/>
          </ac:spMkLst>
        </pc:spChg>
      </pc:sldChg>
    </pc:docChg>
  </pc:docChgLst>
  <pc:docChgLst>
    <pc:chgData name="Hugo Bates" userId="S::hugo.bates@intelia.com.au::ba74953f-2fdb-4aeb-90e3-56b78010c38c" providerId="AD" clId="Web-{44AE19FC-D4F8-53EC-20BE-0FDC40C0DDEC}"/>
    <pc:docChg chg="modSld">
      <pc:chgData name="Hugo Bates" userId="S::hugo.bates@intelia.com.au::ba74953f-2fdb-4aeb-90e3-56b78010c38c" providerId="AD" clId="Web-{44AE19FC-D4F8-53EC-20BE-0FDC40C0DDEC}" dt="2024-09-30T04:52:39.413" v="9" actId="20577"/>
      <pc:docMkLst>
        <pc:docMk/>
      </pc:docMkLst>
      <pc:sldChg chg="modSp">
        <pc:chgData name="Hugo Bates" userId="S::hugo.bates@intelia.com.au::ba74953f-2fdb-4aeb-90e3-56b78010c38c" providerId="AD" clId="Web-{44AE19FC-D4F8-53EC-20BE-0FDC40C0DDEC}" dt="2024-09-30T04:52:39.413" v="9" actId="20577"/>
        <pc:sldMkLst>
          <pc:docMk/>
          <pc:sldMk cId="2009923557" sldId="270"/>
        </pc:sldMkLst>
        <pc:spChg chg="mod">
          <ac:chgData name="Hugo Bates" userId="S::hugo.bates@intelia.com.au::ba74953f-2fdb-4aeb-90e3-56b78010c38c" providerId="AD" clId="Web-{44AE19FC-D4F8-53EC-20BE-0FDC40C0DDEC}" dt="2024-09-30T04:52:22.240" v="4" actId="20577"/>
          <ac:spMkLst>
            <pc:docMk/>
            <pc:sldMk cId="2009923557" sldId="270"/>
            <ac:spMk id="17" creationId="{1BDE5051-9F34-F139-742D-4450E5D6591E}"/>
          </ac:spMkLst>
        </pc:spChg>
        <pc:spChg chg="mod">
          <ac:chgData name="Hugo Bates" userId="S::hugo.bates@intelia.com.au::ba74953f-2fdb-4aeb-90e3-56b78010c38c" providerId="AD" clId="Web-{44AE19FC-D4F8-53EC-20BE-0FDC40C0DDEC}" dt="2024-09-30T04:52:34.506" v="6" actId="1076"/>
          <ac:spMkLst>
            <pc:docMk/>
            <pc:sldMk cId="2009923557" sldId="270"/>
            <ac:spMk id="39" creationId="{3EA81938-6A76-B850-B0E8-A5F905AEBA98}"/>
          </ac:spMkLst>
        </pc:spChg>
        <pc:spChg chg="mod">
          <ac:chgData name="Hugo Bates" userId="S::hugo.bates@intelia.com.au::ba74953f-2fdb-4aeb-90e3-56b78010c38c" providerId="AD" clId="Web-{44AE19FC-D4F8-53EC-20BE-0FDC40C0DDEC}" dt="2024-09-30T04:52:39.413" v="9" actId="20577"/>
          <ac:spMkLst>
            <pc:docMk/>
            <pc:sldMk cId="2009923557" sldId="270"/>
            <ac:spMk id="175" creationId="{B9775FC7-7124-8CCA-9B1C-7CCD7D3DF384}"/>
          </ac:spMkLst>
        </pc:spChg>
        <pc:grpChg chg="mod">
          <ac:chgData name="Hugo Bates" userId="S::hugo.bates@intelia.com.au::ba74953f-2fdb-4aeb-90e3-56b78010c38c" providerId="AD" clId="Web-{44AE19FC-D4F8-53EC-20BE-0FDC40C0DDEC}" dt="2024-09-30T04:52:30.490" v="5" actId="1076"/>
          <ac:grpSpMkLst>
            <pc:docMk/>
            <pc:sldMk cId="2009923557" sldId="270"/>
            <ac:grpSpMk id="5" creationId="{980A06B1-0A2F-7DF6-91DB-0F6DFA896A23}"/>
          </ac:grpSpMkLst>
        </pc:grpChg>
      </pc:sldChg>
    </pc:docChg>
  </pc:docChgLst>
  <pc:docChgLst>
    <pc:chgData name="Darcy Roach" userId="ba676ee9-e9b4-49e8-a515-8077106c948d" providerId="ADAL" clId="{357955A9-493B-4D56-832A-2FA3FF6018F1}"/>
    <pc:docChg chg="custSel modSld">
      <pc:chgData name="Darcy Roach" userId="ba676ee9-e9b4-49e8-a515-8077106c948d" providerId="ADAL" clId="{357955A9-493B-4D56-832A-2FA3FF6018F1}" dt="2023-07-25T05:36:26.981" v="62" actId="20577"/>
      <pc:docMkLst>
        <pc:docMk/>
      </pc:docMkLst>
      <pc:sldChg chg="delSp modSp mod">
        <pc:chgData name="Darcy Roach" userId="ba676ee9-e9b4-49e8-a515-8077106c948d" providerId="ADAL" clId="{357955A9-493B-4D56-832A-2FA3FF6018F1}" dt="2023-07-25T05:36:26.981" v="62" actId="20577"/>
        <pc:sldMkLst>
          <pc:docMk/>
          <pc:sldMk cId="2009923557" sldId="270"/>
        </pc:sldMkLst>
        <pc:spChg chg="del">
          <ac:chgData name="Darcy Roach" userId="ba676ee9-e9b4-49e8-a515-8077106c948d" providerId="ADAL" clId="{357955A9-493B-4D56-832A-2FA3FF6018F1}" dt="2023-07-25T05:32:06.879" v="58" actId="478"/>
          <ac:spMkLst>
            <pc:docMk/>
            <pc:sldMk cId="2009923557" sldId="270"/>
            <ac:spMk id="12" creationId="{B11E2A4C-14EF-31AA-4D03-774961082029}"/>
          </ac:spMkLst>
        </pc:spChg>
        <pc:spChg chg="mod">
          <ac:chgData name="Darcy Roach" userId="ba676ee9-e9b4-49e8-a515-8077106c948d" providerId="ADAL" clId="{357955A9-493B-4D56-832A-2FA3FF6018F1}" dt="2023-07-25T05:29:41.219" v="21" actId="20577"/>
          <ac:spMkLst>
            <pc:docMk/>
            <pc:sldMk cId="2009923557" sldId="270"/>
            <ac:spMk id="13" creationId="{FD2720C9-A79F-BD7F-E179-674AD67D7892}"/>
          </ac:spMkLst>
        </pc:spChg>
        <pc:spChg chg="mod">
          <ac:chgData name="Darcy Roach" userId="ba676ee9-e9b4-49e8-a515-8077106c948d" providerId="ADAL" clId="{357955A9-493B-4D56-832A-2FA3FF6018F1}" dt="2023-07-25T05:36:26.981" v="62" actId="20577"/>
          <ac:spMkLst>
            <pc:docMk/>
            <pc:sldMk cId="2009923557" sldId="270"/>
            <ac:spMk id="17" creationId="{1BDE5051-9F34-F139-742D-4450E5D6591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9/29/2024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9/29/2024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9/29/2024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9/29/2024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9/29/2024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Erin</a:t>
            </a:r>
          </a:p>
          <a:p>
            <a:r>
              <a:rPr lang="en-US" sz="2800" b="1" dirty="0">
                <a:solidFill>
                  <a:srgbClr val="00AB80"/>
                </a:solidFill>
                <a:latin typeface="Roboto" panose="02000000000000000000" pitchFamily="2" charset="0"/>
                <a:ea typeface="Roboto" panose="02000000000000000000" pitchFamily="2" charset="0"/>
              </a:rPr>
              <a:t>Veitch</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50930"/>
            <a:ext cx="2794374" cy="2677015"/>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Erin is an experienced Business Analyst with a passion for technology and a keen interest in AI/ML. Erin strives to be at the forefront of leading change through the evolution of robotic process automation in the workplace. </a:t>
            </a: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Erin's strengths lie in designing people-centred business solutions, facilitation and communication. </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a:ea typeface="Roboto Light"/>
                <a:cs typeface="Lato"/>
              </a:rPr>
              <a:t>Experience in Data Analysis, Data Modelling, Design, Development and Implementation of Data Warehouse and Data Migration in the Energy, Banking, Insurance, Telecom and Retail Domains.</a:t>
            </a:r>
            <a:endParaRPr lang="en-US"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Collibra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 Airflow</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Github</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36307"/>
            <a:ext cx="0" cy="111474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6312B81-BCF1-2796-C112-3DBE0E02F483}"/>
              </a:ext>
            </a:extLst>
          </p:cNvPr>
          <p:cNvSpPr txBox="1"/>
          <p:nvPr/>
        </p:nvSpPr>
        <p:spPr>
          <a:xfrm>
            <a:off x="3576751" y="4676668"/>
            <a:ext cx="4399656" cy="301621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pPr marL="0" indent="0">
              <a:buNone/>
            </a:pPr>
            <a:r>
              <a:rPr lang="en-AU" sz="1000" dirty="0"/>
              <a:t>Project vision was to shut down the current SAP BW ETL system which sources the Store Central reports and redirect the source as GCP. The direct benefits include cost saving of maintaining the additional system along with the better availability of data. Responsibilities of this project included:</a:t>
            </a:r>
          </a:p>
          <a:p>
            <a:r>
              <a:rPr lang="en-AU" sz="1000" dirty="0"/>
              <a:t>Handled build work and coordination with business analysts and SME to understand the project requirements.</a:t>
            </a:r>
          </a:p>
          <a:p>
            <a:r>
              <a:rPr lang="en-AU" sz="1000" dirty="0"/>
              <a:t>Generated high- and low-level design documents.</a:t>
            </a:r>
          </a:p>
          <a:p>
            <a:r>
              <a:rPr lang="en-AU" sz="1000" dirty="0"/>
              <a:t>Built and tested in Ab Initio for all test environments using Control Centre. </a:t>
            </a:r>
          </a:p>
          <a:p>
            <a:r>
              <a:rPr lang="en-AU" sz="1000" dirty="0"/>
              <a:t>Created data pipelines using Google cloud components</a:t>
            </a:r>
          </a:p>
          <a:p>
            <a:r>
              <a:rPr lang="en-AU" sz="1000" dirty="0"/>
              <a:t>Writing of cloud functions to process this data to convert into readable form for cloud API’s to read and process for upstream.</a:t>
            </a:r>
          </a:p>
          <a:p>
            <a:r>
              <a:rPr lang="en-AU" sz="1000" dirty="0"/>
              <a:t>Writing of DAG’s on Apache Airflow to run the transformation.</a:t>
            </a:r>
          </a:p>
          <a:p>
            <a:r>
              <a:rPr lang="en-AU" sz="1000" dirty="0"/>
              <a:t>Saved ~$1Mil by reducing the overhead to maintain the existing BW system.</a:t>
            </a:r>
          </a:p>
          <a:p>
            <a:r>
              <a:rPr lang="en-AU" sz="1000" dirty="0"/>
              <a:t>Writing Complex SQL in Big-Query to extract the data from GCP.</a:t>
            </a:r>
          </a:p>
          <a:p>
            <a:r>
              <a:rPr lang="en-AU" sz="1000" dirty="0"/>
              <a:t>Migrating the code from dev to UAT to Prod using CI-CD.</a:t>
            </a:r>
          </a:p>
          <a:p>
            <a:endParaRPr lang="en-AU" sz="1000" dirty="0"/>
          </a:p>
        </p:txBody>
      </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81550"/>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42440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cs typeface="Roboto Light"/>
              </a:rPr>
              <a:t>Energy</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24218"/>
            <a:ext cx="1951941" cy="2123658"/>
            <a:chOff x="8106458" y="2681447"/>
            <a:chExt cx="1951941" cy="212365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12365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Platform –  Certified Data Engineer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Alteryx – Certified Solution Designer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Computer Science</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Cochin University, India</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Project Delivery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Quality Assurance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73289"/>
            <a:ext cx="4192693" cy="461665"/>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Financial Services Organisation – Data Engineer</a:t>
            </a:r>
          </a:p>
          <a:p>
            <a:endParaRPr lang="en-AU" sz="1200" b="1" dirty="0">
              <a:solidFill>
                <a:srgbClr val="0059FF"/>
              </a:solidFill>
              <a:latin typeface="Roboto" panose="02000000000000000000" pitchFamily="2" charset="0"/>
              <a:ea typeface="Roboto" panose="02000000000000000000" pitchFamily="2" charset="0"/>
            </a:endParaRPr>
          </a:p>
        </p:txBody>
      </p:sp>
      <p:grpSp>
        <p:nvGrpSpPr>
          <p:cNvPr id="43" name="Group 42">
            <a:extLst>
              <a:ext uri="{FF2B5EF4-FFF2-40B4-BE49-F238E27FC236}">
                <a16:creationId xmlns:a16="http://schemas.microsoft.com/office/drawing/2014/main" id="{6810B02A-0A17-06BB-A019-37D78ECAAF1D}"/>
              </a:ext>
            </a:extLst>
          </p:cNvPr>
          <p:cNvGrpSpPr/>
          <p:nvPr/>
        </p:nvGrpSpPr>
        <p:grpSpPr>
          <a:xfrm>
            <a:off x="3335753" y="2617683"/>
            <a:ext cx="4715244" cy="4928685"/>
            <a:chOff x="3335753" y="3160341"/>
            <a:chExt cx="4715244" cy="4928685"/>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3160341"/>
              <a:ext cx="4542465" cy="646331"/>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Supermarket  – Data Engineer</a:t>
              </a:r>
            </a:p>
            <a:p>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55043" y="3498542"/>
              <a:ext cx="0" cy="155923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E0B3FDFC-4A78-346F-E1D4-E183BEB90A60}"/>
                </a:ext>
              </a:extLst>
            </p:cNvPr>
            <p:cNvGrpSpPr/>
            <p:nvPr/>
          </p:nvGrpSpPr>
          <p:grpSpPr>
            <a:xfrm>
              <a:off x="3463961" y="3447181"/>
              <a:ext cx="4587036" cy="4641845"/>
              <a:chOff x="5060918" y="1723742"/>
              <a:chExt cx="4759664" cy="4641845"/>
            </a:xfrm>
          </p:grpSpPr>
          <p:sp>
            <p:nvSpPr>
              <p:cNvPr id="19" name="TextBox 18">
                <a:extLst>
                  <a:ext uri="{FF2B5EF4-FFF2-40B4-BE49-F238E27FC236}">
                    <a16:creationId xmlns:a16="http://schemas.microsoft.com/office/drawing/2014/main" id="{7513C49A-2DF2-8111-FED4-FC07A8EAD258}"/>
                  </a:ext>
                </a:extLst>
              </p:cNvPr>
              <p:cNvSpPr txBox="1"/>
              <p:nvPr/>
            </p:nvSpPr>
            <p:spPr>
              <a:xfrm>
                <a:off x="5098866" y="1723742"/>
                <a:ext cx="472171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Migration project, where existing reports reside in SAP and now need to be sourced from all new google cloud-based solution.</a:t>
                </a:r>
              </a:p>
              <a:p>
                <a:r>
                  <a:rPr lang="en-AU" sz="1000" dirty="0"/>
                  <a:t>Created data pipelines using Google cloud components like Big Query, Cloud Function, Cloud scheduler, Cloud Composer, Apache airflow DAG.</a:t>
                </a:r>
              </a:p>
              <a:p>
                <a:r>
                  <a:rPr lang="en-AU" sz="1000" dirty="0"/>
                  <a:t>Created visualisation using Tableau.</a:t>
                </a:r>
              </a:p>
              <a:p>
                <a:r>
                  <a:rPr lang="en-AU" sz="1000" dirty="0"/>
                  <a:t>Liaised with business to fine tune the requirements and convert them in a working solution.</a:t>
                </a:r>
              </a:p>
              <a:p>
                <a:r>
                  <a:rPr lang="en-AU" sz="1000" dirty="0"/>
                  <a:t>Worked on solution of Net Working Capital, increasing it by 4% YoY and Account Payables by 30%.</a:t>
                </a:r>
              </a:p>
              <a:p>
                <a:r>
                  <a:rPr lang="en-AU" sz="1000" dirty="0"/>
                  <a:t>Created an in-house solution for a compliance project, Saving ~$7 Mil.</a:t>
                </a:r>
              </a:p>
              <a:p>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60918" y="3737200"/>
                <a:ext cx="0" cy="262838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grpSp>
      <p:sp>
        <p:nvSpPr>
          <p:cNvPr id="28" name="TextBox 27">
            <a:extLst>
              <a:ext uri="{FF2B5EF4-FFF2-40B4-BE49-F238E27FC236}">
                <a16:creationId xmlns:a16="http://schemas.microsoft.com/office/drawing/2014/main" id="{6059F888-3BDF-A1C0-65E5-CB6FDD43D97C}"/>
              </a:ext>
            </a:extLst>
          </p:cNvPr>
          <p:cNvSpPr txBox="1"/>
          <p:nvPr/>
        </p:nvSpPr>
        <p:spPr>
          <a:xfrm>
            <a:off x="3411970" y="4584277"/>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Big 4 Australian Bank – Data Engineer</a:t>
            </a:r>
          </a:p>
        </p:txBody>
      </p:sp>
      <p:sp>
        <p:nvSpPr>
          <p:cNvPr id="32" name="TextBox 31">
            <a:extLst>
              <a:ext uri="{FF2B5EF4-FFF2-40B4-BE49-F238E27FC236}">
                <a16:creationId xmlns:a16="http://schemas.microsoft.com/office/drawing/2014/main" id="{0B703521-F331-D24D-2144-A609A273150D}"/>
              </a:ext>
            </a:extLst>
          </p:cNvPr>
          <p:cNvSpPr txBox="1"/>
          <p:nvPr/>
        </p:nvSpPr>
        <p:spPr>
          <a:xfrm>
            <a:off x="3500533" y="1381504"/>
            <a:ext cx="5043486"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Designed the solution and technical design for the Batch pipeline</a:t>
            </a:r>
          </a:p>
          <a:p>
            <a:r>
              <a:rPr lang="en-AU" dirty="0"/>
              <a:t>Built and unit tested the batch pipeline using Google Cloud composer</a:t>
            </a:r>
          </a:p>
          <a:p>
            <a:r>
              <a:rPr lang="en-AU" dirty="0"/>
              <a:t>Liaised with the respective stakeholders around the changes in scope of requirements and ensured that the same is reflected in the design</a:t>
            </a:r>
          </a:p>
          <a:p>
            <a:r>
              <a:rPr lang="en-AU" dirty="0"/>
              <a:t>Ran data analytics using Google </a:t>
            </a:r>
            <a:r>
              <a:rPr lang="en-AU" dirty="0" err="1"/>
              <a:t>BigQuery</a:t>
            </a:r>
            <a:r>
              <a:rPr lang="en-AU" dirty="0"/>
              <a:t>.</a:t>
            </a:r>
          </a:p>
          <a:p>
            <a:r>
              <a:rPr lang="en-AU" dirty="0"/>
              <a:t>Participated actively in AWG (Architecture Working Group) and put my ideas/questions/clarification forward.</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2.xml><?xml version="1.0" encoding="utf-8"?>
<ds:datastoreItem xmlns:ds="http://schemas.openxmlformats.org/officeDocument/2006/customXml" ds:itemID="{4551B704-91CE-4ADE-96A7-C4C69E6CB8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D78DE8-CA0B-4723-AF37-2B344746F8D2}">
  <ds:schemaRefs>
    <ds:schemaRef ds:uri="http://purl.org/dc/elements/1.1/"/>
    <ds:schemaRef ds:uri="http://purl.org/dc/terms/"/>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e52cd9e7-35e5-4bd3-9cab-ca6a63c31e52"/>
    <ds:schemaRef ds:uri="daf93972-1964-4522-aa34-640805a01c3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19622</TotalTime>
  <Words>523</Words>
  <Application>Microsoft Office PowerPoint</Application>
  <PresentationFormat>Custom</PresentationFormat>
  <Paragraphs>77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99</cp:revision>
  <dcterms:created xsi:type="dcterms:W3CDTF">2019-12-03T01:50:37Z</dcterms:created>
  <dcterms:modified xsi:type="dcterms:W3CDTF">2024-09-30T04:52:46Z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