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7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3.xml"/><Relationship Id="rId4" Type="http://schemas.openxmlformats.org/officeDocument/2006/relationships/viewProps" Target="viewProps.xml"/><Relationship Id="rId9"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A31E41E2-BCE1-4E95-A1EF-12B7FA5BA576}"/>
    <pc:docChg chg="modSld">
      <pc:chgData name="Darcy Roach" userId="ba676ee9-e9b4-49e8-a515-8077106c948d" providerId="ADAL" clId="{A31E41E2-BCE1-4E95-A1EF-12B7FA5BA576}" dt="2024-09-30T01:50:22.873" v="1" actId="113"/>
      <pc:docMkLst>
        <pc:docMk/>
      </pc:docMkLst>
      <pc:sldChg chg="modSp mod">
        <pc:chgData name="Darcy Roach" userId="ba676ee9-e9b4-49e8-a515-8077106c948d" providerId="ADAL" clId="{A31E41E2-BCE1-4E95-A1EF-12B7FA5BA576}" dt="2024-09-30T01:50:22.873" v="1" actId="113"/>
        <pc:sldMkLst>
          <pc:docMk/>
          <pc:sldMk cId="254516341" sldId="257"/>
        </pc:sldMkLst>
        <pc:spChg chg="mod">
          <ac:chgData name="Darcy Roach" userId="ba676ee9-e9b4-49e8-a515-8077106c948d" providerId="ADAL" clId="{A31E41E2-BCE1-4E95-A1EF-12B7FA5BA576}" dt="2024-09-30T01:50:22.873" v="1" actId="113"/>
          <ac:spMkLst>
            <pc:docMk/>
            <pc:sldMk cId="254516341" sldId="257"/>
            <ac:spMk id="25" creationId="{00000000-0000-0000-0000-000000000000}"/>
          </ac:spMkLst>
        </pc:spChg>
        <pc:spChg chg="mod">
          <ac:chgData name="Darcy Roach" userId="ba676ee9-e9b4-49e8-a515-8077106c948d" providerId="ADAL" clId="{A31E41E2-BCE1-4E95-A1EF-12B7FA5BA576}" dt="2024-09-30T01:50:22.873" v="1" actId="113"/>
          <ac:spMkLst>
            <pc:docMk/>
            <pc:sldMk cId="254516341" sldId="257"/>
            <ac:spMk id="2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9011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70337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7176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9410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59295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80128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73309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0775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4217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50410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91259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9/30/2024</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201940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pPr defTabSz="609630"/>
            <a:endParaRPr lang="en-AU" sz="1200">
              <a:solidFill>
                <a:prstClr val="black"/>
              </a:solidFill>
              <a:latin typeface="Calibri"/>
            </a:endParaRPr>
          </a:p>
        </p:txBody>
      </p:sp>
      <p:grpSp>
        <p:nvGrpSpPr>
          <p:cNvPr id="3" name="Group 3"/>
          <p:cNvGrpSpPr/>
          <p:nvPr/>
        </p:nvGrpSpPr>
        <p:grpSpPr>
          <a:xfrm rot="-10800000">
            <a:off x="5775532" y="3239312"/>
            <a:ext cx="8892777" cy="889277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AA7F">
                    <a:alpha val="10000"/>
                  </a:srgbClr>
                </a:gs>
                <a:gs pos="100000">
                  <a:srgbClr val="BECCCD">
                    <a:alpha val="10000"/>
                  </a:srgbClr>
                </a:gs>
              </a:gsLst>
              <a:lin ang="0"/>
            </a:gradFill>
          </p:spPr>
          <p:txBody>
            <a:bodyPr/>
            <a:lstStyle/>
            <a:p>
              <a:pPr defTabSz="609630"/>
              <a:endParaRPr lang="en-AU" sz="1200">
                <a:solidFill>
                  <a:prstClr val="black"/>
                </a:solidFill>
                <a:latin typeface="Calibri"/>
              </a:endParaRPr>
            </a:p>
          </p:txBody>
        </p:sp>
        <p:sp>
          <p:nvSpPr>
            <p:cNvPr id="5" name="TextBox 5"/>
            <p:cNvSpPr txBox="1"/>
            <p:nvPr/>
          </p:nvSpPr>
          <p:spPr>
            <a:xfrm>
              <a:off x="76200" y="47625"/>
              <a:ext cx="660400" cy="68897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6" name="Group 6"/>
          <p:cNvGrpSpPr/>
          <p:nvPr/>
        </p:nvGrpSpPr>
        <p:grpSpPr>
          <a:xfrm rot="-10800000">
            <a:off x="7150576" y="-1128223"/>
            <a:ext cx="8892777" cy="889277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AA7F">
                    <a:alpha val="24000"/>
                  </a:srgbClr>
                </a:gs>
                <a:gs pos="100000">
                  <a:srgbClr val="BECCCD">
                    <a:alpha val="24000"/>
                  </a:srgbClr>
                </a:gs>
              </a:gsLst>
              <a:lin ang="0"/>
            </a:gradFill>
          </p:spPr>
          <p:txBody>
            <a:bodyPr/>
            <a:lstStyle/>
            <a:p>
              <a:pPr defTabSz="609630"/>
              <a:endParaRPr lang="en-AU" sz="1200">
                <a:solidFill>
                  <a:prstClr val="black"/>
                </a:solidFill>
                <a:latin typeface="Calibri"/>
              </a:endParaRPr>
            </a:p>
          </p:txBody>
        </p:sp>
        <p:sp>
          <p:nvSpPr>
            <p:cNvPr id="8" name="TextBox 8"/>
            <p:cNvSpPr txBox="1"/>
            <p:nvPr/>
          </p:nvSpPr>
          <p:spPr>
            <a:xfrm>
              <a:off x="76200" y="47625"/>
              <a:ext cx="660400" cy="68897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9" name="Freeform 9"/>
          <p:cNvSpPr/>
          <p:nvPr/>
        </p:nvSpPr>
        <p:spPr>
          <a:xfrm>
            <a:off x="8639916" y="5236492"/>
            <a:ext cx="4550254" cy="5321935"/>
          </a:xfrm>
          <a:custGeom>
            <a:avLst/>
            <a:gdLst/>
            <a:ahLst/>
            <a:cxnLst/>
            <a:rect l="l" t="t" r="r" b="b"/>
            <a:pathLst>
              <a:path w="6825381" h="7982902">
                <a:moveTo>
                  <a:pt x="0" y="0"/>
                </a:moveTo>
                <a:lnTo>
                  <a:pt x="6825382" y="0"/>
                </a:lnTo>
                <a:lnTo>
                  <a:pt x="6825382" y="7982902"/>
                </a:lnTo>
                <a:lnTo>
                  <a:pt x="0" y="7982902"/>
                </a:lnTo>
                <a:lnTo>
                  <a:pt x="0" y="0"/>
                </a:lnTo>
                <a:close/>
              </a:path>
            </a:pathLst>
          </a:custGeom>
          <a:blipFill>
            <a:blip r:embed="rId3"/>
            <a:stretch>
              <a:fillRect/>
            </a:stretch>
          </a:blipFill>
        </p:spPr>
        <p:txBody>
          <a:bodyPr/>
          <a:lstStyle/>
          <a:p>
            <a:pPr defTabSz="609630"/>
            <a:endParaRPr lang="en-AU" sz="1200">
              <a:solidFill>
                <a:prstClr val="black"/>
              </a:solidFill>
              <a:latin typeface="Calibri"/>
            </a:endParaRPr>
          </a:p>
        </p:txBody>
      </p:sp>
      <p:sp>
        <p:nvSpPr>
          <p:cNvPr id="10" name="Freeform 10"/>
          <p:cNvSpPr/>
          <p:nvPr/>
        </p:nvSpPr>
        <p:spPr>
          <a:xfrm>
            <a:off x="8978884" y="-4378523"/>
            <a:ext cx="4550254" cy="5321935"/>
          </a:xfrm>
          <a:custGeom>
            <a:avLst/>
            <a:gdLst/>
            <a:ahLst/>
            <a:cxnLst/>
            <a:rect l="l" t="t" r="r" b="b"/>
            <a:pathLst>
              <a:path w="6825381" h="7982902">
                <a:moveTo>
                  <a:pt x="0" y="0"/>
                </a:moveTo>
                <a:lnTo>
                  <a:pt x="6825382" y="0"/>
                </a:lnTo>
                <a:lnTo>
                  <a:pt x="6825382" y="7982902"/>
                </a:lnTo>
                <a:lnTo>
                  <a:pt x="0" y="7982902"/>
                </a:lnTo>
                <a:lnTo>
                  <a:pt x="0" y="0"/>
                </a:lnTo>
                <a:close/>
              </a:path>
            </a:pathLst>
          </a:custGeom>
          <a:blipFill>
            <a:blip r:embed="rId3"/>
            <a:stretch>
              <a:fillRect/>
            </a:stretch>
          </a:blipFill>
        </p:spPr>
        <p:txBody>
          <a:bodyPr/>
          <a:lstStyle/>
          <a:p>
            <a:pPr defTabSz="609630"/>
            <a:endParaRPr lang="en-AU" sz="1200">
              <a:solidFill>
                <a:prstClr val="black"/>
              </a:solidFill>
              <a:latin typeface="Calibri"/>
            </a:endParaRPr>
          </a:p>
        </p:txBody>
      </p:sp>
      <p:grpSp>
        <p:nvGrpSpPr>
          <p:cNvPr id="11" name="Group 11"/>
          <p:cNvGrpSpPr/>
          <p:nvPr/>
        </p:nvGrpSpPr>
        <p:grpSpPr>
          <a:xfrm>
            <a:off x="0" y="1428393"/>
            <a:ext cx="358892" cy="1439299"/>
            <a:chOff x="0" y="0"/>
            <a:chExt cx="333264" cy="568612"/>
          </a:xfrm>
        </p:grpSpPr>
        <p:sp>
          <p:nvSpPr>
            <p:cNvPr id="12" name="Freeform 12"/>
            <p:cNvSpPr/>
            <p:nvPr/>
          </p:nvSpPr>
          <p:spPr>
            <a:xfrm>
              <a:off x="0" y="0"/>
              <a:ext cx="333264" cy="568612"/>
            </a:xfrm>
            <a:custGeom>
              <a:avLst/>
              <a:gdLst/>
              <a:ahLst/>
              <a:cxnLst/>
              <a:rect l="l" t="t" r="r" b="b"/>
              <a:pathLst>
                <a:path w="333264" h="568612">
                  <a:moveTo>
                    <a:pt x="0" y="0"/>
                  </a:moveTo>
                  <a:lnTo>
                    <a:pt x="333264" y="0"/>
                  </a:lnTo>
                  <a:lnTo>
                    <a:pt x="333264" y="568612"/>
                  </a:lnTo>
                  <a:lnTo>
                    <a:pt x="0" y="568612"/>
                  </a:lnTo>
                  <a:close/>
                </a:path>
              </a:pathLst>
            </a:custGeom>
            <a:solidFill>
              <a:srgbClr val="00AA7F"/>
            </a:solidFill>
          </p:spPr>
          <p:txBody>
            <a:bodyPr/>
            <a:lstStyle/>
            <a:p>
              <a:pPr defTabSz="609630"/>
              <a:endParaRPr lang="en-AU" sz="1200">
                <a:solidFill>
                  <a:prstClr val="black"/>
                </a:solidFill>
                <a:latin typeface="Calibri"/>
              </a:endParaRPr>
            </a:p>
          </p:txBody>
        </p:sp>
        <p:sp>
          <p:nvSpPr>
            <p:cNvPr id="13" name="TextBox 13"/>
            <p:cNvSpPr txBox="1"/>
            <p:nvPr/>
          </p:nvSpPr>
          <p:spPr>
            <a:xfrm>
              <a:off x="0" y="-28575"/>
              <a:ext cx="333264" cy="597187"/>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sp>
        <p:nvSpPr>
          <p:cNvPr id="14" name="TextBox 14"/>
          <p:cNvSpPr txBox="1"/>
          <p:nvPr/>
        </p:nvSpPr>
        <p:spPr>
          <a:xfrm>
            <a:off x="587492" y="3232962"/>
            <a:ext cx="6363229" cy="3462486"/>
          </a:xfrm>
          <a:prstGeom prst="rect">
            <a:avLst/>
          </a:prstGeom>
        </p:spPr>
        <p:txBody>
          <a:bodyPr wrap="square" lIns="0" tIns="0" rIns="0" bIns="0" rtlCol="0" anchor="t">
            <a:spAutoFit/>
          </a:bodyPr>
          <a:lstStyle/>
          <a:p>
            <a:pPr defTabSz="609630">
              <a:lnSpc>
                <a:spcPts val="1520"/>
              </a:lnSpc>
            </a:pPr>
            <a:r>
              <a:rPr lang="en-AU" sz="1267" spc="-29" dirty="0">
                <a:solidFill>
                  <a:srgbClr val="0F2B3F"/>
                </a:solidFill>
                <a:latin typeface="Roboto"/>
              </a:rPr>
              <a:t>Responsible for technical governance and oversight of new and in-flight client </a:t>
            </a:r>
          </a:p>
          <a:p>
            <a:pPr defTabSz="609630">
              <a:lnSpc>
                <a:spcPts val="1520"/>
              </a:lnSpc>
            </a:pPr>
            <a:r>
              <a:rPr lang="en-AU" sz="1267" spc="-29" dirty="0">
                <a:solidFill>
                  <a:srgbClr val="0F2B3F"/>
                </a:solidFill>
                <a:latin typeface="Roboto"/>
              </a:rPr>
              <a:t>engagements. Key contact and escalation path if required. </a:t>
            </a:r>
          </a:p>
          <a:p>
            <a:pPr defTabSz="609630">
              <a:lnSpc>
                <a:spcPts val="1520"/>
              </a:lnSpc>
            </a:pPr>
            <a:endParaRPr lang="en-AU" sz="1267" spc="-29" dirty="0">
              <a:solidFill>
                <a:srgbClr val="0F2B3F"/>
              </a:solidFill>
              <a:latin typeface="Roboto"/>
            </a:endParaRPr>
          </a:p>
          <a:p>
            <a:pPr defTabSz="609630">
              <a:lnSpc>
                <a:spcPts val="1520"/>
              </a:lnSpc>
            </a:pPr>
            <a:r>
              <a:rPr lang="en-AU" sz="1267" spc="-29" dirty="0">
                <a:solidFill>
                  <a:srgbClr val="0F2B3F"/>
                </a:solidFill>
                <a:latin typeface="Roboto"/>
              </a:rPr>
              <a:t>Direnc is a passionate technologist dedicated to assisting organisations deliver value through effective engagement with their people, systems and processes. With over 15 years of experience in Defence, FMCG, Banking, Superannuation and the start-up world, Direnc thrives on contributing to organisational strategy to ensure that business outcomes are realised through the effective use of technology.  </a:t>
            </a:r>
          </a:p>
          <a:p>
            <a:pPr defTabSz="609630">
              <a:lnSpc>
                <a:spcPts val="1520"/>
              </a:lnSpc>
            </a:pPr>
            <a:endParaRPr lang="en-AU" sz="1267" spc="-29" dirty="0">
              <a:solidFill>
                <a:srgbClr val="0F2B3F"/>
              </a:solidFill>
              <a:latin typeface="Roboto"/>
            </a:endParaRPr>
          </a:p>
          <a:p>
            <a:pPr defTabSz="609630">
              <a:lnSpc>
                <a:spcPts val="1520"/>
              </a:lnSpc>
            </a:pPr>
            <a:r>
              <a:rPr lang="en-AU" sz="1267" spc="-29" dirty="0">
                <a:solidFill>
                  <a:srgbClr val="0F2B3F"/>
                </a:solidFill>
                <a:latin typeface="Roboto"/>
              </a:rPr>
              <a:t>As Chief Technologist, Direnc is focused on defining the organisation's solution strategy alongside emerging technology partners and building the internal technical capability. </a:t>
            </a:r>
            <a:r>
              <a:rPr lang="en-AU" sz="1267" spc="-29" dirty="0" err="1">
                <a:solidFill>
                  <a:srgbClr val="0F2B3F"/>
                </a:solidFill>
                <a:latin typeface="Roboto"/>
              </a:rPr>
              <a:t>Direnc’s</a:t>
            </a:r>
            <a:r>
              <a:rPr lang="en-AU" sz="1267" spc="-29" dirty="0">
                <a:solidFill>
                  <a:srgbClr val="0F2B3F"/>
                </a:solidFill>
                <a:latin typeface="Roboto"/>
              </a:rPr>
              <a:t> areas of speciality include technology strategy, architecture and delivery, emerging technology, data, digital, and innovation. </a:t>
            </a:r>
          </a:p>
          <a:p>
            <a:pPr defTabSz="609630">
              <a:lnSpc>
                <a:spcPts val="1520"/>
              </a:lnSpc>
            </a:pPr>
            <a:endParaRPr lang="en-AU" sz="1267" spc="-29" dirty="0">
              <a:solidFill>
                <a:srgbClr val="0F2B3F"/>
              </a:solidFill>
              <a:latin typeface="Roboto"/>
            </a:endParaRPr>
          </a:p>
          <a:p>
            <a:pPr defTabSz="609630">
              <a:lnSpc>
                <a:spcPts val="1520"/>
              </a:lnSpc>
            </a:pPr>
            <a:r>
              <a:rPr lang="en-AU" sz="1267" spc="-29" dirty="0">
                <a:solidFill>
                  <a:srgbClr val="0F2B3F"/>
                </a:solidFill>
                <a:latin typeface="Roboto"/>
              </a:rPr>
              <a:t>Direnc is also a key member of a number of technology-focused meetups and community forums including former host of the Robotics Process Automation Meetup in Melbourne and part of the global Kids code initiative. </a:t>
            </a:r>
            <a:endParaRPr lang="en-US" sz="1267" spc="-29" dirty="0">
              <a:solidFill>
                <a:srgbClr val="0F2B3F"/>
              </a:solidFill>
              <a:latin typeface="Roboto"/>
            </a:endParaRPr>
          </a:p>
          <a:p>
            <a:pPr defTabSz="609630">
              <a:lnSpc>
                <a:spcPts val="1520"/>
              </a:lnSpc>
            </a:pPr>
            <a:endParaRPr lang="en-US" sz="1267" spc="-29" dirty="0">
              <a:solidFill>
                <a:srgbClr val="0F2B3F"/>
              </a:solidFill>
              <a:latin typeface="Roboto"/>
            </a:endParaRPr>
          </a:p>
        </p:txBody>
      </p:sp>
      <p:sp>
        <p:nvSpPr>
          <p:cNvPr id="16" name="Freeform 16"/>
          <p:cNvSpPr/>
          <p:nvPr/>
        </p:nvSpPr>
        <p:spPr>
          <a:xfrm>
            <a:off x="9015988" y="901737"/>
            <a:ext cx="3176012" cy="1413325"/>
          </a:xfrm>
          <a:custGeom>
            <a:avLst/>
            <a:gdLst/>
            <a:ahLst/>
            <a:cxnLst/>
            <a:rect l="l" t="t" r="r" b="b"/>
            <a:pathLst>
              <a:path w="6352024" h="2826651">
                <a:moveTo>
                  <a:pt x="0" y="0"/>
                </a:moveTo>
                <a:lnTo>
                  <a:pt x="6352024" y="0"/>
                </a:lnTo>
                <a:lnTo>
                  <a:pt x="6352024" y="2826651"/>
                </a:lnTo>
                <a:lnTo>
                  <a:pt x="0" y="2826651"/>
                </a:lnTo>
                <a:lnTo>
                  <a:pt x="0" y="0"/>
                </a:lnTo>
                <a:close/>
              </a:path>
            </a:pathLst>
          </a:custGeom>
          <a:blipFill>
            <a:blip r:embed="rId4"/>
            <a:stretch>
              <a:fillRect/>
            </a:stretch>
          </a:blipFill>
        </p:spPr>
        <p:txBody>
          <a:bodyPr/>
          <a:lstStyle/>
          <a:p>
            <a:pPr defTabSz="609630"/>
            <a:endParaRPr lang="en-AU" sz="1200">
              <a:solidFill>
                <a:prstClr val="black"/>
              </a:solidFill>
              <a:latin typeface="Calibri"/>
            </a:endParaRPr>
          </a:p>
        </p:txBody>
      </p:sp>
      <p:grpSp>
        <p:nvGrpSpPr>
          <p:cNvPr id="17" name="Group 17"/>
          <p:cNvGrpSpPr/>
          <p:nvPr/>
        </p:nvGrpSpPr>
        <p:grpSpPr>
          <a:xfrm>
            <a:off x="9081651" y="1043660"/>
            <a:ext cx="2907108" cy="1021714"/>
            <a:chOff x="0" y="0"/>
            <a:chExt cx="1148487" cy="403640"/>
          </a:xfrm>
        </p:grpSpPr>
        <p:sp>
          <p:nvSpPr>
            <p:cNvPr id="18" name="Freeform 18"/>
            <p:cNvSpPr/>
            <p:nvPr/>
          </p:nvSpPr>
          <p:spPr>
            <a:xfrm>
              <a:off x="0" y="0"/>
              <a:ext cx="1148487" cy="403640"/>
            </a:xfrm>
            <a:custGeom>
              <a:avLst/>
              <a:gdLst/>
              <a:ahLst/>
              <a:cxnLst/>
              <a:rect l="l" t="t" r="r" b="b"/>
              <a:pathLst>
                <a:path w="1148487" h="403640">
                  <a:moveTo>
                    <a:pt x="31957" y="0"/>
                  </a:moveTo>
                  <a:lnTo>
                    <a:pt x="1116530" y="0"/>
                  </a:lnTo>
                  <a:cubicBezTo>
                    <a:pt x="1125006" y="0"/>
                    <a:pt x="1133134" y="3367"/>
                    <a:pt x="1139127" y="9360"/>
                  </a:cubicBezTo>
                  <a:cubicBezTo>
                    <a:pt x="1145120" y="15353"/>
                    <a:pt x="1148487" y="23482"/>
                    <a:pt x="1148487" y="31957"/>
                  </a:cubicBezTo>
                  <a:lnTo>
                    <a:pt x="1148487" y="371683"/>
                  </a:lnTo>
                  <a:cubicBezTo>
                    <a:pt x="1148487" y="380158"/>
                    <a:pt x="1145120" y="388287"/>
                    <a:pt x="1139127" y="394280"/>
                  </a:cubicBezTo>
                  <a:cubicBezTo>
                    <a:pt x="1133134" y="400273"/>
                    <a:pt x="1125006" y="403640"/>
                    <a:pt x="1116530" y="403640"/>
                  </a:cubicBezTo>
                  <a:lnTo>
                    <a:pt x="31957" y="403640"/>
                  </a:lnTo>
                  <a:cubicBezTo>
                    <a:pt x="23482" y="403640"/>
                    <a:pt x="15353" y="400273"/>
                    <a:pt x="9360" y="394280"/>
                  </a:cubicBezTo>
                  <a:cubicBezTo>
                    <a:pt x="3367" y="388287"/>
                    <a:pt x="0" y="380158"/>
                    <a:pt x="0" y="371683"/>
                  </a:cubicBezTo>
                  <a:lnTo>
                    <a:pt x="0" y="31957"/>
                  </a:lnTo>
                  <a:cubicBezTo>
                    <a:pt x="0" y="23482"/>
                    <a:pt x="3367" y="15353"/>
                    <a:pt x="9360" y="9360"/>
                  </a:cubicBezTo>
                  <a:cubicBezTo>
                    <a:pt x="15353" y="3367"/>
                    <a:pt x="23482" y="0"/>
                    <a:pt x="31957" y="0"/>
                  </a:cubicBezTo>
                  <a:close/>
                </a:path>
              </a:pathLst>
            </a:custGeom>
            <a:solidFill>
              <a:srgbClr val="F6F6F6"/>
            </a:solidFill>
          </p:spPr>
          <p:txBody>
            <a:bodyPr/>
            <a:lstStyle/>
            <a:p>
              <a:pPr defTabSz="609630"/>
              <a:endParaRPr lang="en-AU" sz="1200">
                <a:solidFill>
                  <a:prstClr val="black"/>
                </a:solidFill>
                <a:latin typeface="Calibri"/>
              </a:endParaRPr>
            </a:p>
          </p:txBody>
        </p:sp>
        <p:sp>
          <p:nvSpPr>
            <p:cNvPr id="19" name="TextBox 19"/>
            <p:cNvSpPr txBox="1"/>
            <p:nvPr/>
          </p:nvSpPr>
          <p:spPr>
            <a:xfrm>
              <a:off x="0" y="-28575"/>
              <a:ext cx="1148487" cy="43221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20" name="AutoShape 20"/>
          <p:cNvSpPr/>
          <p:nvPr/>
        </p:nvSpPr>
        <p:spPr>
          <a:xfrm>
            <a:off x="8505380" y="2241595"/>
            <a:ext cx="1973157" cy="0"/>
          </a:xfrm>
          <a:prstGeom prst="line">
            <a:avLst/>
          </a:prstGeom>
          <a:ln w="38100" cap="flat">
            <a:solidFill>
              <a:srgbClr val="231F20"/>
            </a:solidFill>
            <a:prstDash val="solid"/>
            <a:headEnd type="none" w="sm" len="sm"/>
            <a:tailEnd type="oval" w="lg" len="lg"/>
          </a:ln>
        </p:spPr>
        <p:txBody>
          <a:bodyPr/>
          <a:lstStyle/>
          <a:p>
            <a:pPr defTabSz="609630"/>
            <a:endParaRPr lang="en-AU" sz="1200">
              <a:solidFill>
                <a:prstClr val="black"/>
              </a:solidFill>
              <a:latin typeface="Calibri"/>
            </a:endParaRPr>
          </a:p>
        </p:txBody>
      </p:sp>
      <p:sp>
        <p:nvSpPr>
          <p:cNvPr id="21" name="Freeform 21"/>
          <p:cNvSpPr/>
          <p:nvPr/>
        </p:nvSpPr>
        <p:spPr>
          <a:xfrm rot="18961810" flipH="1" flipV="1">
            <a:off x="6076705" y="782463"/>
            <a:ext cx="2734627" cy="2731208"/>
          </a:xfrm>
          <a:custGeom>
            <a:avLst/>
            <a:gdLst/>
            <a:ahLst/>
            <a:cxnLst/>
            <a:rect l="l" t="t" r="r" b="b"/>
            <a:pathLst>
              <a:path w="5469253" h="5462416">
                <a:moveTo>
                  <a:pt x="5469253" y="5462417"/>
                </a:moveTo>
                <a:lnTo>
                  <a:pt x="0" y="5462417"/>
                </a:lnTo>
                <a:lnTo>
                  <a:pt x="0" y="0"/>
                </a:lnTo>
                <a:lnTo>
                  <a:pt x="5469253" y="0"/>
                </a:lnTo>
                <a:lnTo>
                  <a:pt x="5469253" y="5462417"/>
                </a:lnTo>
                <a:close/>
              </a:path>
            </a:pathLst>
          </a:custGeom>
          <a:blipFill>
            <a:blip r:embed="rId5">
              <a:alphaModFix amt="63000"/>
            </a:blip>
            <a:stretch>
              <a:fillRect/>
            </a:stretch>
          </a:blipFill>
        </p:spPr>
        <p:txBody>
          <a:bodyPr/>
          <a:lstStyle/>
          <a:p>
            <a:pPr defTabSz="609630"/>
            <a:endParaRPr lang="en-AU" sz="1200">
              <a:solidFill>
                <a:prstClr val="black"/>
              </a:solidFill>
              <a:latin typeface="Calibri"/>
            </a:endParaRPr>
          </a:p>
        </p:txBody>
      </p:sp>
      <p:sp>
        <p:nvSpPr>
          <p:cNvPr id="22" name="Freeform 22"/>
          <p:cNvSpPr/>
          <p:nvPr/>
        </p:nvSpPr>
        <p:spPr>
          <a:xfrm rot="2318810">
            <a:off x="6328068" y="808122"/>
            <a:ext cx="2700429" cy="2700429"/>
          </a:xfrm>
          <a:custGeom>
            <a:avLst/>
            <a:gdLst/>
            <a:ahLst/>
            <a:cxnLst/>
            <a:rect l="l" t="t" r="r" b="b"/>
            <a:pathLst>
              <a:path w="5400857" h="5400857">
                <a:moveTo>
                  <a:pt x="0" y="0"/>
                </a:moveTo>
                <a:lnTo>
                  <a:pt x="5400857" y="0"/>
                </a:lnTo>
                <a:lnTo>
                  <a:pt x="5400857" y="5400857"/>
                </a:lnTo>
                <a:lnTo>
                  <a:pt x="0" y="54008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609630"/>
            <a:endParaRPr lang="en-AU" sz="1200">
              <a:solidFill>
                <a:prstClr val="black"/>
              </a:solidFill>
              <a:latin typeface="Calibri"/>
            </a:endParaRPr>
          </a:p>
        </p:txBody>
      </p:sp>
      <p:sp>
        <p:nvSpPr>
          <p:cNvPr id="25" name="TextBox 25"/>
          <p:cNvSpPr txBox="1"/>
          <p:nvPr/>
        </p:nvSpPr>
        <p:spPr>
          <a:xfrm>
            <a:off x="9412193" y="1585425"/>
            <a:ext cx="2246023" cy="282129"/>
          </a:xfrm>
          <a:prstGeom prst="rect">
            <a:avLst/>
          </a:prstGeom>
        </p:spPr>
        <p:txBody>
          <a:bodyPr lIns="0" tIns="0" rIns="0" bIns="0" rtlCol="0" anchor="t">
            <a:spAutoFit/>
          </a:bodyPr>
          <a:lstStyle/>
          <a:p>
            <a:pPr algn="ctr" defTabSz="609630">
              <a:lnSpc>
                <a:spcPts val="2279"/>
              </a:lnSpc>
            </a:pPr>
            <a:r>
              <a:rPr lang="en-US" sz="1899" b="1" spc="-43" dirty="0">
                <a:solidFill>
                  <a:srgbClr val="0F2B3F"/>
                </a:solidFill>
                <a:latin typeface="Roboto" panose="02000000000000000000" pitchFamily="2" charset="0"/>
                <a:ea typeface="Roboto" panose="02000000000000000000" pitchFamily="2" charset="0"/>
              </a:rPr>
              <a:t>Chief Technologist</a:t>
            </a:r>
          </a:p>
        </p:txBody>
      </p:sp>
      <p:sp>
        <p:nvSpPr>
          <p:cNvPr id="26" name="TextBox 26"/>
          <p:cNvSpPr txBox="1"/>
          <p:nvPr/>
        </p:nvSpPr>
        <p:spPr>
          <a:xfrm>
            <a:off x="9264934" y="1269503"/>
            <a:ext cx="2540541" cy="318933"/>
          </a:xfrm>
          <a:prstGeom prst="rect">
            <a:avLst/>
          </a:prstGeom>
        </p:spPr>
        <p:txBody>
          <a:bodyPr lIns="0" tIns="0" rIns="0" bIns="0" rtlCol="0" anchor="t">
            <a:spAutoFit/>
          </a:bodyPr>
          <a:lstStyle/>
          <a:p>
            <a:pPr algn="ctr" defTabSz="609630">
              <a:lnSpc>
                <a:spcPts val="2577"/>
              </a:lnSpc>
            </a:pPr>
            <a:r>
              <a:rPr lang="en-US" sz="2148" b="1" spc="-49" dirty="0">
                <a:solidFill>
                  <a:srgbClr val="00AA7F"/>
                </a:solidFill>
                <a:latin typeface="Roboto" panose="02000000000000000000" pitchFamily="2" charset="0"/>
                <a:ea typeface="Roboto" panose="02000000000000000000" pitchFamily="2" charset="0"/>
              </a:rPr>
              <a:t>Direnc Uysal</a:t>
            </a:r>
          </a:p>
        </p:txBody>
      </p:sp>
      <p:sp>
        <p:nvSpPr>
          <p:cNvPr id="27" name="Freeform 27"/>
          <p:cNvSpPr/>
          <p:nvPr/>
        </p:nvSpPr>
        <p:spPr>
          <a:xfrm>
            <a:off x="480246" y="522042"/>
            <a:ext cx="1906976" cy="441761"/>
          </a:xfrm>
          <a:custGeom>
            <a:avLst/>
            <a:gdLst/>
            <a:ahLst/>
            <a:cxnLst/>
            <a:rect l="l" t="t" r="r" b="b"/>
            <a:pathLst>
              <a:path w="2860464" h="662642">
                <a:moveTo>
                  <a:pt x="0" y="0"/>
                </a:moveTo>
                <a:lnTo>
                  <a:pt x="2860463" y="0"/>
                </a:lnTo>
                <a:lnTo>
                  <a:pt x="2860463" y="662643"/>
                </a:lnTo>
                <a:lnTo>
                  <a:pt x="0" y="662643"/>
                </a:lnTo>
                <a:lnTo>
                  <a:pt x="0" y="0"/>
                </a:lnTo>
                <a:close/>
              </a:path>
            </a:pathLst>
          </a:custGeom>
          <a:blipFill>
            <a:blip r:embed="rId8"/>
            <a:stretch>
              <a:fillRect/>
            </a:stretch>
          </a:blipFill>
        </p:spPr>
        <p:txBody>
          <a:bodyPr/>
          <a:lstStyle/>
          <a:p>
            <a:pPr defTabSz="609630"/>
            <a:endParaRPr lang="en-AU" sz="1200">
              <a:solidFill>
                <a:prstClr val="black"/>
              </a:solidFill>
              <a:latin typeface="Calibri"/>
            </a:endParaRPr>
          </a:p>
        </p:txBody>
      </p:sp>
      <p:sp>
        <p:nvSpPr>
          <p:cNvPr id="28" name="TextBox 28"/>
          <p:cNvSpPr txBox="1"/>
          <p:nvPr/>
        </p:nvSpPr>
        <p:spPr>
          <a:xfrm>
            <a:off x="587492" y="1433116"/>
            <a:ext cx="4592797" cy="1487587"/>
          </a:xfrm>
          <a:prstGeom prst="rect">
            <a:avLst/>
          </a:prstGeom>
        </p:spPr>
        <p:txBody>
          <a:bodyPr lIns="0" tIns="0" rIns="0" bIns="0" rtlCol="0" anchor="t">
            <a:spAutoFit/>
          </a:bodyPr>
          <a:lstStyle/>
          <a:p>
            <a:pPr defTabSz="609630">
              <a:lnSpc>
                <a:spcPts val="5811"/>
              </a:lnSpc>
            </a:pPr>
            <a:r>
              <a:rPr lang="en-US" sz="5642" spc="-67" dirty="0">
                <a:solidFill>
                  <a:srgbClr val="0F2B3F"/>
                </a:solidFill>
                <a:latin typeface="Roboto Bold"/>
              </a:rPr>
              <a:t>Meet </a:t>
            </a:r>
          </a:p>
          <a:p>
            <a:pPr defTabSz="609630">
              <a:lnSpc>
                <a:spcPts val="5811"/>
              </a:lnSpc>
            </a:pPr>
            <a:r>
              <a:rPr lang="en-US" sz="5642" spc="-67" dirty="0">
                <a:solidFill>
                  <a:srgbClr val="0F2B3F"/>
                </a:solidFill>
                <a:latin typeface="Roboto Bold"/>
              </a:rPr>
              <a:t>Direnc</a:t>
            </a:r>
          </a:p>
        </p:txBody>
      </p:sp>
      <p:sp>
        <p:nvSpPr>
          <p:cNvPr id="29" name="Freeform 29"/>
          <p:cNvSpPr/>
          <p:nvPr/>
        </p:nvSpPr>
        <p:spPr>
          <a:xfrm>
            <a:off x="4673700" y="1513523"/>
            <a:ext cx="798688" cy="379031"/>
          </a:xfrm>
          <a:custGeom>
            <a:avLst/>
            <a:gdLst/>
            <a:ahLst/>
            <a:cxnLst/>
            <a:rect l="l" t="t" r="r" b="b"/>
            <a:pathLst>
              <a:path w="1198032" h="568546">
                <a:moveTo>
                  <a:pt x="0" y="0"/>
                </a:moveTo>
                <a:lnTo>
                  <a:pt x="1198033" y="0"/>
                </a:lnTo>
                <a:lnTo>
                  <a:pt x="1198033" y="568546"/>
                </a:lnTo>
                <a:lnTo>
                  <a:pt x="0" y="568546"/>
                </a:lnTo>
                <a:lnTo>
                  <a:pt x="0" y="0"/>
                </a:lnTo>
                <a:close/>
              </a:path>
            </a:pathLst>
          </a:custGeom>
          <a:blipFill>
            <a:blip r:embed="rId9">
              <a:extLst>
                <a:ext uri="{96DAC541-7B7A-43D3-8B79-37D633B846F1}">
                  <asvg:svgBlip xmlns:asvg="http://schemas.microsoft.com/office/drawing/2016/SVG/main" r:embed="rId10"/>
                </a:ext>
              </a:extLst>
            </a:blip>
            <a:stretch>
              <a:fillRect l="-111404" b="-348834"/>
            </a:stretch>
          </a:blipFill>
        </p:spPr>
        <p:txBody>
          <a:bodyPr/>
          <a:lstStyle/>
          <a:p>
            <a:pPr defTabSz="609630"/>
            <a:endParaRPr lang="en-AU" sz="1200">
              <a:solidFill>
                <a:prstClr val="black"/>
              </a:solidFill>
              <a:latin typeface="Calibri"/>
            </a:endParaRPr>
          </a:p>
        </p:txBody>
      </p:sp>
      <p:sp>
        <p:nvSpPr>
          <p:cNvPr id="34" name="Freeform 19">
            <a:extLst>
              <a:ext uri="{FF2B5EF4-FFF2-40B4-BE49-F238E27FC236}">
                <a16:creationId xmlns:a16="http://schemas.microsoft.com/office/drawing/2014/main" id="{B10A83BC-D623-EEA5-A1A8-27DF782FF38C}"/>
              </a:ext>
            </a:extLst>
          </p:cNvPr>
          <p:cNvSpPr/>
          <p:nvPr/>
        </p:nvSpPr>
        <p:spPr>
          <a:xfrm>
            <a:off x="6488518" y="984693"/>
            <a:ext cx="2366329" cy="2366320"/>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11"/>
            <a:stretch>
              <a:fillRect t="-16666" b="-16666"/>
            </a:stretch>
          </a:blipFill>
        </p:spPr>
        <p:txBody>
          <a:bodyPr/>
          <a:lstStyle/>
          <a:p>
            <a:pPr defTabSz="609630"/>
            <a:endParaRPr lang="en-AU" sz="1200">
              <a:solidFill>
                <a:prstClr val="black"/>
              </a:solidFill>
              <a:latin typeface="Calibri"/>
            </a:endParaRPr>
          </a:p>
        </p:txBody>
      </p:sp>
    </p:spTree>
    <p:extLst>
      <p:ext uri="{BB962C8B-B14F-4D97-AF65-F5344CB8AC3E}">
        <p14:creationId xmlns:p14="http://schemas.microsoft.com/office/powerpoint/2010/main" val="25451634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67CFA85-8A83-4729-8113-748D5074E67B}"/>
</file>

<file path=customXml/itemProps2.xml><?xml version="1.0" encoding="utf-8"?>
<ds:datastoreItem xmlns:ds="http://schemas.openxmlformats.org/officeDocument/2006/customXml" ds:itemID="{0A572DA4-78C8-472C-9A0A-29DC6E47569F}"/>
</file>

<file path=customXml/itemProps3.xml><?xml version="1.0" encoding="utf-8"?>
<ds:datastoreItem xmlns:ds="http://schemas.openxmlformats.org/officeDocument/2006/customXml" ds:itemID="{BAFF7ED7-649A-4D62-B8BF-94034BEFCD65}"/>
</file>

<file path=docProps/app.xml><?xml version="1.0" encoding="utf-8"?>
<Properties xmlns="http://schemas.openxmlformats.org/officeDocument/2006/extended-properties" xmlns:vt="http://schemas.openxmlformats.org/officeDocument/2006/docPropsVTypes">
  <TotalTime>0</TotalTime>
  <Words>170</Words>
  <Application>Microsoft Office PowerPoint</Application>
  <PresentationFormat>Widescreen</PresentationFormat>
  <Paragraphs>12</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Roboto</vt:lpstr>
      <vt:lpstr>Roboto Bold</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Darcy Roach</dc:creator>
  <cp:lastModifiedBy>Darcy Roach</cp:lastModifiedBy>
  <cp:revision>1</cp:revision>
  <dcterms:created xsi:type="dcterms:W3CDTF">2024-09-30T01:49:40Z</dcterms:created>
  <dcterms:modified xsi:type="dcterms:W3CDTF">2024-09-30T01:50:30Z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