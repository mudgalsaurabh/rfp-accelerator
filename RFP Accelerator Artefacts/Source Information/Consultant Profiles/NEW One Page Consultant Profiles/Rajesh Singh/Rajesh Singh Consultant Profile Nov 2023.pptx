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2"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3584"/>
    <a:srgbClr val="ED7D31"/>
    <a:srgbClr val="0F2B3F"/>
    <a:srgbClr val="0059FF"/>
    <a:srgbClr val="00AB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5" d="100"/>
          <a:sy n="95" d="100"/>
        </p:scale>
        <p:origin x="1794" y="66"/>
      </p:cViewPr>
      <p:guideLst>
        <p:guide orient="horz" pos="2448"/>
        <p:guide pos="3168"/>
        <p:guide pos="311"/>
        <p:guide pos="5994"/>
        <p:guide orient="horz" pos="148"/>
        <p:guide orient="horz" pos="474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23DE6B34-0D24-42DE-9BF3-2E13BCD40254}"/>
    <pc:docChg chg="undo custSel modSld">
      <pc:chgData name="Darcy Roach" userId="ba676ee9-e9b4-49e8-a515-8077106c948d" providerId="ADAL" clId="{23DE6B34-0D24-42DE-9BF3-2E13BCD40254}" dt="2023-11-02T00:56:45.957" v="1430" actId="20577"/>
      <pc:docMkLst>
        <pc:docMk/>
      </pc:docMkLst>
      <pc:sldChg chg="modSp mod">
        <pc:chgData name="Darcy Roach" userId="ba676ee9-e9b4-49e8-a515-8077106c948d" providerId="ADAL" clId="{23DE6B34-0D24-42DE-9BF3-2E13BCD40254}" dt="2023-11-02T00:56:45.957" v="1430" actId="20577"/>
        <pc:sldMkLst>
          <pc:docMk/>
          <pc:sldMk cId="2144306671" sldId="272"/>
        </pc:sldMkLst>
        <pc:spChg chg="mod ord">
          <ac:chgData name="Darcy Roach" userId="ba676ee9-e9b4-49e8-a515-8077106c948d" providerId="ADAL" clId="{23DE6B34-0D24-42DE-9BF3-2E13BCD40254}" dt="2023-11-02T00:11:30.816" v="1197" actId="20577"/>
          <ac:spMkLst>
            <pc:docMk/>
            <pc:sldMk cId="2144306671" sldId="272"/>
            <ac:spMk id="2" creationId="{2FA774CA-3857-9308-4D38-9414B0CC2B95}"/>
          </ac:spMkLst>
        </pc:spChg>
        <pc:spChg chg="mod">
          <ac:chgData name="Darcy Roach" userId="ba676ee9-e9b4-49e8-a515-8077106c948d" providerId="ADAL" clId="{23DE6B34-0D24-42DE-9BF3-2E13BCD40254}" dt="2023-11-01T05:53:05.666" v="530" actId="20577"/>
          <ac:spMkLst>
            <pc:docMk/>
            <pc:sldMk cId="2144306671" sldId="272"/>
            <ac:spMk id="4" creationId="{80F49B2F-21D4-F9EB-049F-717A10CB7D84}"/>
          </ac:spMkLst>
        </pc:spChg>
        <pc:spChg chg="mod">
          <ac:chgData name="Darcy Roach" userId="ba676ee9-e9b4-49e8-a515-8077106c948d" providerId="ADAL" clId="{23DE6B34-0D24-42DE-9BF3-2E13BCD40254}" dt="2023-11-02T00:08:57.026" v="1142" actId="20577"/>
          <ac:spMkLst>
            <pc:docMk/>
            <pc:sldMk cId="2144306671" sldId="272"/>
            <ac:spMk id="6" creationId="{701E125D-B356-8A2A-B86B-AB6567CEABE1}"/>
          </ac:spMkLst>
        </pc:spChg>
        <pc:spChg chg="mod">
          <ac:chgData name="Darcy Roach" userId="ba676ee9-e9b4-49e8-a515-8077106c948d" providerId="ADAL" clId="{23DE6B34-0D24-42DE-9BF3-2E13BCD40254}" dt="2023-11-02T00:09:33.457" v="1147" actId="20577"/>
          <ac:spMkLst>
            <pc:docMk/>
            <pc:sldMk cId="2144306671" sldId="272"/>
            <ac:spMk id="8" creationId="{59FEB941-5146-6B10-4E4D-8A4ADE918AEF}"/>
          </ac:spMkLst>
        </pc:spChg>
        <pc:spChg chg="mod">
          <ac:chgData name="Darcy Roach" userId="ba676ee9-e9b4-49e8-a515-8077106c948d" providerId="ADAL" clId="{23DE6B34-0D24-42DE-9BF3-2E13BCD40254}" dt="2023-11-01T06:20:46.685" v="1015" actId="20577"/>
          <ac:spMkLst>
            <pc:docMk/>
            <pc:sldMk cId="2144306671" sldId="272"/>
            <ac:spMk id="10" creationId="{06312B81-BCF1-2796-C112-3DBE0E02F483}"/>
          </ac:spMkLst>
        </pc:spChg>
        <pc:spChg chg="mod">
          <ac:chgData name="Darcy Roach" userId="ba676ee9-e9b4-49e8-a515-8077106c948d" providerId="ADAL" clId="{23DE6B34-0D24-42DE-9BF3-2E13BCD40254}" dt="2023-11-01T05:14:55.949" v="32" actId="20577"/>
          <ac:spMkLst>
            <pc:docMk/>
            <pc:sldMk cId="2144306671" sldId="272"/>
            <ac:spMk id="13" creationId="{FD2720C9-A79F-BD7F-E179-674AD67D7892}"/>
          </ac:spMkLst>
        </pc:spChg>
        <pc:spChg chg="mod">
          <ac:chgData name="Darcy Roach" userId="ba676ee9-e9b4-49e8-a515-8077106c948d" providerId="ADAL" clId="{23DE6B34-0D24-42DE-9BF3-2E13BCD40254}" dt="2023-11-01T05:54:53.832" v="568" actId="20577"/>
          <ac:spMkLst>
            <pc:docMk/>
            <pc:sldMk cId="2144306671" sldId="272"/>
            <ac:spMk id="16" creationId="{7A53ACAB-BBC9-A3AA-740D-EB947374392F}"/>
          </ac:spMkLst>
        </pc:spChg>
        <pc:spChg chg="mod">
          <ac:chgData name="Darcy Roach" userId="ba676ee9-e9b4-49e8-a515-8077106c948d" providerId="ADAL" clId="{23DE6B34-0D24-42DE-9BF3-2E13BCD40254}" dt="2023-11-02T00:56:31.438" v="1413" actId="20577"/>
          <ac:spMkLst>
            <pc:docMk/>
            <pc:sldMk cId="2144306671" sldId="272"/>
            <ac:spMk id="17" creationId="{1BDE5051-9F34-F139-742D-4450E5D6591E}"/>
          </ac:spMkLst>
        </pc:spChg>
        <pc:spChg chg="mod">
          <ac:chgData name="Darcy Roach" userId="ba676ee9-e9b4-49e8-a515-8077106c948d" providerId="ADAL" clId="{23DE6B34-0D24-42DE-9BF3-2E13BCD40254}" dt="2023-11-02T00:21:04.896" v="1375" actId="20577"/>
          <ac:spMkLst>
            <pc:docMk/>
            <pc:sldMk cId="2144306671" sldId="272"/>
            <ac:spMk id="19" creationId="{7513C49A-2DF2-8111-FED4-FC07A8EAD258}"/>
          </ac:spMkLst>
        </pc:spChg>
        <pc:spChg chg="mod">
          <ac:chgData name="Darcy Roach" userId="ba676ee9-e9b4-49e8-a515-8077106c948d" providerId="ADAL" clId="{23DE6B34-0D24-42DE-9BF3-2E13BCD40254}" dt="2023-11-02T00:56:14.444" v="1390" actId="20577"/>
          <ac:spMkLst>
            <pc:docMk/>
            <pc:sldMk cId="2144306671" sldId="272"/>
            <ac:spMk id="22" creationId="{9D4E289E-1D52-CBDD-E381-40963429D7F1}"/>
          </ac:spMkLst>
        </pc:spChg>
        <pc:spChg chg="mod">
          <ac:chgData name="Darcy Roach" userId="ba676ee9-e9b4-49e8-a515-8077106c948d" providerId="ADAL" clId="{23DE6B34-0D24-42DE-9BF3-2E13BCD40254}" dt="2023-11-01T05:49:43.035" v="418" actId="20577"/>
          <ac:spMkLst>
            <pc:docMk/>
            <pc:sldMk cId="2144306671" sldId="272"/>
            <ac:spMk id="26" creationId="{1A3D666D-00C8-D106-73C3-9FF300F8618C}"/>
          </ac:spMkLst>
        </pc:spChg>
        <pc:spChg chg="mod">
          <ac:chgData name="Darcy Roach" userId="ba676ee9-e9b4-49e8-a515-8077106c948d" providerId="ADAL" clId="{23DE6B34-0D24-42DE-9BF3-2E13BCD40254}" dt="2023-11-02T00:56:45.957" v="1430" actId="20577"/>
          <ac:spMkLst>
            <pc:docMk/>
            <pc:sldMk cId="2144306671" sldId="272"/>
            <ac:spMk id="28" creationId="{6059F888-3BDF-A1C0-65E5-CB6FDD43D97C}"/>
          </ac:spMkLst>
        </pc:spChg>
        <pc:spChg chg="mod">
          <ac:chgData name="Darcy Roach" userId="ba676ee9-e9b4-49e8-a515-8077106c948d" providerId="ADAL" clId="{23DE6B34-0D24-42DE-9BF3-2E13BCD40254}" dt="2023-11-01T05:38:40.329" v="272" actId="20577"/>
          <ac:spMkLst>
            <pc:docMk/>
            <pc:sldMk cId="2144306671" sldId="272"/>
            <ac:spMk id="38" creationId="{AB47A2EE-BF0B-DB05-8B7C-DB6594B2B3D5}"/>
          </ac:spMkLst>
        </pc:spChg>
        <pc:grpChg chg="mod">
          <ac:chgData name="Darcy Roach" userId="ba676ee9-e9b4-49e8-a515-8077106c948d" providerId="ADAL" clId="{23DE6B34-0D24-42DE-9BF3-2E13BCD40254}" dt="2023-11-02T00:20:22.513" v="1346" actId="1076"/>
          <ac:grpSpMkLst>
            <pc:docMk/>
            <pc:sldMk cId="2144306671" sldId="272"/>
            <ac:grpSpMk id="18" creationId="{E0B3FDFC-4A78-346F-E1D4-E183BEB90A60}"/>
          </ac:grpSpMkLst>
        </pc:grpChg>
        <pc:grpChg chg="mod">
          <ac:chgData name="Darcy Roach" userId="ba676ee9-e9b4-49e8-a515-8077106c948d" providerId="ADAL" clId="{23DE6B34-0D24-42DE-9BF3-2E13BCD40254}" dt="2023-11-01T06:21:11.060" v="1016" actId="1076"/>
          <ac:grpSpMkLst>
            <pc:docMk/>
            <pc:sldMk cId="2144306671" sldId="272"/>
            <ac:grpSpMk id="163" creationId="{E52FDF9F-B084-9074-7DB9-539AD5456487}"/>
          </ac:grpSpMkLst>
        </pc:grpChg>
        <pc:cxnChg chg="mod">
          <ac:chgData name="Darcy Roach" userId="ba676ee9-e9b4-49e8-a515-8077106c948d" providerId="ADAL" clId="{23DE6B34-0D24-42DE-9BF3-2E13BCD40254}" dt="2023-11-02T00:10:43.126" v="1149" actId="14100"/>
          <ac:cxnSpMkLst>
            <pc:docMk/>
            <pc:sldMk cId="2144306671" sldId="272"/>
            <ac:cxnSpMk id="3" creationId="{67C34E10-2CF8-9BCA-1CC6-D78A3FF9CA80}"/>
          </ac:cxnSpMkLst>
        </pc:cxnChg>
        <pc:cxnChg chg="mod">
          <ac:chgData name="Darcy Roach" userId="ba676ee9-e9b4-49e8-a515-8077106c948d" providerId="ADAL" clId="{23DE6B34-0D24-42DE-9BF3-2E13BCD40254}" dt="2023-11-02T00:19:08.317" v="1342" actId="14100"/>
          <ac:cxnSpMkLst>
            <pc:docMk/>
            <pc:sldMk cId="2144306671" sldId="272"/>
            <ac:cxnSpMk id="21" creationId="{B0913DE4-461D-CE43-AABC-C4B3D7D22F45}"/>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11/2/2023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11/2/2023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11/2/2023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11/2/2023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11/2/2023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11/2/2023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11/2/2023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11/2/2023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11/2/2023</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FA774CA-3857-9308-4D38-9414B0CC2B95}"/>
              </a:ext>
            </a:extLst>
          </p:cNvPr>
          <p:cNvSpPr txBox="1"/>
          <p:nvPr/>
        </p:nvSpPr>
        <p:spPr>
          <a:xfrm>
            <a:off x="3332724" y="6098464"/>
            <a:ext cx="5180400"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A93584"/>
                </a:solidFill>
                <a:latin typeface="Roboto" panose="02000000000000000000" pitchFamily="2" charset="0"/>
                <a:ea typeface="Roboto" panose="02000000000000000000" pitchFamily="2" charset="0"/>
              </a:rPr>
              <a:t>Australian Financial Services </a:t>
            </a:r>
            <a:r>
              <a:rPr lang="en-US" sz="1200" b="1" dirty="0" err="1">
                <a:solidFill>
                  <a:srgbClr val="A93584"/>
                </a:solidFill>
                <a:latin typeface="Roboto" panose="02000000000000000000" pitchFamily="2" charset="0"/>
                <a:ea typeface="Roboto" panose="02000000000000000000" pitchFamily="2" charset="0"/>
              </a:rPr>
              <a:t>Organisation</a:t>
            </a:r>
            <a:r>
              <a:rPr lang="en-US" sz="1200" b="1" dirty="0">
                <a:solidFill>
                  <a:srgbClr val="A93584"/>
                </a:solidFill>
                <a:latin typeface="Roboto" panose="02000000000000000000" pitchFamily="2" charset="0"/>
                <a:ea typeface="Roboto" panose="02000000000000000000" pitchFamily="2" charset="0"/>
              </a:rPr>
              <a:t> – Senior Data Architect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1" i="0" u="none" strike="noStrike" kern="1200" cap="none" spc="0" normalizeH="0" baseline="0" noProof="0" dirty="0">
              <a:ln>
                <a:noFill/>
              </a:ln>
              <a:solidFill>
                <a:srgbClr val="A93584"/>
              </a:solidFill>
              <a:effectLst/>
              <a:uLnTx/>
              <a:uFillTx/>
              <a:latin typeface="Roboto" panose="02000000000000000000" pitchFamily="2" charset="0"/>
              <a:ea typeface="Roboto" panose="02000000000000000000" pitchFamily="2" charset="0"/>
              <a:cs typeface="+mn-cs"/>
            </a:endParaRPr>
          </a:p>
        </p:txBody>
      </p:sp>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388" normalizeH="0" baseline="0" noProof="0">
                <a:ln>
                  <a:noFill/>
                </a:ln>
                <a:solidFill>
                  <a:prstClr val="white"/>
                </a:solidFill>
                <a:effectLst/>
                <a:uLnTx/>
                <a:uFillTx/>
                <a:latin typeface="Roboto" panose="02000000000000000000" pitchFamily="2" charset="0"/>
                <a:ea typeface="Roboto" panose="02000000000000000000" pitchFamily="2" charset="0"/>
                <a:cs typeface="+mn-cs"/>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329" b="0" i="0" u="none" strike="noStrike" kern="1200" cap="none" spc="0" normalizeH="0" baseline="0" noProof="0">
              <a:ln>
                <a:noFill/>
              </a:ln>
              <a:solidFill>
                <a:srgbClr val="4472C4">
                  <a:lumMod val="20000"/>
                  <a:lumOff val="80000"/>
                </a:srgbClr>
              </a:solidFill>
              <a:effectLst/>
              <a:uLnTx/>
              <a:uFillTx/>
              <a:latin typeface="Calibri" panose="020F0502020204030204"/>
              <a:ea typeface="+mn-ea"/>
              <a:cs typeface="+mn-cs"/>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158595" y="120831"/>
            <a:ext cx="2168863" cy="861774"/>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800" b="1" dirty="0">
                <a:solidFill>
                  <a:srgbClr val="00AB80"/>
                </a:solidFill>
                <a:latin typeface="Roboto" panose="02000000000000000000" pitchFamily="2" charset="0"/>
                <a:ea typeface="Roboto" panose="02000000000000000000" pitchFamily="2" charset="0"/>
              </a:rPr>
              <a:t>Rajesh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2800" b="1" dirty="0">
                <a:solidFill>
                  <a:srgbClr val="00AB80"/>
                </a:solidFill>
                <a:latin typeface="Roboto" panose="02000000000000000000" pitchFamily="2" charset="0"/>
                <a:ea typeface="Roboto" panose="02000000000000000000" pitchFamily="2" charset="0"/>
              </a:rPr>
              <a:t>Singh</a:t>
            </a:r>
          </a:p>
        </p:txBody>
      </p:sp>
      <p:sp>
        <p:nvSpPr>
          <p:cNvPr id="17" name="TextBox 16">
            <a:extLst>
              <a:ext uri="{FF2B5EF4-FFF2-40B4-BE49-F238E27FC236}">
                <a16:creationId xmlns:a16="http://schemas.microsoft.com/office/drawing/2014/main" id="{1BDE5051-9F34-F139-742D-4450E5D6591E}"/>
              </a:ext>
            </a:extLst>
          </p:cNvPr>
          <p:cNvSpPr txBox="1"/>
          <p:nvPr/>
        </p:nvSpPr>
        <p:spPr>
          <a:xfrm>
            <a:off x="162231" y="1668100"/>
            <a:ext cx="2862323" cy="3254096"/>
          </a:xfrm>
          <a:prstGeom prst="rect">
            <a:avLst/>
          </a:prstGeom>
          <a:noFill/>
        </p:spPr>
        <p:txBody>
          <a:bodyPr wrap="square" lIns="0" tIns="0" rIns="0" bIns="0" rtlCol="0" anchor="t">
            <a:spAutoFit/>
          </a:bodyPr>
          <a:lstStyle/>
          <a:p>
            <a:pPr marL="0" marR="0" lvl="0" indent="0" algn="l" defTabSz="457200" rtl="0" eaLnBrk="1" fontAlgn="auto" latinLnBrk="0" hangingPunct="1">
              <a:lnSpc>
                <a:spcPts val="1500"/>
              </a:lnSpc>
              <a:spcBef>
                <a:spcPts val="0"/>
              </a:spcBef>
              <a:spcAft>
                <a:spcPts val="0"/>
              </a:spcAft>
              <a:buClrTx/>
              <a:buSzTx/>
              <a:buFontTx/>
              <a:buNone/>
              <a:tabLst/>
              <a:defRPr/>
            </a:pPr>
            <a:r>
              <a:rPr lang="en-AU" sz="1000" spc="13" dirty="0">
                <a:solidFill>
                  <a:prstClr val="black"/>
                </a:solidFill>
                <a:latin typeface="Roboto Light" panose="02000000000000000000" pitchFamily="2" charset="0"/>
                <a:ea typeface="Roboto Light" panose="02000000000000000000" pitchFamily="2" charset="0"/>
                <a:cs typeface="Lato" panose="020F0502020204030203" pitchFamily="34" charset="0"/>
              </a:rPr>
              <a:t>Rajesh is a senior data architect professional with over 15 years of experience in the IT industry. He is an expert in software product development, enterprise architecture, consulting, app and data transformation, handling customer escalation, and project management. </a:t>
            </a:r>
          </a:p>
          <a:p>
            <a:pPr marL="0" marR="0" lvl="0" indent="0" algn="l" defTabSz="457200" rtl="0" eaLnBrk="1" fontAlgn="auto" latinLnBrk="0" hangingPunct="1">
              <a:lnSpc>
                <a:spcPts val="1500"/>
              </a:lnSpc>
              <a:spcBef>
                <a:spcPts val="0"/>
              </a:spcBef>
              <a:spcAft>
                <a:spcPts val="0"/>
              </a:spcAft>
              <a:buClrTx/>
              <a:buSzTx/>
              <a:buFontTx/>
              <a:buNone/>
              <a:tabLst/>
              <a:defRPr/>
            </a:pPr>
            <a:endParaRPr lang="en-AU" sz="1000" spc="13" dirty="0">
              <a:solidFill>
                <a:prstClr val="black"/>
              </a:solidFill>
              <a:latin typeface="Roboto Light" panose="02000000000000000000" pitchFamily="2" charset="0"/>
              <a:ea typeface="Roboto Light" panose="02000000000000000000" pitchFamily="2" charset="0"/>
              <a:cs typeface="Lato" panose="020F0502020204030203" pitchFamily="34" charset="0"/>
            </a:endParaRPr>
          </a:p>
          <a:p>
            <a:pPr marL="0" marR="0" lvl="0" indent="0" algn="l" defTabSz="457200" rtl="0" eaLnBrk="1" fontAlgn="auto" latinLnBrk="0" hangingPunct="1">
              <a:lnSpc>
                <a:spcPts val="1500"/>
              </a:lnSpc>
              <a:spcBef>
                <a:spcPts val="0"/>
              </a:spcBef>
              <a:spcAft>
                <a:spcPts val="0"/>
              </a:spcAft>
              <a:buClrTx/>
              <a:buSzTx/>
              <a:buFontTx/>
              <a:buNone/>
              <a:tabLst/>
              <a:defRPr/>
            </a:pPr>
            <a:r>
              <a:rPr lang="en-AU" sz="1000" spc="13" dirty="0">
                <a:solidFill>
                  <a:prstClr val="black"/>
                </a:solidFill>
                <a:latin typeface="Roboto Light" panose="02000000000000000000" pitchFamily="2" charset="0"/>
                <a:ea typeface="Roboto Light" panose="02000000000000000000" pitchFamily="2" charset="0"/>
                <a:cs typeface="Lato" panose="020F0502020204030203" pitchFamily="34" charset="0"/>
              </a:rPr>
              <a:t>Rajesh drives global data transformation programs and projects with a focus on providing technical mentorship, building corporate competencies and providing strategic direction.</a:t>
            </a:r>
          </a:p>
          <a:p>
            <a:pPr marL="0" marR="0" lvl="0" indent="0" algn="l" defTabSz="457200" rtl="0" eaLnBrk="1" fontAlgn="auto" latinLnBrk="0" hangingPunct="1">
              <a:lnSpc>
                <a:spcPts val="1500"/>
              </a:lnSpc>
              <a:spcBef>
                <a:spcPts val="0"/>
              </a:spcBef>
              <a:spcAft>
                <a:spcPts val="0"/>
              </a:spcAft>
              <a:buClrTx/>
              <a:buSzTx/>
              <a:buFontTx/>
              <a:buNone/>
              <a:tabLst/>
              <a:defRPr/>
            </a:pPr>
            <a:endParaRPr kumimoji="0" lang="en-AU" sz="1000" b="0" i="0" u="none" strike="noStrike" kern="1200" cap="none" spc="13"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Lato" panose="020F0502020204030203" pitchFamily="34" charset="0"/>
            </a:endParaRPr>
          </a:p>
          <a:p>
            <a:pPr marL="0" marR="0" lvl="0" indent="0" algn="l" defTabSz="457200" rtl="0" eaLnBrk="1" fontAlgn="auto" latinLnBrk="0" hangingPunct="1">
              <a:lnSpc>
                <a:spcPts val="1500"/>
              </a:lnSpc>
              <a:spcBef>
                <a:spcPts val="0"/>
              </a:spcBef>
              <a:spcAft>
                <a:spcPts val="0"/>
              </a:spcAft>
              <a:buClrTx/>
              <a:buSzTx/>
              <a:buFontTx/>
              <a:buNone/>
              <a:tabLst/>
              <a:defRPr/>
            </a:pPr>
            <a:r>
              <a:rPr lang="en-AU" sz="1000" spc="13" dirty="0">
                <a:solidFill>
                  <a:prstClr val="black"/>
                </a:solidFill>
                <a:latin typeface="Roboto Light" panose="02000000000000000000" pitchFamily="2" charset="0"/>
                <a:ea typeface="Roboto Light" panose="02000000000000000000" pitchFamily="2" charset="0"/>
                <a:cs typeface="Lato" panose="020F0502020204030203" pitchFamily="34" charset="0"/>
              </a:rPr>
              <a:t>Rajesh</a:t>
            </a:r>
            <a:r>
              <a:rPr kumimoji="0" lang="en-AU" sz="1000" b="0" i="0" u="none" strike="noStrike" kern="1200" cap="none" spc="13"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Lato" panose="020F0502020204030203" pitchFamily="34" charset="0"/>
              </a:rPr>
              <a:t> furthermore brings great energy to team </a:t>
            </a:r>
            <a:r>
              <a:rPr lang="en-AU" sz="1000" spc="13" dirty="0">
                <a:solidFill>
                  <a:prstClr val="black"/>
                </a:solidFill>
                <a:latin typeface="Roboto Light" panose="02000000000000000000" pitchFamily="2" charset="0"/>
                <a:ea typeface="Roboto Light" panose="02000000000000000000" pitchFamily="2" charset="0"/>
                <a:cs typeface="Lato" panose="020F0502020204030203" pitchFamily="34" charset="0"/>
              </a:rPr>
              <a:t>environments and </a:t>
            </a:r>
            <a:r>
              <a:rPr kumimoji="0" lang="en-AU" sz="1000" b="0" i="0" u="none" strike="noStrike" kern="1200" cap="none" spc="13"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Lato" panose="020F0502020204030203" pitchFamily="34" charset="0"/>
              </a:rPr>
              <a:t>displays excellent teamwork, communication, and interpersonal skills to interact with clients and support his strong technical skillset. </a:t>
            </a:r>
            <a:endParaRPr kumimoji="0" lang="en-US" sz="1000" b="0" i="0" u="none" strike="noStrike" kern="1200" cap="none" spc="13"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Lato" panose="020F0502020204030203" pitchFamily="34" charset="0"/>
            </a:endParaRPr>
          </a:p>
        </p:txBody>
      </p:sp>
      <p:sp>
        <p:nvSpPr>
          <p:cNvPr id="20" name="TextBox 19">
            <a:extLst>
              <a:ext uri="{FF2B5EF4-FFF2-40B4-BE49-F238E27FC236}">
                <a16:creationId xmlns:a16="http://schemas.microsoft.com/office/drawing/2014/main" id="{716A87E2-F657-C1C6-3715-B7C8A7F1E050}"/>
              </a:ext>
            </a:extLst>
          </p:cNvPr>
          <p:cNvSpPr txBox="1"/>
          <p:nvPr/>
        </p:nvSpPr>
        <p:spPr>
          <a:xfrm>
            <a:off x="84993" y="1239722"/>
            <a:ext cx="5029200" cy="310341"/>
          </a:xfrm>
          <a:prstGeom prst="rect">
            <a:avLst/>
          </a:prstGeom>
          <a:noFill/>
        </p:spPr>
        <p:txBody>
          <a:bodyPr wrap="square">
            <a:spAutoFit/>
          </a:bodyPr>
          <a:lstStyle/>
          <a:p>
            <a:pPr marL="0" marR="0" lvl="0" indent="0" algn="l" defTabSz="457200" rtl="0" eaLnBrk="1" fontAlgn="auto" latinLnBrk="0" hangingPunct="1">
              <a:lnSpc>
                <a:spcPts val="1812"/>
              </a:lnSpc>
              <a:spcBef>
                <a:spcPts val="0"/>
              </a:spcBef>
              <a:spcAft>
                <a:spcPts val="0"/>
              </a:spcAft>
              <a:buClrTx/>
              <a:buSzTx/>
              <a:buFontTx/>
              <a:buNone/>
              <a:tabLst/>
              <a:defRPr/>
            </a:pPr>
            <a:r>
              <a:rPr kumimoji="0" lang="en-US" sz="1400" b="1" i="0" u="none" strike="noStrike" kern="1200" cap="none" spc="13" normalizeH="0" baseline="0" noProof="0">
                <a:ln>
                  <a:noFill/>
                </a:ln>
                <a:solidFill>
                  <a:srgbClr val="00AB80"/>
                </a:solidFill>
                <a:effectLst/>
                <a:uLnTx/>
                <a:uFillTx/>
                <a:latin typeface="Roboto Light" panose="02000000000000000000" pitchFamily="2" charset="0"/>
                <a:ea typeface="Roboto Light" panose="02000000000000000000" pitchFamily="2" charset="0"/>
                <a:cs typeface="Lato" panose="020F0502020204030203" pitchFamily="34" charset="0"/>
              </a:rPr>
              <a:t>Profile</a:t>
            </a:r>
            <a:endParaRPr kumimoji="0" lang="en-US" sz="400" b="1" i="0" u="none" strike="noStrike" kern="1200" cap="none" spc="13" normalizeH="0" baseline="0" noProof="0">
              <a:ln>
                <a:noFill/>
              </a:ln>
              <a:solidFill>
                <a:srgbClr val="00AB80"/>
              </a:solidFill>
              <a:effectLst/>
              <a:uLnTx/>
              <a:uFillTx/>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158595" y="1007347"/>
            <a:ext cx="2489720" cy="218008"/>
          </a:xfrm>
          <a:prstGeom prst="rect">
            <a:avLst/>
          </a:prstGeom>
          <a:noFill/>
        </p:spPr>
        <p:txBody>
          <a:bodyPr wrap="square" lIns="0" tIns="0" rIns="0" bIns="0" rtlCol="0" anchor="t">
            <a:spAutoFit/>
          </a:bodyPr>
          <a:lstStyle/>
          <a:p>
            <a:pPr marL="0" marR="0" lvl="0" indent="0" algn="l" defTabSz="457200" rtl="0" eaLnBrk="1" fontAlgn="auto" latinLnBrk="0" hangingPunct="1">
              <a:lnSpc>
                <a:spcPts val="1812"/>
              </a:lnSpc>
              <a:spcBef>
                <a:spcPts val="0"/>
              </a:spcBef>
              <a:spcAft>
                <a:spcPts val="0"/>
              </a:spcAft>
              <a:buClrTx/>
              <a:buSzTx/>
              <a:buFontTx/>
              <a:buNone/>
              <a:tabLst/>
              <a:defRPr/>
            </a:pPr>
            <a:r>
              <a:rPr lang="en-US" sz="1400" spc="13" dirty="0">
                <a:solidFill>
                  <a:prstClr val="white">
                    <a:lumMod val="50000"/>
                  </a:prstClr>
                </a:solidFill>
                <a:latin typeface="Roboto Light" panose="02000000000000000000" pitchFamily="2" charset="0"/>
                <a:ea typeface="Roboto Light" panose="02000000000000000000" pitchFamily="2" charset="0"/>
                <a:cs typeface="Lato" panose="020F0502020204030203" pitchFamily="34" charset="0"/>
              </a:rPr>
              <a:t>Principal</a:t>
            </a:r>
            <a:r>
              <a:rPr kumimoji="0" lang="en-US" sz="1400" b="0" i="0" u="none" strike="noStrike" kern="1200" cap="none" spc="13" normalizeH="0" baseline="0" noProof="0" dirty="0">
                <a:ln>
                  <a:noFill/>
                </a:ln>
                <a:solidFill>
                  <a:prstClr val="white">
                    <a:lumMod val="50000"/>
                  </a:prstClr>
                </a:solidFill>
                <a:effectLst/>
                <a:uLnTx/>
                <a:uFillTx/>
                <a:latin typeface="Roboto Light" panose="02000000000000000000" pitchFamily="2" charset="0"/>
                <a:ea typeface="Roboto Light" panose="02000000000000000000" pitchFamily="2" charset="0"/>
                <a:cs typeface="Lato" panose="020F0502020204030203" pitchFamily="34" charset="0"/>
              </a:rPr>
              <a:t>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TextBox 25">
            <a:extLst>
              <a:ext uri="{FF2B5EF4-FFF2-40B4-BE49-F238E27FC236}">
                <a16:creationId xmlns:a16="http://schemas.microsoft.com/office/drawing/2014/main" id="{1A3D666D-00C8-D106-73C3-9FF300F8618C}"/>
              </a:ext>
            </a:extLst>
          </p:cNvPr>
          <p:cNvSpPr txBox="1"/>
          <p:nvPr/>
        </p:nvSpPr>
        <p:spPr>
          <a:xfrm>
            <a:off x="1642327" y="5747849"/>
            <a:ext cx="1510046" cy="2169825"/>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Python</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R</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Java</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Shell</a:t>
            </a:r>
            <a:endParaRPr lang="en-US" sz="900" dirty="0">
              <a:solidFill>
                <a:prstClr val="black"/>
              </a:solidFill>
              <a:latin typeface="Roboto Light" panose="02000000000000000000" pitchFamily="2" charset="0"/>
              <a:ea typeface="Roboto Light" panose="02000000000000000000" pitchFamily="2" charset="0"/>
            </a:endParaRP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Apache Beam</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err="1">
                <a:ln>
                  <a:noFill/>
                </a:ln>
                <a:solidFill>
                  <a:prstClr val="black"/>
                </a:solidFill>
                <a:effectLst/>
                <a:uLnTx/>
                <a:uFillTx/>
                <a:latin typeface="Roboto Light" panose="02000000000000000000" pitchFamily="2" charset="0"/>
                <a:ea typeface="Roboto Light" panose="02000000000000000000" pitchFamily="2" charset="0"/>
                <a:cs typeface="+mn-cs"/>
              </a:rPr>
              <a:t>PySpark</a:t>
            </a:r>
            <a:endPar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endParaRP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SQL</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MongoDB</a:t>
            </a:r>
            <a:endParaRPr lang="en-US" sz="900" dirty="0">
              <a:solidFill>
                <a:prstClr val="black"/>
              </a:solidFill>
              <a:latin typeface="Roboto Light" panose="02000000000000000000" pitchFamily="2" charset="0"/>
              <a:ea typeface="Roboto Light" panose="02000000000000000000" pitchFamily="2" charset="0"/>
            </a:endParaRP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Kafka</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Terraform</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GitLab</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Jira</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err="1">
                <a:ln>
                  <a:noFill/>
                </a:ln>
                <a:solidFill>
                  <a:prstClr val="black"/>
                </a:solidFill>
                <a:effectLst/>
                <a:uLnTx/>
                <a:uFillTx/>
                <a:latin typeface="Roboto Light" panose="02000000000000000000" pitchFamily="2" charset="0"/>
                <a:ea typeface="Roboto Light" panose="02000000000000000000" pitchFamily="2" charset="0"/>
                <a:cs typeface="+mn-cs"/>
              </a:rPr>
              <a:t>Trelo</a:t>
            </a:r>
            <a:endPar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endParaRP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endPar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endParaRP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endPar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447073"/>
            <a:ext cx="0" cy="854000"/>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grpSp>
        <p:nvGrpSpPr>
          <p:cNvPr id="163" name="Group 162">
            <a:extLst>
              <a:ext uri="{FF2B5EF4-FFF2-40B4-BE49-F238E27FC236}">
                <a16:creationId xmlns:a16="http://schemas.microsoft.com/office/drawing/2014/main" id="{E52FDF9F-B084-9074-7DB9-539AD5456487}"/>
              </a:ext>
            </a:extLst>
          </p:cNvPr>
          <p:cNvGrpSpPr/>
          <p:nvPr/>
        </p:nvGrpSpPr>
        <p:grpSpPr>
          <a:xfrm>
            <a:off x="3448827" y="6375463"/>
            <a:ext cx="4558799" cy="1169551"/>
            <a:chOff x="5030740" y="2268038"/>
            <a:chExt cx="4869502" cy="1169551"/>
          </a:xfrm>
        </p:grpSpPr>
        <p:sp>
          <p:nvSpPr>
            <p:cNvPr id="10" name="TextBox 9">
              <a:extLst>
                <a:ext uri="{FF2B5EF4-FFF2-40B4-BE49-F238E27FC236}">
                  <a16:creationId xmlns:a16="http://schemas.microsoft.com/office/drawing/2014/main" id="{06312B81-BCF1-2796-C112-3DBE0E02F483}"/>
                </a:ext>
              </a:extLst>
            </p:cNvPr>
            <p:cNvSpPr txBox="1"/>
            <p:nvPr/>
          </p:nvSpPr>
          <p:spPr>
            <a:xfrm>
              <a:off x="5059474" y="2268038"/>
              <a:ext cx="4840768" cy="1169551"/>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lang="en-AU" sz="1000" dirty="0">
                  <a:solidFill>
                    <a:prstClr val="white"/>
                  </a:solidFill>
                </a:rPr>
                <a:t>C</a:t>
              </a:r>
              <a:r>
                <a:rPr kumimoji="0" lang="en-AU" sz="1000" b="0" i="0" u="none" strike="noStrike" kern="1200" cap="none" spc="0" normalizeH="0" baseline="0" noProof="0" dirty="0" err="1">
                  <a:ln>
                    <a:noFill/>
                  </a:ln>
                  <a:solidFill>
                    <a:prstClr val="white"/>
                  </a:solidFill>
                  <a:effectLst/>
                  <a:uLnTx/>
                  <a:uFillTx/>
                  <a:latin typeface="Roboto Light" panose="02000000000000000000" pitchFamily="2" charset="0"/>
                  <a:ea typeface="Roboto Light" panose="02000000000000000000" pitchFamily="2" charset="0"/>
                  <a:cs typeface="+mn-cs"/>
                </a:rPr>
                <a:t>reated</a:t>
              </a:r>
              <a:r>
                <a:rPr kumimoji="0" lang="en-AU"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 reference architecture for Data Science Platform in GCP</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lang="en-AU" sz="1000" dirty="0">
                  <a:solidFill>
                    <a:prstClr val="white"/>
                  </a:solidFill>
                </a:rPr>
                <a:t>Led</a:t>
              </a:r>
              <a:r>
                <a:rPr kumimoji="0" lang="en-AU"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 an architecture team to produce low-level solution design for Data ingestion, Data processing, Data Lake using </a:t>
              </a:r>
              <a:r>
                <a:rPr kumimoji="0" lang="en-AU" sz="1000" b="0" i="0" u="none" strike="noStrike" kern="1200" cap="none" spc="0" normalizeH="0" baseline="0" noProof="0" dirty="0" err="1">
                  <a:ln>
                    <a:noFill/>
                  </a:ln>
                  <a:solidFill>
                    <a:prstClr val="white"/>
                  </a:solidFill>
                  <a:effectLst/>
                  <a:uLnTx/>
                  <a:uFillTx/>
                  <a:latin typeface="Roboto Light" panose="02000000000000000000" pitchFamily="2" charset="0"/>
                  <a:ea typeface="Roboto Light" panose="02000000000000000000" pitchFamily="2" charset="0"/>
                  <a:cs typeface="+mn-cs"/>
                </a:rPr>
                <a:t>Bigquery</a:t>
              </a:r>
              <a:r>
                <a:rPr kumimoji="0" lang="en-AU"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/GCS, Data Governance and Data analytics capability in GCP. </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lang="en-AU" sz="1000" dirty="0">
                  <a:solidFill>
                    <a:prstClr val="white"/>
                  </a:solidFill>
                </a:rPr>
                <a:t>Ra</a:t>
              </a:r>
              <a:r>
                <a:rPr kumimoji="0" lang="en-AU"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n series of PoC - batch and streaming ETL data pipeline using Dataflow with Kafka (Apache Beam in Java), Cloud pub sub and </a:t>
              </a:r>
              <a:r>
                <a:rPr kumimoji="0" lang="en-AU" sz="1000" b="0" i="0" u="none" strike="noStrike" kern="1200" cap="none" spc="0" normalizeH="0" baseline="0" noProof="0" dirty="0" err="1">
                  <a:ln>
                    <a:noFill/>
                  </a:ln>
                  <a:solidFill>
                    <a:prstClr val="white"/>
                  </a:solidFill>
                  <a:effectLst/>
                  <a:uLnTx/>
                  <a:uFillTx/>
                  <a:latin typeface="Roboto Light" panose="02000000000000000000" pitchFamily="2" charset="0"/>
                  <a:ea typeface="Roboto Light" panose="02000000000000000000" pitchFamily="2" charset="0"/>
                  <a:cs typeface="+mn-cs"/>
                </a:rPr>
                <a:t>dataproc</a:t>
              </a:r>
              <a:r>
                <a:rPr kumimoji="0" lang="en-AU"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 Data Lake and </a:t>
              </a:r>
              <a:r>
                <a:rPr kumimoji="0" lang="en-AU" sz="1000" b="0" i="0" u="none" strike="noStrike" kern="1200" cap="none" spc="0" normalizeH="0" baseline="0" noProof="0" dirty="0" err="1">
                  <a:ln>
                    <a:noFill/>
                  </a:ln>
                  <a:solidFill>
                    <a:prstClr val="white"/>
                  </a:solidFill>
                  <a:effectLst/>
                  <a:uLnTx/>
                  <a:uFillTx/>
                  <a:latin typeface="Roboto Light" panose="02000000000000000000" pitchFamily="2" charset="0"/>
                  <a:ea typeface="Roboto Light" panose="02000000000000000000" pitchFamily="2" charset="0"/>
                  <a:cs typeface="+mn-cs"/>
                </a:rPr>
                <a:t>BigQuery</a:t>
              </a:r>
              <a:r>
                <a:rPr kumimoji="0" lang="en-AU"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a:t>
              </a:r>
            </a:p>
          </p:txBody>
        </p:sp>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5030740" y="2325935"/>
              <a:ext cx="0" cy="1037165"/>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2771198"/>
            <a:ext cx="1648720" cy="215444"/>
          </a:xfrm>
          <a:prstGeom prst="rect">
            <a:avLst/>
          </a:prstGeom>
          <a:noFill/>
        </p:spPr>
        <p:txBody>
          <a:bodyPr wrap="non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388" normalizeH="0" baseline="0" noProof="0" dirty="0">
                <a:ln>
                  <a:noFill/>
                </a:ln>
                <a:solidFill>
                  <a:prstClr val="white"/>
                </a:solidFill>
                <a:effectLst/>
                <a:uLnTx/>
                <a:uFillTx/>
                <a:latin typeface="Roboto" panose="02000000000000000000" pitchFamily="2" charset="0"/>
                <a:ea typeface="Roboto" panose="02000000000000000000" pitchFamily="2" charset="0"/>
                <a:cs typeface="+mn-cs"/>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0AB80"/>
                </a:solidFill>
                <a:effectLst/>
                <a:uLnTx/>
                <a:uFillTx/>
                <a:latin typeface="Roboto" panose="02000000000000000000" pitchFamily="2" charset="0"/>
                <a:ea typeface="Roboto" panose="02000000000000000000" pitchFamily="2" charset="0"/>
                <a:cs typeface="+mn-cs"/>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5445185"/>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388" normalizeH="0" baseline="0" noProof="0">
                <a:ln>
                  <a:noFill/>
                </a:ln>
                <a:solidFill>
                  <a:prstClr val="white"/>
                </a:solidFill>
                <a:effectLst/>
                <a:uLnTx/>
                <a:uFillTx/>
                <a:latin typeface="Roboto" panose="02000000000000000000" pitchFamily="2" charset="0"/>
                <a:ea typeface="Roboto" panose="02000000000000000000" pitchFamily="2" charset="0"/>
                <a:cs typeface="+mn-cs"/>
              </a:rPr>
              <a:t>Industry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388" normalizeH="0" baseline="0" noProof="0">
                <a:ln>
                  <a:noFill/>
                </a:ln>
                <a:solidFill>
                  <a:prstClr val="white"/>
                </a:solidFill>
                <a:effectLst/>
                <a:uLnTx/>
                <a:uFillTx/>
                <a:latin typeface="Roboto" panose="02000000000000000000" pitchFamily="2" charset="0"/>
                <a:ea typeface="Roboto" panose="02000000000000000000" pitchFamily="2" charset="0"/>
                <a:cs typeface="+mn-cs"/>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2986642"/>
            <a:ext cx="1951941" cy="3046988"/>
            <a:chOff x="8106458" y="2681447"/>
            <a:chExt cx="1951941" cy="3046988"/>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51941" cy="304698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tab pos="3819525" algn="l"/>
                  <a:tab pos="3895725" algn="l"/>
                </a:tabLst>
                <a:defRPr/>
              </a:pPr>
              <a:endParaRPr kumimoji="0" lang="en-AU" sz="1200" b="0" i="0" u="none" strike="noStrike" kern="1200" cap="none" spc="0" normalizeH="0" baseline="0" noProof="0" dirty="0">
                <a:ln>
                  <a:noFill/>
                </a:ln>
                <a:solidFill>
                  <a:srgbClr val="00AB80"/>
                </a:solidFill>
                <a:effectLst/>
                <a:uLnTx/>
                <a:uFillTx/>
                <a:latin typeface="Times New Roman" panose="02020603050405020304" pitchFamily="18" charset="0"/>
                <a:ea typeface="Calibri" panose="020F0502020204030204" pitchFamily="34" charset="0"/>
                <a:cs typeface="+mn-cs"/>
              </a:endParaRPr>
            </a:p>
            <a:p>
              <a:pPr>
                <a:tabLst>
                  <a:tab pos="3819525" algn="l"/>
                  <a:tab pos="3895725" algn="l"/>
                </a:tabLst>
                <a:defRPr/>
              </a:pPr>
              <a:r>
                <a:rPr lang="en-GB" sz="1200" dirty="0">
                  <a:solidFill>
                    <a:srgbClr val="00AB80"/>
                  </a:solidFill>
                  <a:effectLst/>
                  <a:latin typeface="Roboto Light" panose="02000000000000000000" pitchFamily="2" charset="0"/>
                  <a:ea typeface="Calibri" panose="020F0502020204030204" pitchFamily="34" charset="0"/>
                </a:rPr>
                <a:t>Google Cloud Certified | Professional Data Engineer</a:t>
              </a:r>
            </a:p>
            <a:p>
              <a:pPr>
                <a:tabLst>
                  <a:tab pos="3819525" algn="l"/>
                  <a:tab pos="3895725" algn="l"/>
                </a:tabLst>
                <a:defRPr/>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defRPr/>
              </a:pPr>
              <a:r>
                <a:rPr lang="en-GB" sz="1200" dirty="0">
                  <a:solidFill>
                    <a:srgbClr val="00AB80"/>
                  </a:solidFill>
                  <a:effectLst/>
                  <a:latin typeface="Roboto Light" panose="02000000000000000000" pitchFamily="2" charset="0"/>
                  <a:ea typeface="Calibri" panose="020F0502020204030204" pitchFamily="34" charset="0"/>
                </a:rPr>
                <a:t>Google Cloud Certified | Professional Cloud Architect</a:t>
              </a:r>
            </a:p>
            <a:p>
              <a:pPr>
                <a:tabLst>
                  <a:tab pos="3819525" algn="l"/>
                  <a:tab pos="3895725" algn="l"/>
                </a:tabLst>
                <a:defRPr/>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defRPr/>
              </a:pPr>
              <a:r>
                <a:rPr lang="en-GB" sz="1200" dirty="0">
                  <a:solidFill>
                    <a:srgbClr val="00AB80"/>
                  </a:solidFill>
                  <a:latin typeface="Roboto Light" panose="02000000000000000000" pitchFamily="2" charset="0"/>
                  <a:ea typeface="Calibri" panose="020F0502020204030204" pitchFamily="34" charset="0"/>
                </a:rPr>
                <a:t>Microsoft Azure Certified |</a:t>
              </a:r>
            </a:p>
            <a:p>
              <a:pPr>
                <a:tabLst>
                  <a:tab pos="3819525" algn="l"/>
                  <a:tab pos="3895725" algn="l"/>
                </a:tabLst>
                <a:defRPr/>
              </a:pPr>
              <a:r>
                <a:rPr lang="en-GB" sz="1200" dirty="0">
                  <a:solidFill>
                    <a:srgbClr val="00AB80"/>
                  </a:solidFill>
                  <a:latin typeface="Roboto Light" panose="02000000000000000000" pitchFamily="2" charset="0"/>
                  <a:ea typeface="Calibri" panose="020F0502020204030204" pitchFamily="34" charset="0"/>
                </a:rPr>
                <a:t>Azure Solutions Architect Expert</a:t>
              </a:r>
            </a:p>
            <a:p>
              <a:pPr marL="0" marR="0" lvl="0" indent="0" algn="l" defTabSz="457200" rtl="0" eaLnBrk="1" fontAlgn="auto" latinLnBrk="0" hangingPunct="1">
                <a:lnSpc>
                  <a:spcPct val="100000"/>
                </a:lnSpc>
                <a:spcBef>
                  <a:spcPts val="0"/>
                </a:spcBef>
                <a:spcAft>
                  <a:spcPts val="0"/>
                </a:spcAft>
                <a:buClrTx/>
                <a:buSzTx/>
                <a:buFontTx/>
                <a:buNone/>
                <a:tabLst>
                  <a:tab pos="3819525" algn="l"/>
                  <a:tab pos="3895725" algn="l"/>
                </a:tabLst>
                <a:defRPr/>
              </a:pPr>
              <a:endParaRPr lang="en-US" sz="1200" dirty="0">
                <a:solidFill>
                  <a:srgbClr val="00AB80"/>
                </a:solidFill>
                <a:latin typeface="Roboto Light" panose="02000000000000000000" pitchFamily="2" charset="0"/>
                <a:ea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tab pos="3819525" algn="l"/>
                  <a:tab pos="3895725" algn="l"/>
                </a:tabLst>
                <a:defRPr/>
              </a:pPr>
              <a:r>
                <a:rPr kumimoji="0" lang="en-US" sz="1200" b="0" i="0" u="none" strike="noStrike" kern="1200" cap="none" spc="0" normalizeH="0" baseline="0" noProof="0" dirty="0">
                  <a:ln>
                    <a:noFill/>
                  </a:ln>
                  <a:solidFill>
                    <a:srgbClr val="00AB80"/>
                  </a:solidFill>
                  <a:effectLst/>
                  <a:uLnTx/>
                  <a:uFillTx/>
                  <a:latin typeface="Roboto Light" panose="02000000000000000000" pitchFamily="2" charset="0"/>
                  <a:ea typeface="Calibri" panose="020F0502020204030204" pitchFamily="34" charset="0"/>
                  <a:cs typeface="+mn-cs"/>
                </a:rPr>
                <a:t>Bachelor </a:t>
              </a:r>
              <a:r>
                <a:rPr kumimoji="0" lang="en-GB" sz="1200" b="0" i="0" u="none" strike="noStrike" kern="1200" cap="none" spc="0" normalizeH="0" baseline="0" noProof="0" dirty="0">
                  <a:ln>
                    <a:noFill/>
                  </a:ln>
                  <a:solidFill>
                    <a:srgbClr val="00AB80"/>
                  </a:solidFill>
                  <a:effectLst/>
                  <a:uLnTx/>
                  <a:uFillTx/>
                  <a:latin typeface="Roboto Light" panose="02000000000000000000" pitchFamily="2" charset="0"/>
                  <a:ea typeface="Calibri" panose="020F0502020204030204" pitchFamily="34" charset="0"/>
                  <a:cs typeface="+mn-cs"/>
                </a:rPr>
                <a:t>– Technology</a:t>
              </a:r>
              <a:r>
                <a:rPr lang="en-GB" sz="1200" dirty="0">
                  <a:solidFill>
                    <a:srgbClr val="00AB80"/>
                  </a:solidFill>
                  <a:latin typeface="Roboto Light" panose="02000000000000000000" pitchFamily="2" charset="0"/>
                  <a:ea typeface="Calibri" panose="020F0502020204030204" pitchFamily="34" charset="0"/>
                </a:rPr>
                <a:t>,</a:t>
              </a:r>
              <a:r>
                <a:rPr kumimoji="0" lang="en-GB" sz="1200" b="0" i="0" u="none" strike="noStrike" kern="1200" cap="none" spc="0" normalizeH="0" baseline="0" noProof="0" dirty="0">
                  <a:ln>
                    <a:noFill/>
                  </a:ln>
                  <a:solidFill>
                    <a:srgbClr val="00AB80"/>
                  </a:solidFill>
                  <a:effectLst/>
                  <a:uLnTx/>
                  <a:uFillTx/>
                  <a:latin typeface="Roboto Light" panose="02000000000000000000" pitchFamily="2" charset="0"/>
                  <a:ea typeface="Calibri" panose="020F0502020204030204" pitchFamily="34" charset="0"/>
                  <a:cs typeface="+mn-cs"/>
                </a:rPr>
                <a:t> Computer Science &amp; Engineering</a:t>
              </a:r>
              <a:endParaRPr kumimoji="0" lang="en-AU" sz="1200" b="0" i="0" u="none" strike="noStrike" kern="1200" cap="none" spc="0" normalizeH="0" baseline="0" noProof="0" dirty="0">
                <a:ln>
                  <a:noFill/>
                </a:ln>
                <a:solidFill>
                  <a:srgbClr val="00AB80"/>
                </a:solidFill>
                <a:effectLst/>
                <a:uLnTx/>
                <a:uFillTx/>
                <a:latin typeface="Times New Roman" panose="02020603050405020304" pitchFamily="18" charset="0"/>
                <a:ea typeface="Calibri" panose="020F0502020204030204" pitchFamily="34" charset="0"/>
                <a:cs typeface="+mn-cs"/>
              </a:endParaRPr>
            </a:p>
          </p:txBody>
        </p:sp>
      </p:grpSp>
      <p:sp>
        <p:nvSpPr>
          <p:cNvPr id="4" name="TextBox 3">
            <a:extLst>
              <a:ext uri="{FF2B5EF4-FFF2-40B4-BE49-F238E27FC236}">
                <a16:creationId xmlns:a16="http://schemas.microsoft.com/office/drawing/2014/main" id="{80F49B2F-21D4-F9EB-049F-717A10CB7D84}"/>
              </a:ext>
            </a:extLst>
          </p:cNvPr>
          <p:cNvSpPr txBox="1"/>
          <p:nvPr/>
        </p:nvSpPr>
        <p:spPr>
          <a:xfrm>
            <a:off x="146652" y="5747849"/>
            <a:ext cx="1510046" cy="1892826"/>
          </a:xfrm>
          <a:prstGeom prst="rect">
            <a:avLst/>
          </a:prstGeom>
          <a:noFill/>
        </p:spPr>
        <p:txBody>
          <a:bodyPr wrap="square" numCol="1" rtlCol="0">
            <a:spAutoFit/>
          </a:bodyPr>
          <a:lstStyle/>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lang="en-US" sz="900" dirty="0">
                <a:solidFill>
                  <a:prstClr val="black"/>
                </a:solidFill>
                <a:latin typeface="Roboto Light" panose="02000000000000000000" pitchFamily="2" charset="0"/>
                <a:ea typeface="Roboto Light" panose="02000000000000000000" pitchFamily="2" charset="0"/>
              </a:rPr>
              <a:t>Google Cloud Platform</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lang="en-US" sz="900" dirty="0">
                <a:solidFill>
                  <a:prstClr val="black"/>
                </a:solidFill>
                <a:latin typeface="Roboto Light" panose="02000000000000000000" pitchFamily="2" charset="0"/>
                <a:ea typeface="Roboto Light" panose="02000000000000000000" pitchFamily="2" charset="0"/>
              </a:rPr>
              <a:t>Microsoft Azure’</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lang="en-US" sz="900" dirty="0">
                <a:solidFill>
                  <a:prstClr val="black"/>
                </a:solidFill>
                <a:latin typeface="Roboto Light" panose="02000000000000000000" pitchFamily="2" charset="0"/>
                <a:ea typeface="Roboto Light" panose="02000000000000000000" pitchFamily="2" charset="0"/>
              </a:rPr>
              <a:t>Amazon Web Services</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Data Engineering</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Data Architecture</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Data Analytics</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Data Modeling</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lang="en-US" sz="900" dirty="0">
                <a:solidFill>
                  <a:prstClr val="black"/>
                </a:solidFill>
                <a:latin typeface="Roboto Light" panose="02000000000000000000" pitchFamily="2" charset="0"/>
                <a:ea typeface="Roboto Light" panose="02000000000000000000" pitchFamily="2" charset="0"/>
              </a:rPr>
              <a:t>Data Governance</a:t>
            </a:r>
            <a:endPar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endParaRP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Data Migration</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Data Visualisation</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Data Wrangling</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Data Science</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ML/AI</a:t>
            </a: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a:ln>
                  <a:noFill/>
                </a:ln>
                <a:solidFill>
                  <a:srgbClr val="00AB80"/>
                </a:solidFill>
                <a:effectLst/>
                <a:uLnTx/>
                <a:uFillTx/>
                <a:latin typeface="Roboto" panose="02000000000000000000" pitchFamily="2" charset="0"/>
                <a:ea typeface="Roboto" panose="02000000000000000000" pitchFamily="2" charset="0"/>
                <a:cs typeface="+mn-cs"/>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21266" y="1096904"/>
            <a:ext cx="4797221"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59FF"/>
                </a:solidFill>
                <a:effectLst/>
                <a:uLnTx/>
                <a:uFillTx/>
                <a:latin typeface="Roboto" panose="02000000000000000000" pitchFamily="2" charset="0"/>
                <a:ea typeface="Roboto" panose="02000000000000000000" pitchFamily="2" charset="0"/>
                <a:cs typeface="+mn-cs"/>
              </a:rPr>
              <a:t>Australian Financial Services </a:t>
            </a:r>
            <a:r>
              <a:rPr kumimoji="0" lang="en-US" sz="1200" b="1" i="0" u="none" strike="noStrike" kern="1200" cap="none" spc="0" normalizeH="0" baseline="0" noProof="0" dirty="0" err="1">
                <a:ln>
                  <a:noFill/>
                </a:ln>
                <a:solidFill>
                  <a:srgbClr val="0059FF"/>
                </a:solidFill>
                <a:effectLst/>
                <a:uLnTx/>
                <a:uFillTx/>
                <a:latin typeface="Roboto" panose="02000000000000000000" pitchFamily="2" charset="0"/>
                <a:ea typeface="Roboto" panose="02000000000000000000" pitchFamily="2" charset="0"/>
                <a:cs typeface="+mn-cs"/>
              </a:rPr>
              <a:t>Organisation</a:t>
            </a:r>
            <a:r>
              <a:rPr kumimoji="0" lang="en-AU" sz="1200" b="1" i="0" u="none" strike="noStrike" kern="1200" cap="none" spc="0" normalizeH="0" baseline="0" noProof="0" dirty="0">
                <a:ln>
                  <a:noFill/>
                </a:ln>
                <a:solidFill>
                  <a:srgbClr val="0059FF"/>
                </a:solidFill>
                <a:effectLst/>
                <a:uLnTx/>
                <a:uFillTx/>
                <a:latin typeface="Roboto" panose="02000000000000000000" pitchFamily="2" charset="0"/>
                <a:ea typeface="Roboto" panose="02000000000000000000" pitchFamily="2" charset="0"/>
                <a:cs typeface="+mn-cs"/>
              </a:rPr>
              <a:t> – Senior Data Architect</a:t>
            </a:r>
          </a:p>
        </p:txBody>
      </p:sp>
      <p:sp>
        <p:nvSpPr>
          <p:cNvPr id="8" name="TextBox 7">
            <a:extLst>
              <a:ext uri="{FF2B5EF4-FFF2-40B4-BE49-F238E27FC236}">
                <a16:creationId xmlns:a16="http://schemas.microsoft.com/office/drawing/2014/main" id="{59FEB941-5146-6B10-4E4D-8A4ADE918AEF}"/>
              </a:ext>
            </a:extLst>
          </p:cNvPr>
          <p:cNvSpPr txBox="1"/>
          <p:nvPr/>
        </p:nvSpPr>
        <p:spPr>
          <a:xfrm>
            <a:off x="3463961" y="1373630"/>
            <a:ext cx="4522983" cy="1015663"/>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a:defRPr/>
            </a:pPr>
            <a:r>
              <a:rPr lang="en-AU" sz="1000" dirty="0">
                <a:solidFill>
                  <a:prstClr val="white"/>
                </a:solidFill>
              </a:rPr>
              <a:t>C</a:t>
            </a:r>
            <a:r>
              <a:rPr kumimoji="0" lang="en-AU" sz="1000" b="0" i="0" u="none" strike="noStrike" kern="1200" cap="none" spc="0" normalizeH="0" baseline="0" noProof="0" dirty="0" err="1">
                <a:ln>
                  <a:noFill/>
                </a:ln>
                <a:solidFill>
                  <a:prstClr val="white"/>
                </a:solidFill>
                <a:effectLst/>
                <a:uLnTx/>
                <a:uFillTx/>
                <a:latin typeface="Roboto Light" panose="02000000000000000000" pitchFamily="2" charset="0"/>
                <a:ea typeface="Roboto Light" panose="02000000000000000000" pitchFamily="2" charset="0"/>
                <a:cs typeface="+mn-cs"/>
              </a:rPr>
              <a:t>reated</a:t>
            </a:r>
            <a:r>
              <a:rPr kumimoji="0" lang="en-AU"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 reference architecture for the Unified Data Platform in GCP</a:t>
            </a:r>
          </a:p>
          <a:p>
            <a:pPr>
              <a:defRPr/>
            </a:pPr>
            <a:r>
              <a:rPr lang="en-AU" sz="1000" dirty="0">
                <a:solidFill>
                  <a:prstClr val="white"/>
                </a:solidFill>
              </a:rPr>
              <a:t>L</a:t>
            </a:r>
            <a:r>
              <a:rPr kumimoji="0" lang="en-AU"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ed an architecture effort to produce a high-level solution design for Data ingestion, Data processing, Data Lake using </a:t>
            </a:r>
            <a:r>
              <a:rPr kumimoji="0" lang="en-AU" sz="1000" b="0" i="0" u="none" strike="noStrike" kern="1200" cap="none" spc="0" normalizeH="0" baseline="0" noProof="0" dirty="0" err="1">
                <a:ln>
                  <a:noFill/>
                </a:ln>
                <a:solidFill>
                  <a:prstClr val="white"/>
                </a:solidFill>
                <a:effectLst/>
                <a:uLnTx/>
                <a:uFillTx/>
                <a:latin typeface="Roboto Light" panose="02000000000000000000" pitchFamily="2" charset="0"/>
                <a:ea typeface="Roboto Light" panose="02000000000000000000" pitchFamily="2" charset="0"/>
                <a:cs typeface="+mn-cs"/>
              </a:rPr>
              <a:t>Bigquery</a:t>
            </a:r>
            <a:r>
              <a:rPr kumimoji="0" lang="en-AU"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/GCS, Data Governance and Data analytics capability in GCP</a:t>
            </a:r>
          </a:p>
          <a:p>
            <a:pPr>
              <a:defRPr/>
            </a:pPr>
            <a:r>
              <a:rPr lang="en-AU" sz="1000" dirty="0">
                <a:solidFill>
                  <a:prstClr val="white"/>
                </a:solidFill>
              </a:rPr>
              <a:t>Ra</a:t>
            </a:r>
            <a:r>
              <a:rPr kumimoji="0" lang="en-AU"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rPr>
              <a:t>n a series of build activities- batch and streaming ETL data pipeline using Dataflow with Kafka (Apache Beam in Java) etc</a:t>
            </a:r>
            <a:endParaRPr kumimoji="0" lang="en-US"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endParaRPr>
          </a:p>
        </p:txBody>
      </p:sp>
      <p:grpSp>
        <p:nvGrpSpPr>
          <p:cNvPr id="18" name="Group 17">
            <a:extLst>
              <a:ext uri="{FF2B5EF4-FFF2-40B4-BE49-F238E27FC236}">
                <a16:creationId xmlns:a16="http://schemas.microsoft.com/office/drawing/2014/main" id="{E0B3FDFC-4A78-346F-E1D4-E183BEB90A60}"/>
              </a:ext>
            </a:extLst>
          </p:cNvPr>
          <p:cNvGrpSpPr/>
          <p:nvPr/>
        </p:nvGrpSpPr>
        <p:grpSpPr>
          <a:xfrm>
            <a:off x="3428144" y="2817701"/>
            <a:ext cx="4497963" cy="3170099"/>
            <a:chOff x="5023753" y="4247510"/>
            <a:chExt cx="4667239" cy="3170099"/>
          </a:xfrm>
        </p:grpSpPr>
        <p:sp>
          <p:nvSpPr>
            <p:cNvPr id="19" name="TextBox 18">
              <a:extLst>
                <a:ext uri="{FF2B5EF4-FFF2-40B4-BE49-F238E27FC236}">
                  <a16:creationId xmlns:a16="http://schemas.microsoft.com/office/drawing/2014/main" id="{7513C49A-2DF2-8111-FED4-FC07A8EAD258}"/>
                </a:ext>
              </a:extLst>
            </p:cNvPr>
            <p:cNvSpPr txBox="1"/>
            <p:nvPr/>
          </p:nvSpPr>
          <p:spPr>
            <a:xfrm>
              <a:off x="5059474" y="4247510"/>
              <a:ext cx="4631518" cy="3170099"/>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a:defRPr/>
              </a:pPr>
              <a:r>
                <a:rPr lang="en-AU" sz="1000" dirty="0">
                  <a:solidFill>
                    <a:prstClr val="white"/>
                  </a:solidFill>
                </a:rPr>
                <a:t>Built a digital transformation strategy for </a:t>
              </a:r>
              <a:r>
                <a:rPr lang="en-AU" sz="1000" dirty="0" err="1">
                  <a:solidFill>
                    <a:prstClr val="white"/>
                  </a:solidFill>
                </a:rPr>
                <a:t>MultiCloud</a:t>
              </a:r>
              <a:r>
                <a:rPr lang="en-AU" sz="1000" dirty="0">
                  <a:solidFill>
                    <a:prstClr val="white"/>
                  </a:solidFill>
                </a:rPr>
                <a:t> and translated it into an achievable roadmap for C-level executives, product owners and architects</a:t>
              </a:r>
            </a:p>
            <a:p>
              <a:pPr>
                <a:defRPr/>
              </a:pPr>
              <a:r>
                <a:rPr lang="en-AU" sz="1000" dirty="0">
                  <a:solidFill>
                    <a:prstClr val="white"/>
                  </a:solidFill>
                </a:rPr>
                <a:t>Defined organisation’s automation reference architecture for Azure and GCP for application onboarding; founding member of Cloud Design Authority for endorsing and reviewing multi-cloud patterns/standards</a:t>
              </a:r>
            </a:p>
            <a:p>
              <a:pPr>
                <a:defRPr/>
              </a:pPr>
              <a:r>
                <a:rPr lang="en-AU" sz="1000" dirty="0">
                  <a:solidFill>
                    <a:prstClr val="white"/>
                  </a:solidFill>
                </a:rPr>
                <a:t>Built strategic data analysis capability in GCP Data Lake using </a:t>
              </a:r>
              <a:r>
                <a:rPr lang="en-AU" sz="1000" dirty="0" err="1">
                  <a:solidFill>
                    <a:prstClr val="white"/>
                  </a:solidFill>
                </a:rPr>
                <a:t>BigQuery</a:t>
              </a:r>
              <a:r>
                <a:rPr lang="en-AU" sz="1000" dirty="0">
                  <a:solidFill>
                    <a:prstClr val="white"/>
                  </a:solidFill>
                </a:rPr>
                <a:t> and Tableau. Also, as part of the pilot, built a machine learning model in </a:t>
              </a:r>
              <a:r>
                <a:rPr lang="en-AU" sz="1000" dirty="0" err="1">
                  <a:solidFill>
                    <a:prstClr val="white"/>
                  </a:solidFill>
                </a:rPr>
                <a:t>BigQueryML</a:t>
              </a:r>
              <a:r>
                <a:rPr lang="en-AU" sz="1000" dirty="0">
                  <a:solidFill>
                    <a:prstClr val="white"/>
                  </a:solidFill>
                </a:rPr>
                <a:t> to predict store services/endpoint failure</a:t>
              </a:r>
            </a:p>
            <a:p>
              <a:pPr>
                <a:defRPr/>
              </a:pPr>
              <a:r>
                <a:rPr lang="en-AU" sz="1000" dirty="0">
                  <a:solidFill>
                    <a:prstClr val="white"/>
                  </a:solidFill>
                </a:rPr>
                <a:t>Managed application and infrastructure stakeholders to transform first 20 applications and successfully migrate them to respective private and public (Azure and GCP) clouds. Application transformation included architectural transformation ranging from monolithic to micro services; to grid computing; to data mining of IoT devices, to Hadoop clusters.</a:t>
              </a:r>
            </a:p>
            <a:p>
              <a:pPr>
                <a:defRPr/>
              </a:pPr>
              <a:r>
                <a:rPr lang="en-AU" sz="1000" dirty="0">
                  <a:solidFill>
                    <a:prstClr val="white"/>
                  </a:solidFill>
                </a:rPr>
                <a:t>Led architectural engagement and roadmap on organisations behalf - </a:t>
              </a:r>
              <a:r>
                <a:rPr lang="en-AU" sz="1000" dirty="0" err="1">
                  <a:solidFill>
                    <a:prstClr val="white"/>
                  </a:solidFill>
                </a:rPr>
                <a:t>Redhat</a:t>
              </a:r>
              <a:r>
                <a:rPr lang="en-AU" sz="1000" dirty="0">
                  <a:solidFill>
                    <a:prstClr val="white"/>
                  </a:solidFill>
                </a:rPr>
                <a:t> (Ansible Tower), Microsoft (Azure), Google(GCP) and Dell/VMware (managed private cloud).</a:t>
              </a:r>
            </a:p>
            <a:p>
              <a:pPr>
                <a:defRPr/>
              </a:pPr>
              <a:r>
                <a:rPr lang="en-AU" sz="1000" dirty="0">
                  <a:solidFill>
                    <a:prstClr val="white"/>
                  </a:solidFill>
                </a:rPr>
                <a:t>Evangelized service offering such as IaaS, SaaS and PaaS - DBaaS, </a:t>
              </a:r>
              <a:r>
                <a:rPr lang="en-AU" sz="1000" dirty="0" err="1">
                  <a:solidFill>
                    <a:prstClr val="white"/>
                  </a:solidFill>
                </a:rPr>
                <a:t>FaaS</a:t>
              </a:r>
              <a:r>
                <a:rPr lang="en-AU" sz="1000" dirty="0">
                  <a:solidFill>
                    <a:prstClr val="white"/>
                  </a:solidFill>
                </a:rPr>
                <a:t>, </a:t>
              </a:r>
              <a:r>
                <a:rPr lang="en-AU" sz="1000" dirty="0" err="1">
                  <a:solidFill>
                    <a:prstClr val="white"/>
                  </a:solidFill>
                </a:rPr>
                <a:t>XaaS</a:t>
              </a:r>
              <a:r>
                <a:rPr lang="en-AU" sz="1000" dirty="0">
                  <a:solidFill>
                    <a:prstClr val="white"/>
                  </a:solidFill>
                </a:rPr>
                <a:t>, Container-as-a-Service, etc. with strong focus on cloud native to achieve IT public and private cloud service goals</a:t>
              </a:r>
              <a:endParaRPr kumimoji="0" lang="en-GB" sz="1000" b="0" i="0" u="none" strike="noStrike" kern="1200" cap="none" spc="0" normalizeH="0" baseline="0" noProof="0" dirty="0">
                <a:ln>
                  <a:noFill/>
                </a:ln>
                <a:solidFill>
                  <a:prstClr val="white"/>
                </a:solidFill>
                <a:effectLst/>
                <a:uLnTx/>
                <a:uFillTx/>
                <a:latin typeface="Roboto Light" panose="02000000000000000000" pitchFamily="2" charset="0"/>
                <a:ea typeface="Roboto Light" panose="02000000000000000000" pitchFamily="2" charset="0"/>
                <a:cs typeface="+mn-cs"/>
              </a:endParaRPr>
            </a:p>
          </p:txBody>
        </p:sp>
        <p:cxnSp>
          <p:nvCxnSpPr>
            <p:cNvPr id="21" name="Straight Connector 20">
              <a:extLst>
                <a:ext uri="{FF2B5EF4-FFF2-40B4-BE49-F238E27FC236}">
                  <a16:creationId xmlns:a16="http://schemas.microsoft.com/office/drawing/2014/main" id="{B0913DE4-461D-CE43-AABC-C4B3D7D22F45}"/>
                </a:ext>
              </a:extLst>
            </p:cNvPr>
            <p:cNvCxnSpPr>
              <a:cxnSpLocks/>
            </p:cNvCxnSpPr>
            <p:nvPr/>
          </p:nvCxnSpPr>
          <p:spPr>
            <a:xfrm>
              <a:off x="5023753" y="4312460"/>
              <a:ext cx="0" cy="2889538"/>
            </a:xfrm>
            <a:prstGeom prst="line">
              <a:avLst/>
            </a:prstGeom>
            <a:ln w="19050">
              <a:solidFill>
                <a:srgbClr val="ED7D31"/>
              </a:solidFill>
            </a:ln>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6059F888-3BDF-A1C0-65E5-CB6FDD43D97C}"/>
              </a:ext>
            </a:extLst>
          </p:cNvPr>
          <p:cNvSpPr txBox="1"/>
          <p:nvPr/>
        </p:nvSpPr>
        <p:spPr>
          <a:xfrm>
            <a:off x="3335752" y="2540702"/>
            <a:ext cx="4856408"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1200" b="1" dirty="0">
                <a:solidFill>
                  <a:srgbClr val="ED7D31"/>
                </a:solidFill>
                <a:latin typeface="Roboto" panose="02000000000000000000" pitchFamily="2" charset="0"/>
                <a:ea typeface="Roboto" panose="02000000000000000000" pitchFamily="2" charset="0"/>
              </a:rPr>
              <a:t>Major Australian Supermarket</a:t>
            </a:r>
            <a:r>
              <a:rPr kumimoji="0" lang="en-AU" sz="1200" b="1" i="0" u="none" strike="noStrike" kern="1200" cap="none" spc="0" normalizeH="0" baseline="0" noProof="0" dirty="0">
                <a:ln>
                  <a:noFill/>
                </a:ln>
                <a:solidFill>
                  <a:srgbClr val="ED7D31"/>
                </a:solidFill>
                <a:effectLst/>
                <a:uLnTx/>
                <a:uFillTx/>
                <a:latin typeface="Roboto" panose="02000000000000000000" pitchFamily="2" charset="0"/>
                <a:ea typeface="Roboto" panose="02000000000000000000" pitchFamily="2" charset="0"/>
                <a:cs typeface="+mn-cs"/>
              </a:rPr>
              <a:t> Retailer – Senior Data </a:t>
            </a:r>
            <a:r>
              <a:rPr lang="en-AU" sz="1200" b="1" dirty="0">
                <a:solidFill>
                  <a:srgbClr val="ED7D31"/>
                </a:solidFill>
                <a:latin typeface="Roboto" panose="02000000000000000000" pitchFamily="2" charset="0"/>
                <a:ea typeface="Roboto" panose="02000000000000000000" pitchFamily="2" charset="0"/>
              </a:rPr>
              <a:t>Architect</a:t>
            </a:r>
            <a:endParaRPr kumimoji="0" lang="en-AU" sz="1200" b="1" i="0" u="none" strike="noStrike" kern="1200" cap="none" spc="0" normalizeH="0" baseline="0" noProof="0" dirty="0">
              <a:ln>
                <a:noFill/>
              </a:ln>
              <a:solidFill>
                <a:srgbClr val="ED7D31"/>
              </a:solidFill>
              <a:effectLst/>
              <a:uLnTx/>
              <a:uFillTx/>
              <a:latin typeface="Roboto" panose="02000000000000000000" pitchFamily="2" charset="0"/>
              <a:ea typeface="Roboto" panose="02000000000000000000" pitchFamily="2" charset="0"/>
              <a:cs typeface="+mn-cs"/>
            </a:endParaRPr>
          </a:p>
        </p:txBody>
      </p:sp>
      <p:sp>
        <p:nvSpPr>
          <p:cNvPr id="16" name="TextBox 15">
            <a:extLst>
              <a:ext uri="{FF2B5EF4-FFF2-40B4-BE49-F238E27FC236}">
                <a16:creationId xmlns:a16="http://schemas.microsoft.com/office/drawing/2014/main" id="{7A53ACAB-BBC9-A3AA-740D-EB947374392F}"/>
              </a:ext>
            </a:extLst>
          </p:cNvPr>
          <p:cNvSpPr txBox="1"/>
          <p:nvPr/>
        </p:nvSpPr>
        <p:spPr>
          <a:xfrm>
            <a:off x="8118489" y="1456630"/>
            <a:ext cx="1951941" cy="1169551"/>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marR="0" lvl="0" indent="0" algn="l" defTabSz="457200" rtl="0" eaLnBrk="1" fontAlgn="auto" latinLnBrk="0" hangingPunct="1">
              <a:lnSpc>
                <a:spcPct val="150000"/>
              </a:lnSpc>
              <a:spcBef>
                <a:spcPts val="0"/>
              </a:spcBef>
              <a:spcAft>
                <a:spcPts val="0"/>
              </a:spcAft>
              <a:buClr>
                <a:srgbClr val="00AB80"/>
              </a:buClr>
              <a:buSzTx/>
              <a:buFont typeface="Arial" panose="020B0604020202020204" pitchFamily="34" charset="0"/>
              <a:buNone/>
              <a:tabLst/>
              <a:defRPr/>
            </a:pPr>
            <a:r>
              <a:rPr kumimoji="0" lang="en-GB" sz="1200" b="0" i="0" u="none" strike="noStrike" kern="1200" cap="none" spc="0" normalizeH="0" baseline="0" noProof="0" dirty="0">
                <a:ln>
                  <a:noFill/>
                </a:ln>
                <a:solidFill>
                  <a:srgbClr val="00AB80"/>
                </a:solidFill>
                <a:effectLst/>
                <a:uLnTx/>
                <a:uFillTx/>
                <a:latin typeface="Roboto Light" panose="02000000000000000000" pitchFamily="2" charset="0"/>
                <a:ea typeface="Roboto Light" panose="02000000000000000000" pitchFamily="2" charset="0"/>
                <a:cs typeface="+mn-cs"/>
              </a:rPr>
              <a:t>Financial Services</a:t>
            </a:r>
          </a:p>
          <a:p>
            <a:pPr marL="0" marR="0" lvl="0" indent="0" algn="l" defTabSz="457200" rtl="0" eaLnBrk="1" fontAlgn="auto" latinLnBrk="0" hangingPunct="1">
              <a:lnSpc>
                <a:spcPct val="150000"/>
              </a:lnSpc>
              <a:spcBef>
                <a:spcPts val="0"/>
              </a:spcBef>
              <a:spcAft>
                <a:spcPts val="0"/>
              </a:spcAft>
              <a:buClr>
                <a:srgbClr val="00AB80"/>
              </a:buClr>
              <a:buSzTx/>
              <a:buFont typeface="Arial" panose="020B0604020202020204" pitchFamily="34" charset="0"/>
              <a:buNone/>
              <a:tabLst/>
              <a:defRPr/>
            </a:pPr>
            <a:r>
              <a:rPr lang="en-GB" sz="1200" dirty="0">
                <a:solidFill>
                  <a:srgbClr val="00AB80"/>
                </a:solidFill>
              </a:rPr>
              <a:t>Energy</a:t>
            </a:r>
          </a:p>
          <a:p>
            <a:pPr marL="0" marR="0" lvl="0" indent="0" algn="l" defTabSz="457200" rtl="0" eaLnBrk="1" fontAlgn="auto" latinLnBrk="0" hangingPunct="1">
              <a:lnSpc>
                <a:spcPct val="150000"/>
              </a:lnSpc>
              <a:spcBef>
                <a:spcPts val="0"/>
              </a:spcBef>
              <a:spcAft>
                <a:spcPts val="0"/>
              </a:spcAft>
              <a:buClr>
                <a:srgbClr val="00AB80"/>
              </a:buClr>
              <a:buSzTx/>
              <a:buFont typeface="Arial" panose="020B0604020202020204" pitchFamily="34" charset="0"/>
              <a:buNone/>
              <a:tabLst/>
              <a:defRPr/>
            </a:pPr>
            <a:r>
              <a:rPr kumimoji="0" lang="en-GB" sz="1200" b="0" i="0" u="none" strike="noStrike" kern="1200" cap="none" spc="0" normalizeH="0" baseline="0" noProof="0" dirty="0">
                <a:ln>
                  <a:noFill/>
                </a:ln>
                <a:solidFill>
                  <a:srgbClr val="00AB80"/>
                </a:solidFill>
                <a:effectLst/>
                <a:uLnTx/>
                <a:uFillTx/>
                <a:latin typeface="Roboto Light" panose="02000000000000000000" pitchFamily="2" charset="0"/>
                <a:ea typeface="Roboto Light" panose="02000000000000000000" pitchFamily="2" charset="0"/>
                <a:cs typeface="+mn-cs"/>
              </a:rPr>
              <a:t>Retail</a:t>
            </a:r>
          </a:p>
          <a:p>
            <a:pPr marL="0" marR="0" lvl="0" indent="0" algn="l" defTabSz="457200" rtl="0" eaLnBrk="1" fontAlgn="auto" latinLnBrk="0" hangingPunct="1">
              <a:lnSpc>
                <a:spcPct val="150000"/>
              </a:lnSpc>
              <a:spcBef>
                <a:spcPts val="0"/>
              </a:spcBef>
              <a:spcAft>
                <a:spcPts val="0"/>
              </a:spcAft>
              <a:buClr>
                <a:srgbClr val="00AB80"/>
              </a:buClr>
              <a:buSzTx/>
              <a:buFont typeface="Arial" panose="020B0604020202020204" pitchFamily="34" charset="0"/>
              <a:buNone/>
              <a:tabLst/>
              <a:defRPr/>
            </a:pPr>
            <a:r>
              <a:rPr kumimoji="0" lang="en-GB" sz="1200" b="0" i="0" u="none" strike="noStrike" kern="1200" cap="none" spc="0" normalizeH="0" baseline="0" noProof="0" dirty="0">
                <a:ln>
                  <a:noFill/>
                </a:ln>
                <a:solidFill>
                  <a:srgbClr val="00AB80"/>
                </a:solidFill>
                <a:effectLst/>
                <a:uLnTx/>
                <a:uFillTx/>
                <a:latin typeface="Roboto Light" panose="02000000000000000000" pitchFamily="2" charset="0"/>
                <a:ea typeface="Roboto Light" panose="02000000000000000000" pitchFamily="2" charset="0"/>
                <a:cs typeface="+mn-cs"/>
              </a:rPr>
              <a:t>Technology</a:t>
            </a:r>
          </a:p>
        </p:txBody>
      </p:sp>
    </p:spTree>
    <p:extLst>
      <p:ext uri="{BB962C8B-B14F-4D97-AF65-F5344CB8AC3E}">
        <p14:creationId xmlns:p14="http://schemas.microsoft.com/office/powerpoint/2010/main" val="214430667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ACBA6CD-8E73-42D3-A7EB-843C2C80FB7F}"/>
</file>

<file path=customXml/itemProps2.xml><?xml version="1.0" encoding="utf-8"?>
<ds:datastoreItem xmlns:ds="http://schemas.openxmlformats.org/officeDocument/2006/customXml" ds:itemID="{2CBCFD15-CFFF-49AE-B6C5-12DE46320969}">
  <ds:schemaRefs>
    <ds:schemaRef ds:uri="daf93972-1964-4522-aa34-640805a01c3a"/>
    <ds:schemaRef ds:uri="e52cd9e7-35e5-4bd3-9cab-ca6a63c31e5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7BEDE27A-5D3F-48EC-A4D1-3F35063BDCD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2548</TotalTime>
  <Words>561</Words>
  <Application>Microsoft Office PowerPoint</Application>
  <PresentationFormat>Custom</PresentationFormat>
  <Paragraphs>69</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Calibri Light</vt:lpstr>
      <vt:lpstr>Libre Caslon Text</vt:lpstr>
      <vt:lpstr>Roboto</vt:lpstr>
      <vt:lpstr>Roboto Light</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4</cp:revision>
  <dcterms:created xsi:type="dcterms:W3CDTF">2019-12-03T01:50:37Z</dcterms:created>
  <dcterms:modified xsi:type="dcterms:W3CDTF">2023-11-02T00:56:51Z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