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847"/>
  </p:normalViewPr>
  <p:slideViewPr>
    <p:cSldViewPr snapToGrid="0" snapToObjects="1">
      <p:cViewPr varScale="1">
        <p:scale>
          <a:sx n="75" d="100"/>
          <a:sy n="75" d="100"/>
        </p:scale>
        <p:origin x="2288" y="16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2CBB9471-3F64-4E29-8B1B-03EB3F0BA58C}"/>
    <pc:docChg chg="undo redo custSel modSld">
      <pc:chgData name="Darcy Roach" userId="ba676ee9-e9b4-49e8-a515-8077106c948d" providerId="ADAL" clId="{2CBB9471-3F64-4E29-8B1B-03EB3F0BA58C}" dt="2022-11-15T23:47:51.961" v="674" actId="20577"/>
      <pc:docMkLst>
        <pc:docMk/>
      </pc:docMkLst>
      <pc:sldChg chg="addSp delSp modSp mod">
        <pc:chgData name="Darcy Roach" userId="ba676ee9-e9b4-49e8-a515-8077106c948d" providerId="ADAL" clId="{2CBB9471-3F64-4E29-8B1B-03EB3F0BA58C}" dt="2022-11-15T23:47:51.961" v="674" actId="20577"/>
        <pc:sldMkLst>
          <pc:docMk/>
          <pc:sldMk cId="2009923557" sldId="270"/>
        </pc:sldMkLst>
        <pc:spChg chg="mod">
          <ac:chgData name="Darcy Roach" userId="ba676ee9-e9b4-49e8-a515-8077106c948d" providerId="ADAL" clId="{2CBB9471-3F64-4E29-8B1B-03EB3F0BA58C}" dt="2022-11-15T23:20:10.684" v="153" actId="1076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2CBB9471-3F64-4E29-8B1B-03EB3F0BA58C}" dt="2022-11-15T23:15:58.002" v="140" actId="14100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2CBB9471-3F64-4E29-8B1B-03EB3F0BA58C}" dt="2022-11-15T23:13:49.880" v="88" actId="1035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2CBB9471-3F64-4E29-8B1B-03EB3F0BA58C}" dt="2022-11-15T23:40:00.801" v="458" actId="20577"/>
          <ac:spMkLst>
            <pc:docMk/>
            <pc:sldMk cId="2009923557" sldId="270"/>
            <ac:spMk id="10" creationId="{06312B81-BCF1-2796-C112-3DBE0E02F483}"/>
          </ac:spMkLst>
        </pc:spChg>
        <pc:spChg chg="mod">
          <ac:chgData name="Darcy Roach" userId="ba676ee9-e9b4-49e8-a515-8077106c948d" providerId="ADAL" clId="{2CBB9471-3F64-4E29-8B1B-03EB3F0BA58C}" dt="2022-11-15T23:29:06.576" v="324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2CBB9471-3F64-4E29-8B1B-03EB3F0BA58C}" dt="2022-11-15T23:39:10.377" v="439" actId="1076"/>
          <ac:spMkLst>
            <pc:docMk/>
            <pc:sldMk cId="2009923557" sldId="270"/>
            <ac:spMk id="28" creationId="{6059F888-3BDF-A1C0-65E5-CB6FDD43D97C}"/>
          </ac:spMkLst>
        </pc:spChg>
        <pc:spChg chg="add del">
          <ac:chgData name="Darcy Roach" userId="ba676ee9-e9b4-49e8-a515-8077106c948d" providerId="ADAL" clId="{2CBB9471-3F64-4E29-8B1B-03EB3F0BA58C}" dt="2022-11-15T23:20:26.309" v="155" actId="22"/>
          <ac:spMkLst>
            <pc:docMk/>
            <pc:sldMk cId="2009923557" sldId="270"/>
            <ac:spMk id="32" creationId="{A405739A-FF67-2A62-9CCA-AEEE01A75581}"/>
          </ac:spMkLst>
        </pc:spChg>
        <pc:spChg chg="mod">
          <ac:chgData name="Darcy Roach" userId="ba676ee9-e9b4-49e8-a515-8077106c948d" providerId="ADAL" clId="{2CBB9471-3F64-4E29-8B1B-03EB3F0BA58C}" dt="2022-11-15T23:47:51.961" v="674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2CBB9471-3F64-4E29-8B1B-03EB3F0BA58C}" dt="2022-11-15T23:37:59.143" v="423" actId="6549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2CBB9471-3F64-4E29-8B1B-03EB3F0BA58C}" dt="2022-11-15T23:39:10.377" v="439" actId="1076"/>
          <ac:grpSpMkLst>
            <pc:docMk/>
            <pc:sldMk cId="2009923557" sldId="270"/>
            <ac:grpSpMk id="18" creationId="{E0B3FDFC-4A78-346F-E1D4-E183BEB90A60}"/>
          </ac:grpSpMkLst>
        </pc:grpChg>
        <pc:grpChg chg="mod">
          <ac:chgData name="Darcy Roach" userId="ba676ee9-e9b4-49e8-a515-8077106c948d" providerId="ADAL" clId="{2CBB9471-3F64-4E29-8B1B-03EB3F0BA58C}" dt="2022-11-15T23:20:39.563" v="156" actId="1076"/>
          <ac:grpSpMkLst>
            <pc:docMk/>
            <pc:sldMk cId="2009923557" sldId="270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2CBB9471-3F64-4E29-8B1B-03EB3F0BA58C}" dt="2022-11-15T23:13:49.880" v="88" actId="1035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2CBB9471-3F64-4E29-8B1B-03EB3F0BA58C}" dt="2022-11-15T23:21:37.657" v="168" actId="1035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2CBB9471-3F64-4E29-8B1B-03EB3F0BA58C}" dt="2022-11-15T23:29:56.774" v="380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Darcy Roach" userId="ba676ee9-e9b4-49e8-a515-8077106c948d" providerId="ADAL" clId="{58FF96FA-4259-4469-A455-2DE3828C3E01}"/>
    <pc:docChg chg="undo custSel modSld">
      <pc:chgData name="Darcy Roach" userId="ba676ee9-e9b4-49e8-a515-8077106c948d" providerId="ADAL" clId="{58FF96FA-4259-4469-A455-2DE3828C3E01}" dt="2022-11-15T05:44:17.679" v="62" actId="20577"/>
      <pc:docMkLst>
        <pc:docMk/>
      </pc:docMkLst>
      <pc:sldChg chg="modSp mod">
        <pc:chgData name="Darcy Roach" userId="ba676ee9-e9b4-49e8-a515-8077106c948d" providerId="ADAL" clId="{58FF96FA-4259-4469-A455-2DE3828C3E01}" dt="2022-11-15T05:44:17.679" v="62" actId="20577"/>
        <pc:sldMkLst>
          <pc:docMk/>
          <pc:sldMk cId="2009923557" sldId="270"/>
        </pc:sldMkLst>
        <pc:spChg chg="mod">
          <ac:chgData name="Darcy Roach" userId="ba676ee9-e9b4-49e8-a515-8077106c948d" providerId="ADAL" clId="{58FF96FA-4259-4469-A455-2DE3828C3E01}" dt="2022-11-15T05:34:44.861" v="32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58FF96FA-4259-4469-A455-2DE3828C3E01}" dt="2022-11-15T05:44:17.679" v="62" actId="20577"/>
          <ac:spMkLst>
            <pc:docMk/>
            <pc:sldMk cId="2009923557" sldId="270"/>
            <ac:spMk id="8" creationId="{59FEB941-5146-6B10-4E4D-8A4ADE918AEF}"/>
          </ac:spMkLst>
        </pc:spChg>
      </pc:sldChg>
    </pc:docChg>
  </pc:docChgLst>
  <pc:docChgLst>
    <pc:chgData name="Paul Martinico" userId="05e381d2-80b7-43e8-b915-faa146d84a0f" providerId="ADAL" clId="{8107F3FE-11E6-DC4C-A03B-2D54695C4673}"/>
    <pc:docChg chg="custSel modSld">
      <pc:chgData name="Paul Martinico" userId="05e381d2-80b7-43e8-b915-faa146d84a0f" providerId="ADAL" clId="{8107F3FE-11E6-DC4C-A03B-2D54695C4673}" dt="2023-04-18T06:58:48.256" v="179" actId="20577"/>
      <pc:docMkLst>
        <pc:docMk/>
      </pc:docMkLst>
      <pc:sldChg chg="modSp mod">
        <pc:chgData name="Paul Martinico" userId="05e381d2-80b7-43e8-b915-faa146d84a0f" providerId="ADAL" clId="{8107F3FE-11E6-DC4C-A03B-2D54695C4673}" dt="2023-04-18T06:58:48.256" v="179" actId="20577"/>
        <pc:sldMkLst>
          <pc:docMk/>
          <pc:sldMk cId="2009923557" sldId="270"/>
        </pc:sldMkLst>
        <pc:spChg chg="mod">
          <ac:chgData name="Paul Martinico" userId="05e381d2-80b7-43e8-b915-faa146d84a0f" providerId="ADAL" clId="{8107F3FE-11E6-DC4C-A03B-2D54695C4673}" dt="2023-04-18T06:58:48.256" v="179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Paul Martinico" userId="05e381d2-80b7-43e8-b915-faa146d84a0f" providerId="ADAL" clId="{8107F3FE-11E6-DC4C-A03B-2D54695C4673}" dt="2023-04-18T06:58:35.156" v="167" actId="6549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Paul Martinico" userId="05e381d2-80b7-43e8-b915-faa146d84a0f" providerId="ADAL" clId="{8107F3FE-11E6-DC4C-A03B-2D54695C4673}" dt="2023-04-18T06:56:39.527" v="18" actId="1035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Paul Martinico" userId="05e381d2-80b7-43e8-b915-faa146d84a0f" providerId="ADAL" clId="{8107F3FE-11E6-DC4C-A03B-2D54695C4673}" dt="2023-04-18T06:57:38.106" v="47" actId="14100"/>
          <ac:spMkLst>
            <pc:docMk/>
            <pc:sldMk cId="2009923557" sldId="270"/>
            <ac:spMk id="28" creationId="{6059F888-3BDF-A1C0-65E5-CB6FDD43D97C}"/>
          </ac:spMkLst>
        </pc:spChg>
        <pc:grpChg chg="mod">
          <ac:chgData name="Paul Martinico" userId="05e381d2-80b7-43e8-b915-faa146d84a0f" providerId="ADAL" clId="{8107F3FE-11E6-DC4C-A03B-2D54695C4673}" dt="2023-04-18T06:56:01.248" v="11" actId="1076"/>
          <ac:grpSpMkLst>
            <pc:docMk/>
            <pc:sldMk cId="2009923557" sldId="270"/>
            <ac:grpSpMk id="18" creationId="{E0B3FDFC-4A78-346F-E1D4-E183BEB90A60}"/>
          </ac:grpSpMkLst>
        </pc:grpChg>
        <pc:grpChg chg="mod">
          <ac:chgData name="Paul Martinico" userId="05e381d2-80b7-43e8-b915-faa146d84a0f" providerId="ADAL" clId="{8107F3FE-11E6-DC4C-A03B-2D54695C4673}" dt="2023-04-18T06:56:20.128" v="13" actId="1076"/>
          <ac:grpSpMkLst>
            <pc:docMk/>
            <pc:sldMk cId="2009923557" sldId="270"/>
            <ac:grpSpMk id="163" creationId="{E52FDF9F-B084-9074-7DB9-539AD5456487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4/18/23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Jannet</a:t>
            </a:r>
            <a:endParaRPr lang="en-US" sz="28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Fernandez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550930"/>
            <a:ext cx="2794374" cy="15228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Jannet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 Google Cloud Certified Data Engineer with over 13 years of experience in building and leading teams with a proven track record in delivering Business and Technology solutions. A subject matter expert in Data Analytics &amp; Reporting particularly in the Financial Sector, </a:t>
            </a:r>
            <a:r>
              <a:rPr lang="en-US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Jannet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has extensive experience working in Banking and Insurance.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Shell Scripting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Hadoop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Apache Airflow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Teradata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Hive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Impala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Oozie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SQOOP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PySpark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Bitbucket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96277"/>
            <a:ext cx="0" cy="1740261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08379" y="5316662"/>
            <a:ext cx="4426554" cy="2554545"/>
            <a:chOff x="5030740" y="2152200"/>
            <a:chExt cx="4728243" cy="255454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4" y="2152200"/>
              <a:ext cx="4699509" cy="2554545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/>
                <a:t>As a developer, played an integral role in developing a Google Cloud Platform based project. The objective of the project was to support property buyers to make informed decisions on where to live considering various factors available in a suburb such as hospitals, schools, child care centres, restaurants, etc, identify the top 7 ranking suburbs in Victoria and also provide an output with a map pinned with locations of all amenities the customers are interested in. </a:t>
              </a:r>
            </a:p>
            <a:p>
              <a:pPr marL="0" indent="0">
                <a:buNone/>
              </a:pPr>
              <a:endParaRPr lang="en-AU" sz="1000" dirty="0"/>
            </a:p>
            <a:p>
              <a:r>
                <a:rPr lang="en-AU" sz="1000" dirty="0"/>
                <a:t>Plan, design and document the architecture of the project. </a:t>
              </a:r>
            </a:p>
            <a:p>
              <a:r>
                <a:rPr lang="en-AU" sz="1000" dirty="0"/>
                <a:t>Create models for data transformation in </a:t>
              </a:r>
              <a:r>
                <a:rPr lang="en-AU" sz="1000" dirty="0" err="1"/>
                <a:t>BigQuery</a:t>
              </a:r>
              <a:r>
                <a:rPr lang="en-AU" sz="1000" dirty="0"/>
                <a:t> using </a:t>
              </a:r>
              <a:r>
                <a:rPr lang="en-AU" sz="1000" dirty="0" err="1"/>
                <a:t>dbt</a:t>
              </a:r>
              <a:r>
                <a:rPr lang="en-AU" sz="1000" dirty="0"/>
                <a:t> tool. </a:t>
              </a:r>
            </a:p>
            <a:p>
              <a:r>
                <a:rPr lang="en-AU" sz="1000" dirty="0"/>
                <a:t>Create, deploy and execute workflows using various GCP tools like Dataflow, </a:t>
              </a:r>
              <a:r>
                <a:rPr lang="en-AU" sz="1000" dirty="0" err="1"/>
                <a:t>Datastream</a:t>
              </a:r>
              <a:r>
                <a:rPr lang="en-AU" sz="1000" dirty="0"/>
                <a:t>, Pub/Sub. </a:t>
              </a:r>
            </a:p>
            <a:p>
              <a:r>
                <a:rPr lang="en-AU" sz="1000" dirty="0"/>
                <a:t>Create CI/CD pipeline using Cloud Build. </a:t>
              </a:r>
            </a:p>
            <a:p>
              <a:r>
                <a:rPr lang="en-AU" sz="1000" dirty="0"/>
                <a:t>Build infrastructure using Terraform. </a:t>
              </a:r>
            </a:p>
            <a:p>
              <a:r>
                <a:rPr lang="en-AU" sz="1000" dirty="0"/>
                <a:t>Data visualisation using Data Studio and </a:t>
              </a:r>
              <a:r>
                <a:rPr lang="en-AU" sz="1000" dirty="0" err="1"/>
                <a:t>BigQuery</a:t>
              </a:r>
              <a:r>
                <a:rPr lang="en-AU" sz="1000" dirty="0"/>
                <a:t> Geo Viz.</a:t>
              </a:r>
            </a:p>
            <a:p>
              <a:pPr marL="0" indent="0">
                <a:buNone/>
              </a:pPr>
              <a:endParaRPr lang="en-AU" sz="100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2227361"/>
              <a:ext cx="0" cy="207677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75014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39986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16955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Software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2965592"/>
            <a:ext cx="1951941" cy="3785652"/>
            <a:chOff x="8106458" y="2681447"/>
            <a:chExt cx="1951941" cy="378565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Platform –  Certified Data Engineer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 err="1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SAFe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Certified Scrum Master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Technology, Computer Engineering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Cochin University, India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Certificate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Applied Data Science, </a:t>
              </a: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Massachusetts Institute of Technology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latin typeface="Roboto Light" panose="02000000000000000000" pitchFamily="2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Master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Teaching, Primary Education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Monash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2724" y="5038005"/>
            <a:ext cx="4542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Real Estate/Property - Data Engineer</a:t>
            </a: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 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Quality Assurance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Risk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Test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Defect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Release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23734"/>
            <a:ext cx="4192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Big 4 Australian Bank – Data Stream Lead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1309558"/>
            <a:ext cx="4488473" cy="19389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End-to-end delivery of curated data assets using Agile for remediation projects to effectively refund customers by coordinating data sourcing services, curation activities, UAT by customers and release to Operations.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r>
              <a:rPr lang="en-US" sz="1000" dirty="0">
                <a:solidFill>
                  <a:schemeClr val="bg1"/>
                </a:solidFill>
              </a:rPr>
              <a:t>Managed 3 streams of 31 people across Australia, China and India.</a:t>
            </a:r>
          </a:p>
          <a:p>
            <a:r>
              <a:rPr lang="en-US" sz="1000" dirty="0">
                <a:solidFill>
                  <a:schemeClr val="bg1"/>
                </a:solidFill>
              </a:rPr>
              <a:t>Data curation in Hadoop with exceptional critical thinking skills to provide effective solutions to manage and curate data, fit for responsible banking.</a:t>
            </a:r>
          </a:p>
          <a:p>
            <a:r>
              <a:rPr lang="en-US" sz="1000" dirty="0">
                <a:solidFill>
                  <a:schemeClr val="bg1"/>
                </a:solidFill>
              </a:rPr>
              <a:t>Make decisions for data modelling, data cleaning and data processing.</a:t>
            </a:r>
          </a:p>
          <a:p>
            <a:r>
              <a:rPr lang="en-AU" sz="1000" dirty="0">
                <a:solidFill>
                  <a:schemeClr val="bg1"/>
                </a:solidFill>
              </a:rPr>
              <a:t>Delivered data responses, leveraging technical skills to manipulate data, identify root cause and solve problems.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Produced high-valued results for customers and stakeholders with a focus on dependency management and strong collaborative relationships</a:t>
            </a:r>
            <a:endParaRPr lang="en-US" sz="10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3" y="3639753"/>
            <a:ext cx="4584890" cy="1391171"/>
            <a:chOff x="5023753" y="4179778"/>
            <a:chExt cx="4757437" cy="139117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179778"/>
              <a:ext cx="4721716" cy="132343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US" sz="1000" dirty="0"/>
                <a:t>C</a:t>
              </a:r>
              <a:r>
                <a:rPr lang="en-AU" sz="1000" dirty="0" err="1"/>
                <a:t>onfidently</a:t>
              </a:r>
              <a:r>
                <a:rPr lang="en-AU" sz="1000" dirty="0"/>
                <a:t> undertook implementation of Agile projects as a Project Lead.</a:t>
              </a:r>
            </a:p>
            <a:p>
              <a:r>
                <a:rPr lang="en-AU" sz="1000" dirty="0"/>
                <a:t>Undertook responsibilities for programming enhancements to systems, involved in issue resolution and deployed builds for testing.</a:t>
              </a:r>
            </a:p>
            <a:p>
              <a:r>
                <a:rPr lang="en-AU" sz="1000" dirty="0"/>
                <a:t>Automated testing together with performing manual tests for non-automated test cards.</a:t>
              </a:r>
            </a:p>
            <a:p>
              <a:r>
                <a:rPr lang="en-AU" sz="1000" dirty="0"/>
                <a:t>Associate for analysis of functional &amp; data requirements.</a:t>
              </a:r>
            </a:p>
            <a:p>
              <a:r>
                <a:rPr lang="en-AU" sz="1000" dirty="0"/>
                <a:t>Performed Data Analysis to inform/assist data stakeholders.</a:t>
              </a:r>
            </a:p>
            <a:p>
              <a:r>
                <a:rPr lang="en-AU" sz="1000" dirty="0"/>
                <a:t>Provided guidance and mentoring to junior team members.</a:t>
              </a:r>
              <a:endParaRPr lang="en-US" sz="10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312460"/>
              <a:ext cx="0" cy="1258489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2724" y="3322585"/>
            <a:ext cx="4181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</a:t>
            </a:r>
            <a:r>
              <a:rPr lang="en-AU" sz="1200" b="1" dirty="0" err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inancial</a:t>
            </a:r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Services Organisation – Data Project Lead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E2A4C-14EF-31AA-4D03-774961082029}"/>
              </a:ext>
            </a:extLst>
          </p:cNvPr>
          <p:cNvSpPr txBox="1"/>
          <p:nvPr/>
        </p:nvSpPr>
        <p:spPr>
          <a:xfrm>
            <a:off x="250509" y="3146063"/>
            <a:ext cx="2794371" cy="20999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US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Jannet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passionate about achieving outcomes and delivering value, by being adaptive, flexible and </a:t>
            </a:r>
            <a:r>
              <a:rPr lang="en-US" dirty="0"/>
              <a:t>w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ell versed in managing expectations by motivating teams to focus on a common vision to achieve shared outcomes. </a:t>
            </a:r>
            <a:r>
              <a:rPr lang="en-US" dirty="0"/>
              <a:t>Zealous about developing and implementing improvements in software methodologies and technologies </a:t>
            </a:r>
            <a:r>
              <a:rPr lang="en-US" dirty="0" err="1"/>
              <a:t>Jannet</a:t>
            </a:r>
            <a:r>
              <a:rPr lang="en-US" dirty="0"/>
              <a:t> is a clear and innovative thinker with strong analytical and problem-solving skills coupled with well-developed inter-personal skills and commendable work ethic. </a:t>
            </a: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C6410C-B420-4127-9D32-DC600766F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D78DE8-CA0B-4723-AF37-2B344746F8D2}">
  <ds:schemaRefs>
    <ds:schemaRef ds:uri="http://schemas.microsoft.com/office/2006/documentManagement/types"/>
    <ds:schemaRef ds:uri="http://purl.org/dc/terms/"/>
    <ds:schemaRef ds:uri="e52cd9e7-35e5-4bd3-9cab-ca6a63c31e52"/>
    <ds:schemaRef ds:uri="http://www.w3.org/XML/1998/namespace"/>
    <ds:schemaRef ds:uri="daf93972-1964-4522-aa34-640805a01c3a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4E4D6C7-38CA-4804-BA18-EA682BEE46F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13674</TotalTime>
  <Words>585</Words>
  <Application>Microsoft Macintosh PowerPoint</Application>
  <PresentationFormat>Custom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Paul Martinico</cp:lastModifiedBy>
  <cp:revision>92</cp:revision>
  <dcterms:created xsi:type="dcterms:W3CDTF">2019-12-03T01:50:37Z</dcterms:created>
  <dcterms:modified xsi:type="dcterms:W3CDTF">2023-04-18T06:58:49Z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