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1"/>
  </p:sldMasterIdLst>
  <p:sldIdLst>
    <p:sldId id="270" r:id="rId2"/>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0059FF"/>
    <a:srgbClr val="00AB8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2"/>
    <p:restoredTop sz="94711"/>
  </p:normalViewPr>
  <p:slideViewPr>
    <p:cSldViewPr snapToGrid="0">
      <p:cViewPr varScale="1">
        <p:scale>
          <a:sx n="95" d="100"/>
          <a:sy n="95" d="100"/>
        </p:scale>
        <p:origin x="1854" y="6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3.xml"/><Relationship Id="rId4" Type="http://schemas.openxmlformats.org/officeDocument/2006/relationships/viewProps" Target="viewProps.xml"/><Relationship Id="rId9"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AC9330BC-9BED-40DA-912F-02B3B0BF0245}"/>
    <pc:docChg chg="undo custSel modSld">
      <pc:chgData name="Darcy Roach" userId="ba676ee9-e9b4-49e8-a515-8077106c948d" providerId="ADAL" clId="{AC9330BC-9BED-40DA-912F-02B3B0BF0245}" dt="2022-11-16T00:41:00.001" v="863" actId="14100"/>
      <pc:docMkLst>
        <pc:docMk/>
      </pc:docMkLst>
      <pc:sldChg chg="addSp delSp modSp mod">
        <pc:chgData name="Darcy Roach" userId="ba676ee9-e9b4-49e8-a515-8077106c948d" providerId="ADAL" clId="{AC9330BC-9BED-40DA-912F-02B3B0BF0245}" dt="2022-11-16T00:41:00.001" v="863" actId="14100"/>
        <pc:sldMkLst>
          <pc:docMk/>
          <pc:sldMk cId="2009923557" sldId="270"/>
        </pc:sldMkLst>
        <pc:spChg chg="mod">
          <ac:chgData name="Darcy Roach" userId="ba676ee9-e9b4-49e8-a515-8077106c948d" providerId="ADAL" clId="{AC9330BC-9BED-40DA-912F-02B3B0BF0245}" dt="2022-11-16T00:32:15.600" v="778" actId="1076"/>
          <ac:spMkLst>
            <pc:docMk/>
            <pc:sldMk cId="2009923557" sldId="270"/>
            <ac:spMk id="2" creationId="{2FA774CA-3857-9308-4D38-9414B0CC2B95}"/>
          </ac:spMkLst>
        </pc:spChg>
        <pc:spChg chg="mod">
          <ac:chgData name="Darcy Roach" userId="ba676ee9-e9b4-49e8-a515-8077106c948d" providerId="ADAL" clId="{AC9330BC-9BED-40DA-912F-02B3B0BF0245}" dt="2022-11-16T00:17:52.537" v="385" actId="14100"/>
          <ac:spMkLst>
            <pc:docMk/>
            <pc:sldMk cId="2009923557" sldId="270"/>
            <ac:spMk id="4" creationId="{80F49B2F-21D4-F9EB-049F-717A10CB7D84}"/>
          </ac:spMkLst>
        </pc:spChg>
        <pc:spChg chg="mod">
          <ac:chgData name="Darcy Roach" userId="ba676ee9-e9b4-49e8-a515-8077106c948d" providerId="ADAL" clId="{AC9330BC-9BED-40DA-912F-02B3B0BF0245}" dt="2022-11-16T00:32:15.600" v="778" actId="1076"/>
          <ac:spMkLst>
            <pc:docMk/>
            <pc:sldMk cId="2009923557" sldId="270"/>
            <ac:spMk id="6" creationId="{701E125D-B356-8A2A-B86B-AB6567CEABE1}"/>
          </ac:spMkLst>
        </pc:spChg>
        <pc:spChg chg="mod">
          <ac:chgData name="Darcy Roach" userId="ba676ee9-e9b4-49e8-a515-8077106c948d" providerId="ADAL" clId="{AC9330BC-9BED-40DA-912F-02B3B0BF0245}" dt="2022-11-15T23:52:47.203" v="43" actId="1076"/>
          <ac:spMkLst>
            <pc:docMk/>
            <pc:sldMk cId="2009923557" sldId="270"/>
            <ac:spMk id="7" creationId="{6B2F289A-52B4-2A27-52EA-B05DE2DA93CE}"/>
          </ac:spMkLst>
        </pc:spChg>
        <pc:spChg chg="mod">
          <ac:chgData name="Darcy Roach" userId="ba676ee9-e9b4-49e8-a515-8077106c948d" providerId="ADAL" clId="{AC9330BC-9BED-40DA-912F-02B3B0BF0245}" dt="2022-11-16T00:32:15.600" v="778" actId="1076"/>
          <ac:spMkLst>
            <pc:docMk/>
            <pc:sldMk cId="2009923557" sldId="270"/>
            <ac:spMk id="8" creationId="{59FEB941-5146-6B10-4E4D-8A4ADE918AEF}"/>
          </ac:spMkLst>
        </pc:spChg>
        <pc:spChg chg="mod">
          <ac:chgData name="Darcy Roach" userId="ba676ee9-e9b4-49e8-a515-8077106c948d" providerId="ADAL" clId="{AC9330BC-9BED-40DA-912F-02B3B0BF0245}" dt="2022-11-16T00:25:39.853" v="662" actId="20577"/>
          <ac:spMkLst>
            <pc:docMk/>
            <pc:sldMk cId="2009923557" sldId="270"/>
            <ac:spMk id="10" creationId="{06312B81-BCF1-2796-C112-3DBE0E02F483}"/>
          </ac:spMkLst>
        </pc:spChg>
        <pc:spChg chg="del">
          <ac:chgData name="Darcy Roach" userId="ba676ee9-e9b4-49e8-a515-8077106c948d" providerId="ADAL" clId="{AC9330BC-9BED-40DA-912F-02B3B0BF0245}" dt="2022-11-15T23:52:34.226" v="39" actId="478"/>
          <ac:spMkLst>
            <pc:docMk/>
            <pc:sldMk cId="2009923557" sldId="270"/>
            <ac:spMk id="12" creationId="{05BEA2A7-F2F4-D7C4-273B-94784BBDC7E2}"/>
          </ac:spMkLst>
        </pc:spChg>
        <pc:spChg chg="mod">
          <ac:chgData name="Darcy Roach" userId="ba676ee9-e9b4-49e8-a515-8077106c948d" providerId="ADAL" clId="{AC9330BC-9BED-40DA-912F-02B3B0BF0245}" dt="2022-11-15T23:51:09.524" v="23" actId="20577"/>
          <ac:spMkLst>
            <pc:docMk/>
            <pc:sldMk cId="2009923557" sldId="270"/>
            <ac:spMk id="13" creationId="{FD2720C9-A79F-BD7F-E179-674AD67D7892}"/>
          </ac:spMkLst>
        </pc:spChg>
        <pc:spChg chg="add mod">
          <ac:chgData name="Darcy Roach" userId="ba676ee9-e9b4-49e8-a515-8077106c948d" providerId="ADAL" clId="{AC9330BC-9BED-40DA-912F-02B3B0BF0245}" dt="2022-11-16T00:39:18.941" v="854" actId="1076"/>
          <ac:spMkLst>
            <pc:docMk/>
            <pc:sldMk cId="2009923557" sldId="270"/>
            <ac:spMk id="16" creationId="{6F50168B-02F5-25E3-4E01-B6E6FB2DABBE}"/>
          </ac:spMkLst>
        </pc:spChg>
        <pc:spChg chg="mod">
          <ac:chgData name="Darcy Roach" userId="ba676ee9-e9b4-49e8-a515-8077106c948d" providerId="ADAL" clId="{AC9330BC-9BED-40DA-912F-02B3B0BF0245}" dt="2022-11-15T23:55:27.836" v="97" actId="20577"/>
          <ac:spMkLst>
            <pc:docMk/>
            <pc:sldMk cId="2009923557" sldId="270"/>
            <ac:spMk id="17" creationId="{1BDE5051-9F34-F139-742D-4450E5D6591E}"/>
          </ac:spMkLst>
        </pc:spChg>
        <pc:spChg chg="mod">
          <ac:chgData name="Darcy Roach" userId="ba676ee9-e9b4-49e8-a515-8077106c948d" providerId="ADAL" clId="{AC9330BC-9BED-40DA-912F-02B3B0BF0245}" dt="2022-11-16T00:40:46.279" v="862" actId="5793"/>
          <ac:spMkLst>
            <pc:docMk/>
            <pc:sldMk cId="2009923557" sldId="270"/>
            <ac:spMk id="19" creationId="{7513C49A-2DF2-8111-FED4-FC07A8EAD258}"/>
          </ac:spMkLst>
        </pc:spChg>
        <pc:spChg chg="add mod">
          <ac:chgData name="Darcy Roach" userId="ba676ee9-e9b4-49e8-a515-8077106c948d" providerId="ADAL" clId="{AC9330BC-9BED-40DA-912F-02B3B0BF0245}" dt="2022-11-16T00:14:36.793" v="274"/>
          <ac:spMkLst>
            <pc:docMk/>
            <pc:sldMk cId="2009923557" sldId="270"/>
            <ac:spMk id="24" creationId="{6D5DFA85-D4E3-9A31-114D-6046DC0103BB}"/>
          </ac:spMkLst>
        </pc:spChg>
        <pc:spChg chg="mod">
          <ac:chgData name="Darcy Roach" userId="ba676ee9-e9b4-49e8-a515-8077106c948d" providerId="ADAL" clId="{AC9330BC-9BED-40DA-912F-02B3B0BF0245}" dt="2022-11-16T00:16:43.777" v="308" actId="20577"/>
          <ac:spMkLst>
            <pc:docMk/>
            <pc:sldMk cId="2009923557" sldId="270"/>
            <ac:spMk id="26" creationId="{1A3D666D-00C8-D106-73C3-9FF300F8618C}"/>
          </ac:spMkLst>
        </pc:spChg>
        <pc:spChg chg="mod">
          <ac:chgData name="Darcy Roach" userId="ba676ee9-e9b4-49e8-a515-8077106c948d" providerId="ADAL" clId="{AC9330BC-9BED-40DA-912F-02B3B0BF0245}" dt="2022-11-16T00:32:15.600" v="778" actId="1076"/>
          <ac:spMkLst>
            <pc:docMk/>
            <pc:sldMk cId="2009923557" sldId="270"/>
            <ac:spMk id="28" creationId="{6059F888-3BDF-A1C0-65E5-CB6FDD43D97C}"/>
          </ac:spMkLst>
        </pc:spChg>
        <pc:spChg chg="mod">
          <ac:chgData name="Darcy Roach" userId="ba676ee9-e9b4-49e8-a515-8077106c948d" providerId="ADAL" clId="{AC9330BC-9BED-40DA-912F-02B3B0BF0245}" dt="2022-11-16T00:20:07.239" v="485" actId="20577"/>
          <ac:spMkLst>
            <pc:docMk/>
            <pc:sldMk cId="2009923557" sldId="270"/>
            <ac:spMk id="38" creationId="{AB47A2EE-BF0B-DB05-8B7C-DB6594B2B3D5}"/>
          </ac:spMkLst>
        </pc:spChg>
        <pc:spChg chg="mod">
          <ac:chgData name="Darcy Roach" userId="ba676ee9-e9b4-49e8-a515-8077106c948d" providerId="ADAL" clId="{AC9330BC-9BED-40DA-912F-02B3B0BF0245}" dt="2022-11-16T00:14:35.481" v="273" actId="1076"/>
          <ac:spMkLst>
            <pc:docMk/>
            <pc:sldMk cId="2009923557" sldId="270"/>
            <ac:spMk id="39" creationId="{3EA81938-6A76-B850-B0E8-A5F905AEBA98}"/>
          </ac:spMkLst>
        </pc:spChg>
        <pc:spChg chg="del mod">
          <ac:chgData name="Darcy Roach" userId="ba676ee9-e9b4-49e8-a515-8077106c948d" providerId="ADAL" clId="{AC9330BC-9BED-40DA-912F-02B3B0BF0245}" dt="2022-11-16T00:14:30.674" v="272" actId="21"/>
          <ac:spMkLst>
            <pc:docMk/>
            <pc:sldMk cId="2009923557" sldId="270"/>
            <ac:spMk id="175" creationId="{B9775FC7-7124-8CCA-9B1C-7CCD7D3DF384}"/>
          </ac:spMkLst>
        </pc:spChg>
        <pc:grpChg chg="mod">
          <ac:chgData name="Darcy Roach" userId="ba676ee9-e9b4-49e8-a515-8077106c948d" providerId="ADAL" clId="{AC9330BC-9BED-40DA-912F-02B3B0BF0245}" dt="2022-11-16T00:14:35.481" v="273" actId="1076"/>
          <ac:grpSpMkLst>
            <pc:docMk/>
            <pc:sldMk cId="2009923557" sldId="270"/>
            <ac:grpSpMk id="5" creationId="{980A06B1-0A2F-7DF6-91DB-0F6DFA896A23}"/>
          </ac:grpSpMkLst>
        </pc:grpChg>
        <pc:grpChg chg="mod">
          <ac:chgData name="Darcy Roach" userId="ba676ee9-e9b4-49e8-a515-8077106c948d" providerId="ADAL" clId="{AC9330BC-9BED-40DA-912F-02B3B0BF0245}" dt="2022-11-16T00:32:15.600" v="778" actId="1076"/>
          <ac:grpSpMkLst>
            <pc:docMk/>
            <pc:sldMk cId="2009923557" sldId="270"/>
            <ac:grpSpMk id="18" creationId="{E0B3FDFC-4A78-346F-E1D4-E183BEB90A60}"/>
          </ac:grpSpMkLst>
        </pc:grpChg>
        <pc:grpChg chg="mod">
          <ac:chgData name="Darcy Roach" userId="ba676ee9-e9b4-49e8-a515-8077106c948d" providerId="ADAL" clId="{AC9330BC-9BED-40DA-912F-02B3B0BF0245}" dt="2022-11-16T00:32:15.600" v="778" actId="1076"/>
          <ac:grpSpMkLst>
            <pc:docMk/>
            <pc:sldMk cId="2009923557" sldId="270"/>
            <ac:grpSpMk id="163" creationId="{E52FDF9F-B084-9074-7DB9-539AD5456487}"/>
          </ac:grpSpMkLst>
        </pc:grpChg>
        <pc:cxnChg chg="mod">
          <ac:chgData name="Darcy Roach" userId="ba676ee9-e9b4-49e8-a515-8077106c948d" providerId="ADAL" clId="{AC9330BC-9BED-40DA-912F-02B3B0BF0245}" dt="2022-11-16T00:24:39.301" v="604" actId="14100"/>
          <ac:cxnSpMkLst>
            <pc:docMk/>
            <pc:sldMk cId="2009923557" sldId="270"/>
            <ac:cxnSpMk id="3" creationId="{67C34E10-2CF8-9BCA-1CC6-D78A3FF9CA80}"/>
          </ac:cxnSpMkLst>
        </pc:cxnChg>
        <pc:cxnChg chg="mod">
          <ac:chgData name="Darcy Roach" userId="ba676ee9-e9b4-49e8-a515-8077106c948d" providerId="ADAL" clId="{AC9330BC-9BED-40DA-912F-02B3B0BF0245}" dt="2022-11-16T00:25:52.326" v="663" actId="14100"/>
          <ac:cxnSpMkLst>
            <pc:docMk/>
            <pc:sldMk cId="2009923557" sldId="270"/>
            <ac:cxnSpMk id="15" creationId="{F87F05F2-DA4C-4F55-A5D0-1887110DF155}"/>
          </ac:cxnSpMkLst>
        </pc:cxnChg>
        <pc:cxnChg chg="mod">
          <ac:chgData name="Darcy Roach" userId="ba676ee9-e9b4-49e8-a515-8077106c948d" providerId="ADAL" clId="{AC9330BC-9BED-40DA-912F-02B3B0BF0245}" dt="2022-11-16T00:41:00.001" v="863" actId="14100"/>
          <ac:cxnSpMkLst>
            <pc:docMk/>
            <pc:sldMk cId="2009923557" sldId="270"/>
            <ac:cxnSpMk id="21" creationId="{B0913DE4-461D-CE43-AABC-C4B3D7D22F45}"/>
          </ac:cxnSpMkLst>
        </pc:cxnChg>
        <pc:cxnChg chg="mod">
          <ac:chgData name="Darcy Roach" userId="ba676ee9-e9b4-49e8-a515-8077106c948d" providerId="ADAL" clId="{AC9330BC-9BED-40DA-912F-02B3B0BF0245}" dt="2022-11-16T00:20:43.637" v="486" actId="14100"/>
          <ac:cxnSpMkLst>
            <pc:docMk/>
            <pc:sldMk cId="2009923557" sldId="270"/>
            <ac:cxnSpMk id="170" creationId="{0D51728F-48BB-14BB-256E-5F0C0284BCDF}"/>
          </ac:cxnSpMkLst>
        </pc:cxnChg>
      </pc:sldChg>
    </pc:docChg>
  </pc:docChgLst>
  <pc:docChgLst>
    <pc:chgData name="Darcy Roach" userId="ba676ee9-e9b4-49e8-a515-8077106c948d" providerId="ADAL" clId="{E8D461CC-55CC-44E3-971E-B1F3086D9B2B}"/>
    <pc:docChg chg="modSld">
      <pc:chgData name="Darcy Roach" userId="ba676ee9-e9b4-49e8-a515-8077106c948d" providerId="ADAL" clId="{E8D461CC-55CC-44E3-971E-B1F3086D9B2B}" dt="2023-08-02T01:41:36.106" v="6" actId="20577"/>
      <pc:docMkLst>
        <pc:docMk/>
      </pc:docMkLst>
      <pc:sldChg chg="modSp mod">
        <pc:chgData name="Darcy Roach" userId="ba676ee9-e9b4-49e8-a515-8077106c948d" providerId="ADAL" clId="{E8D461CC-55CC-44E3-971E-B1F3086D9B2B}" dt="2023-08-02T01:41:36.106" v="6" actId="20577"/>
        <pc:sldMkLst>
          <pc:docMk/>
          <pc:sldMk cId="2009923557" sldId="270"/>
        </pc:sldMkLst>
        <pc:spChg chg="mod">
          <ac:chgData name="Darcy Roach" userId="ba676ee9-e9b4-49e8-a515-8077106c948d" providerId="ADAL" clId="{E8D461CC-55CC-44E3-971E-B1F3086D9B2B}" dt="2023-08-02T01:41:36.106" v="6" actId="20577"/>
          <ac:spMkLst>
            <pc:docMk/>
            <pc:sldMk cId="2009923557" sldId="270"/>
            <ac:spMk id="22" creationId="{9D4E289E-1D52-CBDD-E381-40963429D7F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8/2/2023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8/2/2023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8/2/2023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8/2/2023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8/2/2023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Liem</a:t>
            </a:r>
          </a:p>
          <a:p>
            <a:r>
              <a:rPr lang="en-US" sz="2800" b="1" dirty="0">
                <a:solidFill>
                  <a:srgbClr val="00AB80"/>
                </a:solidFill>
                <a:latin typeface="Roboto" panose="02000000000000000000" pitchFamily="2" charset="0"/>
                <a:ea typeface="Roboto" panose="02000000000000000000" pitchFamily="2" charset="0"/>
              </a:rPr>
              <a:t>Nguyen</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96808"/>
            <a:ext cx="2868270" cy="1907573"/>
          </a:xfrm>
          <a:prstGeom prst="rect">
            <a:avLst/>
          </a:prstGeom>
          <a:noFill/>
        </p:spPr>
        <p:txBody>
          <a:bodyPr wrap="square" lIns="0" tIns="0" rIns="0" bIns="0" rtlCol="0" anchor="t">
            <a:spAutoFit/>
          </a:bodyPr>
          <a:lstStyle/>
          <a:p>
            <a:pPr>
              <a:lnSpc>
                <a:spcPts val="1500"/>
              </a:lnSpc>
            </a:pPr>
            <a:r>
              <a:rPr lang="en-AU" sz="1000" spc="13" dirty="0">
                <a:latin typeface="Roboto Light"/>
                <a:ea typeface="Roboto Light"/>
                <a:cs typeface="Lato"/>
              </a:rPr>
              <a:t>Liem is a highly skilled Senior Data Engineer with over 15 years of experience in System Development across a broad range of industries including Manufacturing, Banking, Property Management, Telecommunications and Government. He has expertise in the domains of Data Migration, (ETL/ELT) technologies, Business Intelligence (BI), Data warehousing and Big Data on both On-Prem &amp; Cloud environments.</a:t>
            </a:r>
          </a:p>
          <a:p>
            <a:pPr>
              <a:lnSpc>
                <a:spcPts val="1500"/>
              </a:lnSpc>
            </a:pPr>
            <a:endParaRPr lang="en-US"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11842"/>
            <a:ext cx="1510046" cy="20313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APEX</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AWS Redshift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Hadoop</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OBIEE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Teradata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Crystal Reports</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5802"/>
            <a:ext cx="0" cy="157855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nvGrpSpPr>
          <p:cNvPr id="163" name="Group 162">
            <a:extLst>
              <a:ext uri="{FF2B5EF4-FFF2-40B4-BE49-F238E27FC236}">
                <a16:creationId xmlns:a16="http://schemas.microsoft.com/office/drawing/2014/main" id="{E52FDF9F-B084-9074-7DB9-539AD5456487}"/>
              </a:ext>
            </a:extLst>
          </p:cNvPr>
          <p:cNvGrpSpPr/>
          <p:nvPr/>
        </p:nvGrpSpPr>
        <p:grpSpPr>
          <a:xfrm>
            <a:off x="3428144" y="3433412"/>
            <a:ext cx="4549884" cy="1661993"/>
            <a:chOff x="5030740" y="2225627"/>
            <a:chExt cx="4859979" cy="1661993"/>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225627"/>
              <a:ext cx="4831245" cy="1661993"/>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US" sz="1000" dirty="0"/>
                <a:t>Key responsibilities of this role included:</a:t>
              </a:r>
            </a:p>
            <a:p>
              <a:pPr marL="0" indent="0">
                <a:buNone/>
              </a:pPr>
              <a:endParaRPr lang="en-US" sz="200" dirty="0"/>
            </a:p>
            <a:p>
              <a:r>
                <a:rPr lang="en-AU" sz="1000" dirty="0"/>
                <a:t>Populating logistics data warehouse using Snowflake</a:t>
              </a:r>
            </a:p>
            <a:p>
              <a:r>
                <a:rPr lang="en-AU" sz="1000" dirty="0"/>
                <a:t>Dimensional modelling SCD’s and Facts, batch processing</a:t>
              </a:r>
            </a:p>
            <a:p>
              <a:r>
                <a:rPr lang="en-AU" sz="1000" dirty="0"/>
                <a:t>Mapping data, business rules between sources such as SAP TMS/EM, AWS Kinesis, S3 buckets</a:t>
              </a:r>
            </a:p>
            <a:p>
              <a:r>
                <a:rPr lang="en-AU" sz="1000" dirty="0"/>
                <a:t>Ingestion of complex xml files from IoT devices into real time streaming data warehouse   </a:t>
              </a:r>
            </a:p>
            <a:p>
              <a:r>
                <a:rPr lang="en-AU" sz="1000" dirty="0"/>
                <a:t>Using Talend to orchestrate jobs from SAP SLT/Sidecar to Snowflake </a:t>
              </a:r>
            </a:p>
            <a:p>
              <a:r>
                <a:rPr lang="en-AU" sz="1000" dirty="0"/>
                <a:t>Data Quality Management</a:t>
              </a:r>
            </a:p>
            <a:p>
              <a:endParaRPr lang="en-AU" sz="1000" dirty="0"/>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94036"/>
              <a:ext cx="0" cy="1411107"/>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117691"/>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3443401"/>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333135"/>
            <a:ext cx="1951941" cy="1200329"/>
            <a:chOff x="8106458" y="2681447"/>
            <a:chExt cx="1951941" cy="1200329"/>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1200329"/>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Science, Mathematical and Computer Sciences </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University of Adelaide</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p:txBody>
        </p:sp>
      </p:grpSp>
      <p:sp>
        <p:nvSpPr>
          <p:cNvPr id="2" name="TextBox 1">
            <a:extLst>
              <a:ext uri="{FF2B5EF4-FFF2-40B4-BE49-F238E27FC236}">
                <a16:creationId xmlns:a16="http://schemas.microsoft.com/office/drawing/2014/main" id="{2FA774CA-3857-9308-4D38-9414B0CC2B95}"/>
              </a:ext>
            </a:extLst>
          </p:cNvPr>
          <p:cNvSpPr txBox="1"/>
          <p:nvPr/>
        </p:nvSpPr>
        <p:spPr>
          <a:xfrm>
            <a:off x="3335753" y="3148776"/>
            <a:ext cx="4616675"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Major Australian Logistics Organisation – Design Engineer  </a:t>
            </a:r>
          </a:p>
          <a:p>
            <a:endParaRPr lang="en-AU" sz="1200" b="1" dirty="0">
              <a:solidFill>
                <a:srgbClr val="ED7D31"/>
              </a:solidFill>
              <a:latin typeface="Roboto" panose="02000000000000000000" pitchFamily="2" charset="0"/>
              <a:ea typeface="Roboto" panose="02000000000000000000" pitchFamily="2" charset="0"/>
            </a:endParaRPr>
          </a:p>
        </p:txBody>
      </p:sp>
      <p:sp>
        <p:nvSpPr>
          <p:cNvPr id="4" name="TextBox 3">
            <a:extLst>
              <a:ext uri="{FF2B5EF4-FFF2-40B4-BE49-F238E27FC236}">
                <a16:creationId xmlns:a16="http://schemas.microsoft.com/office/drawing/2014/main" id="{80F49B2F-21D4-F9EB-049F-717A10CB7D84}"/>
              </a:ext>
            </a:extLst>
          </p:cNvPr>
          <p:cNvSpPr txBox="1"/>
          <p:nvPr/>
        </p:nvSpPr>
        <p:spPr>
          <a:xfrm>
            <a:off x="146650" y="5747849"/>
            <a:ext cx="1641957"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Validation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Dashboards</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113453"/>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Government </a:t>
            </a:r>
            <a:r>
              <a:rPr lang="en-US" sz="1200" b="1" dirty="0" err="1">
                <a:solidFill>
                  <a:srgbClr val="0059FF"/>
                </a:solidFill>
                <a:latin typeface="Roboto" panose="02000000000000000000" pitchFamily="2" charset="0"/>
                <a:ea typeface="Roboto" panose="02000000000000000000" pitchFamily="2" charset="0"/>
              </a:rPr>
              <a:t>Organisation</a:t>
            </a:r>
            <a:r>
              <a:rPr lang="en-AU" sz="1200" b="1" dirty="0">
                <a:solidFill>
                  <a:srgbClr val="0059FF"/>
                </a:solidFill>
                <a:latin typeface="Roboto" panose="02000000000000000000" pitchFamily="2" charset="0"/>
                <a:ea typeface="Roboto" panose="02000000000000000000" pitchFamily="2" charset="0"/>
              </a:rPr>
              <a:t> –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90179"/>
            <a:ext cx="4488473" cy="181588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r>
              <a:rPr lang="en-US" sz="1000" dirty="0">
                <a:solidFill>
                  <a:schemeClr val="bg1"/>
                </a:solidFill>
                <a:latin typeface="Roboto Light"/>
                <a:ea typeface="Roboto Light"/>
                <a:cs typeface="Roboto Light"/>
              </a:rPr>
              <a:t>Key responsibilities of this role included:</a:t>
            </a:r>
          </a:p>
          <a:p>
            <a:pPr marL="0" indent="0">
              <a:buNone/>
            </a:pPr>
            <a:endParaRPr lang="en-US" sz="200" dirty="0">
              <a:solidFill>
                <a:schemeClr val="bg1"/>
              </a:solidFill>
            </a:endParaRPr>
          </a:p>
          <a:p>
            <a:r>
              <a:rPr lang="en-US" sz="1000" dirty="0">
                <a:solidFill>
                  <a:schemeClr val="bg1"/>
                </a:solidFill>
              </a:rPr>
              <a:t>Firearms Data Migration from on-prem Oracle to PostgreSQL cloud </a:t>
            </a:r>
          </a:p>
          <a:p>
            <a:r>
              <a:rPr lang="en-US" sz="1000" dirty="0">
                <a:solidFill>
                  <a:schemeClr val="bg1"/>
                </a:solidFill>
              </a:rPr>
              <a:t>Developed migration strategy, created a plan to cleanse legacy data</a:t>
            </a:r>
          </a:p>
          <a:p>
            <a:r>
              <a:rPr lang="en-US" sz="1000" dirty="0">
                <a:solidFill>
                  <a:schemeClr val="bg1"/>
                </a:solidFill>
              </a:rPr>
              <a:t>Conversion of schema objects (tables, views, stored procs </a:t>
            </a:r>
            <a:r>
              <a:rPr lang="en-US" sz="1000" dirty="0" err="1">
                <a:solidFill>
                  <a:schemeClr val="bg1"/>
                </a:solidFill>
              </a:rPr>
              <a:t>etc</a:t>
            </a:r>
            <a:r>
              <a:rPr lang="en-US" sz="1000" dirty="0">
                <a:solidFill>
                  <a:schemeClr val="bg1"/>
                </a:solidFill>
              </a:rPr>
              <a:t>) via SQL/Perl scripts, used migration utilities such as Ora2pg </a:t>
            </a:r>
          </a:p>
          <a:p>
            <a:r>
              <a:rPr lang="en-US" sz="1000" dirty="0">
                <a:solidFill>
                  <a:schemeClr val="bg1"/>
                </a:solidFill>
              </a:rPr>
              <a:t>ETL build – working with complex datatypes such as JSONB, unstructured data, blobs and long raw </a:t>
            </a:r>
          </a:p>
          <a:p>
            <a:r>
              <a:rPr lang="en-US" sz="1000" dirty="0">
                <a:solidFill>
                  <a:schemeClr val="bg1"/>
                </a:solidFill>
              </a:rPr>
              <a:t>Defect/Issues management</a:t>
            </a:r>
          </a:p>
          <a:p>
            <a:r>
              <a:rPr lang="en-US" sz="1000" dirty="0">
                <a:solidFill>
                  <a:schemeClr val="bg1"/>
                </a:solidFill>
              </a:rPr>
              <a:t>Data model design</a:t>
            </a:r>
          </a:p>
          <a:p>
            <a:r>
              <a:rPr lang="en-US" sz="1000" dirty="0">
                <a:solidFill>
                  <a:schemeClr val="bg1"/>
                </a:solidFill>
              </a:rPr>
              <a:t>Stakeholder management</a:t>
            </a:r>
          </a:p>
          <a:p>
            <a:endParaRPr lang="en-US" sz="1000" dirty="0">
              <a:solidFill>
                <a:schemeClr val="bg1"/>
              </a:solidFill>
            </a:endParaRP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5295056"/>
            <a:ext cx="4584890" cy="2400657"/>
            <a:chOff x="5023753" y="4247510"/>
            <a:chExt cx="4757437" cy="2400657"/>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247510"/>
              <a:ext cx="4721716" cy="2400657"/>
            </a:xfrm>
            <a:prstGeom prst="rect">
              <a:avLst/>
            </a:prstGeom>
            <a:noFill/>
          </p:spPr>
          <p:txBody>
            <a:bodyPr wrap="square" numCol="1" rtlCol="0">
              <a:spAutoFit/>
            </a:bodyPr>
            <a:lstStyle>
              <a:defPPr>
                <a:defRPr lang="en-US"/>
              </a:defPPr>
              <a:lvl1pPr indent="0">
                <a:buClr>
                  <a:srgbClr val="00AB80"/>
                </a:buClr>
                <a:buFont typeface="Arial" panose="020B0604020202020204" pitchFamily="34" charset="0"/>
                <a:buNone/>
                <a:defRPr sz="1000">
                  <a:solidFill>
                    <a:schemeClr val="bg1"/>
                  </a:solidFill>
                  <a:latin typeface="Roboto Light" panose="02000000000000000000" pitchFamily="2" charset="0"/>
                  <a:ea typeface="Roboto Light" panose="02000000000000000000" pitchFamily="2" charset="0"/>
                </a:defRPr>
              </a:lvl1pPr>
            </a:lstStyle>
            <a:p>
              <a:r>
                <a:rPr lang="en-US" sz="1000" dirty="0"/>
                <a:t>Key responsibilities of this role included:</a:t>
              </a:r>
              <a:endParaRPr lang="en-AU" dirty="0"/>
            </a:p>
            <a:p>
              <a:pPr marL="171450" indent="-171450">
                <a:buFont typeface="Arial" panose="020B0604020202020204" pitchFamily="34" charset="0"/>
                <a:buChar char="•"/>
              </a:pPr>
              <a:r>
                <a:rPr lang="en-AU" dirty="0"/>
                <a:t>Worked with the Risk Advisory team to build the data lake for ingesting source system data from our client such Census, CMS and other insurance databases.</a:t>
              </a:r>
            </a:p>
            <a:p>
              <a:pPr marL="171450" indent="-171450">
                <a:buFont typeface="Arial" panose="020B0604020202020204" pitchFamily="34" charset="0"/>
                <a:buChar char="•"/>
              </a:pPr>
              <a:r>
                <a:rPr lang="en-AU" dirty="0"/>
                <a:t>ETL Development using MS SQL, SSIS to automate data loading processes feeding a Data Lake</a:t>
              </a:r>
            </a:p>
            <a:p>
              <a:pPr marL="171450" indent="-171450">
                <a:buFont typeface="Arial" panose="020B0604020202020204" pitchFamily="34" charset="0"/>
                <a:buChar char="•"/>
              </a:pPr>
              <a:r>
                <a:rPr lang="en-AU" dirty="0"/>
                <a:t>Identified and analysed KRI’s. (Key Risk Indicators) – provided quality insight and actionable recommendations to support business decision making.</a:t>
              </a:r>
            </a:p>
            <a:p>
              <a:pPr marL="171450" indent="-171450">
                <a:buFont typeface="Arial" panose="020B0604020202020204" pitchFamily="34" charset="0"/>
                <a:buChar char="•"/>
              </a:pPr>
              <a:r>
                <a:rPr lang="en-AU" dirty="0"/>
                <a:t>Worked across risk teams, transformed data collected from various systems and databases using visualisation tools to discover insights and drive better compliance and operational risk decisions.</a:t>
              </a:r>
            </a:p>
            <a:p>
              <a:pPr marL="171450" indent="-171450">
                <a:buFont typeface="Arial" panose="020B0604020202020204" pitchFamily="34" charset="0"/>
                <a:buChar char="•"/>
              </a:pPr>
              <a:r>
                <a:rPr lang="en-AU" dirty="0"/>
                <a:t>Managed EDC Risk offshore team.</a:t>
              </a:r>
            </a:p>
            <a:p>
              <a:pPr marL="171450" indent="-171450">
                <a:buFont typeface="Arial" panose="020B0604020202020204" pitchFamily="34" charset="0"/>
                <a:buChar char="•"/>
              </a:pPr>
              <a:r>
                <a:rPr lang="en-AU" dirty="0"/>
                <a:t>Worked with multiple stakeholders in an ultra-challenging environment.</a:t>
              </a:r>
            </a:p>
            <a:p>
              <a:endParaRPr lang="en-US"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312460"/>
              <a:ext cx="0" cy="2100950"/>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6059F888-3BDF-A1C0-65E5-CB6FDD43D97C}"/>
              </a:ext>
            </a:extLst>
          </p:cNvPr>
          <p:cNvSpPr txBox="1"/>
          <p:nvPr/>
        </p:nvSpPr>
        <p:spPr>
          <a:xfrm>
            <a:off x="3335752" y="5018057"/>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Financial Services Organisation</a:t>
            </a:r>
          </a:p>
          <a:p>
            <a:endParaRPr lang="en-AU" sz="1200" b="1" dirty="0">
              <a:solidFill>
                <a:srgbClr val="A93584"/>
              </a:solidFill>
              <a:latin typeface="Roboto" panose="02000000000000000000" pitchFamily="2" charset="0"/>
              <a:ea typeface="Roboto" panose="02000000000000000000" pitchFamily="2" charset="0"/>
            </a:endParaRPr>
          </a:p>
        </p:txBody>
      </p:sp>
      <p:sp>
        <p:nvSpPr>
          <p:cNvPr id="16" name="TextBox 15">
            <a:extLst>
              <a:ext uri="{FF2B5EF4-FFF2-40B4-BE49-F238E27FC236}">
                <a16:creationId xmlns:a16="http://schemas.microsoft.com/office/drawing/2014/main" id="{6F50168B-02F5-25E3-4E01-B6E6FB2DABBE}"/>
              </a:ext>
            </a:extLst>
          </p:cNvPr>
          <p:cNvSpPr txBox="1"/>
          <p:nvPr/>
        </p:nvSpPr>
        <p:spPr>
          <a:xfrm>
            <a:off x="250509" y="3433412"/>
            <a:ext cx="2794374" cy="1715213"/>
          </a:xfrm>
          <a:prstGeom prst="rect">
            <a:avLst/>
          </a:prstGeom>
          <a:noFill/>
        </p:spPr>
        <p:txBody>
          <a:bodyPr wrap="square" lIns="0" tIns="0" rIns="0" bIns="0" rtlCol="0" anchor="t">
            <a:spAutoFit/>
          </a:bodyPr>
          <a:lstStyle>
            <a:defPPr>
              <a:defRPr lang="en-US"/>
            </a:defPPr>
            <a:lvl1pPr>
              <a:lnSpc>
                <a:spcPts val="1500"/>
              </a:lnSpc>
              <a:defRPr sz="1000" spc="13">
                <a:latin typeface="Roboto Light"/>
                <a:ea typeface="Roboto Light"/>
                <a:cs typeface="Lato"/>
              </a:defRPr>
            </a:lvl1pPr>
          </a:lstStyle>
          <a:p>
            <a:r>
              <a:rPr lang="en-AU" dirty="0"/>
              <a:t>Liem is highly skilled in identifying efficiencies and discrepancies within data streams, while translating and segregating the data into required formats based on project guidelines. Liem effectively communicates with stakeholders at all levels and displays excellent interpersonal skills, ability to resolve complex software problems and leads teams across project life cycles.</a:t>
            </a:r>
          </a:p>
        </p:txBody>
      </p:sp>
      <p:sp>
        <p:nvSpPr>
          <p:cNvPr id="24" name="TextBox 23">
            <a:extLst>
              <a:ext uri="{FF2B5EF4-FFF2-40B4-BE49-F238E27FC236}">
                <a16:creationId xmlns:a16="http://schemas.microsoft.com/office/drawing/2014/main" id="{6D5DFA85-D4E3-9A31-114D-6046DC0103BB}"/>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Manufacturing</a:t>
            </a:r>
          </a:p>
          <a:p>
            <a:pPr marL="0" indent="0">
              <a:lnSpc>
                <a:spcPct val="150000"/>
              </a:lnSpc>
              <a:buNone/>
            </a:pPr>
            <a:r>
              <a:rPr lang="en-GB" sz="1200" dirty="0">
                <a:solidFill>
                  <a:srgbClr val="00AB80"/>
                </a:solidFill>
              </a:rPr>
              <a:t>Banking</a:t>
            </a:r>
          </a:p>
          <a:p>
            <a:pPr marL="0" indent="0">
              <a:lnSpc>
                <a:spcPct val="150000"/>
              </a:lnSpc>
              <a:buNone/>
            </a:pPr>
            <a:r>
              <a:rPr lang="en-GB" sz="1200" dirty="0">
                <a:solidFill>
                  <a:srgbClr val="00AB80"/>
                </a:solidFill>
              </a:rPr>
              <a:t>Property Management </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Government </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EBE9F02-6FCD-4ED7-8DE8-6081623B0E2E}"/>
</file>

<file path=customXml/itemProps2.xml><?xml version="1.0" encoding="utf-8"?>
<ds:datastoreItem xmlns:ds="http://schemas.openxmlformats.org/officeDocument/2006/customXml" ds:itemID="{3FAAA247-B834-41A1-92CC-04F43FBDF351}"/>
</file>

<file path=customXml/itemProps3.xml><?xml version="1.0" encoding="utf-8"?>
<ds:datastoreItem xmlns:ds="http://schemas.openxmlformats.org/officeDocument/2006/customXml" ds:itemID="{7E2A6142-1B4D-4D90-A6CD-353E8CB3345A}"/>
</file>

<file path=docProps/app.xml><?xml version="1.0" encoding="utf-8"?>
<Properties xmlns="http://schemas.openxmlformats.org/officeDocument/2006/extended-properties" xmlns:vt="http://schemas.openxmlformats.org/officeDocument/2006/docPropsVTypes">
  <Template>Office Theme</Template>
  <TotalTime>354</TotalTime>
  <Words>471</Words>
  <Application>Microsoft Office PowerPoint</Application>
  <PresentationFormat>Custom</PresentationFormat>
  <Paragraphs>72</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3</cp:revision>
  <dcterms:created xsi:type="dcterms:W3CDTF">2019-12-03T01:50:37Z</dcterms:created>
  <dcterms:modified xsi:type="dcterms:W3CDTF">2023-08-02T01:41:41Z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