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96" d="100"/>
          <a:sy n="96" d="100"/>
        </p:scale>
        <p:origin x="1740"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11/24/2025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1" y="0"/>
            <a:ext cx="3315613"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Peter </a:t>
            </a:r>
          </a:p>
          <a:p>
            <a:r>
              <a:rPr lang="en-US" sz="2800" b="1" dirty="0">
                <a:solidFill>
                  <a:srgbClr val="00AB80"/>
                </a:solidFill>
                <a:latin typeface="Roboto" panose="02000000000000000000" pitchFamily="2" charset="0"/>
                <a:ea typeface="Roboto" panose="02000000000000000000" pitchFamily="2" charset="0"/>
              </a:rPr>
              <a:t>Husek</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43324" y="5693950"/>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Cloud</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Vault </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VaultSpeed</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ER Design Studio</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ERwin</a:t>
            </a:r>
            <a:r>
              <a:rPr lang="en-US" sz="900" dirty="0">
                <a:latin typeface="Roboto Light" panose="02000000000000000000" pitchFamily="2" charset="0"/>
                <a:ea typeface="Roboto Light" panose="02000000000000000000" pitchFamily="2" charset="0"/>
              </a:rPr>
              <a:t> </a:t>
            </a:r>
            <a:r>
              <a:rPr lang="en-US" sz="900" dirty="0" err="1">
                <a:latin typeface="Roboto Light" panose="02000000000000000000" pitchFamily="2" charset="0"/>
                <a:ea typeface="Roboto Light" panose="02000000000000000000" pitchFamily="2" charset="0"/>
              </a:rPr>
              <a:t>Modeller</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Enterprise Architect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3NF &amp; 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 Developer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Warehouse Architecture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flipH="1">
            <a:off x="3429697" y="1459737"/>
            <a:ext cx="16980" cy="1678879"/>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187347"/>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26323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0F49B2F-21D4-F9EB-049F-717A10CB7D84}"/>
              </a:ext>
            </a:extLst>
          </p:cNvPr>
          <p:cNvSpPr txBox="1"/>
          <p:nvPr/>
        </p:nvSpPr>
        <p:spPr>
          <a:xfrm>
            <a:off x="127339" y="5698493"/>
            <a:ext cx="1557991" cy="21698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AU" sz="900" dirty="0">
                <a:latin typeface="Roboto Light"/>
                <a:ea typeface="Roboto Light"/>
                <a:cs typeface="Roboto Light"/>
              </a:rPr>
              <a:t>Data Modelling</a:t>
            </a: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Database Design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Information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Profiling</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Master Data Management</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Quality </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Marts</a:t>
            </a:r>
          </a:p>
          <a:p>
            <a:pPr marL="171450" indent="-171450">
              <a:buClr>
                <a:srgbClr val="00AB80"/>
              </a:buClr>
              <a:buFont typeface="Arial" panose="020B0604020202020204" pitchFamily="34" charset="0"/>
              <a:buChar char="•"/>
            </a:pPr>
            <a:endParaRPr lang="en-AU"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45979" y="1105608"/>
            <a:ext cx="4631164" cy="276999"/>
          </a:xfrm>
          <a:prstGeom prst="rect">
            <a:avLst/>
          </a:prstGeom>
          <a:noFill/>
        </p:spPr>
        <p:txBody>
          <a:bodyPr wrap="square" lIns="91440" tIns="45720" rIns="91440" bIns="45720" rtlCol="0" anchor="t">
            <a:spAutoFit/>
          </a:bodyPr>
          <a:lstStyle/>
          <a:p>
            <a:r>
              <a:rPr lang="en-US" sz="1200" b="1" dirty="0">
                <a:solidFill>
                  <a:srgbClr val="0059FF"/>
                </a:solidFill>
                <a:latin typeface="Roboto"/>
                <a:ea typeface="Roboto"/>
                <a:cs typeface="Roboto"/>
              </a:rPr>
              <a:t>Banking </a:t>
            </a:r>
            <a:r>
              <a:rPr lang="en-AU" sz="1200" b="1" dirty="0">
                <a:solidFill>
                  <a:srgbClr val="0059FF"/>
                </a:solidFill>
                <a:latin typeface="Roboto"/>
                <a:ea typeface="Roboto"/>
                <a:cs typeface="Roboto"/>
              </a:rPr>
              <a:t>– Data Modeller / Data Analyst / Data Mapper</a:t>
            </a:r>
            <a:endParaRPr lang="en-AU" sz="1200" b="1" dirty="0">
              <a:solidFill>
                <a:srgbClr val="0059FF"/>
              </a:solidFill>
              <a:latin typeface="Roboto" panose="02000000000000000000" pitchFamily="2" charset="0"/>
              <a:ea typeface="Roboto" panose="02000000000000000000" pitchFamily="2" charset="0"/>
              <a:cs typeface="Roboto"/>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324046"/>
            <a:ext cx="4533549" cy="181588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Defined data governance standards and guidelines for the data warehouse models including naming standards, keys and data structure design </a:t>
            </a:r>
          </a:p>
          <a:p>
            <a:r>
              <a:rPr lang="en-AU" sz="1000" dirty="0">
                <a:solidFill>
                  <a:schemeClr val="bg1"/>
                </a:solidFill>
              </a:rPr>
              <a:t>Analysed the business meaning of the data, identified required source files, business keys and established how all the source files are inter-related for Payment, HR and Service Request systems</a:t>
            </a:r>
          </a:p>
          <a:p>
            <a:r>
              <a:rPr lang="en-AU" sz="1000" dirty="0">
                <a:solidFill>
                  <a:schemeClr val="bg1"/>
                </a:solidFill>
              </a:rPr>
              <a:t>Mapped and transformed source data for Payment, HR &amp; Service Request systems to enterprise data model and business consumption layers</a:t>
            </a:r>
          </a:p>
          <a:p>
            <a:r>
              <a:rPr lang="en-AU" sz="1000" dirty="0">
                <a:solidFill>
                  <a:schemeClr val="bg1"/>
                </a:solidFill>
              </a:rPr>
              <a:t>Designed the content and data structure of the conceptual, logical, physical,  business consumption and data vault models across the layers</a:t>
            </a:r>
          </a:p>
          <a:p>
            <a:r>
              <a:rPr lang="en-AU" sz="1000" dirty="0">
                <a:solidFill>
                  <a:schemeClr val="bg1"/>
                </a:solidFill>
              </a:rPr>
              <a:t>Provided knowledge transfer for Information Management topics to  data analysts, designers and other team members. </a:t>
            </a: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73156" y="3320507"/>
            <a:ext cx="5029198" cy="1913243"/>
            <a:chOff x="3335753" y="2905774"/>
            <a:chExt cx="5029198" cy="2032221"/>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flipH="1">
              <a:off x="3425004" y="3319521"/>
              <a:ext cx="3140" cy="157182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05774"/>
              <a:ext cx="5029198" cy="490374"/>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Financial Services – Data Modeller / Data Analyst / Data Mapper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172647"/>
              <a:ext cx="4423172" cy="1765348"/>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pPr lvl="0">
                <a:buSzPts val="1050"/>
                <a:tabLst>
                  <a:tab pos="2865755" algn="ctr"/>
                  <a:tab pos="5731510" algn="r"/>
                  <a:tab pos="1620520" algn="l"/>
                  <a:tab pos="2865755" algn="ctr"/>
                  <a:tab pos="3962400" algn="l"/>
                  <a:tab pos="5731510" algn="r"/>
                </a:tabLst>
              </a:pPr>
              <a:r>
                <a:rPr lang="en-AU" sz="1000" dirty="0"/>
                <a:t>Defined data vault modelling standards for enterprise data warehouse including names, hash keys, business keys for hubs, links and satellites</a:t>
              </a:r>
            </a:p>
            <a:p>
              <a:pPr lvl="0">
                <a:buSzPts val="1050"/>
                <a:tabLst>
                  <a:tab pos="2865755" algn="ctr"/>
                  <a:tab pos="5731510" algn="r"/>
                  <a:tab pos="1620520" algn="l"/>
                  <a:tab pos="2865755" algn="ctr"/>
                  <a:tab pos="3962400" algn="l"/>
                  <a:tab pos="5731510" algn="r"/>
                </a:tabLst>
              </a:pPr>
              <a:r>
                <a:rPr lang="en-AU" sz="1000" dirty="0"/>
                <a:t>Defined business consumption modelling standards including names, hash keys and integrated data across dimensions, facts, bridges,  </a:t>
              </a:r>
            </a:p>
            <a:p>
              <a:r>
                <a:rPr lang="en-AU" sz="1000" dirty="0">
                  <a:solidFill>
                    <a:schemeClr val="bg1"/>
                  </a:solidFill>
                </a:rPr>
                <a:t>Analysed business meaning of the source system data, identified the  required source files, business keys and created source data models</a:t>
              </a:r>
            </a:p>
            <a:p>
              <a:r>
                <a:rPr lang="en-AU" sz="1000" dirty="0"/>
                <a:t>Created detailed mapping specifications and SQL code to transform the data from the data vault layer to the business consumption layer</a:t>
              </a:r>
              <a:endParaRPr lang="en-AU" sz="1000" dirty="0">
                <a:solidFill>
                  <a:schemeClr val="bg1"/>
                </a:solidFill>
              </a:endParaRPr>
            </a:p>
            <a:p>
              <a:r>
                <a:rPr lang="en-AU" sz="1000" dirty="0"/>
                <a:t>Integrated the data across source systems at the entity, attribute and data content levels to enable cross system reporting</a:t>
              </a:r>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Banking</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latin typeface="Roboto Light"/>
                <a:ea typeface="Roboto Light"/>
                <a:cs typeface="Roboto Light"/>
              </a:rPr>
              <a:t>Education</a:t>
            </a:r>
            <a:endParaRPr lang="en-GB" sz="1200" dirty="0">
              <a:solidFill>
                <a:srgbClr val="00AB80"/>
              </a:solidFill>
              <a:cs typeface="Roboto Light"/>
            </a:endParaRPr>
          </a:p>
          <a:p>
            <a:pPr marL="0" indent="0">
              <a:lnSpc>
                <a:spcPct val="150000"/>
              </a:lnSpc>
              <a:buNone/>
            </a:pPr>
            <a:r>
              <a:rPr lang="en-GB" sz="1200" dirty="0">
                <a:solidFill>
                  <a:srgbClr val="00AB80"/>
                </a:solidFill>
              </a:rPr>
              <a:t>Logistics</a:t>
            </a:r>
          </a:p>
          <a:p>
            <a:pPr marL="0" indent="0">
              <a:lnSpc>
                <a:spcPct val="150000"/>
              </a:lnSpc>
              <a:buNone/>
            </a:pPr>
            <a:r>
              <a:rPr lang="en-GB" sz="1200" dirty="0">
                <a:solidFill>
                  <a:srgbClr val="00AB80"/>
                </a:solidFill>
              </a:rPr>
              <a:t>Energy </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60469" y="6397825"/>
            <a:ext cx="4782734" cy="934565"/>
            <a:chOff x="3369209" y="5644890"/>
            <a:chExt cx="4782734" cy="1655808"/>
          </a:xfrm>
        </p:grpSpPr>
        <p:sp>
          <p:nvSpPr>
            <p:cNvPr id="55" name="TextBox 54">
              <a:extLst>
                <a:ext uri="{FF2B5EF4-FFF2-40B4-BE49-F238E27FC236}">
                  <a16:creationId xmlns:a16="http://schemas.microsoft.com/office/drawing/2014/main" id="{20D856C0-6C6C-30D2-8947-79D3F4B5FE07}"/>
                </a:ext>
              </a:extLst>
            </p:cNvPr>
            <p:cNvSpPr txBox="1"/>
            <p:nvPr/>
          </p:nvSpPr>
          <p:spPr>
            <a:xfrm>
              <a:off x="3369209" y="5644890"/>
              <a:ext cx="4782734" cy="821897"/>
            </a:xfrm>
            <a:prstGeom prst="rect">
              <a:avLst/>
            </a:prstGeom>
            <a:noFill/>
          </p:spPr>
          <p:txBody>
            <a:bodyPr wrap="square" rtlCol="0">
              <a:spAutoFit/>
            </a:bodyPr>
            <a:lstStyle/>
            <a:p>
              <a:r>
                <a:rPr lang="en-AU" sz="1200" b="1" dirty="0">
                  <a:solidFill>
                    <a:srgbClr val="00AB80"/>
                  </a:solidFill>
                  <a:latin typeface="Roboto" panose="02000000000000000000" pitchFamily="2" charset="0"/>
                  <a:ea typeface="Roboto" panose="02000000000000000000" pitchFamily="2" charset="0"/>
                </a:rPr>
                <a:t>Logistics – Data Modeller / Data Analyst</a:t>
              </a:r>
            </a:p>
            <a:p>
              <a:endParaRPr lang="en-AU" sz="1200" b="1" dirty="0">
                <a:solidFill>
                  <a:srgbClr val="00AB80"/>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39" y="6046507"/>
              <a:ext cx="4482791" cy="125419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Analysed, designed and integrated conceptual business consumption data models for the movement and storage of goods for physical warehouses </a:t>
              </a:r>
            </a:p>
            <a:p>
              <a:r>
                <a:rPr lang="en-AU" dirty="0"/>
                <a:t>Analysed, designed and integrated conceptual business consumption data models for the movement and storage of containers at rail terminals</a:t>
              </a:r>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55396" y="6077707"/>
              <a:ext cx="12793" cy="1176557"/>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73CB256D-A22B-325A-27E1-ACFA6397FB42}"/>
              </a:ext>
            </a:extLst>
          </p:cNvPr>
          <p:cNvSpPr txBox="1"/>
          <p:nvPr/>
        </p:nvSpPr>
        <p:spPr>
          <a:xfrm>
            <a:off x="3358631" y="5336852"/>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Education – Data Architect / Data Modeller / Data Analyst</a:t>
            </a:r>
          </a:p>
          <a:p>
            <a:endParaRPr lang="en-AU" sz="1200" b="1" dirty="0">
              <a:solidFill>
                <a:srgbClr val="A93584"/>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7D3E488A-E425-CBAD-B9BC-B59BC8399548}"/>
              </a:ext>
            </a:extLst>
          </p:cNvPr>
          <p:cNvSpPr txBox="1"/>
          <p:nvPr/>
        </p:nvSpPr>
        <p:spPr>
          <a:xfrm>
            <a:off x="3481716" y="5561913"/>
            <a:ext cx="4482791" cy="70788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Created source and target conceptual data models as part of an overall data strategy document for a data migration project at a university</a:t>
            </a:r>
          </a:p>
          <a:p>
            <a:r>
              <a:rPr lang="en-AU" dirty="0"/>
              <a:t>Reverse engineered data models for all legacy source operational systems</a:t>
            </a:r>
          </a:p>
          <a:p>
            <a:r>
              <a:rPr lang="en-AU" dirty="0"/>
              <a:t>Reverse engineered data models for all new target operational systems</a:t>
            </a:r>
          </a:p>
        </p:txBody>
      </p:sp>
      <p:cxnSp>
        <p:nvCxnSpPr>
          <p:cNvPr id="21" name="Straight Connector 20">
            <a:extLst>
              <a:ext uri="{FF2B5EF4-FFF2-40B4-BE49-F238E27FC236}">
                <a16:creationId xmlns:a16="http://schemas.microsoft.com/office/drawing/2014/main" id="{EC8852C0-A4C0-C4EF-5B0D-FC39E5C5BF82}"/>
              </a:ext>
            </a:extLst>
          </p:cNvPr>
          <p:cNvCxnSpPr>
            <a:cxnSpLocks/>
          </p:cNvCxnSpPr>
          <p:nvPr/>
        </p:nvCxnSpPr>
        <p:spPr>
          <a:xfrm flipH="1">
            <a:off x="3438697" y="5580447"/>
            <a:ext cx="9189" cy="68935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3F4D10A3-5A55-24DB-4185-810E6F9E11B8}"/>
              </a:ext>
            </a:extLst>
          </p:cNvPr>
          <p:cNvGrpSpPr/>
          <p:nvPr/>
        </p:nvGrpSpPr>
        <p:grpSpPr>
          <a:xfrm>
            <a:off x="8106458" y="3514775"/>
            <a:ext cx="1951941" cy="3046988"/>
            <a:chOff x="8106458" y="2681447"/>
            <a:chExt cx="1951941" cy="3046988"/>
          </a:xfrm>
        </p:grpSpPr>
        <p:cxnSp>
          <p:nvCxnSpPr>
            <p:cNvPr id="9" name="Straight Connector 8">
              <a:extLst>
                <a:ext uri="{FF2B5EF4-FFF2-40B4-BE49-F238E27FC236}">
                  <a16:creationId xmlns:a16="http://schemas.microsoft.com/office/drawing/2014/main" id="{432AA1FD-682C-5852-E279-F70BEA629B42}"/>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8B5C0BB-3DE1-8208-F300-779149BE0EE7}"/>
                </a:ext>
              </a:extLst>
            </p:cNvPr>
            <p:cNvSpPr txBox="1"/>
            <p:nvPr/>
          </p:nvSpPr>
          <p:spPr>
            <a:xfrm>
              <a:off x="8106458" y="2681447"/>
              <a:ext cx="1951941" cy="3046988"/>
            </a:xfrm>
            <a:prstGeom prst="rect">
              <a:avLst/>
            </a:prstGeom>
            <a:noFill/>
          </p:spPr>
          <p:txBody>
            <a:bodyPr wrap="square">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Data Vault – Certified 2.0 Practitioner </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err="1">
                  <a:solidFill>
                    <a:srgbClr val="00AB80"/>
                  </a:solidFill>
                  <a:effectLst/>
                  <a:latin typeface="Roboto Light" panose="02000000000000000000" pitchFamily="2" charset="0"/>
                  <a:ea typeface="Calibri" panose="020F0502020204030204" pitchFamily="34" charset="0"/>
                </a:rPr>
                <a:t>VaultSpeed</a:t>
              </a:r>
              <a:r>
                <a:rPr lang="en-GB" sz="1200" dirty="0">
                  <a:solidFill>
                    <a:srgbClr val="00AB80"/>
                  </a:solidFill>
                  <a:effectLst/>
                  <a:latin typeface="Roboto Light" panose="02000000000000000000" pitchFamily="2" charset="0"/>
                  <a:ea typeface="Calibri" panose="020F0502020204030204" pitchFamily="34" charset="0"/>
                </a:rPr>
                <a:t> – Certified Practitioner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err="1">
                  <a:solidFill>
                    <a:srgbClr val="00AB80"/>
                  </a:solidFill>
                  <a:effectLst/>
                  <a:latin typeface="Roboto Light" panose="02000000000000000000" pitchFamily="2" charset="0"/>
                  <a:ea typeface="Calibri" panose="020F0502020204030204" pitchFamily="34" charset="0"/>
                </a:rPr>
                <a:t>Tamr</a:t>
              </a:r>
              <a:r>
                <a:rPr lang="en-GB" sz="1200" dirty="0">
                  <a:solidFill>
                    <a:srgbClr val="00AB80"/>
                  </a:solidFill>
                  <a:effectLst/>
                  <a:latin typeface="Roboto Light" panose="02000000000000000000" pitchFamily="2" charset="0"/>
                  <a:ea typeface="Calibri" panose="020F0502020204030204" pitchFamily="34" charset="0"/>
                </a:rPr>
                <a:t> – Certified Practitioner</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Civil Engineering</a:t>
              </a: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University of Melbourne</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Diploma – Computing </a:t>
              </a: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Monash University</a:t>
              </a:r>
              <a:endParaRPr lang="en-AU" sz="1200" dirty="0">
                <a:solidFill>
                  <a:srgbClr val="00AB80"/>
                </a:solidFill>
                <a:effectLst/>
                <a:latin typeface="Times New Roman" panose="02020603050405020304" pitchFamily="18" charset="0"/>
                <a:ea typeface="Calibri" panose="020F0502020204030204" pitchFamily="34" charset="0"/>
              </a:endParaRPr>
            </a:p>
          </p:txBody>
        </p:sp>
      </p:grpSp>
      <p:sp>
        <p:nvSpPr>
          <p:cNvPr id="24" name="TextBox 23">
            <a:extLst>
              <a:ext uri="{FF2B5EF4-FFF2-40B4-BE49-F238E27FC236}">
                <a16:creationId xmlns:a16="http://schemas.microsoft.com/office/drawing/2014/main" id="{3E0596C0-5AEA-4100-096F-53EA88E3D585}"/>
              </a:ext>
            </a:extLst>
          </p:cNvPr>
          <p:cNvSpPr txBox="1"/>
          <p:nvPr/>
        </p:nvSpPr>
        <p:spPr>
          <a:xfrm>
            <a:off x="244292" y="1593954"/>
            <a:ext cx="2910700" cy="3061736"/>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AU" dirty="0">
                <a:solidFill>
                  <a:schemeClr val="tx1"/>
                </a:solidFill>
              </a:rPr>
              <a:t>Peter is an experienced and highly driven Data Modeller, with over 25 years of experience across a variety of industries including Logistics, Education, Banking, Financial Services, Energy Utilities, Telco, Airline, Government and Health. </a:t>
            </a:r>
          </a:p>
          <a:p>
            <a:endParaRPr lang="en-AU" dirty="0">
              <a:solidFill>
                <a:schemeClr val="tx1"/>
              </a:solidFill>
            </a:endParaRPr>
          </a:p>
          <a:p>
            <a:r>
              <a:rPr lang="en-AU" dirty="0">
                <a:solidFill>
                  <a:schemeClr val="tx1"/>
                </a:solidFill>
              </a:rPr>
              <a:t>He has worked on many large projects involving Data Architecture, Data Quality, Data Migration and Data Warehousing in the roles of Data Modeller, Data Mapper and Data Analyst. In his project work for clients, Peter takes responsibility for key data deliverables and communicates this critical information to all relevant stakeholders, ensuring a clear understanding of data requirements and a successful outcome for the business. </a:t>
            </a:r>
          </a:p>
          <a:p>
            <a:endParaRPr lang="en-AU" dirty="0">
              <a:solidFill>
                <a:schemeClr val="tx1"/>
              </a:solidFill>
            </a:endParaRP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c47ef95b9713089033158719b54b4a5e">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8ba88bb982429f9a676a142392c9bb04"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9DDFC6-124A-4859-BB62-4C7039BA48C0}">
  <ds:schemaRefs>
    <ds:schemaRef ds:uri="http://purl.org/dc/terms/"/>
    <ds:schemaRef ds:uri="http://schemas.microsoft.com/office/infopath/2007/PartnerControls"/>
    <ds:schemaRef ds:uri="http://schemas.microsoft.com/office/2006/metadata/properties"/>
    <ds:schemaRef ds:uri="http://www.w3.org/XML/1998/namespace"/>
    <ds:schemaRef ds:uri="http://schemas.microsoft.com/office/2006/documentManagement/types"/>
    <ds:schemaRef ds:uri="http://purl.org/dc/elements/1.1/"/>
    <ds:schemaRef ds:uri="http://schemas.openxmlformats.org/package/2006/metadata/core-properties"/>
    <ds:schemaRef ds:uri="e52cd9e7-35e5-4bd3-9cab-ca6a63c31e52"/>
    <ds:schemaRef ds:uri="daf93972-1964-4522-aa34-640805a01c3a"/>
    <ds:schemaRef ds:uri="http://purl.org/dc/dcmitype/"/>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DED03C92-494A-40D0-9633-55B1F816B027}"/>
</file>

<file path=docProps/app.xml><?xml version="1.0" encoding="utf-8"?>
<Properties xmlns="http://schemas.openxmlformats.org/officeDocument/2006/extended-properties" xmlns:vt="http://schemas.openxmlformats.org/officeDocument/2006/docPropsVTypes">
  <Template>Office Theme</Template>
  <TotalTime>8083</TotalTime>
  <Words>546</Words>
  <Application>Microsoft Office PowerPoint</Application>
  <PresentationFormat>Custom</PresentationFormat>
  <Paragraphs>76</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127</cp:revision>
  <dcterms:created xsi:type="dcterms:W3CDTF">2019-12-03T01:50:37Z</dcterms:created>
  <dcterms:modified xsi:type="dcterms:W3CDTF">2025-11-25T04:36:14Z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