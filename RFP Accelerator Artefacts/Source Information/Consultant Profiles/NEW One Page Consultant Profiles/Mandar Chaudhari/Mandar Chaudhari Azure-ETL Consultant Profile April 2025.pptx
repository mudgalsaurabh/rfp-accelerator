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ED7D31"/>
    <a:srgbClr val="A93584"/>
    <a:srgbClr val="0059F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E11B7-79B0-454F-A16A-2313CFCC20BB}" v="1" dt="2025-09-01T23:15:45.4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2"/>
    <p:restoredTop sz="94711"/>
  </p:normalViewPr>
  <p:slideViewPr>
    <p:cSldViewPr snapToGrid="0">
      <p:cViewPr varScale="1">
        <p:scale>
          <a:sx n="90" d="100"/>
          <a:sy n="90" d="100"/>
        </p:scale>
        <p:origin x="1938" y="6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491076AF-459F-4660-98D1-05D43B79D51A}"/>
    <pc:docChg chg="modSld">
      <pc:chgData name="Darcy Roach" userId="ba676ee9-e9b4-49e8-a515-8077106c948d" providerId="ADAL" clId="{491076AF-459F-4660-98D1-05D43B79D51A}" dt="2025-09-01T23:15:45.490" v="79"/>
      <pc:docMkLst>
        <pc:docMk/>
      </pc:docMkLst>
      <pc:sldChg chg="modSp mod">
        <pc:chgData name="Darcy Roach" userId="ba676ee9-e9b4-49e8-a515-8077106c948d" providerId="ADAL" clId="{491076AF-459F-4660-98D1-05D43B79D51A}" dt="2025-09-01T23:15:45.490" v="79"/>
        <pc:sldMkLst>
          <pc:docMk/>
          <pc:sldMk cId="2009923557" sldId="270"/>
        </pc:sldMkLst>
        <pc:spChg chg="mod">
          <ac:chgData name="Darcy Roach" userId="ba676ee9-e9b4-49e8-a515-8077106c948d" providerId="ADAL" clId="{491076AF-459F-4660-98D1-05D43B79D51A}" dt="2025-09-01T23:15:45.490" v="79"/>
          <ac:spMkLst>
            <pc:docMk/>
            <pc:sldMk cId="2009923557" sldId="270"/>
            <ac:spMk id="38" creationId="{AB47A2EE-BF0B-DB05-8B7C-DB6594B2B3D5}"/>
          </ac:spMkLst>
        </pc:spChg>
      </pc:sldChg>
    </pc:docChg>
  </pc:docChgLst>
  <pc:docChgLst>
    <pc:chgData name="Darcy Roach" userId="ba676ee9-e9b4-49e8-a515-8077106c948d" providerId="ADAL" clId="{517E11B7-79B0-454F-A16A-2313CFCC20BB}"/>
    <pc:docChg chg="undo custSel modSld">
      <pc:chgData name="Darcy Roach" userId="ba676ee9-e9b4-49e8-a515-8077106c948d" providerId="ADAL" clId="{517E11B7-79B0-454F-A16A-2313CFCC20BB}" dt="2025-04-15T00:29:27.951" v="884" actId="20577"/>
      <pc:docMkLst>
        <pc:docMk/>
      </pc:docMkLst>
      <pc:sldChg chg="modSp mod modNotesTx">
        <pc:chgData name="Darcy Roach" userId="ba676ee9-e9b4-49e8-a515-8077106c948d" providerId="ADAL" clId="{517E11B7-79B0-454F-A16A-2313CFCC20BB}" dt="2025-04-15T00:29:27.951" v="884" actId="20577"/>
        <pc:sldMkLst>
          <pc:docMk/>
          <pc:sldMk cId="200992355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749701C-9EBA-40CC-BD8B-4D7BF0D0B926}" type="datetimeFigureOut">
              <a:rPr lang="en-AU" smtClean="0"/>
              <a:t>2/09/2025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E10FD8D-36A7-4698-B581-E0FE1ADD2359}" type="slidenum">
              <a:rPr lang="en-AU" smtClean="0"/>
              <a:t>‹#›</a:t>
            </a:fld>
            <a:endParaRPr lang="en-AU"/>
          </a:p>
        </p:txBody>
      </p:sp>
    </p:spTree>
    <p:extLst>
      <p:ext uri="{BB962C8B-B14F-4D97-AF65-F5344CB8AC3E}">
        <p14:creationId xmlns:p14="http://schemas.microsoft.com/office/powerpoint/2010/main" val="411979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solidFill>
                  <a:srgbClr val="A93584"/>
                </a:solidFill>
                <a:latin typeface="Roboto" panose="02000000000000000000" pitchFamily="2" charset="0"/>
                <a:ea typeface="Roboto" panose="02000000000000000000" pitchFamily="2" charset="0"/>
              </a:rPr>
              <a:t>Security Exchange Organisation – Data Engineer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Worked initially on a Pilot program to demonstrate GCP platform abilities using different GCP services such as Dataflow,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ETL, Cloud Composer.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Analysed</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companies entire historical data and migrated almost 40 TB of data to GCP cloud storage using GCP Storage Transfer Service. Developed scheduled jobs to migrate the data.</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Developed Dataflow python ingestion logic to ingest batch data in CSV format and from MS SQL server database.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Developed the Composer Airflow data orchestration to design end-to-end workflows of dataflow ingestion,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transformation and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export jobs.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Developed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ETL scripts to transform/curate the ingested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data.</a:t>
            </a:r>
          </a:p>
          <a:p>
            <a:pPr marL="171450" indent="-171450">
              <a:buFont typeface="Arial" panose="020B0604020202020204" pitchFamily="34" charset="0"/>
              <a:buChar char="•"/>
            </a:pPr>
            <a:endParaRPr lang="en-AU" dirty="0"/>
          </a:p>
        </p:txBody>
      </p:sp>
      <p:sp>
        <p:nvSpPr>
          <p:cNvPr id="4" name="Slide Number Placeholder 3"/>
          <p:cNvSpPr>
            <a:spLocks noGrp="1"/>
          </p:cNvSpPr>
          <p:nvPr>
            <p:ph type="sldNum" sz="quarter" idx="5"/>
          </p:nvPr>
        </p:nvSpPr>
        <p:spPr/>
        <p:txBody>
          <a:bodyPr/>
          <a:lstStyle/>
          <a:p>
            <a:fld id="{9E10FD8D-36A7-4698-B581-E0FE1ADD2359}" type="slidenum">
              <a:rPr lang="en-AU" smtClean="0"/>
              <a:t>1</a:t>
            </a:fld>
            <a:endParaRPr lang="en-AU"/>
          </a:p>
        </p:txBody>
      </p:sp>
    </p:spTree>
    <p:extLst>
      <p:ext uri="{BB962C8B-B14F-4D97-AF65-F5344CB8AC3E}">
        <p14:creationId xmlns:p14="http://schemas.microsoft.com/office/powerpoint/2010/main" val="2580453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9/2/2025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6059F888-3BDF-A1C0-65E5-CB6FDD43D97C}"/>
              </a:ext>
            </a:extLst>
          </p:cNvPr>
          <p:cNvSpPr txBox="1"/>
          <p:nvPr/>
        </p:nvSpPr>
        <p:spPr>
          <a:xfrm>
            <a:off x="3335755" y="5381072"/>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Software Organisation – Data Engineer  </a:t>
            </a:r>
          </a:p>
          <a:p>
            <a:endParaRPr lang="en-AU" sz="1200" b="1" dirty="0">
              <a:solidFill>
                <a:srgbClr val="A93584"/>
              </a:solidFill>
              <a:latin typeface="Roboto" panose="02000000000000000000" pitchFamily="2" charset="0"/>
              <a:ea typeface="Roboto" panose="02000000000000000000" pitchFamily="2" charset="0"/>
            </a:endParaRP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244516"/>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Biotechnology</a:t>
            </a:r>
          </a:p>
          <a:p>
            <a:pPr marL="0" indent="0">
              <a:lnSpc>
                <a:spcPct val="150000"/>
              </a:lnSpc>
              <a:buNone/>
            </a:pPr>
            <a:r>
              <a:rPr lang="en-GB" sz="1200" dirty="0">
                <a:solidFill>
                  <a:srgbClr val="00AB80"/>
                </a:solidFill>
              </a:rPr>
              <a:t>Entertainment &amp; Gaming</a:t>
            </a:r>
          </a:p>
        </p:txBody>
      </p:sp>
      <p:grpSp>
        <p:nvGrpSpPr>
          <p:cNvPr id="41" name="Group 40">
            <a:extLst>
              <a:ext uri="{FF2B5EF4-FFF2-40B4-BE49-F238E27FC236}">
                <a16:creationId xmlns:a16="http://schemas.microsoft.com/office/drawing/2014/main" id="{69CD73AD-37BE-CE99-424E-8286EA039856}"/>
              </a:ext>
            </a:extLst>
          </p:cNvPr>
          <p:cNvGrpSpPr/>
          <p:nvPr/>
        </p:nvGrpSpPr>
        <p:grpSpPr>
          <a:xfrm>
            <a:off x="3425115" y="3571766"/>
            <a:ext cx="4572309" cy="1661993"/>
            <a:chOff x="5030740" y="2225627"/>
            <a:chExt cx="4883932" cy="1661993"/>
          </a:xfrm>
        </p:grpSpPr>
        <p:sp>
          <p:nvSpPr>
            <p:cNvPr id="42" name="TextBox 41">
              <a:extLst>
                <a:ext uri="{FF2B5EF4-FFF2-40B4-BE49-F238E27FC236}">
                  <a16:creationId xmlns:a16="http://schemas.microsoft.com/office/drawing/2014/main" id="{8BF88D81-5535-9CA4-E956-E5A6096E59DC}"/>
                </a:ext>
              </a:extLst>
            </p:cNvPr>
            <p:cNvSpPr txBox="1"/>
            <p:nvPr/>
          </p:nvSpPr>
          <p:spPr>
            <a:xfrm>
              <a:off x="5059474" y="2225627"/>
              <a:ext cx="4855198" cy="166199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latin typeface="Roboto Light"/>
                  <a:ea typeface="Roboto Light"/>
                  <a:cs typeface="Roboto Light"/>
                </a:rPr>
                <a:t>As a Data Engineer, worked on understanding the existing ETL framework built using GCP services and later used it to add more business-required new tables from source systems such as Teradata/SAP BW to GCP</a:t>
              </a:r>
            </a:p>
            <a:p>
              <a:r>
                <a:rPr lang="en-AU" sz="1000" dirty="0">
                  <a:latin typeface="Roboto Light"/>
                  <a:ea typeface="Roboto Light"/>
                  <a:cs typeface="Roboto Light"/>
                </a:rPr>
                <a:t>Worked on adding new Cloud Build repositories and triggers to process new table loads using existing frameworks</a:t>
              </a:r>
            </a:p>
            <a:p>
              <a:r>
                <a:rPr lang="en-AU" sz="1000" dirty="0">
                  <a:latin typeface="Roboto Light"/>
                  <a:ea typeface="Roboto Light"/>
                  <a:cs typeface="Roboto Light"/>
                </a:rPr>
                <a:t>As part of development, analysed Cloud Composer job logs to identify errors and make sure to run end-to-end ETL process for these newly required tables.</a:t>
              </a:r>
            </a:p>
            <a:p>
              <a:r>
                <a:rPr lang="en-AU" sz="1000" dirty="0">
                  <a:latin typeface="Roboto Light"/>
                  <a:ea typeface="Roboto Light"/>
                  <a:cs typeface="Roboto Light"/>
                </a:rPr>
                <a:t>Performed Unit and Regression testing on ETL framework and deployed these new table changes into production</a:t>
              </a:r>
              <a:endParaRPr lang="en-AU" sz="1000" dirty="0"/>
            </a:p>
          </p:txBody>
        </p:sp>
        <p:cxnSp>
          <p:nvCxnSpPr>
            <p:cNvPr id="43" name="Straight Connector 42">
              <a:extLst>
                <a:ext uri="{FF2B5EF4-FFF2-40B4-BE49-F238E27FC236}">
                  <a16:creationId xmlns:a16="http://schemas.microsoft.com/office/drawing/2014/main" id="{6260F2C2-2BAD-8746-08BD-953DBDF86432}"/>
                </a:ext>
              </a:extLst>
            </p:cNvPr>
            <p:cNvCxnSpPr>
              <a:cxnSpLocks/>
            </p:cNvCxnSpPr>
            <p:nvPr/>
          </p:nvCxnSpPr>
          <p:spPr>
            <a:xfrm>
              <a:off x="5030740" y="2294036"/>
              <a:ext cx="0" cy="149392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Mandar</a:t>
            </a:r>
          </a:p>
          <a:p>
            <a:r>
              <a:rPr lang="en-US" sz="2800" b="1" dirty="0">
                <a:solidFill>
                  <a:srgbClr val="00AB80"/>
                </a:solidFill>
                <a:latin typeface="Roboto" panose="02000000000000000000" pitchFamily="2" charset="0"/>
                <a:ea typeface="Roboto" panose="02000000000000000000" pitchFamily="2" charset="0"/>
              </a:rPr>
              <a:t>Chaudhari</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1892826"/>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GitHub</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Hadoop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Dataflow</a:t>
            </a:r>
          </a:p>
          <a:p>
            <a:pPr marL="171450" indent="-171450">
              <a:buClr>
                <a:srgbClr val="00AB80"/>
              </a:buClr>
              <a:buFont typeface="Arial" panose="020B0604020202020204" pitchFamily="34" charset="0"/>
              <a:buChar char="•"/>
            </a:pPr>
            <a:r>
              <a:rPr lang="en-US" sz="900" dirty="0">
                <a:latin typeface="Roboto Light"/>
                <a:ea typeface="Roboto Light"/>
                <a:cs typeface="Roboto Light"/>
              </a:rPr>
              <a:t>Teradata</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Factory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Lake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IBM Cognos BI stack</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Spark</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3292"/>
            <a:ext cx="0" cy="167019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723062"/>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45663"/>
            <a:ext cx="0" cy="639941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668612"/>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41584"/>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938506"/>
            <a:ext cx="1951941" cy="4339650"/>
            <a:chOff x="8106458" y="2681447"/>
            <a:chExt cx="1951941" cy="433965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4339650"/>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 Certified Professional Data Engineer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Microsoft | Certified Fabric Data Engineer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AWS Cloud | Certified Practitioner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Snowflake | </a:t>
              </a:r>
              <a:r>
                <a:rPr lang="en-GB" sz="1200" dirty="0" err="1">
                  <a:solidFill>
                    <a:srgbClr val="00AB80"/>
                  </a:solidFill>
                  <a:latin typeface="Roboto Light" panose="02000000000000000000" pitchFamily="2" charset="0"/>
                  <a:ea typeface="Calibri" panose="020F0502020204030204" pitchFamily="34" charset="0"/>
                </a:rPr>
                <a:t>SnowPro</a:t>
              </a:r>
              <a:r>
                <a:rPr lang="en-GB" sz="1200" dirty="0">
                  <a:solidFill>
                    <a:srgbClr val="00AB80"/>
                  </a:solidFill>
                  <a:latin typeface="Roboto Light" panose="02000000000000000000" pitchFamily="2" charset="0"/>
                  <a:ea typeface="Calibri" panose="020F0502020204030204" pitchFamily="34" charset="0"/>
                </a:rPr>
                <a:t> Core Certification</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Databricks | Certified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Alation | Certified Consultant &amp; Implementer</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Technology, Computer Engineering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University of Mumbai </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0" y="5747849"/>
            <a:ext cx="1649097"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Azure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Client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70" y="1101222"/>
            <a:ext cx="4631164"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Entertainment &amp; Gaming </a:t>
            </a:r>
            <a:r>
              <a:rPr lang="en-US" sz="1200" b="1" dirty="0" err="1">
                <a:solidFill>
                  <a:srgbClr val="0059FF"/>
                </a:solidFill>
                <a:latin typeface="Roboto"/>
                <a:ea typeface="Roboto"/>
                <a:cs typeface="Roboto"/>
              </a:rPr>
              <a:t>Organisation</a:t>
            </a:r>
            <a:r>
              <a:rPr lang="en-AU" sz="1200" b="1" dirty="0">
                <a:solidFill>
                  <a:srgbClr val="0059FF"/>
                </a:solidFill>
                <a:latin typeface="Roboto"/>
                <a:ea typeface="Roboto"/>
                <a:cs typeface="Roboto"/>
              </a:rPr>
              <a:t> – Senior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4" y="1347900"/>
            <a:ext cx="4488473"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Interacted with relevant stakeholders to gather requirements of ETL logic and outlined the proposed solution with Solution Architect.</a:t>
            </a:r>
          </a:p>
          <a:p>
            <a:r>
              <a:rPr lang="en-AU" sz="1000" dirty="0">
                <a:solidFill>
                  <a:schemeClr val="bg1"/>
                </a:solidFill>
              </a:rPr>
              <a:t>Developed Azure Data Factory (ADF) pipelines, datasets and dataflows to build ETL logic/pipelines to migrate customer's ERP data from PeopleSoft to Workday.</a:t>
            </a:r>
          </a:p>
          <a:p>
            <a:r>
              <a:rPr lang="en-AU" sz="1000" dirty="0">
                <a:solidFill>
                  <a:schemeClr val="bg1"/>
                </a:solidFill>
              </a:rPr>
              <a:t>Developed Azure Logic App to ingest/copy source files from SharePoint location to Azure Blob Storage.</a:t>
            </a:r>
          </a:p>
          <a:p>
            <a:r>
              <a:rPr lang="en-AU" sz="1000" dirty="0">
                <a:solidFill>
                  <a:schemeClr val="bg1"/>
                </a:solidFill>
              </a:rPr>
              <a:t>Integrated Azure Logic Apps within Azure Data Factory pipelines to run end-t-end ingestion and transformations flow.</a:t>
            </a:r>
          </a:p>
          <a:p>
            <a:r>
              <a:rPr lang="en-AU" sz="1000" dirty="0">
                <a:solidFill>
                  <a:schemeClr val="bg1"/>
                </a:solidFill>
              </a:rPr>
              <a:t>Created Automated Scheduling using parent grouping and dependencies to run all ADF pipelines jobs.</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7" y="5637975"/>
            <a:ext cx="4395761" cy="1938992"/>
            <a:chOff x="5023753" y="4247510"/>
            <a:chExt cx="4561190" cy="1938992"/>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5" y="4247510"/>
              <a:ext cx="4525468"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Developed migration of Aurora </a:t>
              </a:r>
              <a:r>
                <a:rPr lang="en-AU" sz="1000" dirty="0" err="1"/>
                <a:t>mySQL</a:t>
              </a:r>
              <a:r>
                <a:rPr lang="en-AU" sz="1000" dirty="0"/>
                <a:t> data to </a:t>
              </a:r>
              <a:r>
                <a:rPr lang="en-AU" sz="1000" dirty="0" err="1"/>
                <a:t>BigQuery</a:t>
              </a:r>
              <a:r>
                <a:rPr lang="en-AU" sz="1000" dirty="0"/>
                <a:t> as auto replication of Change Data Capture data (CDC) using Google Cloud </a:t>
              </a:r>
              <a:r>
                <a:rPr lang="en-AU" sz="1000" dirty="0" err="1"/>
                <a:t>Datastream</a:t>
              </a:r>
              <a:r>
                <a:rPr lang="en-AU" sz="1000" dirty="0"/>
                <a:t> service</a:t>
              </a:r>
            </a:p>
            <a:p>
              <a:r>
                <a:rPr lang="en-AU" sz="1000" dirty="0"/>
                <a:t>Worked with business analysts to understand final KPIs and reporting requirements and came up with interim transformation requirements from the raw layer to the presentation layer</a:t>
              </a:r>
            </a:p>
            <a:p>
              <a:r>
                <a:rPr lang="en-AU" sz="1000" dirty="0"/>
                <a:t>Developed </a:t>
              </a:r>
              <a:r>
                <a:rPr lang="en-AU" sz="1000" dirty="0" err="1"/>
                <a:t>BigQuery</a:t>
              </a:r>
              <a:r>
                <a:rPr lang="en-AU" sz="1000" dirty="0"/>
                <a:t> Stored procedures as easy and quick ETL solution to perform transformation</a:t>
              </a:r>
            </a:p>
            <a:p>
              <a:r>
                <a:rPr lang="en-AU" sz="1000" dirty="0"/>
                <a:t>Demonstrated both Looker Studio &amp; Looker dashboards to present data regarding KPIs so that the client had the option to choose between simple, free of charge and easily integrated Looker Studio reports as opposed to more advanced, detailed but costly Looker solutions.</a:t>
              </a:r>
              <a:endParaRPr lang="en-US"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87404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43536914-D7FE-0F22-C18B-A5D89F6503CF}"/>
              </a:ext>
            </a:extLst>
          </p:cNvPr>
          <p:cNvSpPr txBox="1"/>
          <p:nvPr/>
        </p:nvSpPr>
        <p:spPr>
          <a:xfrm>
            <a:off x="259400" y="1530265"/>
            <a:ext cx="3037292" cy="1907573"/>
          </a:xfrm>
          <a:prstGeom prst="rect">
            <a:avLst/>
          </a:prstGeom>
          <a:noFill/>
        </p:spPr>
        <p:txBody>
          <a:bodyPr wrap="square" lIns="0" tIns="0" rIns="0" bIns="0" rtlCol="0" anchor="t">
            <a:spAutoFit/>
          </a:bodyPr>
          <a:lstStyle/>
          <a:p>
            <a:pPr>
              <a:lnSpc>
                <a:spcPts val="1500"/>
              </a:lnSpc>
            </a:pPr>
            <a:r>
              <a:rPr lang="en-AU" sz="1000" spc="13" dirty="0">
                <a:latin typeface="Roboto Light"/>
                <a:ea typeface="Roboto Light"/>
                <a:cs typeface="Lato"/>
              </a:rPr>
              <a:t>Mandar is a Senior Data Engineer with 10+ years of IT industry experience in interpreting and analysing data for driving business solutions. A highly accomplished Data Engineer, Mandar holds certifications across various technologies including GCP, AWS, Databricks and Alation. Mandar has a great passion for cloud technologies and data engineering along with tremendous knowledge in Data Analytics, Data Governance &amp; ETL. </a:t>
            </a:r>
          </a:p>
          <a:p>
            <a:pPr>
              <a:lnSpc>
                <a:spcPts val="1500"/>
              </a:lnSpc>
            </a:pPr>
            <a:endParaRPr lang="en-US" sz="1000" spc="13" dirty="0">
              <a:latin typeface="Roboto Light"/>
              <a:ea typeface="Roboto Light"/>
              <a:cs typeface="Lato"/>
            </a:endParaRPr>
          </a:p>
        </p:txBody>
      </p:sp>
      <p:sp>
        <p:nvSpPr>
          <p:cNvPr id="36" name="TextBox 35">
            <a:extLst>
              <a:ext uri="{FF2B5EF4-FFF2-40B4-BE49-F238E27FC236}">
                <a16:creationId xmlns:a16="http://schemas.microsoft.com/office/drawing/2014/main" id="{D342889C-40F5-2629-E6A3-817A5EECED67}"/>
              </a:ext>
            </a:extLst>
          </p:cNvPr>
          <p:cNvSpPr txBox="1"/>
          <p:nvPr/>
        </p:nvSpPr>
        <p:spPr>
          <a:xfrm>
            <a:off x="251519" y="3339255"/>
            <a:ext cx="2970144" cy="1907573"/>
          </a:xfrm>
          <a:prstGeom prst="rect">
            <a:avLst/>
          </a:prstGeom>
          <a:noFill/>
        </p:spPr>
        <p:txBody>
          <a:bodyPr wrap="square" lIns="0" tIns="0" rIns="0" bIns="0" rtlCol="0" anchor="t">
            <a:spAutoFit/>
          </a:bodyPr>
          <a:lstStyle>
            <a:defPPr>
              <a:defRPr lang="en-US"/>
            </a:defPPr>
            <a:lvl1pPr>
              <a:lnSpc>
                <a:spcPts val="1500"/>
              </a:lnSpc>
              <a:defRPr sz="1000" spc="13">
                <a:latin typeface="Roboto Light"/>
                <a:ea typeface="Roboto Light"/>
                <a:cs typeface="Lato"/>
              </a:defRPr>
            </a:lvl1pPr>
          </a:lstStyle>
          <a:p>
            <a:r>
              <a:rPr lang="en-AU" dirty="0"/>
              <a:t>Mandar displays an excellent understanding of business operations and analytics tools for effective analysis of data. He possesses extensive hands-on experience in creating end-to-end data-driven workflows on Big Data cloud technologies such as Azure, Databricks, AWS, and GCP. Additionally, Mandar displays excellent teamwork, communication, and interpersonal skills to interact and build rapport with client teams to support his strong technical experience.</a:t>
            </a:r>
            <a:endParaRPr lang="en-US" dirty="0"/>
          </a:p>
        </p:txBody>
      </p:sp>
      <p:sp>
        <p:nvSpPr>
          <p:cNvPr id="44" name="TextBox 43">
            <a:extLst>
              <a:ext uri="{FF2B5EF4-FFF2-40B4-BE49-F238E27FC236}">
                <a16:creationId xmlns:a16="http://schemas.microsoft.com/office/drawing/2014/main" id="{71E8655A-9388-59BA-F0D8-754D1DA66332}"/>
              </a:ext>
            </a:extLst>
          </p:cNvPr>
          <p:cNvSpPr txBox="1"/>
          <p:nvPr/>
        </p:nvSpPr>
        <p:spPr>
          <a:xfrm>
            <a:off x="3332724" y="3324972"/>
            <a:ext cx="4591676" cy="276999"/>
          </a:xfrm>
          <a:prstGeom prst="rect">
            <a:avLst/>
          </a:prstGeom>
          <a:noFill/>
        </p:spPr>
        <p:txBody>
          <a:bodyPr wrap="square" lIns="91440" tIns="45720" rIns="91440" bIns="45720" rtlCol="0" anchor="t">
            <a:spAutoFit/>
          </a:bodyPr>
          <a:lstStyle/>
          <a:p>
            <a:r>
              <a:rPr lang="en-AU" sz="1200" b="1" dirty="0">
                <a:solidFill>
                  <a:srgbClr val="ED7D31"/>
                </a:solidFill>
                <a:latin typeface="Roboto"/>
                <a:ea typeface="Roboto"/>
                <a:cs typeface="Roboto"/>
              </a:rPr>
              <a:t>Major Retail &amp; Logistics Organisation –Data Engineer</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25800A5-016C-48F2-9776-20E979C4EE09}">
  <ds:schemaRefs>
    <ds:schemaRef ds:uri="http://schemas.microsoft.com/sharepoint/v3/contenttype/forms"/>
  </ds:schemaRefs>
</ds:datastoreItem>
</file>

<file path=customXml/itemProps2.xml><?xml version="1.0" encoding="utf-8"?>
<ds:datastoreItem xmlns:ds="http://schemas.openxmlformats.org/officeDocument/2006/customXml" ds:itemID="{273751C5-9698-40F5-AD20-4BF57165A7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734DEBD-EF7F-418D-BEA7-68DB4E533249}">
  <ds:schemaRefs>
    <ds:schemaRef ds:uri="http://www.w3.org/XML/1998/namespace"/>
    <ds:schemaRef ds:uri="http://purl.org/dc/elements/1.1/"/>
    <ds:schemaRef ds:uri="http://purl.org/dc/terms/"/>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e52cd9e7-35e5-4bd3-9cab-ca6a63c31e52"/>
    <ds:schemaRef ds:uri="daf93972-1964-4522-aa34-640805a01c3a"/>
  </ds:schemaRefs>
</ds:datastoreItem>
</file>

<file path=docProps/app.xml><?xml version="1.0" encoding="utf-8"?>
<Properties xmlns="http://schemas.openxmlformats.org/officeDocument/2006/extended-properties" xmlns:vt="http://schemas.openxmlformats.org/officeDocument/2006/docPropsVTypes">
  <Template>Office Theme</Template>
  <TotalTime>1697</TotalTime>
  <Words>690</Words>
  <Application>Microsoft Office PowerPoint</Application>
  <PresentationFormat>Custom</PresentationFormat>
  <Paragraphs>85</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30</cp:revision>
  <dcterms:created xsi:type="dcterms:W3CDTF">2019-12-03T01:50:37Z</dcterms:created>
  <dcterms:modified xsi:type="dcterms:W3CDTF">2025-09-01T23:15:53Z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