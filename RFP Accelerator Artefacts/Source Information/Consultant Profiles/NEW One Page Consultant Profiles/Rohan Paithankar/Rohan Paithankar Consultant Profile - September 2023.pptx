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3584"/>
    <a:srgbClr val="ED7D31"/>
    <a:srgbClr val="0059FF"/>
    <a:srgbClr val="0F2B3F"/>
    <a:srgbClr val="00AB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C42F5F-E5EB-4611-B547-46CAAC0E1139}" v="4" dt="2024-05-03T05:39:47.7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101" d="100"/>
          <a:sy n="101" d="100"/>
        </p:scale>
        <p:origin x="2148"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6C345F80-31B0-4CA6-A053-1B08DCDE2AB2}"/>
    <pc:docChg chg="modSld">
      <pc:chgData name="Darcy Roach" userId="ba676ee9-e9b4-49e8-a515-8077106c948d" providerId="ADAL" clId="{6C345F80-31B0-4CA6-A053-1B08DCDE2AB2}" dt="2024-02-06T23:41:53.752" v="127" actId="14100"/>
      <pc:docMkLst>
        <pc:docMk/>
      </pc:docMkLst>
      <pc:sldChg chg="modSp mod">
        <pc:chgData name="Darcy Roach" userId="ba676ee9-e9b4-49e8-a515-8077106c948d" providerId="ADAL" clId="{6C345F80-31B0-4CA6-A053-1B08DCDE2AB2}" dt="2024-02-06T23:41:53.752" v="127" actId="14100"/>
        <pc:sldMkLst>
          <pc:docMk/>
          <pc:sldMk cId="2009923557" sldId="270"/>
        </pc:sldMkLst>
        <pc:spChg chg="mod">
          <ac:chgData name="Darcy Roach" userId="ba676ee9-e9b4-49e8-a515-8077106c948d" providerId="ADAL" clId="{6C345F80-31B0-4CA6-A053-1B08DCDE2AB2}" dt="2024-02-06T23:03:54.803" v="0" actId="108"/>
          <ac:spMkLst>
            <pc:docMk/>
            <pc:sldMk cId="2009923557" sldId="270"/>
            <ac:spMk id="8" creationId="{59FEB941-5146-6B10-4E4D-8A4ADE918AEF}"/>
          </ac:spMkLst>
        </pc:spChg>
        <pc:spChg chg="mod">
          <ac:chgData name="Darcy Roach" userId="ba676ee9-e9b4-49e8-a515-8077106c948d" providerId="ADAL" clId="{6C345F80-31B0-4CA6-A053-1B08DCDE2AB2}" dt="2024-02-06T23:04:42.394" v="4" actId="20577"/>
          <ac:spMkLst>
            <pc:docMk/>
            <pc:sldMk cId="2009923557" sldId="270"/>
            <ac:spMk id="13" creationId="{FD2720C9-A79F-BD7F-E179-674AD67D7892}"/>
          </ac:spMkLst>
        </pc:spChg>
        <pc:spChg chg="mod">
          <ac:chgData name="Darcy Roach" userId="ba676ee9-e9b4-49e8-a515-8077106c948d" providerId="ADAL" clId="{6C345F80-31B0-4CA6-A053-1B08DCDE2AB2}" dt="2024-02-06T23:41:46.450" v="126" actId="20577"/>
          <ac:spMkLst>
            <pc:docMk/>
            <pc:sldMk cId="2009923557" sldId="270"/>
            <ac:spMk id="38" creationId="{AB47A2EE-BF0B-DB05-8B7C-DB6594B2B3D5}"/>
          </ac:spMkLst>
        </pc:spChg>
        <pc:cxnChg chg="mod">
          <ac:chgData name="Darcy Roach" userId="ba676ee9-e9b4-49e8-a515-8077106c948d" providerId="ADAL" clId="{6C345F80-31B0-4CA6-A053-1B08DCDE2AB2}" dt="2024-02-06T23:04:05.023" v="1" actId="14100"/>
          <ac:cxnSpMkLst>
            <pc:docMk/>
            <pc:sldMk cId="2009923557" sldId="270"/>
            <ac:cxnSpMk id="3" creationId="{67C34E10-2CF8-9BCA-1CC6-D78A3FF9CA80}"/>
          </ac:cxnSpMkLst>
        </pc:cxnChg>
        <pc:cxnChg chg="mod">
          <ac:chgData name="Darcy Roach" userId="ba676ee9-e9b4-49e8-a515-8077106c948d" providerId="ADAL" clId="{6C345F80-31B0-4CA6-A053-1B08DCDE2AB2}" dt="2024-02-06T23:04:13.143" v="2" actId="14100"/>
          <ac:cxnSpMkLst>
            <pc:docMk/>
            <pc:sldMk cId="2009923557" sldId="270"/>
            <ac:cxnSpMk id="21" creationId="{B0913DE4-461D-CE43-AABC-C4B3D7D22F45}"/>
          </ac:cxnSpMkLst>
        </pc:cxnChg>
        <pc:cxnChg chg="mod">
          <ac:chgData name="Darcy Roach" userId="ba676ee9-e9b4-49e8-a515-8077106c948d" providerId="ADAL" clId="{6C345F80-31B0-4CA6-A053-1B08DCDE2AB2}" dt="2024-02-06T23:41:53.752" v="127" actId="14100"/>
          <ac:cxnSpMkLst>
            <pc:docMk/>
            <pc:sldMk cId="2009923557" sldId="270"/>
            <ac:cxnSpMk id="170" creationId="{0D51728F-48BB-14BB-256E-5F0C0284BCDF}"/>
          </ac:cxnSpMkLst>
        </pc:cxnChg>
      </pc:sldChg>
    </pc:docChg>
  </pc:docChgLst>
  <pc:docChgLst>
    <pc:chgData name="Janosh Raslask" userId="S::janosh.raslask@intelia.com.au::6c5bebf3-c154-41f0-a03c-d54f1fb667cb" providerId="AD" clId="Web-{67C42F5F-E5EB-4611-B547-46CAAC0E1139}"/>
    <pc:docChg chg="modSld">
      <pc:chgData name="Janosh Raslask" userId="S::janosh.raslask@intelia.com.au::6c5bebf3-c154-41f0-a03c-d54f1fb667cb" providerId="AD" clId="Web-{67C42F5F-E5EB-4611-B547-46CAAC0E1139}" dt="2024-05-03T05:39:47.787" v="1" actId="20577"/>
      <pc:docMkLst>
        <pc:docMk/>
      </pc:docMkLst>
      <pc:sldChg chg="modSp">
        <pc:chgData name="Janosh Raslask" userId="S::janosh.raslask@intelia.com.au::6c5bebf3-c154-41f0-a03c-d54f1fb667cb" providerId="AD" clId="Web-{67C42F5F-E5EB-4611-B547-46CAAC0E1139}" dt="2024-05-03T05:39:47.787" v="1" actId="20577"/>
        <pc:sldMkLst>
          <pc:docMk/>
          <pc:sldMk cId="2009923557" sldId="270"/>
        </pc:sldMkLst>
        <pc:spChg chg="mod">
          <ac:chgData name="Janosh Raslask" userId="S::janosh.raslask@intelia.com.au::6c5bebf3-c154-41f0-a03c-d54f1fb667cb" providerId="AD" clId="Web-{67C42F5F-E5EB-4611-B547-46CAAC0E1139}" dt="2024-05-03T05:39:47.787" v="1" actId="20577"/>
          <ac:spMkLst>
            <pc:docMk/>
            <pc:sldMk cId="2009923557" sldId="270"/>
            <ac:spMk id="26" creationId="{1A3D666D-00C8-D106-73C3-9FF300F8618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5/2/2024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5/2/2024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5/2/2024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5/2/2024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5/2/2024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5/2/2024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5/2/2024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760388"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Rohan Paithankar</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34576" y="1560956"/>
            <a:ext cx="2916523" cy="1138132"/>
          </a:xfrm>
          <a:prstGeom prst="rect">
            <a:avLst/>
          </a:prstGeom>
          <a:noFill/>
        </p:spPr>
        <p:txBody>
          <a:bodyPr wrap="square" lIns="0" tIns="0" rIns="0" bIns="0" rtlCol="0" anchor="t">
            <a:spAutoFit/>
          </a:bodyPr>
          <a:lstStyle/>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Rohan is a skilled GCP Certified Data Engineer and holds a Master of Data Science from Monash University. Rohan has a real passion and keen interest for building responsive data pipelines and analytical solutions using Big Data and Cloud technologies. </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47849"/>
            <a:ext cx="1510046" cy="2169825"/>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BigQuery</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Terraform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Linux</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iOS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Git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Node JS</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Tensorflow</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CDK</a:t>
            </a:r>
          </a:p>
          <a:p>
            <a:pPr marL="171450" indent="-171450">
              <a:buClr>
                <a:srgbClr val="00AB80"/>
              </a:buClr>
              <a:buFont typeface="Arial" panose="020B0604020202020204" pitchFamily="34" charset="0"/>
              <a:buChar char="•"/>
            </a:pPr>
            <a:r>
              <a:rPr lang="en-US" sz="900">
                <a:latin typeface="Roboto Light"/>
                <a:ea typeface="Roboto Light"/>
                <a:cs typeface="Roboto Light"/>
              </a:rPr>
              <a:t>dbt</a:t>
            </a:r>
            <a:endParaRPr lang="en-US" sz="900">
              <a:latin typeface="Roboto Light" panose="02000000000000000000" pitchFamily="2" charset="0"/>
              <a:ea typeface="Roboto Light" panose="02000000000000000000" pitchFamily="2" charset="0"/>
              <a:cs typeface="Roboto Light"/>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64735"/>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613437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456630"/>
            <a:ext cx="1951941" cy="172354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Retail</a:t>
            </a:r>
          </a:p>
          <a:p>
            <a:pPr marL="0" indent="0">
              <a:lnSpc>
                <a:spcPct val="150000"/>
              </a:lnSpc>
              <a:buNone/>
            </a:pPr>
            <a:r>
              <a:rPr lang="en-GB" sz="1200" dirty="0">
                <a:solidFill>
                  <a:srgbClr val="00AB80"/>
                </a:solidFill>
              </a:rPr>
              <a:t>Mining</a:t>
            </a:r>
          </a:p>
          <a:p>
            <a:pPr marL="0" indent="0">
              <a:lnSpc>
                <a:spcPct val="150000"/>
              </a:lnSpc>
              <a:buNone/>
            </a:pPr>
            <a:r>
              <a:rPr lang="en-GB" sz="1200" dirty="0">
                <a:solidFill>
                  <a:srgbClr val="00AB80"/>
                </a:solidFill>
              </a:rPr>
              <a:t>Pharmaceuticals </a:t>
            </a:r>
          </a:p>
          <a:p>
            <a:pPr marL="0" indent="0">
              <a:lnSpc>
                <a:spcPct val="150000"/>
              </a:lnSpc>
              <a:buNone/>
            </a:pPr>
            <a:r>
              <a:rPr lang="en-GB" sz="1200" dirty="0">
                <a:solidFill>
                  <a:srgbClr val="00AB80"/>
                </a:solidFill>
              </a:rPr>
              <a:t>Software</a:t>
            </a:r>
          </a:p>
          <a:p>
            <a:pPr marL="0" indent="0">
              <a:lnSpc>
                <a:spcPct val="150000"/>
              </a:lnSpc>
              <a:buNone/>
            </a:pPr>
            <a:endParaRPr lang="en-GB" sz="1200" dirty="0">
              <a:solidFill>
                <a:srgbClr val="00AB80"/>
              </a:solidFill>
            </a:endParaRP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180179"/>
            <a:ext cx="1963972" cy="4154984"/>
            <a:chOff x="8106458" y="2681447"/>
            <a:chExt cx="1963972" cy="4154984"/>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63972" cy="4154984"/>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a:t>
              </a:r>
              <a:r>
                <a:rPr lang="en-GB" sz="1200" dirty="0">
                  <a:solidFill>
                    <a:srgbClr val="00AB80"/>
                  </a:solidFill>
                  <a:latin typeface="Roboto Light" panose="02000000000000000000" pitchFamily="2" charset="0"/>
                  <a:ea typeface="Calibri" panose="020F0502020204030204" pitchFamily="34" charset="0"/>
                </a:rPr>
                <a:t>| Certified</a:t>
              </a:r>
              <a:r>
                <a:rPr lang="en-GB" sz="1200" dirty="0">
                  <a:solidFill>
                    <a:srgbClr val="00AB80"/>
                  </a:solidFill>
                  <a:effectLst/>
                  <a:latin typeface="Roboto Light" panose="02000000000000000000" pitchFamily="2" charset="0"/>
                  <a:ea typeface="Calibri" panose="020F0502020204030204" pitchFamily="34" charset="0"/>
                </a:rPr>
                <a:t> Professional Data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a:t>
              </a:r>
              <a:r>
                <a:rPr lang="en-GB" sz="1200" dirty="0">
                  <a:solidFill>
                    <a:srgbClr val="00AB80"/>
                  </a:solidFill>
                  <a:latin typeface="Roboto Light" panose="02000000000000000000" pitchFamily="2" charset="0"/>
                  <a:ea typeface="Calibri" panose="020F0502020204030204" pitchFamily="34" charset="0"/>
                </a:rPr>
                <a:t>| Certified</a:t>
              </a:r>
              <a:r>
                <a:rPr lang="en-GB" sz="1200" dirty="0">
                  <a:solidFill>
                    <a:srgbClr val="00AB80"/>
                  </a:solidFill>
                  <a:effectLst/>
                  <a:latin typeface="Roboto Light" panose="02000000000000000000" pitchFamily="2" charset="0"/>
                  <a:ea typeface="Calibri" panose="020F0502020204030204" pitchFamily="34" charset="0"/>
                </a:rPr>
                <a:t> Professional Machine Learning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Microsoft Azure | Data Fundamentals </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Databricks | Developer Essentials </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Master - Data Science,</a:t>
              </a: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Monash University</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Technology Computer Communication &amp; Engineering</a:t>
              </a: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31065" y="5747849"/>
            <a:ext cx="1528457"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 Platform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Azure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Amazon Web Services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Science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Analysis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Deep Learning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Statistical Methods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Structures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Visualisations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Artificial Intelligence</a:t>
            </a: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grpSp>
        <p:nvGrpSpPr>
          <p:cNvPr id="34" name="Group 33">
            <a:extLst>
              <a:ext uri="{FF2B5EF4-FFF2-40B4-BE49-F238E27FC236}">
                <a16:creationId xmlns:a16="http://schemas.microsoft.com/office/drawing/2014/main" id="{0BBEF8AB-50F3-A0AA-9946-9CFF5A8CFABB}"/>
              </a:ext>
            </a:extLst>
          </p:cNvPr>
          <p:cNvGrpSpPr/>
          <p:nvPr/>
        </p:nvGrpSpPr>
        <p:grpSpPr>
          <a:xfrm>
            <a:off x="3321267" y="3313893"/>
            <a:ext cx="4691767" cy="1446277"/>
            <a:chOff x="3321267" y="1028696"/>
            <a:chExt cx="4691767" cy="1446277"/>
          </a:xfrm>
        </p:grpSpPr>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81125"/>
              <a:ext cx="0" cy="886628"/>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01E125D-B356-8A2A-B86B-AB6567CEABE1}"/>
                </a:ext>
              </a:extLst>
            </p:cNvPr>
            <p:cNvSpPr txBox="1"/>
            <p:nvPr/>
          </p:nvSpPr>
          <p:spPr>
            <a:xfrm>
              <a:off x="3321267" y="1028696"/>
              <a:ext cx="4487299" cy="276999"/>
            </a:xfrm>
            <a:prstGeom prst="rect">
              <a:avLst/>
            </a:prstGeom>
            <a:noFill/>
          </p:spPr>
          <p:txBody>
            <a:bodyPr wrap="square" rtlCol="0">
              <a:spAutoFit/>
            </a:bodyPr>
            <a:lstStyle/>
            <a:p>
              <a:r>
                <a:rPr lang="en-US" sz="1200" b="1" dirty="0">
                  <a:solidFill>
                    <a:srgbClr val="ED7D31"/>
                  </a:solidFill>
                  <a:latin typeface="Roboto" panose="02000000000000000000" pitchFamily="2" charset="0"/>
                  <a:ea typeface="Roboto" panose="02000000000000000000" pitchFamily="2" charset="0"/>
                </a:rPr>
                <a:t>L</a:t>
              </a:r>
              <a:r>
                <a:rPr lang="en-AU" sz="1200" b="1" dirty="0" err="1">
                  <a:solidFill>
                    <a:srgbClr val="ED7D31"/>
                  </a:solidFill>
                  <a:latin typeface="Roboto" panose="02000000000000000000" pitchFamily="2" charset="0"/>
                  <a:ea typeface="Roboto" panose="02000000000000000000" pitchFamily="2" charset="0"/>
                </a:rPr>
                <a:t>eading</a:t>
              </a:r>
              <a:r>
                <a:rPr lang="en-AU" sz="1200" b="1" dirty="0">
                  <a:solidFill>
                    <a:srgbClr val="ED7D31"/>
                  </a:solidFill>
                  <a:latin typeface="Roboto" panose="02000000000000000000" pitchFamily="2" charset="0"/>
                  <a:ea typeface="Roboto" panose="02000000000000000000" pitchFamily="2" charset="0"/>
                </a:rPr>
                <a:t> Payroll Compliance Organisation – Data Engineer</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305422"/>
              <a:ext cx="4549073" cy="116955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lvl="0">
                <a:buSzPts val="1000"/>
                <a:tabLst>
                  <a:tab pos="457200" algn="l"/>
                </a:tabLst>
              </a:pPr>
              <a:r>
                <a:rPr lang="en-AU" sz="1000" dirty="0">
                  <a:solidFill>
                    <a:schemeClr val="bg1"/>
                  </a:solidFill>
                </a:rPr>
                <a:t>Built data pipelines in Python orchestrated by Prefect to load extracted csv files from source payroll systems to </a:t>
              </a:r>
              <a:r>
                <a:rPr lang="en-AU" sz="1000" dirty="0" err="1">
                  <a:solidFill>
                    <a:schemeClr val="bg1"/>
                  </a:solidFill>
                </a:rPr>
                <a:t>BigQuery</a:t>
              </a:r>
              <a:r>
                <a:rPr lang="en-AU" sz="1000" dirty="0">
                  <a:solidFill>
                    <a:schemeClr val="bg1"/>
                  </a:solidFill>
                </a:rPr>
                <a:t>.</a:t>
              </a:r>
            </a:p>
            <a:p>
              <a:pPr lvl="0">
                <a:buSzPts val="1000"/>
                <a:tabLst>
                  <a:tab pos="457200" algn="l"/>
                </a:tabLst>
              </a:pPr>
              <a:r>
                <a:rPr lang="en-AU" sz="1000" dirty="0">
                  <a:solidFill>
                    <a:schemeClr val="bg1"/>
                  </a:solidFill>
                </a:rPr>
                <a:t>Designed conformed and presentation layers in </a:t>
              </a:r>
              <a:r>
                <a:rPr lang="en-AU" sz="1000" dirty="0" err="1">
                  <a:solidFill>
                    <a:schemeClr val="bg1"/>
                  </a:solidFill>
                </a:rPr>
                <a:t>BigQuery</a:t>
              </a:r>
              <a:r>
                <a:rPr lang="en-AU" sz="1000" dirty="0">
                  <a:solidFill>
                    <a:schemeClr val="bg1"/>
                  </a:solidFill>
                </a:rPr>
                <a:t> by applying business rules to process payroll data.</a:t>
              </a:r>
            </a:p>
            <a:p>
              <a:pPr lvl="0">
                <a:buSzPts val="1000"/>
                <a:tabLst>
                  <a:tab pos="457200" algn="l"/>
                </a:tabLst>
              </a:pPr>
              <a:r>
                <a:rPr lang="en-AU" sz="1000" dirty="0">
                  <a:solidFill>
                    <a:schemeClr val="bg1"/>
                  </a:solidFill>
                </a:rPr>
                <a:t>Refined existing SQL scripts to enhance query execution and efficiency.</a:t>
              </a:r>
            </a:p>
            <a:p>
              <a:pPr lvl="0">
                <a:buSzPts val="1000"/>
                <a:tabLst>
                  <a:tab pos="457200" algn="l"/>
                </a:tabLst>
              </a:pPr>
              <a:r>
                <a:rPr lang="en-AU" sz="1000" dirty="0">
                  <a:solidFill>
                    <a:schemeClr val="bg1"/>
                  </a:solidFill>
                </a:rPr>
                <a:t>Used GCP Cloud Foundation Toolkit to setup foundation using Terraform.</a:t>
              </a:r>
            </a:p>
            <a:p>
              <a:pPr marL="0" indent="0">
                <a:buNone/>
              </a:pPr>
              <a:endParaRPr lang="en-AU" sz="1000" dirty="0">
                <a:solidFill>
                  <a:schemeClr val="bg1"/>
                </a:solidFill>
              </a:endParaRPr>
            </a:p>
          </p:txBody>
        </p:sp>
      </p:grpSp>
      <p:grpSp>
        <p:nvGrpSpPr>
          <p:cNvPr id="9" name="Group 8">
            <a:extLst>
              <a:ext uri="{FF2B5EF4-FFF2-40B4-BE49-F238E27FC236}">
                <a16:creationId xmlns:a16="http://schemas.microsoft.com/office/drawing/2014/main" id="{E7DD910D-15D0-5CBC-B70B-D2480ECA3DCA}"/>
              </a:ext>
            </a:extLst>
          </p:cNvPr>
          <p:cNvGrpSpPr/>
          <p:nvPr/>
        </p:nvGrpSpPr>
        <p:grpSpPr>
          <a:xfrm>
            <a:off x="3329099" y="1142207"/>
            <a:ext cx="4709988" cy="2171686"/>
            <a:chOff x="3303046" y="6194352"/>
            <a:chExt cx="4709988" cy="2305838"/>
          </a:xfrm>
        </p:grpSpPr>
        <p:grpSp>
          <p:nvGrpSpPr>
            <p:cNvPr id="18" name="Group 17">
              <a:extLst>
                <a:ext uri="{FF2B5EF4-FFF2-40B4-BE49-F238E27FC236}">
                  <a16:creationId xmlns:a16="http://schemas.microsoft.com/office/drawing/2014/main" id="{E0B3FDFC-4A78-346F-E1D4-E183BEB90A60}"/>
                </a:ext>
              </a:extLst>
            </p:cNvPr>
            <p:cNvGrpSpPr/>
            <p:nvPr/>
          </p:nvGrpSpPr>
          <p:grpSpPr>
            <a:xfrm>
              <a:off x="3428144" y="6441420"/>
              <a:ext cx="4584890" cy="2058770"/>
              <a:chOff x="5023753" y="4494578"/>
              <a:chExt cx="4757437" cy="2058770"/>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494578"/>
                <a:ext cx="4721716" cy="205877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Implemented </a:t>
                </a:r>
                <a:r>
                  <a:rPr lang="en-AU" sz="1000" dirty="0" err="1"/>
                  <a:t>IaC</a:t>
                </a:r>
                <a:r>
                  <a:rPr lang="en-AU" sz="1000" dirty="0"/>
                  <a:t> (Infrastructure as Code) using Terraform to deploy and managed data platform resources such as Cloud Storage, </a:t>
                </a:r>
                <a:r>
                  <a:rPr lang="en-AU" sz="1000" dirty="0" err="1"/>
                  <a:t>BigQuery</a:t>
                </a:r>
                <a:r>
                  <a:rPr lang="en-AU" sz="1000" dirty="0"/>
                  <a:t> Datasets &amp; Tables, Artifact Registry etc. by creating reusable modules</a:t>
                </a:r>
              </a:p>
              <a:p>
                <a:r>
                  <a:rPr lang="en-AU" sz="1000" dirty="0"/>
                  <a:t>Implemented </a:t>
                </a:r>
                <a:r>
                  <a:rPr lang="en-AU" sz="1000" dirty="0" err="1"/>
                  <a:t>DataOps</a:t>
                </a:r>
                <a:r>
                  <a:rPr lang="en-AU" sz="1000" dirty="0"/>
                  <a:t> best practices for data pipelines and </a:t>
                </a:r>
                <a:r>
                  <a:rPr lang="en-AU" sz="1000" dirty="0" err="1"/>
                  <a:t>IaC</a:t>
                </a:r>
                <a:endParaRPr lang="en-AU" sz="1000" dirty="0"/>
              </a:p>
              <a:p>
                <a:r>
                  <a:rPr lang="en-AU" sz="1000" dirty="0"/>
                  <a:t>Worked closely with the data modelling team to implement data warehouse automation using </a:t>
                </a:r>
                <a:r>
                  <a:rPr lang="en-AU" sz="1000" dirty="0" err="1"/>
                  <a:t>VaultSpeed</a:t>
                </a:r>
                <a:endParaRPr lang="en-AU" sz="1000" dirty="0"/>
              </a:p>
              <a:p>
                <a:r>
                  <a:rPr lang="en-AU" sz="1000" dirty="0"/>
                  <a:t>Set up workflow orchestration using Composer(Airflow) and container management using Docker &amp; Artifact Registry</a:t>
                </a:r>
              </a:p>
              <a:p>
                <a:r>
                  <a:rPr lang="en-AU" sz="1000" dirty="0"/>
                  <a:t>Implemented branching strategies and code promotion across environments to ensure code is built and tested before production deployments</a:t>
                </a:r>
              </a:p>
              <a:p>
                <a:endParaRPr lang="en-AU"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579160"/>
                <a:ext cx="0" cy="1780301"/>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03046" y="6194352"/>
              <a:ext cx="4015962" cy="294110"/>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Financial Services </a:t>
              </a:r>
              <a:r>
                <a:rPr lang="en-US" sz="1200" b="1" dirty="0" err="1">
                  <a:solidFill>
                    <a:srgbClr val="0059FF"/>
                  </a:solidFill>
                  <a:latin typeface="Roboto" panose="02000000000000000000" pitchFamily="2" charset="0"/>
                  <a:ea typeface="Roboto" panose="02000000000000000000" pitchFamily="2" charset="0"/>
                </a:rPr>
                <a:t>Organisation</a:t>
              </a:r>
              <a:r>
                <a:rPr lang="en-US" sz="1200" b="1" dirty="0">
                  <a:solidFill>
                    <a:srgbClr val="0059FF"/>
                  </a:solidFill>
                  <a:latin typeface="Roboto" panose="02000000000000000000" pitchFamily="2" charset="0"/>
                  <a:ea typeface="Roboto" panose="02000000000000000000" pitchFamily="2" charset="0"/>
                </a:rPr>
                <a:t> – GCP Data Engineer </a:t>
              </a:r>
              <a:endParaRPr lang="en-AU" sz="1200" b="1" dirty="0">
                <a:solidFill>
                  <a:srgbClr val="0059FF"/>
                </a:solidFill>
                <a:latin typeface="Roboto" panose="02000000000000000000" pitchFamily="2" charset="0"/>
                <a:ea typeface="Roboto" panose="02000000000000000000" pitchFamily="2" charset="0"/>
              </a:endParaRPr>
            </a:p>
          </p:txBody>
        </p:sp>
      </p:grpSp>
      <p:sp>
        <p:nvSpPr>
          <p:cNvPr id="37" name="TextBox 36">
            <a:extLst>
              <a:ext uri="{FF2B5EF4-FFF2-40B4-BE49-F238E27FC236}">
                <a16:creationId xmlns:a16="http://schemas.microsoft.com/office/drawing/2014/main" id="{FD455699-2218-9DB9-D907-E04C8F8833F1}"/>
              </a:ext>
            </a:extLst>
          </p:cNvPr>
          <p:cNvSpPr txBox="1"/>
          <p:nvPr/>
        </p:nvSpPr>
        <p:spPr>
          <a:xfrm>
            <a:off x="234577" y="2836233"/>
            <a:ext cx="2857686" cy="2099934"/>
          </a:xfrm>
          <a:prstGeom prst="rect">
            <a:avLst/>
          </a:prstGeom>
          <a:noFill/>
        </p:spPr>
        <p:txBody>
          <a:bodyPr wrap="square" lIns="0" tIns="0" rIns="0" bIns="0" rtlCol="0" anchor="t">
            <a:spAutoFit/>
          </a:bodyPr>
          <a:lstStyle>
            <a:defPPr>
              <a:defRPr lang="en-US"/>
            </a:defPPr>
            <a:lvl1pPr>
              <a:lnSpc>
                <a:spcPts val="1500"/>
              </a:lnSpc>
              <a:defRPr sz="1000" spc="13">
                <a:latin typeface="Roboto Light" panose="02000000000000000000" pitchFamily="2" charset="0"/>
                <a:ea typeface="Roboto Light" panose="02000000000000000000" pitchFamily="2" charset="0"/>
                <a:cs typeface="Lato" panose="020F0502020204030203" pitchFamily="34" charset="0"/>
              </a:defRPr>
            </a:lvl1pPr>
          </a:lstStyle>
          <a:p>
            <a:r>
              <a:rPr lang="en-AU" dirty="0"/>
              <a:t>Rohan has experience working with data in the Finance, Retail and Mining industries, he is a strong believer that data drives performance. Rohan is skilled in building data pipelines for transactional and analytical workloads using Google Cloud, AWS and Azure technologies such as GCP, Data Factory and Databricks. Rohan has a great passion for helping businesses reap the benefits of data-driven decision making and collaborating with organisations to use data for the betterment of society. </a:t>
            </a:r>
          </a:p>
        </p:txBody>
      </p:sp>
      <p:grpSp>
        <p:nvGrpSpPr>
          <p:cNvPr id="16" name="Group 15">
            <a:extLst>
              <a:ext uri="{FF2B5EF4-FFF2-40B4-BE49-F238E27FC236}">
                <a16:creationId xmlns:a16="http://schemas.microsoft.com/office/drawing/2014/main" id="{EE6E62F3-C53C-7BD6-4A2D-C76BD4985264}"/>
              </a:ext>
            </a:extLst>
          </p:cNvPr>
          <p:cNvGrpSpPr/>
          <p:nvPr/>
        </p:nvGrpSpPr>
        <p:grpSpPr>
          <a:xfrm>
            <a:off x="3329099" y="4888339"/>
            <a:ext cx="4709988" cy="2203812"/>
            <a:chOff x="3303046" y="6194352"/>
            <a:chExt cx="4709988" cy="2339949"/>
          </a:xfrm>
        </p:grpSpPr>
        <p:grpSp>
          <p:nvGrpSpPr>
            <p:cNvPr id="24" name="Group 23">
              <a:extLst>
                <a:ext uri="{FF2B5EF4-FFF2-40B4-BE49-F238E27FC236}">
                  <a16:creationId xmlns:a16="http://schemas.microsoft.com/office/drawing/2014/main" id="{6690AFD0-73BA-8244-AF9A-23AF695D7D18}"/>
                </a:ext>
              </a:extLst>
            </p:cNvPr>
            <p:cNvGrpSpPr/>
            <p:nvPr/>
          </p:nvGrpSpPr>
          <p:grpSpPr>
            <a:xfrm>
              <a:off x="3428144" y="6441420"/>
              <a:ext cx="4584890" cy="2092881"/>
              <a:chOff x="5023753" y="4494578"/>
              <a:chExt cx="4757437" cy="2092881"/>
            </a:xfrm>
          </p:grpSpPr>
          <p:sp>
            <p:nvSpPr>
              <p:cNvPr id="30" name="TextBox 29">
                <a:extLst>
                  <a:ext uri="{FF2B5EF4-FFF2-40B4-BE49-F238E27FC236}">
                    <a16:creationId xmlns:a16="http://schemas.microsoft.com/office/drawing/2014/main" id="{FE8A1434-DC97-369C-040D-3129883A5D52}"/>
                  </a:ext>
                </a:extLst>
              </p:cNvPr>
              <p:cNvSpPr txBox="1"/>
              <p:nvPr/>
            </p:nvSpPr>
            <p:spPr>
              <a:xfrm>
                <a:off x="5059474" y="4494578"/>
                <a:ext cx="4721716" cy="209288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Assisted in building change-data-capture pipeline using Pub/Sub, Dataflow &amp; Cloud Functions to move data from AWS Redshift to </a:t>
                </a:r>
                <a:r>
                  <a:rPr lang="en-AU" sz="1000" dirty="0" err="1"/>
                  <a:t>BigQuery</a:t>
                </a:r>
                <a:r>
                  <a:rPr lang="en-AU" sz="1000" dirty="0"/>
                  <a:t>.</a:t>
                </a:r>
              </a:p>
              <a:p>
                <a:r>
                  <a:rPr lang="en-AU" sz="1000" dirty="0"/>
                  <a:t>Implemented CICD pipelines following Google Cloud and Git best practices to deploy data pipelines and infrastructure.</a:t>
                </a:r>
              </a:p>
              <a:p>
                <a:r>
                  <a:rPr lang="en-AU" sz="1000" dirty="0"/>
                  <a:t>Worked closely with the Data teams to set up Exchanges and listings for data sharing as a part of the Data Mesh initiative.</a:t>
                </a:r>
              </a:p>
              <a:p>
                <a:r>
                  <a:rPr lang="en-AU" sz="1000" dirty="0"/>
                  <a:t>Implemented changes to GCP folders, project and resource layout using Terraform to mirror organizational structure and data mesh design. </a:t>
                </a:r>
              </a:p>
              <a:p>
                <a:r>
                  <a:rPr lang="en-AU" sz="1000" dirty="0"/>
                  <a:t>Assisted stakeholders in setting up GCP organization and project level policies via Terraform.</a:t>
                </a:r>
              </a:p>
              <a:p>
                <a:r>
                  <a:rPr lang="en-AU" sz="1000" dirty="0"/>
                  <a:t>Imported existing resources into Terraform to setup </a:t>
                </a:r>
                <a:r>
                  <a:rPr lang="en-AU" sz="1000" dirty="0" err="1"/>
                  <a:t>IaC</a:t>
                </a:r>
                <a:r>
                  <a:rPr lang="en-AU" sz="1000" dirty="0"/>
                  <a:t> for all resources that were created manually.</a:t>
                </a:r>
              </a:p>
              <a:p>
                <a:endParaRPr lang="en-AU" sz="1000" dirty="0"/>
              </a:p>
            </p:txBody>
          </p:sp>
          <p:cxnSp>
            <p:nvCxnSpPr>
              <p:cNvPr id="31" name="Straight Connector 30">
                <a:extLst>
                  <a:ext uri="{FF2B5EF4-FFF2-40B4-BE49-F238E27FC236}">
                    <a16:creationId xmlns:a16="http://schemas.microsoft.com/office/drawing/2014/main" id="{F570D2AD-C214-2E5F-A06B-922080C78CDD}"/>
                  </a:ext>
                </a:extLst>
              </p:cNvPr>
              <p:cNvCxnSpPr>
                <a:cxnSpLocks/>
              </p:cNvCxnSpPr>
              <p:nvPr/>
            </p:nvCxnSpPr>
            <p:spPr>
              <a:xfrm>
                <a:off x="5023753" y="4579160"/>
                <a:ext cx="0" cy="1780301"/>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29C763A0-36F5-7EEC-80B3-A13AC332CE2D}"/>
                </a:ext>
              </a:extLst>
            </p:cNvPr>
            <p:cNvSpPr txBox="1"/>
            <p:nvPr/>
          </p:nvSpPr>
          <p:spPr>
            <a:xfrm>
              <a:off x="3303046" y="6194352"/>
              <a:ext cx="4214700" cy="294110"/>
            </a:xfrm>
            <a:prstGeom prst="rect">
              <a:avLst/>
            </a:prstGeom>
            <a:noFill/>
          </p:spPr>
          <p:txBody>
            <a:bodyPr wrap="square" rtlCol="0">
              <a:spAutoFit/>
            </a:bodyPr>
            <a:lstStyle/>
            <a:p>
              <a:r>
                <a:rPr lang="en-US" sz="1200" b="1" dirty="0">
                  <a:solidFill>
                    <a:srgbClr val="A93584"/>
                  </a:solidFill>
                  <a:latin typeface="Roboto" panose="02000000000000000000" pitchFamily="2" charset="0"/>
                  <a:ea typeface="Roboto" panose="02000000000000000000" pitchFamily="2" charset="0"/>
                </a:rPr>
                <a:t>Large Australian Online Retailer – GCP Data Engineer </a:t>
              </a:r>
              <a:endParaRPr lang="en-AU" sz="1200" b="1" dirty="0">
                <a:solidFill>
                  <a:srgbClr val="A93584"/>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Joel Collins</DisplayName>
        <AccountId>13</AccountId>
        <AccountType/>
      </UserInfo>
      <UserInfo>
        <DisplayName>Darcy Roach</DisplayName>
        <AccountId>14</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DED3751-8046-450E-BBF0-0C652FE3CD2B}">
  <ds:schemaRefs>
    <ds:schemaRef ds:uri="http://www.w3.org/XML/1998/namespace"/>
    <ds:schemaRef ds:uri="http://purl.org/dc/elements/1.1/"/>
    <ds:schemaRef ds:uri="http://purl.org/dc/dcmitype/"/>
    <ds:schemaRef ds:uri="e52cd9e7-35e5-4bd3-9cab-ca6a63c31e52"/>
    <ds:schemaRef ds:uri="http://purl.org/dc/terms/"/>
    <ds:schemaRef ds:uri="http://schemas.microsoft.com/office/infopath/2007/PartnerControls"/>
    <ds:schemaRef ds:uri="http://schemas.microsoft.com/office/2006/documentManagement/types"/>
    <ds:schemaRef ds:uri="http://schemas.openxmlformats.org/package/2006/metadata/core-properties"/>
    <ds:schemaRef ds:uri="daf93972-1964-4522-aa34-640805a01c3a"/>
    <ds:schemaRef ds:uri="http://schemas.microsoft.com/office/2006/metadata/properties"/>
  </ds:schemaRefs>
</ds:datastoreItem>
</file>

<file path=customXml/itemProps2.xml><?xml version="1.0" encoding="utf-8"?>
<ds:datastoreItem xmlns:ds="http://schemas.openxmlformats.org/officeDocument/2006/customXml" ds:itemID="{05604DA7-C5E1-49DD-8C41-CCB449994644}">
  <ds:schemaRefs>
    <ds:schemaRef ds:uri="http://schemas.microsoft.com/sharepoint/v3/contenttype/forms"/>
  </ds:schemaRefs>
</ds:datastoreItem>
</file>

<file path=customXml/itemProps3.xml><?xml version="1.0" encoding="utf-8"?>
<ds:datastoreItem xmlns:ds="http://schemas.openxmlformats.org/officeDocument/2006/customXml" ds:itemID="{41D04809-9252-4238-8866-76DB677E6C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3886</TotalTime>
  <Words>513</Words>
  <Application>Microsoft Office PowerPoint</Application>
  <PresentationFormat>Custom</PresentationFormat>
  <Paragraphs>74</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95</cp:revision>
  <dcterms:created xsi:type="dcterms:W3CDTF">2019-12-03T01:50:37Z</dcterms:created>
  <dcterms:modified xsi:type="dcterms:W3CDTF">2024-05-03T05:39:57Z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