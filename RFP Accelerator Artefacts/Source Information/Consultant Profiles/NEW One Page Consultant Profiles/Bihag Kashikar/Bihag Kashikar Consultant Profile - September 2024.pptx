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sldIdLst>
    <p:sldId id="270" r:id="rId5"/>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B80"/>
    <a:srgbClr val="A93584"/>
    <a:srgbClr val="0F2B3F"/>
    <a:srgbClr val="0059FF"/>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8D5672-37BB-4705-97AD-8ABE9702A0C1}" v="351" dt="2025-05-29T04:33:39.4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02"/>
    <p:restoredTop sz="96357" autoAdjust="0"/>
  </p:normalViewPr>
  <p:slideViewPr>
    <p:cSldViewPr snapToGrid="0">
      <p:cViewPr varScale="1">
        <p:scale>
          <a:sx n="99" d="100"/>
          <a:sy n="99" d="100"/>
        </p:scale>
        <p:origin x="1722" y="72"/>
      </p:cViewPr>
      <p:guideLst>
        <p:guide orient="horz" pos="2448"/>
        <p:guide pos="3168"/>
        <p:guide pos="311"/>
        <p:guide pos="5994"/>
        <p:guide orient="horz" pos="148"/>
        <p:guide orient="horz" pos="47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ihag Kashikar" userId="S::bihag.kashikar@intelia.com.au::62efa228-1b7e-4aec-bc2d-83000ba378b9" providerId="AD" clId="Web-{788D5672-37BB-4705-97AD-8ABE9702A0C1}"/>
    <pc:docChg chg="modSld">
      <pc:chgData name="Bihag Kashikar" userId="S::bihag.kashikar@intelia.com.au::62efa228-1b7e-4aec-bc2d-83000ba378b9" providerId="AD" clId="Web-{788D5672-37BB-4705-97AD-8ABE9702A0C1}" dt="2025-05-29T04:33:39.428" v="187" actId="20577"/>
      <pc:docMkLst>
        <pc:docMk/>
      </pc:docMkLst>
      <pc:sldChg chg="modSp">
        <pc:chgData name="Bihag Kashikar" userId="S::bihag.kashikar@intelia.com.au::62efa228-1b7e-4aec-bc2d-83000ba378b9" providerId="AD" clId="Web-{788D5672-37BB-4705-97AD-8ABE9702A0C1}" dt="2025-05-29T04:33:39.428" v="187" actId="20577"/>
        <pc:sldMkLst>
          <pc:docMk/>
          <pc:sldMk cId="2009923557" sldId="270"/>
        </pc:sldMkLst>
        <pc:spChg chg="mod">
          <ac:chgData name="Bihag Kashikar" userId="S::bihag.kashikar@intelia.com.au::62efa228-1b7e-4aec-bc2d-83000ba378b9" providerId="AD" clId="Web-{788D5672-37BB-4705-97AD-8ABE9702A0C1}" dt="2025-05-29T04:33:10.458" v="185" actId="1076"/>
          <ac:spMkLst>
            <pc:docMk/>
            <pc:sldMk cId="2009923557" sldId="270"/>
            <ac:spMk id="2" creationId="{2FA774CA-3857-9308-4D38-9414B0CC2B95}"/>
          </ac:spMkLst>
        </pc:spChg>
        <pc:spChg chg="mod">
          <ac:chgData name="Bihag Kashikar" userId="S::bihag.kashikar@intelia.com.au::62efa228-1b7e-4aec-bc2d-83000ba378b9" providerId="AD" clId="Web-{788D5672-37BB-4705-97AD-8ABE9702A0C1}" dt="2025-05-29T04:33:39.428" v="187" actId="20577"/>
          <ac:spMkLst>
            <pc:docMk/>
            <pc:sldMk cId="2009923557" sldId="270"/>
            <ac:spMk id="4" creationId="{80F49B2F-21D4-F9EB-049F-717A10CB7D84}"/>
          </ac:spMkLst>
        </pc:spChg>
        <pc:spChg chg="mod">
          <ac:chgData name="Bihag Kashikar" userId="S::bihag.kashikar@intelia.com.au::62efa228-1b7e-4aec-bc2d-83000ba378b9" providerId="AD" clId="Web-{788D5672-37BB-4705-97AD-8ABE9702A0C1}" dt="2025-05-29T04:30:15.242" v="80" actId="20577"/>
          <ac:spMkLst>
            <pc:docMk/>
            <pc:sldMk cId="2009923557" sldId="270"/>
            <ac:spMk id="6" creationId="{701E125D-B356-8A2A-B86B-AB6567CEABE1}"/>
          </ac:spMkLst>
        </pc:spChg>
        <pc:spChg chg="mod">
          <ac:chgData name="Bihag Kashikar" userId="S::bihag.kashikar@intelia.com.au::62efa228-1b7e-4aec-bc2d-83000ba378b9" providerId="AD" clId="Web-{788D5672-37BB-4705-97AD-8ABE9702A0C1}" dt="2025-05-29T04:32:16.423" v="178" actId="20577"/>
          <ac:spMkLst>
            <pc:docMk/>
            <pc:sldMk cId="2009923557" sldId="270"/>
            <ac:spMk id="12" creationId="{70DE989F-A988-8C86-5720-1FE5B119EB30}"/>
          </ac:spMkLst>
        </pc:spChg>
        <pc:spChg chg="mod">
          <ac:chgData name="Bihag Kashikar" userId="S::bihag.kashikar@intelia.com.au::62efa228-1b7e-4aec-bc2d-83000ba378b9" providerId="AD" clId="Web-{788D5672-37BB-4705-97AD-8ABE9702A0C1}" dt="2025-05-29T04:28:04.796" v="11" actId="20577"/>
          <ac:spMkLst>
            <pc:docMk/>
            <pc:sldMk cId="2009923557" sldId="270"/>
            <ac:spMk id="17" creationId="{1BDE5051-9F34-F139-742D-4450E5D6591E}"/>
          </ac:spMkLst>
        </pc:spChg>
        <pc:spChg chg="mod">
          <ac:chgData name="Bihag Kashikar" userId="S::bihag.kashikar@intelia.com.au::62efa228-1b7e-4aec-bc2d-83000ba378b9" providerId="AD" clId="Web-{788D5672-37BB-4705-97AD-8ABE9702A0C1}" dt="2025-05-29T04:29:49.053" v="59" actId="20577"/>
          <ac:spMkLst>
            <pc:docMk/>
            <pc:sldMk cId="2009923557" sldId="270"/>
            <ac:spMk id="26" creationId="{1A3D666D-00C8-D106-73C3-9FF300F8618C}"/>
          </ac:spMkLst>
        </pc:spChg>
        <pc:spChg chg="mod">
          <ac:chgData name="Bihag Kashikar" userId="S::bihag.kashikar@intelia.com.au::62efa228-1b7e-4aec-bc2d-83000ba378b9" providerId="AD" clId="Web-{788D5672-37BB-4705-97AD-8ABE9702A0C1}" dt="2025-05-29T04:32:27.611" v="180" actId="1076"/>
          <ac:spMkLst>
            <pc:docMk/>
            <pc:sldMk cId="2009923557" sldId="270"/>
            <ac:spMk id="31" creationId="{5D644C1D-FE62-9752-27C7-42A94F729A86}"/>
          </ac:spMkLst>
        </pc:spChg>
        <pc:spChg chg="mod">
          <ac:chgData name="Bihag Kashikar" userId="S::bihag.kashikar@intelia.com.au::62efa228-1b7e-4aec-bc2d-83000ba378b9" providerId="AD" clId="Web-{788D5672-37BB-4705-97AD-8ABE9702A0C1}" dt="2025-05-29T04:32:32.596" v="181" actId="1076"/>
          <ac:spMkLst>
            <pc:docMk/>
            <pc:sldMk cId="2009923557" sldId="270"/>
            <ac:spMk id="54" creationId="{4F1DF6EC-2D10-1310-483C-35027A70DDA1}"/>
          </ac:spMkLst>
        </pc:spChg>
        <pc:grpChg chg="mod">
          <ac:chgData name="Bihag Kashikar" userId="S::bihag.kashikar@intelia.com.au::62efa228-1b7e-4aec-bc2d-83000ba378b9" providerId="AD" clId="Web-{788D5672-37BB-4705-97AD-8ABE9702A0C1}" dt="2025-05-29T04:32:39.112" v="182" actId="1076"/>
          <ac:grpSpMkLst>
            <pc:docMk/>
            <pc:sldMk cId="2009923557" sldId="270"/>
            <ac:grpSpMk id="10" creationId="{A6927CF3-C0AD-7B0E-CC21-BDD13E4FAF2F}"/>
          </ac:grpSpMkLst>
        </pc:grpChg>
        <pc:cxnChg chg="mod">
          <ac:chgData name="Bihag Kashikar" userId="S::bihag.kashikar@intelia.com.au::62efa228-1b7e-4aec-bc2d-83000ba378b9" providerId="AD" clId="Web-{788D5672-37BB-4705-97AD-8ABE9702A0C1}" dt="2025-05-29T04:33:06.332" v="184" actId="1076"/>
          <ac:cxnSpMkLst>
            <pc:docMk/>
            <pc:sldMk cId="2009923557" sldId="270"/>
            <ac:cxnSpMk id="15" creationId="{F87F05F2-DA4C-4F55-A5D0-1887110DF155}"/>
          </ac:cxnSpMkLst>
        </pc:cxnChg>
      </pc:sldChg>
    </pc:docChg>
  </pc:docChgLst>
  <pc:docChgLst>
    <pc:chgData name="Bihag Kashikar" userId="62efa228-1b7e-4aec-bc2d-83000ba378b9" providerId="ADAL" clId="{78DFD6D7-5EBC-4568-8A69-F5ACEA8C9533}"/>
    <pc:docChg chg="custSel modSld">
      <pc:chgData name="Bihag Kashikar" userId="62efa228-1b7e-4aec-bc2d-83000ba378b9" providerId="ADAL" clId="{78DFD6D7-5EBC-4568-8A69-F5ACEA8C9533}" dt="2025-05-29T05:00:15.566" v="235" actId="20577"/>
      <pc:docMkLst>
        <pc:docMk/>
      </pc:docMkLst>
      <pc:sldChg chg="modSp mod">
        <pc:chgData name="Bihag Kashikar" userId="62efa228-1b7e-4aec-bc2d-83000ba378b9" providerId="ADAL" clId="{78DFD6D7-5EBC-4568-8A69-F5ACEA8C9533}" dt="2025-05-29T05:00:15.566" v="235" actId="20577"/>
        <pc:sldMkLst>
          <pc:docMk/>
          <pc:sldMk cId="2009923557" sldId="270"/>
        </pc:sldMkLst>
        <pc:spChg chg="mod">
          <ac:chgData name="Bihag Kashikar" userId="62efa228-1b7e-4aec-bc2d-83000ba378b9" providerId="ADAL" clId="{78DFD6D7-5EBC-4568-8A69-F5ACEA8C9533}" dt="2025-05-29T04:59:37.351" v="208" actId="20577"/>
          <ac:spMkLst>
            <pc:docMk/>
            <pc:sldMk cId="2009923557" sldId="270"/>
            <ac:spMk id="4" creationId="{80F49B2F-21D4-F9EB-049F-717A10CB7D84}"/>
          </ac:spMkLst>
        </pc:spChg>
        <pc:spChg chg="mod">
          <ac:chgData name="Bihag Kashikar" userId="62efa228-1b7e-4aec-bc2d-83000ba378b9" providerId="ADAL" clId="{78DFD6D7-5EBC-4568-8A69-F5ACEA8C9533}" dt="2025-05-29T04:57:24.023" v="1" actId="20577"/>
          <ac:spMkLst>
            <pc:docMk/>
            <pc:sldMk cId="2009923557" sldId="270"/>
            <ac:spMk id="12" creationId="{70DE989F-A988-8C86-5720-1FE5B119EB30}"/>
          </ac:spMkLst>
        </pc:spChg>
        <pc:spChg chg="mod">
          <ac:chgData name="Bihag Kashikar" userId="62efa228-1b7e-4aec-bc2d-83000ba378b9" providerId="ADAL" clId="{78DFD6D7-5EBC-4568-8A69-F5ACEA8C9533}" dt="2025-05-29T05:00:15.566" v="235" actId="20577"/>
          <ac:spMkLst>
            <pc:docMk/>
            <pc:sldMk cId="2009923557" sldId="270"/>
            <ac:spMk id="22" creationId="{9D4E289E-1D52-CBDD-E381-40963429D7F1}"/>
          </ac:spMkLst>
        </pc:spChg>
        <pc:spChg chg="mod">
          <ac:chgData name="Bihag Kashikar" userId="62efa228-1b7e-4aec-bc2d-83000ba378b9" providerId="ADAL" clId="{78DFD6D7-5EBC-4568-8A69-F5ACEA8C9533}" dt="2025-05-29T04:57:58.964" v="3" actId="1076"/>
          <ac:spMkLst>
            <pc:docMk/>
            <pc:sldMk cId="2009923557" sldId="270"/>
            <ac:spMk id="55" creationId="{20D856C0-6C6C-30D2-8947-79D3F4B5FE07}"/>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p>
        </p:txBody>
      </p:sp>
      <p:sp>
        <p:nvSpPr>
          <p:cNvPr id="4" name="Date Placeholder 3"/>
          <p:cNvSpPr>
            <a:spLocks noGrp="1"/>
          </p:cNvSpPr>
          <p:nvPr>
            <p:ph type="dt" sz="half" idx="10"/>
          </p:nvPr>
        </p:nvSpPr>
        <p:spPr/>
        <p:txBody>
          <a:bodyPr/>
          <a:lstStyle/>
          <a:p>
            <a:fld id="{449057BF-143F-654A-BE61-7BF52D905453}" type="datetimeFigureOut">
              <a:rPr lang="en-US" smtClean="0"/>
              <a:t>5/29/2025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5/29/2025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5/29/2025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49057BF-143F-654A-BE61-7BF52D905453}" type="datetimeFigureOut">
              <a:rPr lang="en-US" smtClean="0"/>
              <a:t>5/29/2025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49057BF-143F-654A-BE61-7BF52D905453}" type="datetimeFigureOut">
              <a:rPr lang="en-US" smtClean="0"/>
              <a:t>5/29/2025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49057BF-143F-654A-BE61-7BF52D905453}" type="datetimeFigureOut">
              <a:rPr lang="en-US" smtClean="0"/>
              <a:t>5/29/2025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5/29/2025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5/29/2025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5/29/2025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5/29/2025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5/29/2025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5/29/2025</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2"/>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225629" y="120831"/>
            <a:ext cx="2168863" cy="861774"/>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Bihag Kashikar</a:t>
            </a:r>
          </a:p>
        </p:txBody>
      </p:sp>
      <p:sp>
        <p:nvSpPr>
          <p:cNvPr id="17" name="TextBox 16">
            <a:extLst>
              <a:ext uri="{FF2B5EF4-FFF2-40B4-BE49-F238E27FC236}">
                <a16:creationId xmlns:a16="http://schemas.microsoft.com/office/drawing/2014/main" id="{1BDE5051-9F34-F139-742D-4450E5D6591E}"/>
              </a:ext>
            </a:extLst>
          </p:cNvPr>
          <p:cNvSpPr txBox="1"/>
          <p:nvPr/>
        </p:nvSpPr>
        <p:spPr>
          <a:xfrm>
            <a:off x="250508" y="1634583"/>
            <a:ext cx="2904483" cy="3539430"/>
          </a:xfrm>
          <a:prstGeom prst="rect">
            <a:avLst/>
          </a:prstGeom>
          <a:noFill/>
        </p:spPr>
        <p:txBody>
          <a:bodyPr wrap="square" lIns="0" tIns="0" rIns="0" bIns="0" rtlCol="0" anchor="t">
            <a:spAutoFit/>
          </a:bodyPr>
          <a:lstStyle/>
          <a:p>
            <a:r>
              <a:rPr lang="en-AU" sz="1000" spc="13" dirty="0">
                <a:latin typeface="Roboto Light"/>
                <a:ea typeface="Roboto Light"/>
                <a:cs typeface="Lato"/>
              </a:rPr>
              <a:t>Bihag is a Google Cloud Certified Professional Data Engineer and Cloud Architect with over 18 years of experience in delivering hybrid cloud solutions in the data space. He is very highly skilled in Cloud Data Platforms, Master Data Management, and Data migration using multiple cloud providers including; Google Cloud, AWS Cloud, </a:t>
            </a:r>
            <a:r>
              <a:rPr lang="en-AU" sz="1000" spc="13" dirty="0" err="1">
                <a:latin typeface="Roboto Light"/>
                <a:ea typeface="Roboto Light"/>
                <a:cs typeface="Lato"/>
              </a:rPr>
              <a:t>HashiCorp</a:t>
            </a:r>
            <a:r>
              <a:rPr lang="en-AU" sz="1000" spc="13" dirty="0">
                <a:latin typeface="Roboto Light"/>
                <a:ea typeface="Roboto Light"/>
                <a:cs typeface="Lato"/>
              </a:rPr>
              <a:t> and Confluent Cloud. Bihag has experience working in one of the Big 4 Banks and other large-scale organisations across Financial Services, Insurance and Government domains.</a:t>
            </a:r>
          </a:p>
          <a:p>
            <a:pPr algn="l"/>
            <a:endParaRPr lang="en-AU" sz="1000" spc="13" dirty="0">
              <a:latin typeface="Roboto Light"/>
              <a:ea typeface="Roboto Light"/>
              <a:cs typeface="Lato"/>
            </a:endParaRPr>
          </a:p>
          <a:p>
            <a:pPr algn="l"/>
            <a:r>
              <a:rPr lang="en-AU" sz="1000" spc="13" dirty="0">
                <a:latin typeface="Roboto Light"/>
                <a:ea typeface="Roboto Light"/>
                <a:cs typeface="Lato"/>
              </a:rPr>
              <a:t>Bihag is also highly experienced in large-scale data migration across technologies, on-premises to Cloud and has experience coding in Python, </a:t>
            </a:r>
            <a:r>
              <a:rPr lang="en-AU" sz="1000" spc="13" dirty="0" err="1">
                <a:latin typeface="Roboto Light"/>
                <a:ea typeface="Roboto Light"/>
                <a:cs typeface="Lato"/>
              </a:rPr>
              <a:t>Pyspark</a:t>
            </a:r>
            <a:r>
              <a:rPr lang="en-AU" sz="1000" spc="13" dirty="0">
                <a:latin typeface="Roboto Light"/>
                <a:ea typeface="Roboto Light"/>
                <a:cs typeface="Lato"/>
              </a:rPr>
              <a:t>, Big data and Hadoop. With sound interpersonal, written and verbal communication skills, Bihag has the ability to work under stressful situations to meet strict deadlines. He is well suited within a team environment with great problem-solving abilities, identifying problem areas and developing a solution to delight the customer. </a:t>
            </a:r>
          </a:p>
          <a:p>
            <a:pPr algn="l"/>
            <a:endParaRPr lang="en-AU" sz="1000" spc="13" dirty="0">
              <a:latin typeface="Roboto Light"/>
              <a:ea typeface="Roboto Light"/>
              <a:cs typeface="Lato"/>
            </a:endParaRPr>
          </a:p>
        </p:txBody>
      </p:sp>
      <p:sp>
        <p:nvSpPr>
          <p:cNvPr id="20" name="TextBox 19">
            <a:extLst>
              <a:ext uri="{FF2B5EF4-FFF2-40B4-BE49-F238E27FC236}">
                <a16:creationId xmlns:a16="http://schemas.microsoft.com/office/drawing/2014/main" id="{716A87E2-F657-C1C6-3715-B7C8A7F1E050}"/>
              </a:ext>
            </a:extLst>
          </p:cNvPr>
          <p:cNvSpPr txBox="1"/>
          <p:nvPr/>
        </p:nvSpPr>
        <p:spPr>
          <a:xfrm>
            <a:off x="152027" y="1239722"/>
            <a:ext cx="5029200" cy="310341"/>
          </a:xfrm>
          <a:prstGeom prst="rect">
            <a:avLst/>
          </a:prstGeom>
          <a:noFill/>
        </p:spPr>
        <p:txBody>
          <a:bodyPr wrap="square">
            <a:spAutoFit/>
          </a:bodyPr>
          <a:lstStyle/>
          <a:p>
            <a:pPr>
              <a:lnSpc>
                <a:spcPts val="1812"/>
              </a:lnSpc>
            </a:pPr>
            <a:r>
              <a:rPr lang="en-US" sz="1400" b="1" spc="13">
                <a:solidFill>
                  <a:srgbClr val="00AB80"/>
                </a:solidFill>
                <a:latin typeface="Roboto Light" panose="02000000000000000000" pitchFamily="2" charset="0"/>
                <a:ea typeface="Roboto Light" panose="02000000000000000000" pitchFamily="2" charset="0"/>
                <a:cs typeface="Lato" panose="020F0502020204030203" pitchFamily="34" charset="0"/>
              </a:rPr>
              <a:t>Profile</a:t>
            </a:r>
            <a:endParaRPr lang="en-US" sz="400" b="1" spc="13">
              <a:solidFill>
                <a:srgbClr val="00AB80"/>
              </a:solidFill>
              <a:latin typeface="Roboto Light" panose="02000000000000000000" pitchFamily="2" charset="0"/>
              <a:ea typeface="Roboto Light" panose="02000000000000000000" pitchFamily="2" charset="0"/>
              <a:cs typeface="Lato" panose="020F0502020204030203" pitchFamily="34" charset="0"/>
            </a:endParaRPr>
          </a:p>
        </p:txBody>
      </p:sp>
      <p:sp>
        <p:nvSpPr>
          <p:cNvPr id="22" name="TextBox 21">
            <a:extLst>
              <a:ext uri="{FF2B5EF4-FFF2-40B4-BE49-F238E27FC236}">
                <a16:creationId xmlns:a16="http://schemas.microsoft.com/office/drawing/2014/main" id="{9D4E289E-1D52-CBDD-E381-40963429D7F1}"/>
              </a:ext>
            </a:extLst>
          </p:cNvPr>
          <p:cNvSpPr txBox="1"/>
          <p:nvPr/>
        </p:nvSpPr>
        <p:spPr>
          <a:xfrm>
            <a:off x="250509" y="959224"/>
            <a:ext cx="2489720" cy="218008"/>
          </a:xfrm>
          <a:prstGeom prst="rect">
            <a:avLst/>
          </a:prstGeom>
          <a:noFill/>
        </p:spPr>
        <p:txBody>
          <a:bodyPr wrap="square" lIns="0" tIns="0" rIns="0" bIns="0" rtlCol="0" anchor="t">
            <a:spAutoFit/>
          </a:bodyPr>
          <a:lstStyle/>
          <a:p>
            <a:pPr>
              <a:lnSpc>
                <a:spcPts val="1812"/>
              </a:lnSpc>
            </a:pPr>
            <a:r>
              <a:rPr lang="en-US" sz="1400" spc="13">
                <a:solidFill>
                  <a:schemeClr val="bg1">
                    <a:lumMod val="50000"/>
                  </a:schemeClr>
                </a:solidFill>
                <a:latin typeface="Roboto Light" panose="02000000000000000000" pitchFamily="2" charset="0"/>
                <a:ea typeface="Roboto Light" panose="02000000000000000000" pitchFamily="2" charset="0"/>
                <a:cs typeface="Lato" panose="020F0502020204030203" pitchFamily="34" charset="0"/>
              </a:rPr>
              <a:t>Principal Engineer</a:t>
            </a:r>
            <a:endParaRPr lang="en-US" sz="1400" spc="13" dirty="0">
              <a:solidFill>
                <a:schemeClr val="bg1">
                  <a:lumMod val="50000"/>
                </a:schemeClr>
              </a:solidFill>
              <a:latin typeface="Roboto Light" panose="02000000000000000000" pitchFamily="2" charset="0"/>
              <a:ea typeface="Roboto Light" panose="02000000000000000000" pitchFamily="2" charset="0"/>
              <a:cs typeface="Lato" panose="020F0502020204030203" pitchFamily="34" charset="0"/>
            </a:endParaRPr>
          </a:p>
        </p:txBody>
      </p:sp>
      <p:sp>
        <p:nvSpPr>
          <p:cNvPr id="23" name="Rectangle 22">
            <a:extLst>
              <a:ext uri="{FF2B5EF4-FFF2-40B4-BE49-F238E27FC236}">
                <a16:creationId xmlns:a16="http://schemas.microsoft.com/office/drawing/2014/main" id="{5D7A612B-9DC7-1D9B-3085-CDB0F937FDB8}"/>
              </a:ext>
            </a:extLst>
          </p:cNvPr>
          <p:cNvSpPr/>
          <p:nvPr/>
        </p:nvSpPr>
        <p:spPr>
          <a:xfrm>
            <a:off x="132977" y="5343166"/>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716674" y="5693950"/>
            <a:ext cx="1510046" cy="2031325"/>
          </a:xfrm>
          <a:prstGeom prst="rect">
            <a:avLst/>
          </a:prstGeom>
          <a:noFill/>
        </p:spPr>
        <p:txBody>
          <a:bodyPr wrap="square" lIns="91440" tIns="45720" rIns="91440" bIns="45720" numCol="1" rtlCol="0" anchor="t">
            <a:spAutoFit/>
          </a:bodyPr>
          <a:lstStyle/>
          <a:p>
            <a:pPr marL="171450" indent="-171450">
              <a:buClr>
                <a:srgbClr val="00AB80"/>
              </a:buClr>
              <a:buFont typeface="Arial" panose="020B0604020202020204" pitchFamily="34" charset="0"/>
              <a:buChar char="•"/>
            </a:pPr>
            <a:r>
              <a:rPr lang="en-US" sz="900" dirty="0">
                <a:latin typeface="Roboto Light"/>
                <a:ea typeface="Roboto Light"/>
                <a:cs typeface="Roboto Light"/>
              </a:rPr>
              <a:t>All Google Cloud services</a:t>
            </a:r>
            <a:endParaRPr lang="en-US" dirty="0"/>
          </a:p>
          <a:p>
            <a:pPr marL="171450" indent="-171450">
              <a:buClr>
                <a:srgbClr val="00AB80"/>
              </a:buClr>
              <a:buFont typeface="Arial" panose="020B0604020202020204" pitchFamily="34" charset="0"/>
              <a:buChar char="•"/>
            </a:pPr>
            <a:r>
              <a:rPr lang="en-US" sz="900" dirty="0">
                <a:latin typeface="Roboto Light"/>
                <a:ea typeface="Roboto Light"/>
                <a:cs typeface="Roboto Light"/>
              </a:rPr>
              <a:t>Terraform</a:t>
            </a:r>
          </a:p>
          <a:p>
            <a:pPr marL="171450" indent="-171450">
              <a:buClr>
                <a:srgbClr val="00AB80"/>
              </a:buClr>
              <a:buFont typeface="Arial" panose="020B0604020202020204" pitchFamily="34" charset="0"/>
              <a:buChar char="•"/>
            </a:pPr>
            <a:r>
              <a:rPr lang="en-US" sz="900" dirty="0">
                <a:latin typeface="Roboto Light"/>
                <a:ea typeface="Roboto Light"/>
                <a:cs typeface="Roboto Light"/>
              </a:rPr>
              <a:t>DevOps ( GitHub Actions, Terraform, Cloud Build)</a:t>
            </a:r>
            <a:endParaRPr lang="en-US" dirty="0"/>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Informatica</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Snowflake</a:t>
            </a:r>
          </a:p>
          <a:p>
            <a:pPr marL="171450" indent="-171450">
              <a:buClr>
                <a:srgbClr val="00AB80"/>
              </a:buClr>
              <a:buFont typeface="Arial" panose="020B0604020202020204" pitchFamily="34" charset="0"/>
              <a:buChar char="•"/>
            </a:pPr>
            <a:r>
              <a:rPr lang="en-US" sz="900" dirty="0">
                <a:latin typeface="Roboto Light"/>
                <a:ea typeface="Roboto Light"/>
                <a:cs typeface="Roboto Light"/>
              </a:rPr>
              <a:t>Linx/Unix Scripting </a:t>
            </a:r>
          </a:p>
          <a:p>
            <a:pPr marL="171450" indent="-171450">
              <a:buClr>
                <a:srgbClr val="00AB80"/>
              </a:buClr>
              <a:buFont typeface="Arial" panose="020B0604020202020204" pitchFamily="34" charset="0"/>
              <a:buChar char="•"/>
            </a:pPr>
            <a:r>
              <a:rPr lang="en-US" sz="900" dirty="0">
                <a:latin typeface="Roboto Light"/>
                <a:ea typeface="Roboto Light"/>
                <a:cs typeface="Roboto Light"/>
              </a:rPr>
              <a:t>Python</a:t>
            </a:r>
            <a:endParaRPr lang="en-US" dirty="0"/>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a:buClr>
                <a:srgbClr val="00AB80"/>
              </a:buCl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6416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a:off x="3428143" y="1319232"/>
            <a:ext cx="0" cy="1747818"/>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3"/>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192705" y="3048197"/>
            <a:ext cx="1648720" cy="215444"/>
          </a:xfrm>
          <a:prstGeom prst="rect">
            <a:avLst/>
          </a:prstGeom>
          <a:noFill/>
        </p:spPr>
        <p:txBody>
          <a:bodyPr wrap="none" lIns="0" tIns="0" rIns="0" bIns="0" rtlCol="0">
            <a:spAutoFit/>
          </a:bodyPr>
          <a:lstStyle/>
          <a:p>
            <a:pPr algn="ctr"/>
            <a:r>
              <a:rPr lang="en-US" sz="1400" b="1" spc="388" dirty="0">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957777"/>
            <a:ext cx="0" cy="6195498"/>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880726"/>
            <a:ext cx="1392048" cy="430887"/>
          </a:xfrm>
          <a:prstGeom prst="rect">
            <a:avLst/>
          </a:prstGeom>
          <a:noFill/>
        </p:spPr>
        <p:txBody>
          <a:bodyPr wrap="none" lIns="0" tIns="0" rIns="0" bIns="0" rtlCol="0">
            <a:spAutoFit/>
          </a:bodyPr>
          <a:lstStyle/>
          <a:p>
            <a:r>
              <a:rPr lang="en-US" sz="1400" b="1" spc="388">
                <a:solidFill>
                  <a:schemeClr val="bg1"/>
                </a:solidFill>
                <a:latin typeface="Roboto" panose="02000000000000000000" pitchFamily="2" charset="0"/>
                <a:ea typeface="Roboto" panose="02000000000000000000" pitchFamily="2" charset="0"/>
              </a:rPr>
              <a:t>Industry</a:t>
            </a:r>
          </a:p>
          <a:p>
            <a:r>
              <a:rPr lang="en-US" sz="1400" b="1" spc="388">
                <a:solidFill>
                  <a:schemeClr val="bg1"/>
                </a:solidFill>
                <a:latin typeface="Roboto" panose="02000000000000000000" pitchFamily="2" charset="0"/>
                <a:ea typeface="Roboto" panose="02000000000000000000" pitchFamily="2" charset="0"/>
              </a:rPr>
              <a:t>Experience</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453698"/>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06458" y="3263641"/>
            <a:ext cx="1951941" cy="3970318"/>
            <a:chOff x="8106458" y="2681447"/>
            <a:chExt cx="1951941" cy="3970318"/>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106458" y="2681447"/>
              <a:ext cx="1951941" cy="3970318"/>
            </a:xfrm>
            <a:prstGeom prst="rect">
              <a:avLst/>
            </a:prstGeom>
            <a:noFill/>
          </p:spPr>
          <p:txBody>
            <a:bodyPr wrap="square">
              <a:spAutoFit/>
            </a:bodyPr>
            <a:lstStyle/>
            <a:p>
              <a:pPr>
                <a:tabLst>
                  <a:tab pos="3819525" algn="l"/>
                  <a:tab pos="3895725" algn="l"/>
                </a:tabLst>
              </a:pPr>
              <a:endParaRPr lang="en-AU" sz="1200" dirty="0">
                <a:solidFill>
                  <a:srgbClr val="00AB80"/>
                </a:solidFill>
                <a:effectLst/>
                <a:latin typeface="Times New Roman" panose="02020603050405020304" pitchFamily="18"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Google Cloud Certified | Professional Data Engineer</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Google Cloud Certified | Professional Cloud Architect</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Amazon Webservices</a:t>
              </a:r>
              <a:r>
                <a:rPr lang="en-GB" sz="1200" dirty="0">
                  <a:solidFill>
                    <a:srgbClr val="00AB80"/>
                  </a:solidFill>
                  <a:effectLst/>
                  <a:latin typeface="Roboto Light" panose="02000000000000000000" pitchFamily="2" charset="0"/>
                  <a:ea typeface="Calibri" panose="020F0502020204030204" pitchFamily="34" charset="0"/>
                </a:rPr>
                <a:t> Certified | </a:t>
              </a:r>
              <a:r>
                <a:rPr lang="en-GB" sz="1200" dirty="0">
                  <a:solidFill>
                    <a:srgbClr val="00AB80"/>
                  </a:solidFill>
                  <a:latin typeface="Roboto Light" panose="02000000000000000000" pitchFamily="2" charset="0"/>
                  <a:ea typeface="Calibri" panose="020F0502020204030204" pitchFamily="34" charset="0"/>
                </a:rPr>
                <a:t>Solution Architect</a:t>
              </a:r>
            </a:p>
            <a:p>
              <a:pPr>
                <a:tabLst>
                  <a:tab pos="3819525" algn="l"/>
                  <a:tab pos="3895725" algn="l"/>
                </a:tabLst>
              </a:pPr>
              <a:endParaRPr lang="en-GB" sz="1200" dirty="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Snowflake | </a:t>
              </a:r>
              <a:r>
                <a:rPr lang="en-GB" sz="1200" dirty="0" err="1">
                  <a:solidFill>
                    <a:srgbClr val="00AB80"/>
                  </a:solidFill>
                  <a:latin typeface="Roboto Light" panose="02000000000000000000" pitchFamily="2" charset="0"/>
                  <a:ea typeface="Calibri" panose="020F0502020204030204" pitchFamily="34" charset="0"/>
                </a:rPr>
                <a:t>SnowPro</a:t>
              </a:r>
              <a:r>
                <a:rPr lang="en-GB" sz="1200" dirty="0">
                  <a:solidFill>
                    <a:srgbClr val="00AB80"/>
                  </a:solidFill>
                  <a:latin typeface="Roboto Light" panose="02000000000000000000" pitchFamily="2" charset="0"/>
                  <a:ea typeface="Calibri" panose="020F0502020204030204" pitchFamily="34" charset="0"/>
                </a:rPr>
                <a:t> Core Certified</a:t>
              </a:r>
              <a:endParaRPr lang="en-GB" sz="1200" dirty="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endParaRPr lang="en-GB" sz="1200" dirty="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Master’s</a:t>
              </a:r>
              <a:r>
                <a:rPr lang="en-GB" sz="1200" dirty="0">
                  <a:solidFill>
                    <a:srgbClr val="00AB80"/>
                  </a:solidFill>
                  <a:effectLst/>
                  <a:latin typeface="Roboto Light" panose="02000000000000000000" pitchFamily="2" charset="0"/>
                  <a:ea typeface="Calibri" panose="020F0502020204030204" pitchFamily="34" charset="0"/>
                </a:rPr>
                <a:t> Degree </a:t>
              </a:r>
              <a:r>
                <a:rPr lang="en-GB" sz="1200" dirty="0">
                  <a:solidFill>
                    <a:srgbClr val="00AB80"/>
                  </a:solidFill>
                  <a:latin typeface="Roboto Light" panose="02000000000000000000" pitchFamily="2" charset="0"/>
                  <a:ea typeface="Calibri" panose="020F0502020204030204" pitchFamily="34" charset="0"/>
                </a:rPr>
                <a:t>| Computer Application</a:t>
              </a:r>
              <a:endParaRPr lang="en-GB" sz="1200" dirty="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Bachelor's Degree | Computer Science</a:t>
              </a:r>
              <a:endParaRPr lang="en-GB" sz="1200" dirty="0">
                <a:solidFill>
                  <a:srgbClr val="00AB80"/>
                </a:solidFill>
                <a:latin typeface="Roboto Light" panose="02000000000000000000" pitchFamily="2" charset="0"/>
                <a:ea typeface="Calibri" panose="020F0502020204030204" pitchFamily="34" charset="0"/>
              </a:endParaRPr>
            </a:p>
          </p:txBody>
        </p:sp>
      </p:grpSp>
      <p:sp>
        <p:nvSpPr>
          <p:cNvPr id="4" name="TextBox 3">
            <a:extLst>
              <a:ext uri="{FF2B5EF4-FFF2-40B4-BE49-F238E27FC236}">
                <a16:creationId xmlns:a16="http://schemas.microsoft.com/office/drawing/2014/main" id="{80F49B2F-21D4-F9EB-049F-717A10CB7D84}"/>
              </a:ext>
            </a:extLst>
          </p:cNvPr>
          <p:cNvSpPr txBox="1"/>
          <p:nvPr/>
        </p:nvSpPr>
        <p:spPr>
          <a:xfrm>
            <a:off x="127339" y="5698493"/>
            <a:ext cx="1557991" cy="2031325"/>
          </a:xfrm>
          <a:prstGeom prst="rect">
            <a:avLst/>
          </a:prstGeom>
          <a:noFill/>
        </p:spPr>
        <p:txBody>
          <a:bodyPr wrap="square" lIns="91440" tIns="45720" rIns="91440" bIns="45720" numCol="1" rtlCol="0" anchor="t">
            <a:spAutoFit/>
          </a:bodyPr>
          <a:lstStyle/>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Google Cloud Platform</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AWS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Confluent Cloud.</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Migration.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visualizations.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Warehousing.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Enterprise Data governance ( Collibra, GCP).</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Enterprise Data, Infrastructure and Security architecture and governance.</a:t>
            </a: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386173"/>
            <a:ext cx="2552013" cy="307777"/>
          </a:xfrm>
          <a:prstGeom prst="rect">
            <a:avLst/>
          </a:prstGeom>
          <a:noFill/>
        </p:spPr>
        <p:txBody>
          <a:bodyPr wrap="square" rtlCol="0">
            <a:spAutoFit/>
          </a:bodyPr>
          <a:lstStyle/>
          <a:p>
            <a:pPr algn="ctr"/>
            <a:r>
              <a:rPr lang="en-AU" sz="1400">
                <a:solidFill>
                  <a:srgbClr val="00AB80"/>
                </a:solidFill>
                <a:latin typeface="Roboto" panose="02000000000000000000" pitchFamily="2" charset="0"/>
                <a:ea typeface="Roboto" panose="02000000000000000000" pitchFamily="2" charset="0"/>
              </a:rPr>
              <a:t>Key Skills &amp; Technologies</a:t>
            </a:r>
          </a:p>
        </p:txBody>
      </p:sp>
      <p:sp>
        <p:nvSpPr>
          <p:cNvPr id="6" name="TextBox 5">
            <a:extLst>
              <a:ext uri="{FF2B5EF4-FFF2-40B4-BE49-F238E27FC236}">
                <a16:creationId xmlns:a16="http://schemas.microsoft.com/office/drawing/2014/main" id="{701E125D-B356-8A2A-B86B-AB6567CEABE1}"/>
              </a:ext>
            </a:extLst>
          </p:cNvPr>
          <p:cNvSpPr txBox="1"/>
          <p:nvPr/>
        </p:nvSpPr>
        <p:spPr>
          <a:xfrm>
            <a:off x="3321267" y="1026883"/>
            <a:ext cx="4631164" cy="461665"/>
          </a:xfrm>
          <a:prstGeom prst="rect">
            <a:avLst/>
          </a:prstGeom>
          <a:noFill/>
        </p:spPr>
        <p:txBody>
          <a:bodyPr wrap="square" lIns="91440" tIns="45720" rIns="91440" bIns="45720" rtlCol="0" anchor="t">
            <a:spAutoFit/>
          </a:bodyPr>
          <a:lstStyle/>
          <a:p>
            <a:r>
              <a:rPr lang="en-AU" sz="1200" b="1" dirty="0">
                <a:solidFill>
                  <a:srgbClr val="0059FF"/>
                </a:solidFill>
                <a:latin typeface="Roboto"/>
                <a:ea typeface="Roboto"/>
                <a:cs typeface="Roboto"/>
              </a:rPr>
              <a:t>Financial Services Organisation – Principal Engineer, Data.</a:t>
            </a:r>
          </a:p>
          <a:p>
            <a:endParaRPr lang="en-AU" sz="1200" b="1" dirty="0">
              <a:solidFill>
                <a:srgbClr val="0059FF"/>
              </a:solidFill>
              <a:latin typeface="Roboto" panose="02000000000000000000" pitchFamily="2" charset="0"/>
              <a:ea typeface="Roboto" panose="02000000000000000000" pitchFamily="2" charset="0"/>
            </a:endParaRPr>
          </a:p>
        </p:txBody>
      </p:sp>
      <p:sp>
        <p:nvSpPr>
          <p:cNvPr id="12" name="TextBox 11">
            <a:extLst>
              <a:ext uri="{FF2B5EF4-FFF2-40B4-BE49-F238E27FC236}">
                <a16:creationId xmlns:a16="http://schemas.microsoft.com/office/drawing/2014/main" id="{70DE989F-A988-8C86-5720-1FE5B119EB30}"/>
              </a:ext>
            </a:extLst>
          </p:cNvPr>
          <p:cNvSpPr txBox="1"/>
          <p:nvPr/>
        </p:nvSpPr>
        <p:spPr>
          <a:xfrm>
            <a:off x="3463961" y="1232965"/>
            <a:ext cx="4533549" cy="2277547"/>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buNone/>
            </a:pPr>
            <a:endParaRPr lang="en-US" sz="200" dirty="0">
              <a:solidFill>
                <a:schemeClr val="bg1"/>
              </a:solidFill>
            </a:endParaRPr>
          </a:p>
          <a:p>
            <a:r>
              <a:rPr lang="en-AU" sz="1000" dirty="0">
                <a:solidFill>
                  <a:schemeClr val="bg1"/>
                </a:solidFill>
                <a:latin typeface="Roboto Light"/>
                <a:ea typeface="Roboto Light"/>
                <a:cs typeface="Roboto Light"/>
              </a:rPr>
              <a:t>Part of team responsible for building Unified Data platform(UDP) hosted on Google Cloud.</a:t>
            </a:r>
          </a:p>
          <a:p>
            <a:r>
              <a:rPr lang="en-AU" sz="1000" dirty="0">
                <a:solidFill>
                  <a:schemeClr val="bg1"/>
                </a:solidFill>
                <a:latin typeface="Roboto Light"/>
                <a:ea typeface="Roboto Light"/>
                <a:cs typeface="Roboto Light"/>
              </a:rPr>
              <a:t>Worked as Data and platform architect, owning engineering process by providing technical leadership and people management skills to build, plan and guide the data engineers across various micro UDP teams</a:t>
            </a:r>
            <a:endParaRPr lang="en-AU" dirty="0">
              <a:solidFill>
                <a:schemeClr val="bg1"/>
              </a:solidFill>
            </a:endParaRPr>
          </a:p>
          <a:p>
            <a:r>
              <a:rPr lang="en-AU" sz="1000" dirty="0">
                <a:solidFill>
                  <a:schemeClr val="bg1"/>
                </a:solidFill>
                <a:latin typeface="Roboto Light"/>
                <a:ea typeface="Roboto Light"/>
                <a:cs typeface="Roboto Light"/>
              </a:rPr>
              <a:t>Writing data platform technical design in way that it gives clear direction to developers/data engineers to build, test their data pipelines</a:t>
            </a:r>
          </a:p>
          <a:p>
            <a:r>
              <a:rPr lang="en-AU" sz="1000" dirty="0">
                <a:solidFill>
                  <a:schemeClr val="bg1"/>
                </a:solidFill>
              </a:rPr>
              <a:t>Working with platform engineers, security and architects across the enterprise seeking endorsements, unblock issues impacting the delivery</a:t>
            </a:r>
          </a:p>
          <a:p>
            <a:r>
              <a:rPr lang="en-AU" sz="1000" dirty="0">
                <a:solidFill>
                  <a:schemeClr val="bg1"/>
                </a:solidFill>
              </a:rPr>
              <a:t>Worked closely with UDP delivery managers, product managers to plan out future build and release use cases.</a:t>
            </a:r>
          </a:p>
          <a:p>
            <a:r>
              <a:rPr lang="en-AU" sz="1000" dirty="0">
                <a:solidFill>
                  <a:schemeClr val="bg1"/>
                </a:solidFill>
              </a:rPr>
              <a:t>Provided common best practices that guides the developers/data engineers to build/develop and deploy data pipelines leveraging Google Cloud Dataflow, Google Cloud Composer, </a:t>
            </a:r>
            <a:r>
              <a:rPr lang="en-AU" sz="1000" dirty="0" err="1">
                <a:solidFill>
                  <a:schemeClr val="bg1"/>
                </a:solidFill>
              </a:rPr>
              <a:t>BigQuery</a:t>
            </a:r>
            <a:endParaRPr lang="en-AU" sz="1000" dirty="0">
              <a:solidFill>
                <a:schemeClr val="bg1"/>
              </a:solidFill>
            </a:endParaRPr>
          </a:p>
        </p:txBody>
      </p:sp>
      <p:grpSp>
        <p:nvGrpSpPr>
          <p:cNvPr id="45" name="Group 44">
            <a:extLst>
              <a:ext uri="{FF2B5EF4-FFF2-40B4-BE49-F238E27FC236}">
                <a16:creationId xmlns:a16="http://schemas.microsoft.com/office/drawing/2014/main" id="{7C004A0F-26FD-81BE-0DC7-EDCD01D4194B}"/>
              </a:ext>
            </a:extLst>
          </p:cNvPr>
          <p:cNvGrpSpPr/>
          <p:nvPr/>
        </p:nvGrpSpPr>
        <p:grpSpPr>
          <a:xfrm>
            <a:off x="3324244" y="3435300"/>
            <a:ext cx="5029198" cy="2251358"/>
            <a:chOff x="3324244" y="3181103"/>
            <a:chExt cx="5029198" cy="2391367"/>
          </a:xfrm>
        </p:grpSpPr>
        <p:cxnSp>
          <p:nvCxnSpPr>
            <p:cNvPr id="15" name="Straight Connector 14">
              <a:extLst>
                <a:ext uri="{FF2B5EF4-FFF2-40B4-BE49-F238E27FC236}">
                  <a16:creationId xmlns:a16="http://schemas.microsoft.com/office/drawing/2014/main" id="{F87F05F2-DA4C-4F55-A5D0-1887110DF155}"/>
                </a:ext>
              </a:extLst>
            </p:cNvPr>
            <p:cNvCxnSpPr>
              <a:cxnSpLocks/>
            </p:cNvCxnSpPr>
            <p:nvPr/>
          </p:nvCxnSpPr>
          <p:spPr>
            <a:xfrm>
              <a:off x="3428144" y="3471129"/>
              <a:ext cx="0" cy="1871024"/>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2FA774CA-3857-9308-4D38-9414B0CC2B95}"/>
                </a:ext>
              </a:extLst>
            </p:cNvPr>
            <p:cNvSpPr txBox="1"/>
            <p:nvPr/>
          </p:nvSpPr>
          <p:spPr>
            <a:xfrm>
              <a:off x="3324244" y="3181103"/>
              <a:ext cx="5029198" cy="490375"/>
            </a:xfrm>
            <a:prstGeom prst="rect">
              <a:avLst/>
            </a:prstGeom>
            <a:noFill/>
          </p:spPr>
          <p:txBody>
            <a:bodyPr wrap="square" rtlCol="0">
              <a:spAutoFit/>
            </a:bodyPr>
            <a:lstStyle/>
            <a:p>
              <a:r>
                <a:rPr lang="en-AU" sz="1200" b="1" dirty="0">
                  <a:solidFill>
                    <a:srgbClr val="ED7D31"/>
                  </a:solidFill>
                  <a:latin typeface="Roboto" panose="02000000000000000000" pitchFamily="2" charset="0"/>
                  <a:ea typeface="Roboto" panose="02000000000000000000" pitchFamily="2" charset="0"/>
                </a:rPr>
                <a:t>Financial Services Organisation – Senior Data Engineer</a:t>
              </a:r>
            </a:p>
            <a:p>
              <a:endParaRPr lang="en-AU" sz="1200" b="1" dirty="0">
                <a:solidFill>
                  <a:srgbClr val="ED7D31"/>
                </a:solidFill>
                <a:latin typeface="Roboto" panose="02000000000000000000" pitchFamily="2" charset="0"/>
                <a:ea typeface="Roboto" panose="02000000000000000000" pitchFamily="2" charset="0"/>
              </a:endParaRPr>
            </a:p>
          </p:txBody>
        </p:sp>
        <p:sp>
          <p:nvSpPr>
            <p:cNvPr id="31" name="TextBox 30">
              <a:extLst>
                <a:ext uri="{FF2B5EF4-FFF2-40B4-BE49-F238E27FC236}">
                  <a16:creationId xmlns:a16="http://schemas.microsoft.com/office/drawing/2014/main" id="{5D644C1D-FE62-9752-27C7-42A94F729A86}"/>
                </a:ext>
              </a:extLst>
            </p:cNvPr>
            <p:cNvSpPr txBox="1"/>
            <p:nvPr/>
          </p:nvSpPr>
          <p:spPr>
            <a:xfrm>
              <a:off x="3455045" y="3480203"/>
              <a:ext cx="4542461" cy="2092267"/>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marL="0" indent="0">
                <a:buNone/>
              </a:pPr>
              <a:endParaRPr lang="en-US" sz="200" dirty="0"/>
            </a:p>
            <a:p>
              <a:r>
                <a:rPr lang="en-AU" sz="1000" dirty="0"/>
                <a:t>Lead a team of Data Analysts, to migrate legacy data from various sources into Google Cloud SQL for Record Keeping and into </a:t>
              </a:r>
              <a:r>
                <a:rPr lang="en-AU" sz="1000" dirty="0" err="1"/>
                <a:t>BigQuery</a:t>
              </a:r>
              <a:r>
                <a:rPr lang="en-AU" sz="1000" dirty="0"/>
                <a:t> to build an Analytics Dataset for analysis and reporting using Google Data Studio</a:t>
              </a:r>
            </a:p>
            <a:p>
              <a:r>
                <a:rPr lang="en-AU" sz="1000" dirty="0"/>
                <a:t>Deployed the solution in UAT and PROD environments, created run-sheets to document the progress of deployment and a create deployment guides</a:t>
              </a:r>
            </a:p>
            <a:p>
              <a:r>
                <a:rPr lang="en-AU" sz="1000" dirty="0"/>
                <a:t>Performed reverse engineering tasks to understand the business and functional requirements of legacy systems and create technical documentations, to understand and build the analytical dataset in </a:t>
              </a:r>
              <a:r>
                <a:rPr lang="en-AU" sz="1000" dirty="0" err="1"/>
                <a:t>BigQuery</a:t>
              </a:r>
              <a:r>
                <a:rPr lang="en-AU" sz="1000" dirty="0"/>
                <a:t>.</a:t>
              </a:r>
            </a:p>
            <a:p>
              <a:r>
                <a:rPr lang="en-AU" sz="1000" dirty="0" err="1"/>
                <a:t>Strategised</a:t>
              </a:r>
              <a:r>
                <a:rPr lang="en-AU" sz="1000" dirty="0"/>
                <a:t> and designed the data migration solution and involved in deployment of scalable solutions on GCP</a:t>
              </a:r>
            </a:p>
            <a:p>
              <a:r>
                <a:rPr lang="en-AU" sz="1000" dirty="0"/>
                <a:t>Setup GCP’s cloud identity and access management (IAM) to manage users, roles, and privileges for Dev team and Business Analysts</a:t>
              </a:r>
            </a:p>
          </p:txBody>
        </p:sp>
      </p:grpSp>
      <p:sp>
        <p:nvSpPr>
          <p:cNvPr id="48" name="TextBox 47">
            <a:extLst>
              <a:ext uri="{FF2B5EF4-FFF2-40B4-BE49-F238E27FC236}">
                <a16:creationId xmlns:a16="http://schemas.microsoft.com/office/drawing/2014/main" id="{2E936835-C132-4204-2E91-FE9D8E6EC671}"/>
              </a:ext>
            </a:extLst>
          </p:cNvPr>
          <p:cNvSpPr txBox="1"/>
          <p:nvPr/>
        </p:nvSpPr>
        <p:spPr>
          <a:xfrm>
            <a:off x="8118489" y="1456630"/>
            <a:ext cx="1951941" cy="1446550"/>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GB" sz="1200" dirty="0">
                <a:solidFill>
                  <a:srgbClr val="00AB80"/>
                </a:solidFill>
              </a:rPr>
              <a:t>Financial Services</a:t>
            </a:r>
          </a:p>
          <a:p>
            <a:pPr marL="0" indent="0">
              <a:lnSpc>
                <a:spcPct val="150000"/>
              </a:lnSpc>
              <a:buNone/>
            </a:pPr>
            <a:r>
              <a:rPr lang="en-GB" sz="1200" dirty="0">
                <a:solidFill>
                  <a:srgbClr val="00AB80"/>
                </a:solidFill>
              </a:rPr>
              <a:t>Insurance</a:t>
            </a:r>
          </a:p>
          <a:p>
            <a:pPr marL="0" indent="0">
              <a:lnSpc>
                <a:spcPct val="150000"/>
              </a:lnSpc>
              <a:buNone/>
            </a:pPr>
            <a:r>
              <a:rPr lang="en-GB" sz="1200" dirty="0">
                <a:solidFill>
                  <a:srgbClr val="00AB80"/>
                </a:solidFill>
              </a:rPr>
              <a:t>Big 4 Banks</a:t>
            </a:r>
          </a:p>
          <a:p>
            <a:pPr marL="0" indent="0">
              <a:lnSpc>
                <a:spcPct val="150000"/>
              </a:lnSpc>
              <a:buNone/>
            </a:pPr>
            <a:r>
              <a:rPr lang="en-GB" sz="1200" dirty="0">
                <a:solidFill>
                  <a:srgbClr val="00AB80"/>
                </a:solidFill>
              </a:rPr>
              <a:t>Government</a:t>
            </a:r>
          </a:p>
          <a:p>
            <a:pPr marL="0" indent="0">
              <a:lnSpc>
                <a:spcPct val="150000"/>
              </a:lnSpc>
              <a:buNone/>
            </a:pPr>
            <a:r>
              <a:rPr lang="en-GB" sz="1200" dirty="0">
                <a:solidFill>
                  <a:srgbClr val="00AB80"/>
                </a:solidFill>
              </a:rPr>
              <a:t>Education</a:t>
            </a:r>
          </a:p>
        </p:txBody>
      </p:sp>
      <p:grpSp>
        <p:nvGrpSpPr>
          <p:cNvPr id="10" name="Group 9">
            <a:extLst>
              <a:ext uri="{FF2B5EF4-FFF2-40B4-BE49-F238E27FC236}">
                <a16:creationId xmlns:a16="http://schemas.microsoft.com/office/drawing/2014/main" id="{A6927CF3-C0AD-7B0E-CC21-BDD13E4FAF2F}"/>
              </a:ext>
            </a:extLst>
          </p:cNvPr>
          <p:cNvGrpSpPr/>
          <p:nvPr/>
        </p:nvGrpSpPr>
        <p:grpSpPr>
          <a:xfrm>
            <a:off x="3343587" y="5599454"/>
            <a:ext cx="4782734" cy="2189244"/>
            <a:chOff x="3332079" y="5803070"/>
            <a:chExt cx="4782734" cy="2189244"/>
          </a:xfrm>
        </p:grpSpPr>
        <p:sp>
          <p:nvSpPr>
            <p:cNvPr id="55" name="TextBox 54">
              <a:extLst>
                <a:ext uri="{FF2B5EF4-FFF2-40B4-BE49-F238E27FC236}">
                  <a16:creationId xmlns:a16="http://schemas.microsoft.com/office/drawing/2014/main" id="{20D856C0-6C6C-30D2-8947-79D3F4B5FE07}"/>
                </a:ext>
              </a:extLst>
            </p:cNvPr>
            <p:cNvSpPr txBox="1"/>
            <p:nvPr/>
          </p:nvSpPr>
          <p:spPr>
            <a:xfrm>
              <a:off x="3332079" y="5803070"/>
              <a:ext cx="4782734" cy="461665"/>
            </a:xfrm>
            <a:prstGeom prst="rect">
              <a:avLst/>
            </a:prstGeom>
            <a:noFill/>
          </p:spPr>
          <p:txBody>
            <a:bodyPr wrap="square" rtlCol="0">
              <a:spAutoFit/>
            </a:bodyPr>
            <a:lstStyle/>
            <a:p>
              <a:r>
                <a:rPr lang="en-AU" sz="1200" b="1" dirty="0">
                  <a:solidFill>
                    <a:srgbClr val="A93584"/>
                  </a:solidFill>
                  <a:latin typeface="Roboto" panose="02000000000000000000" pitchFamily="2" charset="0"/>
                  <a:ea typeface="Roboto" panose="02000000000000000000" pitchFamily="2" charset="0"/>
                </a:rPr>
                <a:t>Government Organisation – Senior Data Engineer</a:t>
              </a:r>
            </a:p>
            <a:p>
              <a:endParaRPr lang="en-AU" sz="1200" b="1" dirty="0">
                <a:solidFill>
                  <a:srgbClr val="A93584"/>
                </a:solidFill>
                <a:latin typeface="Roboto" panose="02000000000000000000" pitchFamily="2" charset="0"/>
                <a:ea typeface="Roboto" panose="02000000000000000000" pitchFamily="2" charset="0"/>
              </a:endParaRPr>
            </a:p>
          </p:txBody>
        </p:sp>
        <p:sp>
          <p:nvSpPr>
            <p:cNvPr id="54" name="TextBox 53">
              <a:extLst>
                <a:ext uri="{FF2B5EF4-FFF2-40B4-BE49-F238E27FC236}">
                  <a16:creationId xmlns:a16="http://schemas.microsoft.com/office/drawing/2014/main" id="{4F1DF6EC-2D10-1310-483C-35027A70DDA1}"/>
                </a:ext>
              </a:extLst>
            </p:cNvPr>
            <p:cNvSpPr txBox="1"/>
            <p:nvPr/>
          </p:nvSpPr>
          <p:spPr>
            <a:xfrm>
              <a:off x="3389082" y="6053322"/>
              <a:ext cx="4527866" cy="1938992"/>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1000">
                  <a:solidFill>
                    <a:schemeClr val="bg1"/>
                  </a:solidFill>
                  <a:latin typeface="Roboto Light" panose="02000000000000000000" pitchFamily="2" charset="0"/>
                  <a:ea typeface="Roboto Light" panose="02000000000000000000" pitchFamily="2" charset="0"/>
                </a:defRPr>
              </a:lvl1pPr>
            </a:lstStyle>
            <a:p>
              <a:r>
                <a:rPr lang="en-AU" dirty="0"/>
                <a:t>Collaborated with stakeholders in formulating the architectural solution roadmap in migrating data from on-premise databases to cloud data warehouse</a:t>
              </a:r>
            </a:p>
            <a:p>
              <a:r>
                <a:rPr lang="en-AU" dirty="0"/>
                <a:t>Put together architecture documentation for data engineering and advanced analytics requirements by producing Conceptual, Solution architecture</a:t>
              </a:r>
            </a:p>
            <a:p>
              <a:r>
                <a:rPr lang="en-AU" dirty="0"/>
                <a:t>Worked with implementation partners through the elaboration, design, and build phases for operationalising key solution components like AWS EMR, AWS </a:t>
              </a:r>
              <a:r>
                <a:rPr lang="en-AU" dirty="0" err="1"/>
                <a:t>SageMake</a:t>
              </a:r>
              <a:r>
                <a:rPr lang="en-AU" dirty="0"/>
                <a:t>, AWS S3 as data lake and Snowflake</a:t>
              </a:r>
            </a:p>
            <a:p>
              <a:r>
                <a:rPr lang="en-AU" dirty="0"/>
                <a:t>Produced solution design documents in response to non-functional requirements articulating usage of solution components in all aspects of data governance and security</a:t>
              </a:r>
            </a:p>
          </p:txBody>
        </p:sp>
        <p:cxnSp>
          <p:nvCxnSpPr>
            <p:cNvPr id="56" name="Straight Connector 55">
              <a:extLst>
                <a:ext uri="{FF2B5EF4-FFF2-40B4-BE49-F238E27FC236}">
                  <a16:creationId xmlns:a16="http://schemas.microsoft.com/office/drawing/2014/main" id="{C0271841-9AD2-76A9-36A3-77AD3CD1ED17}"/>
                </a:ext>
              </a:extLst>
            </p:cNvPr>
            <p:cNvCxnSpPr>
              <a:cxnSpLocks/>
            </p:cNvCxnSpPr>
            <p:nvPr/>
          </p:nvCxnSpPr>
          <p:spPr>
            <a:xfrm>
              <a:off x="3430684" y="6077707"/>
              <a:ext cx="0" cy="1375912"/>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099235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e52cd9e7-35e5-4bd3-9cab-ca6a63c31e52">
      <UserInfo>
        <DisplayName>Joel Collins</DisplayName>
        <AccountId>13</AccountId>
        <AccountType/>
      </UserInfo>
      <UserInfo>
        <DisplayName>Darcy Roach</DisplayName>
        <AccountId>14</AccountId>
        <AccountType/>
      </UserInfo>
    </SharedWithUser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79DDFC6-124A-4859-BB62-4C7039BA48C0}">
  <ds:schemaRefs>
    <ds:schemaRef ds:uri="http://schemas.microsoft.com/office/infopath/2007/PartnerControls"/>
    <ds:schemaRef ds:uri="http://purl.org/dc/elements/1.1/"/>
    <ds:schemaRef ds:uri="http://schemas.microsoft.com/office/2006/metadata/properties"/>
    <ds:schemaRef ds:uri="http://schemas.microsoft.com/office/2006/documentManagement/types"/>
    <ds:schemaRef ds:uri="daf93972-1964-4522-aa34-640805a01c3a"/>
    <ds:schemaRef ds:uri="http://purl.org/dc/terms/"/>
    <ds:schemaRef ds:uri="http://schemas.openxmlformats.org/package/2006/metadata/core-properties"/>
    <ds:schemaRef ds:uri="http://purl.org/dc/dcmitype/"/>
    <ds:schemaRef ds:uri="e52cd9e7-35e5-4bd3-9cab-ca6a63c31e52"/>
    <ds:schemaRef ds:uri="http://www.w3.org/XML/1998/namespace"/>
  </ds:schemaRefs>
</ds:datastoreItem>
</file>

<file path=customXml/itemProps2.xml><?xml version="1.0" encoding="utf-8"?>
<ds:datastoreItem xmlns:ds="http://schemas.openxmlformats.org/officeDocument/2006/customXml" ds:itemID="{15101181-C016-4C2D-BE87-DB6D77351A2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af93972-1964-4522-aa34-640805a01c3a"/>
    <ds:schemaRef ds:uri="e52cd9e7-35e5-4bd3-9cab-ca6a63c31e5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EAAB431-6FA9-4678-BFEA-63CD1CAD6FC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3918</TotalTime>
  <Words>660</Words>
  <Application>Microsoft Office PowerPoint</Application>
  <PresentationFormat>Custom</PresentationFormat>
  <Paragraphs>66</Paragraphs>
  <Slides>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Arial</vt:lpstr>
      <vt:lpstr>Calibri</vt:lpstr>
      <vt:lpstr>Calibri Light</vt:lpstr>
      <vt:lpstr>Libre Caslon Text</vt:lpstr>
      <vt:lpstr>Roboto</vt:lpstr>
      <vt:lpstr>Roboto Light</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lastModifiedBy>Bihag Kashikar</cp:lastModifiedBy>
  <cp:revision>42</cp:revision>
  <dcterms:created xsi:type="dcterms:W3CDTF">2019-12-03T01:50:37Z</dcterms:created>
  <dcterms:modified xsi:type="dcterms:W3CDTF">2025-05-29T05:00:17Z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