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sldIdLst>
    <p:sldId id="271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94" y="66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A30CFF05-8707-43F2-9C4A-DA7F686E668B}"/>
    <pc:docChg chg="modSld">
      <pc:chgData name="Darcy Roach" userId="ba676ee9-e9b4-49e8-a515-8077106c948d" providerId="ADAL" clId="{A30CFF05-8707-43F2-9C4A-DA7F686E668B}" dt="2023-05-29T00:54:05.430" v="22" actId="20577"/>
      <pc:docMkLst>
        <pc:docMk/>
      </pc:docMkLst>
      <pc:sldChg chg="modSp mod">
        <pc:chgData name="Darcy Roach" userId="ba676ee9-e9b4-49e8-a515-8077106c948d" providerId="ADAL" clId="{A30CFF05-8707-43F2-9C4A-DA7F686E668B}" dt="2023-05-29T00:54:05.430" v="22" actId="20577"/>
        <pc:sldMkLst>
          <pc:docMk/>
          <pc:sldMk cId="3618352684" sldId="271"/>
        </pc:sldMkLst>
        <pc:spChg chg="mod">
          <ac:chgData name="Darcy Roach" userId="ba676ee9-e9b4-49e8-a515-8077106c948d" providerId="ADAL" clId="{A30CFF05-8707-43F2-9C4A-DA7F686E668B}" dt="2023-05-29T00:54:05.430" v="22" actId="20577"/>
          <ac:spMkLst>
            <pc:docMk/>
            <pc:sldMk cId="3618352684" sldId="271"/>
            <ac:spMk id="17" creationId="{1BDE5051-9F34-F139-742D-4450E5D659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5/29/2023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C1E3E96-4B11-5242-E07F-7D9FDDBB0190}"/>
              </a:ext>
            </a:extLst>
          </p:cNvPr>
          <p:cNvSpPr txBox="1"/>
          <p:nvPr/>
        </p:nvSpPr>
        <p:spPr>
          <a:xfrm>
            <a:off x="3463961" y="1312085"/>
            <a:ext cx="4457043" cy="209288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Business Systems Analyst on a major project ($200m) to develop and implement new Point of Sale (POS) solution.</a:t>
            </a:r>
          </a:p>
          <a:p>
            <a:pPr marL="0" indent="0">
              <a:buNone/>
            </a:pPr>
            <a:r>
              <a:rPr lang="en-AU" sz="1000" dirty="0">
                <a:solidFill>
                  <a:schemeClr val="bg1"/>
                </a:solidFill>
              </a:rPr>
              <a:t>Responsibilities and Benefits:</a:t>
            </a:r>
          </a:p>
          <a:p>
            <a:r>
              <a:rPr lang="en-AU" sz="1000" dirty="0">
                <a:solidFill>
                  <a:schemeClr val="bg1"/>
                </a:solidFill>
              </a:rPr>
              <a:t>AWS Cloud Infrastructure solutions (terminal config data management, sensitive data handling, APIs and integrations), POS UI App development (transactions)</a:t>
            </a:r>
          </a:p>
          <a:p>
            <a:r>
              <a:rPr lang="en-AU" sz="1000" dirty="0">
                <a:solidFill>
                  <a:schemeClr val="bg1"/>
                </a:solidFill>
              </a:rPr>
              <a:t>Acted as the conduit between business and technology</a:t>
            </a:r>
          </a:p>
          <a:p>
            <a:r>
              <a:rPr lang="en-AU" sz="1000" dirty="0">
                <a:solidFill>
                  <a:schemeClr val="bg1"/>
                </a:solidFill>
              </a:rPr>
              <a:t>Elicited requirements for complex technical features</a:t>
            </a:r>
          </a:p>
          <a:p>
            <a:r>
              <a:rPr lang="en-AU" sz="1000" dirty="0">
                <a:solidFill>
                  <a:schemeClr val="bg1"/>
                </a:solidFill>
              </a:rPr>
              <a:t>Analysed and translated requirements into user stories</a:t>
            </a:r>
          </a:p>
          <a:p>
            <a:r>
              <a:rPr lang="en-AU" sz="1000" dirty="0">
                <a:solidFill>
                  <a:schemeClr val="bg1"/>
                </a:solidFill>
              </a:rPr>
              <a:t>Lead agile ceremonies such as sprint planning, reviews, retrospectives, and daily stand-ups</a:t>
            </a:r>
          </a:p>
          <a:p>
            <a:r>
              <a:rPr lang="en-AU" sz="1000" dirty="0">
                <a:solidFill>
                  <a:schemeClr val="bg1"/>
                </a:solidFill>
              </a:rPr>
              <a:t>Benefits: </a:t>
            </a:r>
            <a:r>
              <a:rPr lang="en-US" sz="1000" dirty="0">
                <a:solidFill>
                  <a:schemeClr val="bg1"/>
                </a:solidFill>
              </a:rPr>
              <a:t>Improved customer data security, full automation of the </a:t>
            </a:r>
            <a:r>
              <a:rPr lang="en-US" sz="1000">
                <a:solidFill>
                  <a:schemeClr val="bg1"/>
                </a:solidFill>
              </a:rPr>
              <a:t>config installs on </a:t>
            </a:r>
            <a:r>
              <a:rPr lang="en-US" sz="1000" dirty="0">
                <a:solidFill>
                  <a:schemeClr val="bg1"/>
                </a:solidFill>
              </a:rPr>
              <a:t>the POS terminals (rebuild time down from 7 hours to 30 mins)</a:t>
            </a:r>
            <a:endParaRPr lang="en-AU" sz="1000" dirty="0">
              <a:solidFill>
                <a:schemeClr val="bg1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158595" y="120831"/>
            <a:ext cx="2168863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Predrag Mincic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E5051-9F34-F139-742D-4450E5D6591E}"/>
              </a:ext>
            </a:extLst>
          </p:cNvPr>
          <p:cNvSpPr txBox="1"/>
          <p:nvPr/>
        </p:nvSpPr>
        <p:spPr>
          <a:xfrm>
            <a:off x="192375" y="1589600"/>
            <a:ext cx="2944517" cy="3446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Predrag is a highly experienced data analytics professional turned data &amp; technical business analyst with extensive knowledge in data and cloud technologies.</a:t>
            </a: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Predrag has a unique blend of analytical expertise and business acumen and has a proven track record of success in leading client/stakeholder engagements, from eliciting requirements to designing and developing data analytics and cloud technology solutions that bring value and drive positive change.</a:t>
            </a:r>
          </a:p>
          <a:p>
            <a:pPr>
              <a:lnSpc>
                <a:spcPts val="1500"/>
              </a:lnSpc>
            </a:pPr>
            <a:endParaRPr lang="en-US" sz="1000" spc="13" dirty="0"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  <a:p>
            <a:pPr>
              <a:lnSpc>
                <a:spcPts val="1500"/>
              </a:lnSpc>
            </a:pP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A passionate advocate for </a:t>
            </a:r>
            <a:r>
              <a:rPr lang="en-US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democratising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and leveraging data to make better business decisions, Predrag is committed to staying current with technology trends and assisting </a:t>
            </a:r>
            <a:r>
              <a:rPr lang="en-US" sz="1000" spc="13" dirty="0" err="1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organisatons</a:t>
            </a:r>
            <a:r>
              <a:rPr lang="en-US" sz="1000" spc="13" dirty="0"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to achieving their goals.	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84993" y="1239722"/>
            <a:ext cx="3162388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Profile</a:t>
            </a:r>
            <a:endParaRPr lang="en-US" sz="400" b="1" spc="13" dirty="0">
              <a:solidFill>
                <a:srgbClr val="00AB80"/>
              </a:solidFill>
              <a:latin typeface="Roboto Light" panose="02000000000000000000" pitchFamily="2" charset="0"/>
              <a:ea typeface="Roboto Light" panose="02000000000000000000" pitchFamily="2" charset="0"/>
              <a:cs typeface="Lato" panose="020F050202020403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131139" y="959224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rPr>
              <a:t> 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642327" y="574784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GCP, AWS,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Power BI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Advanced Excel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SAS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Databricks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Tableau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Miro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Visio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Jira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1390956"/>
            <a:ext cx="0" cy="1921872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E52FDF9F-B084-9074-7DB9-539AD5456487}"/>
              </a:ext>
            </a:extLst>
          </p:cNvPr>
          <p:cNvGrpSpPr/>
          <p:nvPr/>
        </p:nvGrpSpPr>
        <p:grpSpPr>
          <a:xfrm>
            <a:off x="3428144" y="3804198"/>
            <a:ext cx="4536321" cy="1631216"/>
            <a:chOff x="5030740" y="1885572"/>
            <a:chExt cx="4845492" cy="163121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6312B81-BCF1-2796-C112-3DBE0E02F483}"/>
                </a:ext>
              </a:extLst>
            </p:cNvPr>
            <p:cNvSpPr txBox="1"/>
            <p:nvPr/>
          </p:nvSpPr>
          <p:spPr>
            <a:xfrm>
              <a:off x="5059475" y="1885572"/>
              <a:ext cx="4816757" cy="16312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/>
                <a:t>Analytics &amp; Reporting Lead (Customer Experience)</a:t>
              </a:r>
              <a:r>
                <a:rPr lang="en-AU" sz="1000" dirty="0">
                  <a:solidFill>
                    <a:schemeClr val="bg1"/>
                  </a:solidFill>
                </a:rPr>
                <a:t>:</a:t>
              </a:r>
            </a:p>
            <a:p>
              <a:pPr marL="0" indent="0">
                <a:buNone/>
              </a:pPr>
              <a:r>
                <a:rPr lang="en-AU" sz="1000" dirty="0">
                  <a:solidFill>
                    <a:schemeClr val="bg1"/>
                  </a:solidFill>
                </a:rPr>
                <a:t>Responsibilities and Benefits:</a:t>
              </a:r>
            </a:p>
            <a:p>
              <a:r>
                <a:rPr lang="en-US" sz="1000" dirty="0"/>
                <a:t>Developed a suite of automated data analytics solutions to enable customer experience product teams, senior management and C-level executives to have easy &amp; quick access to key customer experience (CE) metrics, indicators, drivers &amp; sub-drivers of CE performance</a:t>
              </a:r>
            </a:p>
            <a:p>
              <a:r>
                <a:rPr lang="en-AU" sz="1000" dirty="0"/>
                <a:t>Benefits: </a:t>
              </a:r>
              <a:r>
                <a:rPr lang="en-US" sz="1000" dirty="0"/>
                <a:t>The visibility and accessibility of the key metrics (anytime, from anywhere and from any device) resulted in driving significant improvements in customer experience (NPS) and operational performance, resulting in $millions of dollars in cost reduction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7F05F2-DA4C-4F55-A5D0-1887110DF155}"/>
                </a:ext>
              </a:extLst>
            </p:cNvPr>
            <p:cNvCxnSpPr>
              <a:cxnSpLocks/>
            </p:cNvCxnSpPr>
            <p:nvPr/>
          </p:nvCxnSpPr>
          <p:spPr>
            <a:xfrm>
              <a:off x="5030740" y="2022790"/>
              <a:ext cx="0" cy="1397132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192705" y="3030771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957776"/>
            <a:ext cx="0" cy="598371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880726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453698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06458" y="3246215"/>
            <a:ext cx="1951941" cy="3970318"/>
            <a:chOff x="8106458" y="2681447"/>
            <a:chExt cx="1951941" cy="3970318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681447"/>
              <a:ext cx="1951941" cy="3970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Google Cloud Certified –Cloud Digital Leader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AWS Certified – Cloud Practitioner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Microsoft Certified – Azure Fundamentals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Scrum.org Certified – Scrum Master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IBM –  Data Science Professional Certificate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US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Bachelor 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– Bachelor of Commerce, Operations Research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University of Canterbury</a:t>
              </a:r>
              <a:endParaRPr lang="en-US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3479574"/>
            <a:ext cx="40828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Australian Telecommunications Organisation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11189"/>
            <a:ext cx="1495675" cy="20313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Consulting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Problem Solving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Business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Analysis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Visualisation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Dashboards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Modelling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Science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Networking &amp; Influencing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21266" y="1044151"/>
            <a:ext cx="48949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Leading Australian Logistics </a:t>
            </a:r>
            <a:r>
              <a:rPr lang="en-US" sz="1200" b="1" dirty="0" err="1">
                <a:solidFill>
                  <a:srgbClr val="0059FF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Organisation</a:t>
            </a:r>
            <a:endParaRPr lang="en-AU" sz="1200" b="1" dirty="0">
              <a:solidFill>
                <a:srgbClr val="0059FF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0B3FDFC-4A78-346F-E1D4-E183BEB90A60}"/>
              </a:ext>
            </a:extLst>
          </p:cNvPr>
          <p:cNvGrpSpPr/>
          <p:nvPr/>
        </p:nvGrpSpPr>
        <p:grpSpPr>
          <a:xfrm>
            <a:off x="3428144" y="5793269"/>
            <a:ext cx="4584890" cy="1631216"/>
            <a:chOff x="5023753" y="4106685"/>
            <a:chExt cx="4757437" cy="163121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513C49A-2DF2-8111-FED4-FC07A8EAD258}"/>
                </a:ext>
              </a:extLst>
            </p:cNvPr>
            <p:cNvSpPr txBox="1"/>
            <p:nvPr/>
          </p:nvSpPr>
          <p:spPr>
            <a:xfrm>
              <a:off x="5059474" y="4106685"/>
              <a:ext cx="4721716" cy="1631216"/>
            </a:xfrm>
            <a:prstGeom prst="rect">
              <a:avLst/>
            </a:prstGeom>
            <a:noFill/>
          </p:spPr>
          <p:txBody>
            <a:bodyPr wrap="square" numCol="1" rtlCol="0">
              <a:spAutoFit/>
            </a:bodyPr>
            <a:lstStyle>
              <a:defPPr>
                <a:defRPr lang="en-US"/>
              </a:defPPr>
              <a:lvl1pPr marL="171450" indent="-171450">
                <a:buClr>
                  <a:srgbClr val="00AB80"/>
                </a:buClr>
                <a:buFont typeface="Arial" panose="020B0604020202020204" pitchFamily="34" charset="0"/>
                <a:buChar char="•"/>
                <a:defRPr sz="9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</a:defRPr>
              </a:lvl1pPr>
            </a:lstStyle>
            <a:p>
              <a:pPr marL="0" indent="0">
                <a:buNone/>
              </a:pPr>
              <a:r>
                <a:rPr lang="en-AU" sz="1000" dirty="0">
                  <a:solidFill>
                    <a:schemeClr val="bg1"/>
                  </a:solidFill>
                </a:rPr>
                <a:t>Principal BI Consultant on </a:t>
              </a:r>
              <a:r>
                <a:rPr lang="en-AU" sz="1000" dirty="0"/>
                <a:t>a </a:t>
              </a:r>
              <a:r>
                <a:rPr lang="en-AU" sz="1000" dirty="0">
                  <a:solidFill>
                    <a:schemeClr val="bg1"/>
                  </a:solidFill>
                </a:rPr>
                <a:t>Data Presentation Layer (DPL) Project (new data virtualisation platform):</a:t>
              </a:r>
            </a:p>
            <a:p>
              <a:pPr marL="0" indent="0">
                <a:buNone/>
              </a:pPr>
              <a:r>
                <a:rPr lang="en-AU" sz="1000" dirty="0"/>
                <a:t>Responsibilities and Benefits:</a:t>
              </a:r>
              <a:endParaRPr lang="en-AU" sz="1000" dirty="0">
                <a:solidFill>
                  <a:schemeClr val="bg1"/>
                </a:solidFill>
              </a:endParaRPr>
            </a:p>
            <a:p>
              <a:r>
                <a:rPr lang="en-AU" sz="1000" dirty="0"/>
                <a:t>Elicited requirements for the selected (MVP) reports</a:t>
              </a:r>
            </a:p>
            <a:p>
              <a:r>
                <a:rPr lang="en-AU" sz="1000" dirty="0"/>
                <a:t>Designed and developed MVP reports in Power BI to demonstrate the end-to-end solution and business benefits</a:t>
              </a:r>
            </a:p>
            <a:p>
              <a:r>
                <a:rPr lang="en-AU" sz="1000" dirty="0"/>
                <a:t>Benefits: Future-proofing BI capabilities, unifying disparate data sources, improving query performance (on billions of records) to under 3 seconds &amp; sharing dashboards</a:t>
              </a:r>
              <a:endParaRPr lang="en-US" sz="1000" dirty="0"/>
            </a:p>
            <a:p>
              <a:pPr marL="0" indent="0">
                <a:buNone/>
              </a:pPr>
              <a:endParaRPr lang="en-AU" sz="1000" dirty="0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0913DE4-461D-CE43-AABC-C4B3D7D22F45}"/>
                </a:ext>
              </a:extLst>
            </p:cNvPr>
            <p:cNvCxnSpPr>
              <a:cxnSpLocks/>
            </p:cNvCxnSpPr>
            <p:nvPr/>
          </p:nvCxnSpPr>
          <p:spPr>
            <a:xfrm>
              <a:off x="5023753" y="4198160"/>
              <a:ext cx="0" cy="1199091"/>
            </a:xfrm>
            <a:prstGeom prst="line">
              <a:avLst/>
            </a:prstGeom>
            <a:ln w="19050">
              <a:solidFill>
                <a:srgbClr val="A9358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35752" y="5470482"/>
            <a:ext cx="3526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Australian Energy Operator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53ACAB-BBC9-A3AA-740D-EB947374392F}"/>
              </a:ext>
            </a:extLst>
          </p:cNvPr>
          <p:cNvSpPr txBox="1"/>
          <p:nvPr/>
        </p:nvSpPr>
        <p:spPr>
          <a:xfrm>
            <a:off x="8118489" y="1456630"/>
            <a:ext cx="1951941" cy="144655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Energy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Telecommunications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Education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Banking &amp; Insurance</a:t>
            </a:r>
          </a:p>
        </p:txBody>
      </p:sp>
    </p:spTree>
    <p:extLst>
      <p:ext uri="{BB962C8B-B14F-4D97-AF65-F5344CB8AC3E}">
        <p14:creationId xmlns:p14="http://schemas.microsoft.com/office/powerpoint/2010/main" val="3618352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6AF0846-91D6-4173-9FAB-98838A7A1FF0}"/>
</file>

<file path=customXml/itemProps2.xml><?xml version="1.0" encoding="utf-8"?>
<ds:datastoreItem xmlns:ds="http://schemas.openxmlformats.org/officeDocument/2006/customXml" ds:itemID="{7BEDE27A-5D3F-48EC-A4D1-3F35063BDC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CBCFD15-CFFF-49AE-B6C5-12DE46320969}">
  <ds:schemaRefs>
    <ds:schemaRef ds:uri="daf93972-1964-4522-aa34-640805a01c3a"/>
    <ds:schemaRef ds:uri="e52cd9e7-35e5-4bd3-9cab-ca6a63c31e5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2201</TotalTime>
  <Words>507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9</cp:revision>
  <dcterms:created xsi:type="dcterms:W3CDTF">2019-12-03T01:50:37Z</dcterms:created>
  <dcterms:modified xsi:type="dcterms:W3CDTF">2023-05-29T00:54:10Z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