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59FF"/>
    <a:srgbClr val="00AB80"/>
    <a:srgbClr val="A9358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/>
    <p:restoredTop sz="95595"/>
  </p:normalViewPr>
  <p:slideViewPr>
    <p:cSldViewPr snapToGrid="0" snapToObjects="1">
      <p:cViewPr varScale="1">
        <p:scale>
          <a:sx n="54" d="100"/>
          <a:sy n="54" d="100"/>
        </p:scale>
        <p:origin x="1760" y="-64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719D49C3-0E9C-47ED-945D-18F64B441C17}"/>
    <pc:docChg chg="undo custSel modSld">
      <pc:chgData name="Darcy Roach" userId="ba676ee9-e9b4-49e8-a515-8077106c948d" providerId="ADAL" clId="{719D49C3-0E9C-47ED-945D-18F64B441C17}" dt="2024-06-06T06:55:21.008" v="674" actId="14100"/>
      <pc:docMkLst>
        <pc:docMk/>
      </pc:docMkLst>
      <pc:sldChg chg="addSp delSp modSp mod">
        <pc:chgData name="Darcy Roach" userId="ba676ee9-e9b4-49e8-a515-8077106c948d" providerId="ADAL" clId="{719D49C3-0E9C-47ED-945D-18F64B441C17}" dt="2024-06-06T06:55:21.008" v="674" actId="14100"/>
        <pc:sldMkLst>
          <pc:docMk/>
          <pc:sldMk cId="2009923557" sldId="270"/>
        </pc:sldMkLst>
        <pc:spChg chg="mod">
          <ac:chgData name="Darcy Roach" userId="ba676ee9-e9b4-49e8-a515-8077106c948d" providerId="ADAL" clId="{719D49C3-0E9C-47ED-945D-18F64B441C17}" dt="2024-06-05T00:42:55.912" v="387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719D49C3-0E9C-47ED-945D-18F64B441C17}" dt="2024-06-05T00:22:55.483" v="194" actId="20577"/>
          <ac:spMkLst>
            <pc:docMk/>
            <pc:sldMk cId="2009923557" sldId="270"/>
            <ac:spMk id="9" creationId="{73AF90DA-A8BA-A38E-D7B5-20B62F60DBA2}"/>
          </ac:spMkLst>
        </pc:spChg>
        <pc:spChg chg="mod">
          <ac:chgData name="Darcy Roach" userId="ba676ee9-e9b4-49e8-a515-8077106c948d" providerId="ADAL" clId="{719D49C3-0E9C-47ED-945D-18F64B441C17}" dt="2024-06-06T06:55:01.819" v="667" actId="20577"/>
          <ac:spMkLst>
            <pc:docMk/>
            <pc:sldMk cId="2009923557" sldId="270"/>
            <ac:spMk id="10" creationId="{06312B81-BCF1-2796-C112-3DBE0E02F483}"/>
          </ac:spMkLst>
        </pc:spChg>
        <pc:spChg chg="add del mod">
          <ac:chgData name="Darcy Roach" userId="ba676ee9-e9b4-49e8-a515-8077106c948d" providerId="ADAL" clId="{719D49C3-0E9C-47ED-945D-18F64B441C17}" dt="2024-06-06T06:52:43.931" v="641"/>
          <ac:spMkLst>
            <pc:docMk/>
            <pc:sldMk cId="2009923557" sldId="270"/>
            <ac:spMk id="12" creationId="{CDAC8414-25C8-1A09-C958-2ECF076F403E}"/>
          </ac:spMkLst>
        </pc:spChg>
        <pc:spChg chg="add del mod">
          <ac:chgData name="Darcy Roach" userId="ba676ee9-e9b4-49e8-a515-8077106c948d" providerId="ADAL" clId="{719D49C3-0E9C-47ED-945D-18F64B441C17}" dt="2024-06-05T00:21:52.207" v="161"/>
          <ac:spMkLst>
            <pc:docMk/>
            <pc:sldMk cId="2009923557" sldId="270"/>
            <ac:spMk id="12" creationId="{F26708DE-792A-8B30-587A-5337CBEE8DD1}"/>
          </ac:spMkLst>
        </pc:spChg>
        <pc:spChg chg="mod">
          <ac:chgData name="Darcy Roach" userId="ba676ee9-e9b4-49e8-a515-8077106c948d" providerId="ADAL" clId="{719D49C3-0E9C-47ED-945D-18F64B441C17}" dt="2024-06-04T23:13:15.433" v="26" actId="20577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arcy Roach" userId="ba676ee9-e9b4-49e8-a515-8077106c948d" providerId="ADAL" clId="{719D49C3-0E9C-47ED-945D-18F64B441C17}" dt="2024-06-06T06:52:37.560" v="639" actId="20577"/>
          <ac:spMkLst>
            <pc:docMk/>
            <pc:sldMk cId="2009923557" sldId="270"/>
            <ac:spMk id="19" creationId="{7513C49A-2DF2-8111-FED4-FC07A8EAD258}"/>
          </ac:spMkLst>
        </pc:spChg>
        <pc:spChg chg="add del mod">
          <ac:chgData name="Darcy Roach" userId="ba676ee9-e9b4-49e8-a515-8077106c948d" providerId="ADAL" clId="{719D49C3-0E9C-47ED-945D-18F64B441C17}" dt="2024-06-06T06:55:01.325" v="666" actId="22"/>
          <ac:spMkLst>
            <pc:docMk/>
            <pc:sldMk cId="2009923557" sldId="270"/>
            <ac:spMk id="24" creationId="{A5F60190-EA6D-0F55-E278-30926B1E4000}"/>
          </ac:spMkLst>
        </pc:spChg>
        <pc:spChg chg="mod">
          <ac:chgData name="Darcy Roach" userId="ba676ee9-e9b4-49e8-a515-8077106c948d" providerId="ADAL" clId="{719D49C3-0E9C-47ED-945D-18F64B441C17}" dt="2024-06-05T00:57:53.265" v="477" actId="1037"/>
          <ac:spMkLst>
            <pc:docMk/>
            <pc:sldMk cId="2009923557" sldId="270"/>
            <ac:spMk id="26" creationId="{1A3D666D-00C8-D106-73C3-9FF300F8618C}"/>
          </ac:spMkLst>
        </pc:spChg>
        <pc:spChg chg="mod ord">
          <ac:chgData name="Darcy Roach" userId="ba676ee9-e9b4-49e8-a515-8077106c948d" providerId="ADAL" clId="{719D49C3-0E9C-47ED-945D-18F64B441C17}" dt="2024-06-05T00:49:00.913" v="462" actId="167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Darcy Roach" userId="ba676ee9-e9b4-49e8-a515-8077106c948d" providerId="ADAL" clId="{719D49C3-0E9C-47ED-945D-18F64B441C17}" dt="2024-06-06T06:55:21.008" v="674" actId="14100"/>
          <ac:spMkLst>
            <pc:docMk/>
            <pc:sldMk cId="2009923557" sldId="270"/>
            <ac:spMk id="32" creationId="{0B703521-F331-D24D-2144-A609A273150D}"/>
          </ac:spMkLst>
        </pc:spChg>
        <pc:spChg chg="mod">
          <ac:chgData name="Darcy Roach" userId="ba676ee9-e9b4-49e8-a515-8077106c948d" providerId="ADAL" clId="{719D49C3-0E9C-47ED-945D-18F64B441C17}" dt="2024-06-05T01:09:43.498" v="575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719D49C3-0E9C-47ED-945D-18F64B441C17}" dt="2024-06-05T01:10:43.136" v="580" actId="1076"/>
          <ac:spMkLst>
            <pc:docMk/>
            <pc:sldMk cId="2009923557" sldId="270"/>
            <ac:spMk id="39" creationId="{3EA81938-6A76-B850-B0E8-A5F905AEBA98}"/>
          </ac:spMkLst>
        </pc:spChg>
        <pc:spChg chg="mod">
          <ac:chgData name="Darcy Roach" userId="ba676ee9-e9b4-49e8-a515-8077106c948d" providerId="ADAL" clId="{719D49C3-0E9C-47ED-945D-18F64B441C17}" dt="2024-06-05T00:30:25.197" v="293" actId="20577"/>
          <ac:spMkLst>
            <pc:docMk/>
            <pc:sldMk cId="2009923557" sldId="270"/>
            <ac:spMk id="175" creationId="{B9775FC7-7124-8CCA-9B1C-7CCD7D3DF384}"/>
          </ac:spMkLst>
        </pc:spChg>
        <pc:grpChg chg="mod">
          <ac:chgData name="Darcy Roach" userId="ba676ee9-e9b4-49e8-a515-8077106c948d" providerId="ADAL" clId="{719D49C3-0E9C-47ED-945D-18F64B441C17}" dt="2024-06-05T01:10:43.136" v="580" actId="1076"/>
          <ac:grpSpMkLst>
            <pc:docMk/>
            <pc:sldMk cId="2009923557" sldId="270"/>
            <ac:grpSpMk id="5" creationId="{980A06B1-0A2F-7DF6-91DB-0F6DFA896A23}"/>
          </ac:grpSpMkLst>
        </pc:grpChg>
        <pc:grpChg chg="mod ord">
          <ac:chgData name="Darcy Roach" userId="ba676ee9-e9b4-49e8-a515-8077106c948d" providerId="ADAL" clId="{719D49C3-0E9C-47ED-945D-18F64B441C17}" dt="2024-06-06T06:53:00.824" v="643" actId="1076"/>
          <ac:grpSpMkLst>
            <pc:docMk/>
            <pc:sldMk cId="2009923557" sldId="270"/>
            <ac:grpSpMk id="16" creationId="{A1F14AC0-7E81-3290-BFBD-9B334F5C0EFB}"/>
          </ac:grpSpMkLst>
        </pc:grpChg>
        <pc:cxnChg chg="mod">
          <ac:chgData name="Darcy Roach" userId="ba676ee9-e9b4-49e8-a515-8077106c948d" providerId="ADAL" clId="{719D49C3-0E9C-47ED-945D-18F64B441C17}" dt="2024-06-05T00:29:13.550" v="256" actId="14100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719D49C3-0E9C-47ED-945D-18F64B441C17}" dt="2024-06-06T06:52:55.089" v="642" actId="14100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719D49C3-0E9C-47ED-945D-18F64B441C17}" dt="2024-06-05T01:10:22.884" v="579" actId="14100"/>
          <ac:cxnSpMkLst>
            <pc:docMk/>
            <pc:sldMk cId="2009923557" sldId="270"/>
            <ac:cxnSpMk id="21" creationId="{B0913DE4-461D-CE43-AABC-C4B3D7D22F4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1F14AC0-7E81-3290-BFBD-9B334F5C0EFB}"/>
              </a:ext>
            </a:extLst>
          </p:cNvPr>
          <p:cNvGrpSpPr/>
          <p:nvPr/>
        </p:nvGrpSpPr>
        <p:grpSpPr>
          <a:xfrm>
            <a:off x="3411970" y="5753724"/>
            <a:ext cx="4521709" cy="2185272"/>
            <a:chOff x="3411970" y="5451800"/>
            <a:chExt cx="4521709" cy="218527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59F888-3BDF-A1C0-65E5-CB6FDD43D97C}"/>
                </a:ext>
              </a:extLst>
            </p:cNvPr>
            <p:cNvSpPr txBox="1"/>
            <p:nvPr/>
          </p:nvSpPr>
          <p:spPr>
            <a:xfrm>
              <a:off x="3411970" y="5451800"/>
              <a:ext cx="4485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Financial Services Organisation – Technical Project Manager</a:t>
              </a:r>
            </a:p>
            <a:p>
              <a:endPara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3534023" y="5544191"/>
              <a:ext cx="4399656" cy="2092881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endParaRPr lang="en-AU" sz="1000" dirty="0"/>
            </a:p>
            <a:p>
              <a:r>
                <a:rPr lang="en-AU" sz="1000" dirty="0"/>
                <a:t>Managed a team of 50+ technical and business analyst resources across 4 continents to design, build and test software enhancements to the existing wealth management platform</a:t>
              </a:r>
            </a:p>
            <a:p>
              <a:r>
                <a:rPr lang="en-AU" sz="1000" dirty="0"/>
                <a:t>Prepared and managed project and resource planning and assignment across multiple overlapping releases including both onshore and offshore teams</a:t>
              </a:r>
            </a:p>
            <a:p>
              <a:r>
                <a:rPr lang="en-AU" sz="1000" dirty="0"/>
                <a:t>Managed project delivery to a fixed budget and timeframe for a project with an overall value of $3m+</a:t>
              </a:r>
            </a:p>
            <a:p>
              <a:r>
                <a:rPr lang="en-AU" sz="1000" dirty="0"/>
                <a:t>Prepared and presented project status reports, both for the internal executive management team and for the client</a:t>
              </a:r>
            </a:p>
            <a:p>
              <a:endParaRPr lang="en-AU" sz="1000" dirty="0"/>
            </a:p>
            <a:p>
              <a:pPr marL="0" indent="0">
                <a:buNone/>
              </a:pPr>
              <a:endParaRPr lang="en-AU" sz="1000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913DE4-461D-CE43-AABC-C4B3D7D22F45}"/>
                </a:ext>
              </a:extLst>
            </p:cNvPr>
            <p:cNvCxnSpPr>
              <a:cxnSpLocks/>
            </p:cNvCxnSpPr>
            <p:nvPr/>
          </p:nvCxnSpPr>
          <p:spPr>
            <a:xfrm>
              <a:off x="3463961" y="5748923"/>
              <a:ext cx="0" cy="1403688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B703521-F331-D24D-2144-A609A273150D}"/>
              </a:ext>
            </a:extLst>
          </p:cNvPr>
          <p:cNvSpPr txBox="1"/>
          <p:nvPr/>
        </p:nvSpPr>
        <p:spPr>
          <a:xfrm>
            <a:off x="3500533" y="1251626"/>
            <a:ext cx="4550464" cy="2554545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AU" dirty="0">
                <a:latin typeface="Roboto Light"/>
                <a:ea typeface="Roboto Light"/>
                <a:cs typeface="Roboto Light"/>
              </a:rPr>
              <a:t>Managed vendor relationships - professional services and software vendors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Facilitated the process to gain APRA regulatory approval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Defined ways of working and implemented agile team structure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Facilitated weekly Scrum of Scrums meeting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Facilitated quarterly Program Increment (PI) Planning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Managed dependencies both internal and external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Managed risks and issues including escalation when required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Prepared and presented monthly steering committee report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Presented to Company board meeting around the value of the UDP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Managed procurement processes such as vendor onboarding and renewals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Forecast and tracked project finances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Prepared initiative canvas / business case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Managed engagement with Risk, Audit, Regulatory Services and Cyber Security teams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40585" y="113351"/>
            <a:ext cx="26848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Craig 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Lush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44549" y="1247202"/>
            <a:ext cx="2972650" cy="3103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/>
                <a:ea typeface="Roboto Light"/>
                <a:cs typeface="Lato"/>
              </a:rPr>
              <a:t>Profile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44292" y="1025116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/>
                <a:ea typeface="Roboto Light"/>
                <a:cs typeface="Lato"/>
              </a:rPr>
              <a:t>Principal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86857" y="572879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Change Management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IT Service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prstClr val="black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Data Modeling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SDLC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Process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ITIL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Scrum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Problem Solver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Team Leadership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Mentoring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297940"/>
            <a:ext cx="0" cy="2073910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219897" y="3226407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784490"/>
            <a:ext cx="0" cy="65116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707439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283343"/>
            <a:ext cx="1951941" cy="1723549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  <a:latin typeface="Roboto Light"/>
                <a:ea typeface="Roboto Light"/>
                <a:cs typeface="Roboto Light"/>
              </a:rPr>
              <a:t>Logistics</a:t>
            </a:r>
            <a:endParaRPr lang="en-GB" sz="1200" dirty="0">
              <a:solidFill>
                <a:srgbClr val="00AB80"/>
              </a:solidFill>
              <a:cs typeface="Roboto Ligh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Energy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Telecommunications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Government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Education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280411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33650" y="3441851"/>
            <a:ext cx="1963972" cy="2123658"/>
            <a:chOff x="8106458" y="2681447"/>
            <a:chExt cx="1963972" cy="212365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63972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Axis Agile</a:t>
              </a: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Certified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|</a:t>
              </a: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Scrum Master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AU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Prince 2 Certified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|</a:t>
              </a:r>
              <a:r>
                <a:rPr lang="en-AU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Practitioner</a:t>
              </a: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Bachelor's Degree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| Computing, IT – Monash University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728799"/>
            <a:ext cx="1510046" cy="24468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Project Delivery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Project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Solution Architecture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Process Improvement</a:t>
            </a: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Software Development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Transformation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Requirements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Requirements Gathering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36219" y="1020941"/>
            <a:ext cx="419269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200" b="1" dirty="0">
                <a:solidFill>
                  <a:srgbClr val="0059FF"/>
                </a:solidFill>
                <a:latin typeface="Roboto"/>
                <a:ea typeface="Roboto"/>
                <a:cs typeface="Roboto"/>
              </a:rPr>
              <a:t>Financial Services Organisation – Senior Project Lead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35753" y="3485206"/>
            <a:ext cx="4542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Major Logistics Organisation  – Senior Business Analyst</a:t>
            </a:r>
          </a:p>
          <a:p>
            <a:endParaRPr lang="en-AU" sz="1200" b="1" dirty="0">
              <a:solidFill>
                <a:srgbClr val="ED7D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AU" sz="1200" b="1" dirty="0">
              <a:solidFill>
                <a:srgbClr val="ED7D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7F05F2-DA4C-4F55-A5D0-1887110DF155}"/>
              </a:ext>
            </a:extLst>
          </p:cNvPr>
          <p:cNvCxnSpPr>
            <a:cxnSpLocks/>
          </p:cNvCxnSpPr>
          <p:nvPr/>
        </p:nvCxnSpPr>
        <p:spPr>
          <a:xfrm>
            <a:off x="3455043" y="3823407"/>
            <a:ext cx="0" cy="1742102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513C49A-2DF2-8111-FED4-FC07A8EAD258}"/>
              </a:ext>
            </a:extLst>
          </p:cNvPr>
          <p:cNvSpPr txBox="1"/>
          <p:nvPr/>
        </p:nvSpPr>
        <p:spPr>
          <a:xfrm>
            <a:off x="3500533" y="3742023"/>
            <a:ext cx="4550464" cy="209288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AU" sz="1000" dirty="0"/>
              <a:t>Performed release train engineer role across 7 agile teams</a:t>
            </a:r>
          </a:p>
          <a:p>
            <a:r>
              <a:rPr lang="en-AU" sz="1000" dirty="0"/>
              <a:t>Conducted PI planning events and owned the quarterly planning process</a:t>
            </a:r>
          </a:p>
          <a:p>
            <a:r>
              <a:rPr lang="en-AU" sz="1000" dirty="0"/>
              <a:t>Conducted weekly Scrum meeting to track dependencies between teams</a:t>
            </a:r>
          </a:p>
          <a:p>
            <a:r>
              <a:rPr lang="en-AU" sz="1000" dirty="0"/>
              <a:t>Ran regular inspect &amp; adapt sessions to capture improvement opportunities</a:t>
            </a:r>
          </a:p>
          <a:p>
            <a:r>
              <a:rPr lang="en-AU" sz="1000" dirty="0"/>
              <a:t>Focused on refining ways of working for continuous improvement</a:t>
            </a:r>
          </a:p>
          <a:p>
            <a:r>
              <a:rPr lang="en-AU" sz="1000" dirty="0"/>
              <a:t>Managed relationship with 3rd party vendors, both software and services</a:t>
            </a:r>
          </a:p>
          <a:p>
            <a:r>
              <a:rPr lang="en-AU" sz="1000" dirty="0"/>
              <a:t>Managed the successful delivery and rollout of a mobile Point of Sale system across multiple sites in Victoria</a:t>
            </a:r>
          </a:p>
          <a:p>
            <a:r>
              <a:rPr lang="en-AU" sz="1000" dirty="0"/>
              <a:t>Managed the delivery of a Point of Sale system incorporating capabilities such as Stock Management, Banking, identity services</a:t>
            </a:r>
          </a:p>
          <a:p>
            <a:r>
              <a:rPr lang="en-AU" sz="1000" dirty="0"/>
              <a:t>Fostered and managed relationships between both business and IT stakeholders</a:t>
            </a:r>
          </a:p>
          <a:p>
            <a:endParaRPr lang="en-AU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F90DA-A8BA-A38E-D7B5-20B62F60DBA2}"/>
              </a:ext>
            </a:extLst>
          </p:cNvPr>
          <p:cNvSpPr txBox="1"/>
          <p:nvPr/>
        </p:nvSpPr>
        <p:spPr>
          <a:xfrm>
            <a:off x="244292" y="1593954"/>
            <a:ext cx="2862456" cy="32540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1000" spc="13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defRPr>
            </a:lvl1pPr>
          </a:lstStyle>
          <a:p>
            <a:r>
              <a:rPr lang="en-AU" dirty="0">
                <a:solidFill>
                  <a:schemeClr val="tx1"/>
                </a:solidFill>
              </a:rPr>
              <a:t>Craig is a highly accomplished IT Project Manager with over 20 years of extensive experience in leading and managing complex IT projects across various industries. Known for his exceptional leadership skills, Craig has a proven track record of delivering projects on time and within budget, ensuring the highest levels of client satisfaction. </a:t>
            </a:r>
            <a:endParaRPr lang="en-GB" dirty="0">
              <a:solidFill>
                <a:schemeClr val="tx1"/>
              </a:solidFill>
            </a:endParaRPr>
          </a:p>
          <a:p>
            <a:endParaRPr lang="en-GB" sz="400" dirty="0">
              <a:solidFill>
                <a:schemeClr val="tx1"/>
              </a:solidFill>
            </a:endParaRPr>
          </a:p>
          <a:p>
            <a:r>
              <a:rPr lang="en-AU" dirty="0">
                <a:solidFill>
                  <a:schemeClr val="tx1"/>
                </a:solidFill>
              </a:rPr>
              <a:t>Craig is effective in building meaningful stakeholder partnerships and achieving alignment between business and IT stakeholders to drive innovation and excellence. For organisations seeking a seasoned professional to lead their IT projects to success, Craig offers unparalleled expertise and a commitment to achieving outstanding results to #delightthecustomer.</a:t>
            </a:r>
          </a:p>
          <a:p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Darcy Roach</DisplayName>
        <AccountId>14</AccountId>
        <AccountType/>
      </UserInfo>
      <UserInfo>
        <DisplayName>Joel Collins</DisplayName>
        <AccountId>13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E36342BA-B801-4BF7-9391-F7E98E629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C6410C-B420-4127-9D32-DC600766FC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D78DE8-CA0B-4723-AF37-2B344746F8D2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www.w3.org/XML/1998/namespace"/>
    <ds:schemaRef ds:uri="e52cd9e7-35e5-4bd3-9cab-ca6a63c31e52"/>
    <ds:schemaRef ds:uri="daf93972-1964-4522-aa34-640805a01c3a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20372</TotalTime>
  <Words>510</Words>
  <Application>Microsoft Office PowerPoint</Application>
  <PresentationFormat>Custom</PresentationFormat>
  <Paragraphs>80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115</cp:revision>
  <dcterms:created xsi:type="dcterms:W3CDTF">2019-12-03T01:50:37Z</dcterms:created>
  <dcterms:modified xsi:type="dcterms:W3CDTF">2024-06-06T06:55:27Z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