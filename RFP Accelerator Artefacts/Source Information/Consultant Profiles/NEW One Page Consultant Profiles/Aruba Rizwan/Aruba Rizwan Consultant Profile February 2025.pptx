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71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D3ABF-148C-4FA3-AEC7-0DB2CEC1408C}" v="300" dt="2025-01-22T03:30:19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878" y="6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ba Rizwan" userId="S::aruba.rizwan@intelia.com.au::311f144f-6baa-4fc4-9d3a-5d1b35a1dd5a" providerId="AD" clId="Web-{6DEABC72-454D-01F7-4C22-859A605549B5}"/>
    <pc:docChg chg="modSld">
      <pc:chgData name="Aruba Rizwan" userId="S::aruba.rizwan@intelia.com.au::311f144f-6baa-4fc4-9d3a-5d1b35a1dd5a" providerId="AD" clId="Web-{6DEABC72-454D-01F7-4C22-859A605549B5}" dt="2025-01-22T03:22:01.545" v="114" actId="20577"/>
      <pc:docMkLst>
        <pc:docMk/>
      </pc:docMkLst>
      <pc:sldChg chg="modSp">
        <pc:chgData name="Aruba Rizwan" userId="S::aruba.rizwan@intelia.com.au::311f144f-6baa-4fc4-9d3a-5d1b35a1dd5a" providerId="AD" clId="Web-{6DEABC72-454D-01F7-4C22-859A605549B5}" dt="2025-01-22T03:22:01.545" v="114" actId="20577"/>
        <pc:sldMkLst>
          <pc:docMk/>
          <pc:sldMk cId="3714505267" sldId="272"/>
        </pc:sldMkLst>
      </pc:sldChg>
    </pc:docChg>
  </pc:docChgLst>
  <pc:docChgLst>
    <pc:chgData name="Darcy Roach" userId="ba676ee9-e9b4-49e8-a515-8077106c948d" providerId="ADAL" clId="{817D3ABF-148C-4FA3-AEC7-0DB2CEC1408C}"/>
    <pc:docChg chg="undo redo custSel addSld delSld modSld">
      <pc:chgData name="Darcy Roach" userId="ba676ee9-e9b4-49e8-a515-8077106c948d" providerId="ADAL" clId="{817D3ABF-148C-4FA3-AEC7-0DB2CEC1408C}" dt="2025-05-05T06:34:58.773" v="521" actId="20577"/>
      <pc:docMkLst>
        <pc:docMk/>
      </pc:docMkLst>
      <pc:sldChg chg="addSp delSp modSp mod modNotesTx">
        <pc:chgData name="Darcy Roach" userId="ba676ee9-e9b4-49e8-a515-8077106c948d" providerId="ADAL" clId="{817D3ABF-148C-4FA3-AEC7-0DB2CEC1408C}" dt="2025-05-05T06:34:58.773" v="521" actId="20577"/>
        <pc:sldMkLst>
          <pc:docMk/>
          <pc:sldMk cId="3618352684" sldId="271"/>
        </pc:sldMkLst>
        <pc:spChg chg="mod">
          <ac:chgData name="Darcy Roach" userId="ba676ee9-e9b4-49e8-a515-8077106c948d" providerId="ADAL" clId="{817D3ABF-148C-4FA3-AEC7-0DB2CEC1408C}" dt="2025-05-05T06:34:58.773" v="521" actId="20577"/>
          <ac:spMkLst>
            <pc:docMk/>
            <pc:sldMk cId="3618352684" sldId="271"/>
            <ac:spMk id="24" creationId="{6BF1FBA0-DCEA-9EF6-D55B-B59F2F97A759}"/>
          </ac:spMkLst>
        </pc:spChg>
        <pc:cxnChg chg="mod">
          <ac:chgData name="Darcy Roach" userId="ba676ee9-e9b4-49e8-a515-8077106c948d" providerId="ADAL" clId="{817D3ABF-148C-4FA3-AEC7-0DB2CEC1408C}" dt="2025-05-05T06:34:30.180" v="497" actId="14100"/>
          <ac:cxnSpMkLst>
            <pc:docMk/>
            <pc:sldMk cId="3618352684" sldId="271"/>
            <ac:cxnSpMk id="170" creationId="{0D51728F-48BB-14BB-256E-5F0C0284BCDF}"/>
          </ac:cxnSpMkLst>
        </pc:cxnChg>
      </pc:sldChg>
      <pc:sldChg chg="addSp delSp modSp new del mod setBg">
        <pc:chgData name="Darcy Roach" userId="ba676ee9-e9b4-49e8-a515-8077106c948d" providerId="ADAL" clId="{817D3ABF-148C-4FA3-AEC7-0DB2CEC1408C}" dt="2025-05-05T06:34:18.462" v="496" actId="47"/>
        <pc:sldMkLst>
          <pc:docMk/>
          <pc:sldMk cId="3714505267" sldId="272"/>
        </pc:sldMkLst>
      </pc:sldChg>
    </pc:docChg>
  </pc:docChgLst>
  <pc:docChgLst>
    <pc:chgData name="Paul Martinico" userId="S::paul.martinico@intelia.com.au::05e381d2-80b7-43e8-b915-faa146d84a0f" providerId="AD" clId="Web-{C09D032E-4CF8-AD53-2EA9-6B8157BB50F9}"/>
    <pc:docChg chg="modSld">
      <pc:chgData name="Paul Martinico" userId="S::paul.martinico@intelia.com.au::05e381d2-80b7-43e8-b915-faa146d84a0f" providerId="AD" clId="Web-{C09D032E-4CF8-AD53-2EA9-6B8157BB50F9}" dt="2023-10-10T03:34:30.730" v="45" actId="20577"/>
      <pc:docMkLst>
        <pc:docMk/>
      </pc:docMkLst>
      <pc:sldChg chg="modSp">
        <pc:chgData name="Paul Martinico" userId="S::paul.martinico@intelia.com.au::05e381d2-80b7-43e8-b915-faa146d84a0f" providerId="AD" clId="Web-{C09D032E-4CF8-AD53-2EA9-6B8157BB50F9}" dt="2023-10-10T03:34:30.730" v="45" actId="20577"/>
        <pc:sldMkLst>
          <pc:docMk/>
          <pc:sldMk cId="3618352684" sldId="271"/>
        </pc:sldMkLst>
      </pc:sldChg>
    </pc:docChg>
  </pc:docChgLst>
  <pc:docChgLst>
    <pc:chgData name="Darcy Roach" userId="ba676ee9-e9b4-49e8-a515-8077106c948d" providerId="ADAL" clId="{19FC3D36-DA5C-488D-B268-2B6BC277F393}"/>
    <pc:docChg chg="undo custSel modSld">
      <pc:chgData name="Darcy Roach" userId="ba676ee9-e9b4-49e8-a515-8077106c948d" providerId="ADAL" clId="{19FC3D36-DA5C-488D-B268-2B6BC277F393}" dt="2023-09-25T01:44:23.463" v="1040" actId="20577"/>
      <pc:docMkLst>
        <pc:docMk/>
      </pc:docMkLst>
      <pc:sldChg chg="addSp delSp modSp mod">
        <pc:chgData name="Darcy Roach" userId="ba676ee9-e9b4-49e8-a515-8077106c948d" providerId="ADAL" clId="{19FC3D36-DA5C-488D-B268-2B6BC277F393}" dt="2023-09-25T01:44:23.463" v="1040" actId="20577"/>
        <pc:sldMkLst>
          <pc:docMk/>
          <pc:sldMk cId="3618352684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360320-86D0-46EF-BE6B-5FD3FFEF4E46}" type="datetimeFigureOut">
              <a:rPr lang="en-AU" smtClean="0"/>
              <a:t>5/05/2025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57250"/>
            <a:ext cx="29940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23A8E-F70B-4690-8DB9-48B27986F7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5822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Global Agriculture Organisation – Business Analyst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Pioneered the establishment of the Business Analyst (BA) role within the team, delivering significant value through comprehensive BA support and demonstrating the role's critical impact on team success.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Streamlined documentation processes and created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standardised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 templates to enhance consistency and clarity across the organization.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Roboto Light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Led requirements gathering sessions, ensuring alignment between project sponsors, stakeholders, and the technical team.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Roboto Light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Acted as the primary liaison between project sponsors and technical teams, translating business needs into clear, actionable requirements.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Roboto Light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Broke down complex requirements into manageable tasks and divided them into project phases to ensure realistic timelines and expectations.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Roboto Light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Managed stakeholder communication, providing regular updates and ensuring all parties were informed of project progress and potential risks.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Roboto Light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Focused on balancing scope and deliverables, ensuring that only achievable tasks were committed to within the project timelines, avoiding overpromising.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Roboto Light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Worked closely with technical teams to ensure proper understanding and alignment of business requirements, contributing to successful project execution.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Roboto Light"/>
              <a:cs typeface="+mn-cs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B23A8E-F70B-4690-8DB9-48B27986F7A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4836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1E3E96-4B11-5242-E07F-7D9FDDBB0190}"/>
              </a:ext>
            </a:extLst>
          </p:cNvPr>
          <p:cNvSpPr txBox="1"/>
          <p:nvPr/>
        </p:nvSpPr>
        <p:spPr>
          <a:xfrm>
            <a:off x="3463961" y="1312085"/>
            <a:ext cx="4488473" cy="270843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sz="1000">
                <a:solidFill>
                  <a:schemeClr val="bg1"/>
                </a:solidFill>
              </a:rPr>
              <a:t>Created detailed business requirements and functional specification documents for review by business and development teams</a:t>
            </a:r>
          </a:p>
          <a:p>
            <a:r>
              <a:rPr lang="en-AU" sz="1000">
                <a:solidFill>
                  <a:schemeClr val="bg1"/>
                </a:solidFill>
              </a:rPr>
              <a:t>Performed UAT on whilst also working on ALM testing environment</a:t>
            </a:r>
          </a:p>
          <a:p>
            <a:r>
              <a:rPr lang="en-AU" sz="1000">
                <a:solidFill>
                  <a:schemeClr val="bg1"/>
                </a:solidFill>
              </a:rPr>
              <a:t>Attended daily stand-ups, weekly team reflections and retrospective sessions with the project team</a:t>
            </a:r>
          </a:p>
          <a:p>
            <a:r>
              <a:rPr lang="en-AU" sz="1000">
                <a:solidFill>
                  <a:schemeClr val="bg1"/>
                </a:solidFill>
              </a:rPr>
              <a:t>Acted as an implementation manager on projects and created detailed implementation run sheets</a:t>
            </a:r>
          </a:p>
          <a:p>
            <a:r>
              <a:rPr lang="en-AU" sz="1000">
                <a:solidFill>
                  <a:schemeClr val="bg1"/>
                </a:solidFill>
              </a:rPr>
              <a:t>Managed projects and served as primary liaison between client and multiple internal groups to clarify goals, meet standards and deadlines</a:t>
            </a:r>
          </a:p>
          <a:p>
            <a:r>
              <a:rPr lang="en-AU" sz="1000">
                <a:solidFill>
                  <a:schemeClr val="bg1"/>
                </a:solidFill>
              </a:rPr>
              <a:t>Led ongoing business process reviews to optimise strategies </a:t>
            </a:r>
          </a:p>
          <a:p>
            <a:r>
              <a:rPr lang="en-AU" sz="1000">
                <a:solidFill>
                  <a:schemeClr val="bg1"/>
                </a:solidFill>
              </a:rPr>
              <a:t>Defined functional requirements and system interfaces to improve efficiency and usability</a:t>
            </a:r>
          </a:p>
          <a:p>
            <a:r>
              <a:rPr lang="en-AU" sz="1000">
                <a:solidFill>
                  <a:schemeClr val="bg1"/>
                </a:solidFill>
              </a:rPr>
              <a:t>Facilitated meetings and prepared presentations to share ideas and findings</a:t>
            </a:r>
          </a:p>
          <a:p>
            <a:r>
              <a:rPr lang="en-AU" sz="1000">
                <a:solidFill>
                  <a:schemeClr val="bg1"/>
                </a:solidFill>
              </a:rPr>
              <a:t>Collaborated with key stakeholders to develop project schedules </a:t>
            </a:r>
          </a:p>
          <a:p>
            <a:r>
              <a:rPr lang="en-AU" sz="1000">
                <a:solidFill>
                  <a:schemeClr val="bg1"/>
                </a:solidFill>
              </a:rPr>
              <a:t>Identified process inefficiencies through gap analysis and outlined sensible solutions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8595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Aruba Rizwan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92375" y="1589600"/>
            <a:ext cx="2944517" cy="3446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spc="13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</a:t>
            </a:r>
            <a:r>
              <a:rPr lang="en-AU" sz="1000" spc="13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ruba</a:t>
            </a:r>
            <a:r>
              <a:rPr lang="en-AU" sz="1000" spc="13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is a results-driven Business Analyst with industry experience, specialising in data analysis, business process improvement, and effective stakeholder communication. Aruba has a proven track record of leveraging analytical insights to drive strategic decisions and optimise operational efficiency. </a:t>
            </a:r>
          </a:p>
          <a:p>
            <a:pPr>
              <a:lnSpc>
                <a:spcPts val="1500"/>
              </a:lnSpc>
            </a:pPr>
            <a:endParaRPr lang="en-AU" sz="1000" spc="13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Adept at collaborating across departments to gather and prioritise business requirements and ensure alignment with organisational goals. Aruba is also well-versed in different types of project working methodologies such as Agile, Waterfall, Scrum and Kanban. Aruba recently received an award at intelia for 'Delivery Excellence' - as voted by peers' as having gone above and beyond to deliver brilliant outcome(s) in a critical project function. </a:t>
            </a:r>
            <a:endParaRPr lang="en-US" sz="1000" spc="13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84993" y="1239722"/>
            <a:ext cx="3162388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3113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42327" y="5737801"/>
            <a:ext cx="1510046" cy="244682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Jira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Power BI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Confluence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Trello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SQ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Salesforce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C </a:t>
            </a:r>
            <a:r>
              <a:rPr lang="en-US" sz="900" err="1">
                <a:latin typeface="Roboto Light" panose="02000000000000000000" pitchFamily="2" charset="0"/>
                <a:ea typeface="Roboto Light" panose="02000000000000000000" pitchFamily="2" charset="0"/>
              </a:rPr>
              <a:t>C</a:t>
            </a: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++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Java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Visio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Wordpress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Shopify</a:t>
            </a:r>
          </a:p>
          <a:p>
            <a:pPr>
              <a:buClr>
                <a:srgbClr val="00AB80"/>
              </a:buClr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90956"/>
            <a:ext cx="0" cy="2495244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52FDF9F-B084-9074-7DB9-539AD5456487}"/>
              </a:ext>
            </a:extLst>
          </p:cNvPr>
          <p:cNvGrpSpPr/>
          <p:nvPr/>
        </p:nvGrpSpPr>
        <p:grpSpPr>
          <a:xfrm>
            <a:off x="3428144" y="4252288"/>
            <a:ext cx="4536321" cy="1169551"/>
            <a:chOff x="5030740" y="1885572"/>
            <a:chExt cx="4845492" cy="116955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5059475" y="1885572"/>
              <a:ext cx="4816757" cy="1169551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sz="1000"/>
                <a:t>Ran test scenarios unassisted and followed up with delivery teams on issues encountered.</a:t>
              </a:r>
            </a:p>
            <a:p>
              <a:r>
                <a:rPr lang="en-AU" sz="1000"/>
                <a:t>Ran SQL scripts to identify any data changes going into the reporting environment &amp; assessed the changes with the delivery teams to determine defects or intentional changes for remediation/further impact assessment</a:t>
              </a:r>
            </a:p>
            <a:p>
              <a:r>
                <a:rPr lang="en-AU" sz="1000"/>
                <a:t>Identified additional functional defects within the feature builds and reported them back to delivery teams for remediation.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30740" y="1967574"/>
              <a:ext cx="0" cy="1051883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030771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6"/>
            <a:ext cx="0" cy="662808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246215"/>
            <a:ext cx="1951941" cy="4339650"/>
            <a:chOff x="8106458" y="2681447"/>
            <a:chExt cx="1951941" cy="433965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433965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Google Cloud – Cloud Digital Leader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>
                <a:solidFill>
                  <a:srgbClr val="00AB80"/>
                </a:solidFill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Collibra – Certified Workflow Engineer, Data Steward, Solutions Architect &amp; Integration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>
                <a:solidFill>
                  <a:srgbClr val="00AB80"/>
                </a:solidFill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Agile Scrum Master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>
                <a:solidFill>
                  <a:srgbClr val="00AB80"/>
                </a:solidFill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Master </a:t>
              </a:r>
              <a:r>
                <a:rPr lang="en-GB" sz="120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– Business Information Systems, Monash University</a:t>
              </a:r>
              <a:endParaRPr lang="en-GB"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Bachelor </a:t>
              </a: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-</a:t>
              </a:r>
              <a:r>
                <a:rPr lang="en-AU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Technology Electronics and Communications Engineering, </a:t>
              </a: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National Institute of Technology Delhi</a:t>
              </a:r>
              <a:endParaRPr lang="en-US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3999307"/>
            <a:ext cx="4616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Leading Australian Logistics Organisation – Business Analyst</a:t>
            </a:r>
          </a:p>
          <a:p>
            <a:endParaRPr lang="en-AU" sz="1200" b="1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711189"/>
            <a:ext cx="1470851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Business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Dashboards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Risk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Agile Methodology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Project Coordination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Requirements Gathering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Team Player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6" y="1044151"/>
            <a:ext cx="4894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Leading Australian Logistics </a:t>
            </a:r>
            <a:r>
              <a:rPr lang="en-US" sz="1200" b="1" err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Organisation</a:t>
            </a:r>
            <a:r>
              <a:rPr lang="en-US" sz="1200" b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– Business Analyst</a:t>
            </a:r>
            <a:endParaRPr lang="en-AU" sz="1200" b="1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3ACAB-BBC9-A3AA-740D-EB947374392F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Energy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  <a:latin typeface="Roboto Light"/>
                <a:ea typeface="Roboto Light"/>
                <a:cs typeface="Roboto Light"/>
              </a:rPr>
              <a:t>Higher Education</a:t>
            </a:r>
            <a:endParaRPr lang="en-GB" sz="1200">
              <a:solidFill>
                <a:srgbClr val="00AB80"/>
              </a:solidFill>
              <a:cs typeface="Roboto Ligh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Banking &amp; Insurance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84AD30-7ACB-192E-BD10-C8D543AFCE86}"/>
              </a:ext>
            </a:extLst>
          </p:cNvPr>
          <p:cNvSpPr txBox="1"/>
          <p:nvPr/>
        </p:nvSpPr>
        <p:spPr>
          <a:xfrm>
            <a:off x="3365762" y="5463117"/>
            <a:ext cx="4782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Financial Services Organisation – Business Analyst</a:t>
            </a:r>
          </a:p>
          <a:p>
            <a:endParaRPr lang="en-AU" sz="1200" b="1">
              <a:solidFill>
                <a:srgbClr val="A9358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C50080-AC6B-233E-8274-D8526CFD8B93}"/>
              </a:ext>
            </a:extLst>
          </p:cNvPr>
          <p:cNvGrpSpPr/>
          <p:nvPr/>
        </p:nvGrpSpPr>
        <p:grpSpPr>
          <a:xfrm>
            <a:off x="3424439" y="5690736"/>
            <a:ext cx="4678313" cy="2092881"/>
            <a:chOff x="5023753" y="4106685"/>
            <a:chExt cx="4854376" cy="209288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F1FBA0-DCEA-9EF6-D55B-B59F2F97A759}"/>
                </a:ext>
              </a:extLst>
            </p:cNvPr>
            <p:cNvSpPr txBox="1"/>
            <p:nvPr/>
          </p:nvSpPr>
          <p:spPr>
            <a:xfrm>
              <a:off x="5059474" y="4106685"/>
              <a:ext cx="4818655" cy="2092881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US" sz="1000" dirty="0" err="1">
                  <a:latin typeface="Roboto Light"/>
                  <a:ea typeface="Roboto Light"/>
                  <a:cs typeface="Roboto Light"/>
                </a:rPr>
                <a:t>Optimised</a:t>
              </a:r>
              <a:r>
                <a:rPr lang="en-US" sz="1000">
                  <a:latin typeface="Roboto Light"/>
                  <a:ea typeface="Roboto Light"/>
                  <a:cs typeface="Roboto Light"/>
                </a:rPr>
                <a:t> the </a:t>
              </a:r>
              <a:r>
                <a:rPr lang="en-US" sz="1000" dirty="0">
                  <a:latin typeface="Roboto Light"/>
                  <a:ea typeface="Roboto Light"/>
                  <a:cs typeface="Roboto Light"/>
                </a:rPr>
                <a:t>ServiceNow platform, ensured seamless integration with business processes (Collibra)</a:t>
              </a:r>
            </a:p>
            <a:p>
              <a:r>
                <a:rPr lang="en-US" sz="1000" dirty="0">
                  <a:latin typeface="Roboto Light"/>
                  <a:ea typeface="Roboto Light"/>
                  <a:cs typeface="Roboto Light"/>
                </a:rPr>
                <a:t>Collaborated closely with cross-functional teams, promoted team collaboration and knowledge sharing through Confluence and Jira</a:t>
              </a:r>
            </a:p>
            <a:p>
              <a:r>
                <a:rPr lang="en-US" sz="1000" dirty="0">
                  <a:latin typeface="Roboto Light"/>
                  <a:ea typeface="Roboto Light"/>
                  <a:cs typeface="Roboto Light"/>
                </a:rPr>
                <a:t>Created comprehensive "how-to" guides and knowledge articles, enhancing user understanding and adoption of the ServiceNow platform.</a:t>
              </a:r>
              <a:endParaRPr lang="en-US" dirty="0">
                <a:latin typeface="Roboto Light"/>
                <a:ea typeface="Roboto Light"/>
              </a:endParaRPr>
            </a:p>
            <a:p>
              <a:r>
                <a:rPr lang="en-US" sz="1000" dirty="0">
                  <a:latin typeface="Roboto Light"/>
                  <a:ea typeface="Roboto Light"/>
                  <a:cs typeface="Roboto Light"/>
                </a:rPr>
                <a:t>Led the documentation of key processes and functional requirements, ensuring clarity and consistency across the project lifecycle.</a:t>
              </a:r>
              <a:endParaRPr lang="en-US" dirty="0">
                <a:latin typeface="Roboto Light"/>
                <a:ea typeface="Roboto Light"/>
              </a:endParaRPr>
            </a:p>
            <a:p>
              <a:r>
                <a:rPr lang="en-US" sz="1000" dirty="0">
                  <a:latin typeface="Roboto Light"/>
                  <a:ea typeface="Roboto Light"/>
                  <a:cs typeface="Roboto Light"/>
                </a:rPr>
                <a:t>Presented ServiceNow solutions to stakeholders at various project milestones, ensuring alignment with business needs.</a:t>
              </a:r>
              <a:endParaRPr lang="en-US" dirty="0">
                <a:latin typeface="Roboto Light"/>
                <a:ea typeface="Roboto Light"/>
              </a:endParaRPr>
            </a:p>
            <a:p>
              <a:r>
                <a:rPr lang="en-US" sz="1000" dirty="0">
                  <a:latin typeface="Roboto Light"/>
                  <a:ea typeface="Roboto Light"/>
                  <a:cs typeface="Roboto Light"/>
                </a:rPr>
                <a:t>Conducted thorough technical testing on the ServiceNow platform, identified discrepancies and escalated issues to the technical team for resolution.</a:t>
              </a:r>
            </a:p>
            <a:p>
              <a:endParaRPr lang="en-US" sz="1000" dirty="0">
                <a:cs typeface="Roboto Light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C34A39C-F849-9ECF-FE9D-591FAF225C0B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198160"/>
              <a:ext cx="0" cy="1764157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18352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EDE27A-5D3F-48EC-A4D1-3F35063BDC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BCFD15-CFFF-49AE-B6C5-12DE46320969}">
  <ds:schemaRefs>
    <ds:schemaRef ds:uri="e52cd9e7-35e5-4bd3-9cab-ca6a63c31e52"/>
    <ds:schemaRef ds:uri="http://purl.org/dc/dcmitype/"/>
    <ds:schemaRef ds:uri="http://www.w3.org/XML/1998/namespace"/>
    <ds:schemaRef ds:uri="daf93972-1964-4522-aa34-640805a01c3a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28A6D3B-ED52-4A4F-8DDE-D7D2143B0C0D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715</Words>
  <Application>Microsoft Office PowerPoint</Application>
  <PresentationFormat>Custom</PresentationFormat>
  <Paragraphs>85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1</cp:revision>
  <dcterms:created xsi:type="dcterms:W3CDTF">2019-12-03T01:50:37Z</dcterms:created>
  <dcterms:modified xsi:type="dcterms:W3CDTF">2025-05-05T06:35:05Z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