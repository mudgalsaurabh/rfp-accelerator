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59FF"/>
    <a:srgbClr val="0F2B3F"/>
    <a:srgbClr val="00AB80"/>
    <a:srgbClr val="A935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6CA2B-142D-9721-57A0-0578C4D5B885}" v="138" dt="2024-02-27T06:02:17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renc Uysal" userId="S::direnc.uysal@intelia.com.au::2a92f630-07d4-4511-a559-74d281fb5860" providerId="AD" clId="Web-{AC56CA2B-142D-9721-57A0-0578C4D5B885}"/>
    <pc:docChg chg="modSld">
      <pc:chgData name="Direnc Uysal" userId="S::direnc.uysal@intelia.com.au::2a92f630-07d4-4511-a559-74d281fb5860" providerId="AD" clId="Web-{AC56CA2B-142D-9721-57A0-0578C4D5B885}" dt="2024-02-27T06:02:16.910" v="80" actId="20577"/>
      <pc:docMkLst>
        <pc:docMk/>
      </pc:docMkLst>
      <pc:sldChg chg="modSp">
        <pc:chgData name="Direnc Uysal" userId="S::direnc.uysal@intelia.com.au::2a92f630-07d4-4511-a559-74d281fb5860" providerId="AD" clId="Web-{AC56CA2B-142D-9721-57A0-0578C4D5B885}" dt="2024-02-27T06:02:16.910" v="80" actId="20577"/>
        <pc:sldMkLst>
          <pc:docMk/>
          <pc:sldMk cId="2009923557" sldId="270"/>
        </pc:sldMkLst>
        <pc:spChg chg="mod">
          <ac:chgData name="Direnc Uysal" userId="S::direnc.uysal@intelia.com.au::2a92f630-07d4-4511-a559-74d281fb5860" providerId="AD" clId="Web-{AC56CA2B-142D-9721-57A0-0578C4D5B885}" dt="2024-02-27T06:01:42.831" v="60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irenc Uysal" userId="S::direnc.uysal@intelia.com.au::2a92f630-07d4-4511-a559-74d281fb5860" providerId="AD" clId="Web-{AC56CA2B-142D-9721-57A0-0578C4D5B885}" dt="2024-02-27T05:59:01.187" v="8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irenc Uysal" userId="S::direnc.uysal@intelia.com.au::2a92f630-07d4-4511-a559-74d281fb5860" providerId="AD" clId="Web-{AC56CA2B-142D-9721-57A0-0578C4D5B885}" dt="2024-02-27T06:01:25.674" v="49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irenc Uysal" userId="S::direnc.uysal@intelia.com.au::2a92f630-07d4-4511-a559-74d281fb5860" providerId="AD" clId="Web-{AC56CA2B-142D-9721-57A0-0578C4D5B885}" dt="2024-02-27T05:59:03.718" v="9" actId="20577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irenc Uysal" userId="S::direnc.uysal@intelia.com.au::2a92f630-07d4-4511-a559-74d281fb5860" providerId="AD" clId="Web-{AC56CA2B-142D-9721-57A0-0578C4D5B885}" dt="2024-02-27T06:02:16.910" v="80" actId="20577"/>
          <ac:spMkLst>
            <pc:docMk/>
            <pc:sldMk cId="2009923557" sldId="270"/>
            <ac:spMk id="38" creationId="{AB47A2EE-BF0B-DB05-8B7C-DB6594B2B3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003221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/>
                <a:ea typeface="Roboto"/>
                <a:cs typeface="Roboto"/>
              </a:rPr>
              <a:t>Paul Lucas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34577" y="1588088"/>
            <a:ext cx="2794374" cy="34482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/>
                <a:ea typeface="Roboto Light"/>
                <a:cs typeface="Lato"/>
              </a:rPr>
              <a:t>Paul is Google Cloud Principal Engineer specialising in architecting robust, scalable data solutions on GCP. His expertise lies in streamlining DevOps practices, ensuring CI/CD agility for data pipelines. He's successfully led the design and implementation of  </a:t>
            </a:r>
            <a:r>
              <a:rPr lang="en-AU" sz="1000" spc="13" dirty="0" err="1">
                <a:latin typeface="Roboto Light"/>
                <a:ea typeface="Roboto Light"/>
                <a:cs typeface="Lato"/>
              </a:rPr>
              <a:t>BigQuery</a:t>
            </a:r>
            <a:r>
              <a:rPr lang="en-AU" sz="1000" spc="13" dirty="0">
                <a:latin typeface="Roboto Light"/>
                <a:ea typeface="Roboto Light"/>
                <a:cs typeface="Lato"/>
              </a:rPr>
              <a:t>, Dataflow, and Cloud Composer-based projects, delivering actionable insights from large, complex datasets. </a:t>
            </a:r>
          </a:p>
          <a:p>
            <a:pPr>
              <a:lnSpc>
                <a:spcPts val="1500"/>
              </a:lnSpc>
            </a:pPr>
            <a:endParaRPr lang="en-AU" sz="1000" spc="13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US" sz="1000" spc="13" dirty="0">
                <a:latin typeface="Roboto Light"/>
                <a:ea typeface="Roboto Light"/>
                <a:cs typeface="Lato"/>
              </a:rPr>
              <a:t>He is well-versed in building and managing serverless data warehouses with </a:t>
            </a:r>
            <a:r>
              <a:rPr lang="en-US" sz="1000" spc="13" dirty="0" err="1">
                <a:latin typeface="Roboto Light"/>
                <a:ea typeface="Roboto Light"/>
                <a:cs typeface="Lato"/>
              </a:rPr>
              <a:t>BigQuery</a:t>
            </a:r>
            <a:r>
              <a:rPr lang="en-US" sz="1000" spc="13" dirty="0">
                <a:latin typeface="Roboto Light"/>
                <a:ea typeface="Roboto Light"/>
                <a:cs typeface="Lato"/>
              </a:rPr>
              <a:t>, designing scalable data lakes on Cloud Storage, and implementing advanced analytics solutions with </a:t>
            </a:r>
            <a:r>
              <a:rPr lang="en-US" sz="1000" spc="13" dirty="0" err="1">
                <a:latin typeface="Roboto Light"/>
                <a:ea typeface="Roboto Light"/>
                <a:cs typeface="Lato"/>
              </a:rPr>
              <a:t>DataProc</a:t>
            </a:r>
            <a:r>
              <a:rPr lang="en-US" sz="1000" spc="13" dirty="0">
                <a:latin typeface="Roboto Light"/>
                <a:ea typeface="Roboto Light"/>
                <a:cs typeface="Lato"/>
              </a:rPr>
              <a:t> and Vertex. He has also leveraged Cloud Composer for seamless ETL/ELT processes, ensuring data quality and consistency across hybrid cloud environments.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66854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1018029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/>
                <a:ea typeface="Roboto Light"/>
                <a:cs typeface="Lato"/>
              </a:rPr>
              <a:t>Principal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256920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661603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Looker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err="1">
                <a:latin typeface="Roboto Light" panose="02000000000000000000" pitchFamily="2" charset="0"/>
                <a:ea typeface="Roboto Light" panose="02000000000000000000" pitchFamily="2" charset="0"/>
              </a:rPr>
              <a:t>BigQuery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Java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Alteryx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Linux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Git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Node JS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Teradata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err="1">
                <a:latin typeface="Roboto Light" panose="02000000000000000000" pitchFamily="2" charset="0"/>
                <a:ea typeface="Roboto Light" panose="02000000000000000000" pitchFamily="2" charset="0"/>
              </a:rPr>
              <a:t>PowerBI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555416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3654364"/>
            <a:ext cx="0" cy="224790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964735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48397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200054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Government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Big 4 Consulting Firms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Banking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>
              <a:solidFill>
                <a:srgbClr val="00AB8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1200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180179"/>
            <a:ext cx="1951941" cy="3046988"/>
            <a:chOff x="8106458" y="2681447"/>
            <a:chExt cx="1951941" cy="304698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04698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/>
                  <a:ea typeface="Calibri"/>
                  <a:cs typeface="Roboto Light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Google Cloud Certified | Professional Cloud Architect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Bachelor - Science, Information Technology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/>
                  <a:ea typeface="Calibri"/>
                  <a:cs typeface="Roboto Light"/>
                </a:rPr>
                <a:t>University of Technology, Sydney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40413" y="1028049"/>
            <a:ext cx="4642274" cy="2504718"/>
            <a:chOff x="3335753" y="5068700"/>
            <a:chExt cx="4642274" cy="250471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5068700"/>
              <a:ext cx="3526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Financial Services </a:t>
              </a:r>
              <a:r>
                <a:rPr lang="en-US" sz="1200" b="1" err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r>
                <a:rPr lang="en-US" sz="1200" b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– Data Engineer</a:t>
              </a:r>
              <a:endParaRPr lang="en-AU" sz="1200" b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endParaRPr lang="en-AU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28144" y="5326649"/>
              <a:ext cx="4549883" cy="2246769"/>
              <a:chOff x="5030740" y="2225627"/>
              <a:chExt cx="4859978" cy="224676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4" y="2225627"/>
                <a:ext cx="4831244" cy="2246769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/>
                  <a:t>Led the Looker implementation – designed and deployed the prototype Looker demo at the preliminary stage of Looker adoption</a:t>
                </a:r>
              </a:p>
              <a:p>
                <a:r>
                  <a:rPr lang="en-AU" sz="1000"/>
                  <a:t>Established the standards for </a:t>
                </a:r>
                <a:r>
                  <a:rPr lang="en-AU" sz="1000" err="1"/>
                  <a:t>LookML</a:t>
                </a:r>
                <a:r>
                  <a:rPr lang="en-AU" sz="1000"/>
                  <a:t> development, including defining </a:t>
                </a:r>
                <a:r>
                  <a:rPr lang="en-AU" sz="1000" err="1"/>
                  <a:t>LookML</a:t>
                </a:r>
                <a:r>
                  <a:rPr lang="en-AU" sz="1000"/>
                  <a:t> code guidelines, model standards, Looker build framework, etc</a:t>
                </a:r>
              </a:p>
              <a:p>
                <a:r>
                  <a:rPr lang="en-AU" sz="1000"/>
                  <a:t>Setup Looker environment from scratch, i.e. Looker authentication config, project/data connection config, Git connection &amp; config, etc</a:t>
                </a:r>
              </a:p>
              <a:p>
                <a:r>
                  <a:rPr lang="en-AU" sz="1000"/>
                  <a:t>Designed and developed the Looker semantic layer to enable self-service BI capabilities for business users</a:t>
                </a:r>
              </a:p>
              <a:p>
                <a:r>
                  <a:rPr lang="en-AU" sz="1000"/>
                  <a:t>Designed and built the </a:t>
                </a:r>
                <a:r>
                  <a:rPr lang="en-AU" sz="1000" err="1"/>
                  <a:t>LookML</a:t>
                </a:r>
                <a:r>
                  <a:rPr lang="en-AU" sz="1000"/>
                  <a:t> model &amp; visualisation for custom reporting</a:t>
                </a:r>
              </a:p>
              <a:p>
                <a:r>
                  <a:rPr lang="en-AU" sz="1000"/>
                  <a:t>Implemented the tech operations report in Looker and deployed real-time alerts to support project monitoring</a:t>
                </a:r>
              </a:p>
              <a:p>
                <a:r>
                  <a:rPr lang="en-AU" sz="1000"/>
                  <a:t>Designed data vault modelling &amp; data mappings for business data consumption</a:t>
                </a:r>
              </a:p>
              <a:p>
                <a:endParaRPr lang="en-AU" sz="100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294036"/>
                <a:ext cx="0" cy="1917633"/>
              </a:xfrm>
              <a:prstGeom prst="line">
                <a:avLst/>
              </a:prstGeom>
              <a:ln w="19050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5" y="5661603"/>
            <a:ext cx="1528457" cy="244682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Google Cloud Platform 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Azure Platform</a:t>
            </a:r>
            <a:endParaRPr lang="en-US" dirty="0"/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Data Modeling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DevOps &amp; CI/CD</a:t>
            </a:r>
            <a:endParaRPr lang="en-US" dirty="0"/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Data Science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Deep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Statistical Methods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Data Structures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Data Visualisations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Business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299927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3348579"/>
            <a:ext cx="3526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Large Australian Online Retailer – Data Engineer </a:t>
            </a:r>
            <a:endParaRPr lang="en-AU" sz="1200" b="1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AU" sz="1200" b="1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1" y="3578661"/>
            <a:ext cx="4549073" cy="255454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sz="1000">
                <a:solidFill>
                  <a:schemeClr val="bg1"/>
                </a:solidFill>
              </a:rPr>
              <a:t>Led the superset report migration and initiated reports re-build in Looker </a:t>
            </a:r>
          </a:p>
          <a:p>
            <a:r>
              <a:rPr lang="en-AU" sz="1000">
                <a:solidFill>
                  <a:schemeClr val="bg1"/>
                </a:solidFill>
              </a:rPr>
              <a:t>Established several Looker POCs for Business Central reports re-build using </a:t>
            </a:r>
            <a:r>
              <a:rPr lang="en-AU" sz="1000" err="1">
                <a:solidFill>
                  <a:schemeClr val="bg1"/>
                </a:solidFill>
              </a:rPr>
              <a:t>BigQuery</a:t>
            </a:r>
            <a:r>
              <a:rPr lang="en-AU" sz="1000">
                <a:solidFill>
                  <a:schemeClr val="bg1"/>
                </a:solidFill>
              </a:rPr>
              <a:t> (BQ) live data to help the business better understand reporting performance, scalability and timeline estimate with Looker implementation </a:t>
            </a:r>
          </a:p>
          <a:p>
            <a:r>
              <a:rPr lang="en-AU" sz="1000">
                <a:solidFill>
                  <a:schemeClr val="bg1"/>
                </a:solidFill>
              </a:rPr>
              <a:t>Developed </a:t>
            </a:r>
            <a:r>
              <a:rPr lang="en-AU" sz="1000" err="1">
                <a:solidFill>
                  <a:schemeClr val="bg1"/>
                </a:solidFill>
              </a:rPr>
              <a:t>LookML</a:t>
            </a:r>
            <a:r>
              <a:rPr lang="en-AU" sz="1000">
                <a:solidFill>
                  <a:schemeClr val="bg1"/>
                </a:solidFill>
              </a:rPr>
              <a:t> models and reporting views for Period over Period (</a:t>
            </a:r>
            <a:r>
              <a:rPr lang="en-AU" sz="1000" err="1">
                <a:solidFill>
                  <a:schemeClr val="bg1"/>
                </a:solidFill>
              </a:rPr>
              <a:t>PoP</a:t>
            </a:r>
            <a:r>
              <a:rPr lang="en-AU" sz="1000">
                <a:solidFill>
                  <a:schemeClr val="bg1"/>
                </a:solidFill>
              </a:rPr>
              <a:t>) analysis; Designed and implemented the CDC reconciliation dashboard for real-time data reconciliation in Looker </a:t>
            </a:r>
          </a:p>
          <a:p>
            <a:r>
              <a:rPr lang="en-AU" sz="1000">
                <a:solidFill>
                  <a:schemeClr val="bg1"/>
                </a:solidFill>
              </a:rPr>
              <a:t>Set up Looker environment from scratch – established BQ to </a:t>
            </a:r>
            <a:r>
              <a:rPr lang="en-AU" sz="1000" err="1">
                <a:solidFill>
                  <a:schemeClr val="bg1"/>
                </a:solidFill>
              </a:rPr>
              <a:t>LookML</a:t>
            </a:r>
            <a:r>
              <a:rPr lang="en-AU" sz="1000">
                <a:solidFill>
                  <a:schemeClr val="bg1"/>
                </a:solidFill>
              </a:rPr>
              <a:t> model connection and view structures, configured </a:t>
            </a:r>
            <a:r>
              <a:rPr lang="en-AU" sz="1000" err="1">
                <a:solidFill>
                  <a:schemeClr val="bg1"/>
                </a:solidFill>
              </a:rPr>
              <a:t>LookML</a:t>
            </a:r>
            <a:r>
              <a:rPr lang="en-AU" sz="1000">
                <a:solidFill>
                  <a:schemeClr val="bg1"/>
                </a:solidFill>
              </a:rPr>
              <a:t> project, git connections etc</a:t>
            </a:r>
          </a:p>
          <a:p>
            <a:r>
              <a:rPr lang="en-AU" sz="1000">
                <a:solidFill>
                  <a:schemeClr val="bg1"/>
                </a:solidFill>
              </a:rPr>
              <a:t>Migrated Superset reports onto BQ by re-building reporting logics in BQ, provided guidance to client’s team on BQ report migration </a:t>
            </a:r>
          </a:p>
          <a:p>
            <a:r>
              <a:rPr lang="en-AU" sz="1000">
                <a:solidFill>
                  <a:schemeClr val="bg1"/>
                </a:solidFill>
              </a:rPr>
              <a:t>Worked closely with senior stakeholders to gather business requirements &amp; conducted analysis to prove the business value of ongoing project; Set up GCP monitoring &amp; alerting for streaming data to understand performances</a:t>
            </a:r>
          </a:p>
          <a:p>
            <a:pPr marL="0" indent="0">
              <a:buNone/>
            </a:pPr>
            <a:r>
              <a:rPr lang="en-AU" sz="100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27379" y="5995552"/>
            <a:ext cx="4779079" cy="1724396"/>
            <a:chOff x="3303046" y="6194352"/>
            <a:chExt cx="4779079" cy="172439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441420"/>
              <a:ext cx="4653981" cy="1477328"/>
              <a:chOff x="5023753" y="4494578"/>
              <a:chExt cx="4829128" cy="1477328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93407" cy="1477328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/>
                  <a:t>Built the first pilot project successfully for customers leading payroll analytics solution.</a:t>
                </a:r>
              </a:p>
              <a:p>
                <a:r>
                  <a:rPr lang="en-AU" sz="1000"/>
                  <a:t>Built end-to-end data pipeline from scratch on Google Cloud Platform </a:t>
                </a:r>
              </a:p>
              <a:p>
                <a:r>
                  <a:rPr lang="en-AU" sz="1000"/>
                  <a:t>Worked with stakeholders to formulate data requirements, performing data wrangling and cleansing by leveraging modern ETL tool (Google </a:t>
                </a:r>
                <a:r>
                  <a:rPr lang="en-AU" sz="1000" err="1"/>
                  <a:t>Dataprep</a:t>
                </a:r>
                <a:r>
                  <a:rPr lang="en-AU" sz="1000"/>
                  <a:t>); automating data transformation in Google </a:t>
                </a:r>
                <a:r>
                  <a:rPr lang="en-AU" sz="1000" err="1"/>
                  <a:t>BigQuery</a:t>
                </a:r>
                <a:r>
                  <a:rPr lang="en-AU" sz="1000"/>
                  <a:t>; designing client-facing dashboards and presenting analysis insights in Google Data Studio</a:t>
                </a:r>
              </a:p>
              <a:p>
                <a:r>
                  <a:rPr lang="en-AU" sz="1000"/>
                  <a:t>Optimised data workflow and reduced hour demand by 70% by automating data aggregation and transformation process in </a:t>
                </a:r>
                <a:r>
                  <a:rPr lang="en-AU" sz="1000" err="1"/>
                  <a:t>BigQuery</a:t>
                </a:r>
                <a:r>
                  <a:rPr lang="en-AU" sz="1000"/>
                  <a:t> 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1373696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94352"/>
              <a:ext cx="3526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Big 4 Consulting Firm – Data Engineer</a:t>
              </a:r>
              <a:endParaRPr lang="en-AU" sz="1200" b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Paul Lucas</DisplayName>
        <AccountId>17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851374-134C-4975-BCD8-AB5F26F584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DED3751-8046-450E-BBF0-0C652FE3CD2B}">
  <ds:schemaRefs>
    <ds:schemaRef ds:uri="6230feca-9d7b-41a9-b53d-d6f1bbda9326"/>
    <ds:schemaRef ds:uri="6b920ebc-3252-4293-abd7-b10e8ed2381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e52cd9e7-35e5-4bd3-9cab-ca6a63c31e52"/>
  </ds:schemaRefs>
</ds:datastoreItem>
</file>

<file path=customXml/itemProps3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revision>20</cp:revision>
  <dcterms:created xsi:type="dcterms:W3CDTF">2019-12-03T01:50:37Z</dcterms:created>
  <dcterms:modified xsi:type="dcterms:W3CDTF">2024-02-27T06:02:26Z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