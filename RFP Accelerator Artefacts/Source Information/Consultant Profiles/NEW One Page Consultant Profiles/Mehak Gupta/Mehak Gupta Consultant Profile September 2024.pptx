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6C0E6-D2B1-A201-6B97-76210D2DCCB3}" v="54" dt="2025-12-01T00:15:18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54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y Stoneham" userId="S::barry.stoneham@intelia.com.au::5f69c1b5-44f9-41a7-8703-12ffd697d239" providerId="AD" clId="Web-{2386C0E6-D2B1-A201-6B97-76210D2DCCB3}"/>
    <pc:docChg chg="addSld delSld modSld">
      <pc:chgData name="Barry Stoneham" userId="S::barry.stoneham@intelia.com.au::5f69c1b5-44f9-41a7-8703-12ffd697d239" providerId="AD" clId="Web-{2386C0E6-D2B1-A201-6B97-76210D2DCCB3}" dt="2025-12-01T00:15:15.139" v="28" actId="20577"/>
      <pc:docMkLst>
        <pc:docMk/>
      </pc:docMkLst>
      <pc:sldChg chg="modSp">
        <pc:chgData name="Barry Stoneham" userId="S::barry.stoneham@intelia.com.au::5f69c1b5-44f9-41a7-8703-12ffd697d239" providerId="AD" clId="Web-{2386C0E6-D2B1-A201-6B97-76210D2DCCB3}" dt="2025-12-01T00:15:15.139" v="28" actId="20577"/>
        <pc:sldMkLst>
          <pc:docMk/>
          <pc:sldMk cId="3618352684" sldId="271"/>
        </pc:sldMkLst>
        <pc:spChg chg="mod">
          <ac:chgData name="Barry Stoneham" userId="S::barry.stoneham@intelia.com.au::5f69c1b5-44f9-41a7-8703-12ffd697d239" providerId="AD" clId="Web-{2386C0E6-D2B1-A201-6B97-76210D2DCCB3}" dt="2025-12-01T00:15:15.139" v="28" actId="20577"/>
          <ac:spMkLst>
            <pc:docMk/>
            <pc:sldMk cId="3618352684" sldId="271"/>
            <ac:spMk id="4" creationId="{80F49B2F-21D4-F9EB-049F-717A10CB7D84}"/>
          </ac:spMkLst>
        </pc:spChg>
        <pc:spChg chg="mod">
          <ac:chgData name="Barry Stoneham" userId="S::barry.stoneham@intelia.com.au::5f69c1b5-44f9-41a7-8703-12ffd697d239" providerId="AD" clId="Web-{2386C0E6-D2B1-A201-6B97-76210D2DCCB3}" dt="2025-12-01T00:12:04.755" v="4" actId="20577"/>
          <ac:spMkLst>
            <pc:docMk/>
            <pc:sldMk cId="3618352684" sldId="271"/>
            <ac:spMk id="6" creationId="{701E125D-B356-8A2A-B86B-AB6567CEABE1}"/>
          </ac:spMkLst>
        </pc:spChg>
        <pc:spChg chg="mod">
          <ac:chgData name="Barry Stoneham" userId="S::barry.stoneham@intelia.com.au::5f69c1b5-44f9-41a7-8703-12ffd697d239" providerId="AD" clId="Web-{2386C0E6-D2B1-A201-6B97-76210D2DCCB3}" dt="2025-12-01T00:13:29.290" v="18" actId="20577"/>
          <ac:spMkLst>
            <pc:docMk/>
            <pc:sldMk cId="3618352684" sldId="271"/>
            <ac:spMk id="17" creationId="{1BDE5051-9F34-F139-742D-4450E5D6591E}"/>
          </ac:spMkLst>
        </pc:spChg>
        <pc:spChg chg="mod">
          <ac:chgData name="Barry Stoneham" userId="S::barry.stoneham@intelia.com.au::5f69c1b5-44f9-41a7-8703-12ffd697d239" providerId="AD" clId="Web-{2386C0E6-D2B1-A201-6B97-76210D2DCCB3}" dt="2025-12-01T00:14:28.281" v="23" actId="20577"/>
          <ac:spMkLst>
            <pc:docMk/>
            <pc:sldMk cId="3618352684" sldId="271"/>
            <ac:spMk id="19" creationId="{7513C49A-2DF2-8111-FED4-FC07A8EAD258}"/>
          </ac:spMkLst>
        </pc:spChg>
      </pc:sldChg>
      <pc:sldChg chg="new del">
        <pc:chgData name="Barry Stoneham" userId="S::barry.stoneham@intelia.com.au::5f69c1b5-44f9-41a7-8703-12ffd697d239" providerId="AD" clId="Web-{2386C0E6-D2B1-A201-6B97-76210D2DCCB3}" dt="2025-12-01T00:14:11.853" v="20"/>
        <pc:sldMkLst>
          <pc:docMk/>
          <pc:sldMk cId="332842448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3899192"/>
            <a:ext cx="4536321" cy="1785104"/>
            <a:chOff x="5030740" y="1885572"/>
            <a:chExt cx="4845492" cy="1785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1785104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/>
                <a:t>Engaged with stakeholders -Product, l egal, risk to confirm business requirements</a:t>
              </a:r>
            </a:p>
            <a:p>
              <a:r>
                <a:rPr lang="en-AU" sz="1000" dirty="0"/>
                <a:t>Developed understanding of as-is business processes, mapped requirements to the new Wealth Platform</a:t>
              </a:r>
            </a:p>
            <a:p>
              <a:r>
                <a:rPr lang="en-AU" sz="1000" dirty="0"/>
                <a:t>Ran workshops, worked with Product/Business owners to refine user journeys and prepare user stories</a:t>
              </a:r>
            </a:p>
            <a:p>
              <a:r>
                <a:rPr lang="en-AU" sz="1000" dirty="0"/>
                <a:t>Managed sprint deliverables and product backlog, delivered end to end features</a:t>
              </a:r>
            </a:p>
            <a:p>
              <a:r>
                <a:rPr lang="en-AU" sz="1000" dirty="0"/>
                <a:t>Participated &amp; conducted agile ceremonies, daily stand ups, sprint planning, review and retrospective sessions</a:t>
              </a:r>
            </a:p>
            <a:p>
              <a:endParaRPr lang="en-AU" sz="10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1967574"/>
              <a:ext cx="0" cy="148113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646211"/>
            <a:ext cx="4616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Organisation – Business Analyst</a:t>
            </a: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493115"/>
            <a:ext cx="4782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Software Organisation – Business Analyst</a:t>
            </a: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12085"/>
            <a:ext cx="4627427" cy="240065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 dirty="0">
                <a:solidFill>
                  <a:schemeClr val="bg1"/>
                </a:solidFill>
              </a:rPr>
              <a:t>Developed comprehensive business requirements and functional specs for review by both business and development teams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Conducted User Acceptance Testing (UAT) </a:t>
            </a:r>
          </a:p>
          <a:p>
            <a:r>
              <a:rPr lang="en-AU" sz="1000">
                <a:solidFill>
                  <a:schemeClr val="bg1"/>
                </a:solidFill>
              </a:rPr>
              <a:t>Conducted daily </a:t>
            </a:r>
            <a:r>
              <a:rPr lang="en-AU" sz="1000" dirty="0">
                <a:solidFill>
                  <a:schemeClr val="bg1"/>
                </a:solidFill>
              </a:rPr>
              <a:t>stand-ups, as well as weekly team reflections and retrospectives with the project team</a:t>
            </a:r>
          </a:p>
          <a:p>
            <a:r>
              <a:rPr lang="en-AU" sz="1000" dirty="0">
                <a:solidFill>
                  <a:schemeClr val="bg1"/>
                </a:solidFill>
              </a:rPr>
              <a:t>Took on the role of implementation manager, producing detailed implementation run sheets for project success</a:t>
            </a:r>
          </a:p>
          <a:p>
            <a:r>
              <a:rPr lang="en-AU" sz="1000" dirty="0">
                <a:solidFill>
                  <a:schemeClr val="bg1"/>
                </a:solidFill>
              </a:rPr>
              <a:t>Led project management efforts, acting as the main liaison between clients and internal teams to align on goals, standards, and deadlines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Defined system interfaces and functional requirements to enhance usability and operational efficiency</a:t>
            </a:r>
          </a:p>
          <a:p>
            <a:r>
              <a:rPr lang="en-AU" sz="1000" dirty="0">
                <a:solidFill>
                  <a:schemeClr val="bg1"/>
                </a:solidFill>
              </a:rPr>
              <a:t>Facilitated meetings and delivered presentations to communicate ideas and key findings</a:t>
            </a:r>
          </a:p>
          <a:p>
            <a:r>
              <a:rPr lang="en-AU" sz="1000" dirty="0">
                <a:solidFill>
                  <a:schemeClr val="bg1"/>
                </a:solidFill>
              </a:rPr>
              <a:t>Identified inefficiencies through gap analysis and proposed practical solutions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Mehak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Gupta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0617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/>
                <a:ea typeface="Roboto Light"/>
                <a:cs typeface="Lato"/>
              </a:rPr>
              <a:t>Mehak is a Project Management / Lead and </a:t>
            </a:r>
            <a:r>
              <a:rPr lang="en-AU" sz="1000" spc="13" dirty="0">
                <a:latin typeface="Roboto Light"/>
                <a:ea typeface="Roboto Light"/>
                <a:cs typeface="Roboto Light"/>
              </a:rPr>
              <a:t>Senior Business Analyst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Professional, with over 15 years of diverse experience in Banking and Financial services, Logistics, Retail, Superannuation, Core Banking and Digital transformation projects with leading Consulting and IT services Firms.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 a Certified PMP, Scrum Master, Product Owner and Avaloq Banking Professional, Mehak is experienced in working with Financial Institutions spanning Australia, Singapore and the UK.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committed and driven professional, Mehak has excellent interpersonal skills, a professional attitude and ability to manage projects independently or as a team member.</a:t>
            </a: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224857"/>
            <a:ext cx="2991223" cy="24267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619492"/>
            <a:ext cx="1510046" cy="1754326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Change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IT Service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SDLC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Process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ITIL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Scrum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Problem Solver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Team Leadership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Mentoring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523353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0956"/>
            <a:ext cx="0" cy="2202849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30771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64850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46215"/>
            <a:ext cx="1951941" cy="3970318"/>
            <a:chOff x="8106458" y="2681447"/>
            <a:chExt cx="1951941" cy="397031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97031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Collibra – Certified Workflow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PMP Certified – Project Management Professional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Scrum.org Certified – Scrum Master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Master </a:t>
              </a:r>
              <a:r>
                <a:rPr lang="en-GB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– Business Information Systems, Monash University</a:t>
              </a:r>
              <a:endParaRPr lang="en-GB" dirty="0"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-</a:t>
              </a: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Technology Electronics and Communications Engineering,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National Institute of Technology Delhi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592880"/>
            <a:ext cx="1470851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Project Lead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Solution Design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Process Improvement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Risk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Methodology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Gathering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267864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44151"/>
            <a:ext cx="489495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Leading Australian Logistics </a:t>
            </a:r>
            <a:r>
              <a:rPr lang="en-US" sz="1200" b="1" err="1">
                <a:solidFill>
                  <a:srgbClr val="0059FF"/>
                </a:solidFill>
                <a:latin typeface="Roboto"/>
                <a:ea typeface="Roboto"/>
                <a:cs typeface="Roboto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 – Business Analyst</a:t>
            </a:r>
            <a:endParaRPr lang="en-AU" sz="1200" b="1">
              <a:solidFill>
                <a:srgbClr val="0059FF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5765662"/>
            <a:ext cx="4678313" cy="2246769"/>
            <a:chOff x="5023753" y="4106685"/>
            <a:chExt cx="4854376" cy="22467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106685"/>
              <a:ext cx="4818655" cy="2246769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/>
                <a:t>Developed understanding, translated and mapped clients’ business requirements to the product offering</a:t>
              </a:r>
            </a:p>
            <a:p>
              <a:r>
                <a:rPr lang="en-AU" sz="1000" dirty="0">
                  <a:latin typeface="Roboto Light"/>
                  <a:ea typeface="Roboto Light"/>
                  <a:cs typeface="Roboto Light"/>
                </a:rPr>
                <a:t>Conduct</a:t>
              </a:r>
            </a:p>
            <a:p>
              <a:r>
                <a:rPr lang="en-AU" sz="1000" dirty="0">
                  <a:latin typeface="Roboto Light"/>
                  <a:ea typeface="Roboto Light"/>
                  <a:cs typeface="Roboto Light"/>
                </a:rPr>
                <a:t>ed product demonstrations to educate both clients and channel/implementation partners</a:t>
              </a:r>
              <a:endParaRPr lang="en-AU">
                <a:latin typeface="Roboto Light"/>
                <a:ea typeface="Roboto Light"/>
                <a:cs typeface="Roboto Light"/>
              </a:endParaRPr>
            </a:p>
            <a:p>
              <a:r>
                <a:rPr lang="en-AU" sz="1000" dirty="0"/>
                <a:t>Defined user journeys in collaboration with UI/UX designers</a:t>
              </a:r>
            </a:p>
            <a:p>
              <a:r>
                <a:rPr lang="en-AU" sz="1000" dirty="0"/>
                <a:t>Bridged sales and product management teams to arrive at a comprehensive solution proposal</a:t>
              </a:r>
            </a:p>
            <a:p>
              <a:r>
                <a:rPr lang="en-AU" sz="1000" dirty="0"/>
                <a:t>Interfaced with the implementation/project team to articulate customer requirements</a:t>
              </a:r>
            </a:p>
            <a:p>
              <a:r>
                <a:rPr lang="en-AU" sz="1000" dirty="0"/>
                <a:t>Developed and managed client and implementation partner relationships</a:t>
              </a:r>
            </a:p>
            <a:p>
              <a:r>
                <a:rPr lang="en-AU" sz="1000" dirty="0"/>
                <a:t>Provided feedback to product management on current offerings and input on product enhancements</a:t>
              </a:r>
            </a:p>
            <a:p>
              <a:endParaRPr lang="en-AU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76894"/>
              <a:ext cx="0" cy="1815698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Higher Education</a:t>
            </a:r>
            <a:endParaRPr lang="en-GB" sz="1200" dirty="0">
              <a:solidFill>
                <a:srgbClr val="00AB80"/>
              </a:solidFill>
              <a:cs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c47ef95b9713089033158719b54b4a5e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8ba88bb982429f9a676a142392c9bb04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A4430AB-F3B8-409D-B5D0-9650C4A059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8902</TotalTime>
  <Words>490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46</cp:revision>
  <dcterms:created xsi:type="dcterms:W3CDTF">2019-12-03T01:50:37Z</dcterms:created>
  <dcterms:modified xsi:type="dcterms:W3CDTF">2025-12-01T00:15:22Z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