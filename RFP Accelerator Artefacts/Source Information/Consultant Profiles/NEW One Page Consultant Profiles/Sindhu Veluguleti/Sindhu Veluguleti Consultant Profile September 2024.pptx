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9FF"/>
    <a:srgbClr val="0F2B3F"/>
    <a:srgbClr val="00AB80"/>
    <a:srgbClr val="A935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878" y="96"/>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A48413E9-C7F5-4F46-988C-D001E48BF5CF}"/>
    <pc:docChg chg="undo custSel modSld">
      <pc:chgData name="Darcy Roach" userId="ba676ee9-e9b4-49e8-a515-8077106c948d" providerId="ADAL" clId="{A48413E9-C7F5-4F46-988C-D001E48BF5CF}" dt="2024-09-10T04:59:13.910" v="1103" actId="20577"/>
      <pc:docMkLst>
        <pc:docMk/>
      </pc:docMkLst>
      <pc:sldChg chg="addSp delSp modSp mod">
        <pc:chgData name="Darcy Roach" userId="ba676ee9-e9b4-49e8-a515-8077106c948d" providerId="ADAL" clId="{A48413E9-C7F5-4F46-988C-D001E48BF5CF}" dt="2024-09-10T04:59:13.910" v="1103" actId="20577"/>
        <pc:sldMkLst>
          <pc:docMk/>
          <pc:sldMk cId="2009923557" sldId="270"/>
        </pc:sldMkLst>
        <pc:spChg chg="mod">
          <ac:chgData name="Darcy Roach" userId="ba676ee9-e9b4-49e8-a515-8077106c948d" providerId="ADAL" clId="{A48413E9-C7F5-4F46-988C-D001E48BF5CF}" dt="2024-09-10T04:28:59.413" v="734" actId="20577"/>
          <ac:spMkLst>
            <pc:docMk/>
            <pc:sldMk cId="2009923557" sldId="270"/>
            <ac:spMk id="2" creationId="{2FA774CA-3857-9308-4D38-9414B0CC2B95}"/>
          </ac:spMkLst>
        </pc:spChg>
        <pc:spChg chg="mod">
          <ac:chgData name="Darcy Roach" userId="ba676ee9-e9b4-49e8-a515-8077106c948d" providerId="ADAL" clId="{A48413E9-C7F5-4F46-988C-D001E48BF5CF}" dt="2024-09-10T03:15:08.677" v="478" actId="20577"/>
          <ac:spMkLst>
            <pc:docMk/>
            <pc:sldMk cId="2009923557" sldId="270"/>
            <ac:spMk id="4" creationId="{80F49B2F-21D4-F9EB-049F-717A10CB7D84}"/>
          </ac:spMkLst>
        </pc:spChg>
        <pc:spChg chg="mod">
          <ac:chgData name="Darcy Roach" userId="ba676ee9-e9b4-49e8-a515-8077106c948d" providerId="ADAL" clId="{A48413E9-C7F5-4F46-988C-D001E48BF5CF}" dt="2024-09-10T04:49:57.111" v="904" actId="20577"/>
          <ac:spMkLst>
            <pc:docMk/>
            <pc:sldMk cId="2009923557" sldId="270"/>
            <ac:spMk id="6" creationId="{701E125D-B356-8A2A-B86B-AB6567CEABE1}"/>
          </ac:spMkLst>
        </pc:spChg>
        <pc:spChg chg="mod">
          <ac:chgData name="Darcy Roach" userId="ba676ee9-e9b4-49e8-a515-8077106c948d" providerId="ADAL" clId="{A48413E9-C7F5-4F46-988C-D001E48BF5CF}" dt="2024-09-10T04:53:29.174" v="945"/>
          <ac:spMkLst>
            <pc:docMk/>
            <pc:sldMk cId="2009923557" sldId="270"/>
            <ac:spMk id="8" creationId="{59FEB941-5146-6B10-4E4D-8A4ADE918AEF}"/>
          </ac:spMkLst>
        </pc:spChg>
        <pc:spChg chg="mod">
          <ac:chgData name="Darcy Roach" userId="ba676ee9-e9b4-49e8-a515-8077106c948d" providerId="ADAL" clId="{A48413E9-C7F5-4F46-988C-D001E48BF5CF}" dt="2024-09-10T04:48:13.900" v="853" actId="20577"/>
          <ac:spMkLst>
            <pc:docMk/>
            <pc:sldMk cId="2009923557" sldId="270"/>
            <ac:spMk id="10" creationId="{06312B81-BCF1-2796-C112-3DBE0E02F483}"/>
          </ac:spMkLst>
        </pc:spChg>
        <pc:spChg chg="mod">
          <ac:chgData name="Darcy Roach" userId="ba676ee9-e9b4-49e8-a515-8077106c948d" providerId="ADAL" clId="{A48413E9-C7F5-4F46-988C-D001E48BF5CF}" dt="2024-09-10T00:36:01.944" v="29" actId="20577"/>
          <ac:spMkLst>
            <pc:docMk/>
            <pc:sldMk cId="2009923557" sldId="270"/>
            <ac:spMk id="13" creationId="{FD2720C9-A79F-BD7F-E179-674AD67D7892}"/>
          </ac:spMkLst>
        </pc:spChg>
        <pc:spChg chg="mod">
          <ac:chgData name="Darcy Roach" userId="ba676ee9-e9b4-49e8-a515-8077106c948d" providerId="ADAL" clId="{A48413E9-C7F5-4F46-988C-D001E48BF5CF}" dt="2024-09-10T01:26:12.617" v="360" actId="1076"/>
          <ac:spMkLst>
            <pc:docMk/>
            <pc:sldMk cId="2009923557" sldId="270"/>
            <ac:spMk id="16" creationId="{7E35B594-218B-9758-86B8-379A2D52014C}"/>
          </ac:spMkLst>
        </pc:spChg>
        <pc:spChg chg="add del mod">
          <ac:chgData name="Darcy Roach" userId="ba676ee9-e9b4-49e8-a515-8077106c948d" providerId="ADAL" clId="{A48413E9-C7F5-4F46-988C-D001E48BF5CF}" dt="2024-09-10T01:26:35.611" v="361" actId="478"/>
          <ac:spMkLst>
            <pc:docMk/>
            <pc:sldMk cId="2009923557" sldId="270"/>
            <ac:spMk id="17" creationId="{86E56FD9-4E87-93B3-9CDF-5DA6A98D7CC7}"/>
          </ac:spMkLst>
        </pc:spChg>
        <pc:spChg chg="mod">
          <ac:chgData name="Darcy Roach" userId="ba676ee9-e9b4-49e8-a515-8077106c948d" providerId="ADAL" clId="{A48413E9-C7F5-4F46-988C-D001E48BF5CF}" dt="2024-09-10T04:57:48.224" v="1015" actId="14100"/>
          <ac:spMkLst>
            <pc:docMk/>
            <pc:sldMk cId="2009923557" sldId="270"/>
            <ac:spMk id="19" creationId="{7513C49A-2DF2-8111-FED4-FC07A8EAD258}"/>
          </ac:spMkLst>
        </pc:spChg>
        <pc:spChg chg="mod">
          <ac:chgData name="Darcy Roach" userId="ba676ee9-e9b4-49e8-a515-8077106c948d" providerId="ADAL" clId="{A48413E9-C7F5-4F46-988C-D001E48BF5CF}" dt="2024-09-10T00:36:06.573" v="36" actId="20577"/>
          <ac:spMkLst>
            <pc:docMk/>
            <pc:sldMk cId="2009923557" sldId="270"/>
            <ac:spMk id="22" creationId="{9D4E289E-1D52-CBDD-E381-40963429D7F1}"/>
          </ac:spMkLst>
        </pc:spChg>
        <pc:spChg chg="mod">
          <ac:chgData name="Darcy Roach" userId="ba676ee9-e9b4-49e8-a515-8077106c948d" providerId="ADAL" clId="{A48413E9-C7F5-4F46-988C-D001E48BF5CF}" dt="2024-09-10T04:26:50.357" v="632" actId="20577"/>
          <ac:spMkLst>
            <pc:docMk/>
            <pc:sldMk cId="2009923557" sldId="270"/>
            <ac:spMk id="26" creationId="{1A3D666D-00C8-D106-73C3-9FF300F8618C}"/>
          </ac:spMkLst>
        </pc:spChg>
        <pc:spChg chg="mod">
          <ac:chgData name="Darcy Roach" userId="ba676ee9-e9b4-49e8-a515-8077106c948d" providerId="ADAL" clId="{A48413E9-C7F5-4F46-988C-D001E48BF5CF}" dt="2024-09-10T04:59:13.910" v="1103" actId="20577"/>
          <ac:spMkLst>
            <pc:docMk/>
            <pc:sldMk cId="2009923557" sldId="270"/>
            <ac:spMk id="28" creationId="{6059F888-3BDF-A1C0-65E5-CB6FDD43D97C}"/>
          </ac:spMkLst>
        </pc:spChg>
        <pc:spChg chg="mod ord">
          <ac:chgData name="Darcy Roach" userId="ba676ee9-e9b4-49e8-a515-8077106c948d" providerId="ADAL" clId="{A48413E9-C7F5-4F46-988C-D001E48BF5CF}" dt="2024-09-10T01:15:45.007" v="207" actId="20577"/>
          <ac:spMkLst>
            <pc:docMk/>
            <pc:sldMk cId="2009923557" sldId="270"/>
            <ac:spMk id="34" creationId="{918A7F92-3316-08FB-509F-21C3938C9792}"/>
          </ac:spMkLst>
        </pc:spChg>
        <pc:spChg chg="mod">
          <ac:chgData name="Darcy Roach" userId="ba676ee9-e9b4-49e8-a515-8077106c948d" providerId="ADAL" clId="{A48413E9-C7F5-4F46-988C-D001E48BF5CF}" dt="2024-09-10T03:20:58.099" v="627" actId="20577"/>
          <ac:spMkLst>
            <pc:docMk/>
            <pc:sldMk cId="2009923557" sldId="270"/>
            <ac:spMk id="38" creationId="{AB47A2EE-BF0B-DB05-8B7C-DB6594B2B3D5}"/>
          </ac:spMkLst>
        </pc:spChg>
        <pc:spChg chg="mod">
          <ac:chgData name="Darcy Roach" userId="ba676ee9-e9b4-49e8-a515-8077106c948d" providerId="ADAL" clId="{A48413E9-C7F5-4F46-988C-D001E48BF5CF}" dt="2024-09-10T04:54:14.265" v="946" actId="1076"/>
          <ac:spMkLst>
            <pc:docMk/>
            <pc:sldMk cId="2009923557" sldId="270"/>
            <ac:spMk id="39" creationId="{3EA81938-6A76-B850-B0E8-A5F905AEBA98}"/>
          </ac:spMkLst>
        </pc:spChg>
        <pc:grpChg chg="mod">
          <ac:chgData name="Darcy Roach" userId="ba676ee9-e9b4-49e8-a515-8077106c948d" providerId="ADAL" clId="{A48413E9-C7F5-4F46-988C-D001E48BF5CF}" dt="2024-09-10T04:54:14.265" v="946" actId="1076"/>
          <ac:grpSpMkLst>
            <pc:docMk/>
            <pc:sldMk cId="2009923557" sldId="270"/>
            <ac:grpSpMk id="5" creationId="{980A06B1-0A2F-7DF6-91DB-0F6DFA896A23}"/>
          </ac:grpSpMkLst>
        </pc:grpChg>
        <pc:cxnChg chg="mod">
          <ac:chgData name="Darcy Roach" userId="ba676ee9-e9b4-49e8-a515-8077106c948d" providerId="ADAL" clId="{A48413E9-C7F5-4F46-988C-D001E48BF5CF}" dt="2024-09-10T04:48:38.755" v="854" actId="1076"/>
          <ac:cxnSpMkLst>
            <pc:docMk/>
            <pc:sldMk cId="2009923557" sldId="270"/>
            <ac:cxnSpMk id="3" creationId="{67C34E10-2CF8-9BCA-1CC6-D78A3FF9CA80}"/>
          </ac:cxnSpMkLst>
        </pc:cxnChg>
        <pc:cxnChg chg="mod">
          <ac:chgData name="Darcy Roach" userId="ba676ee9-e9b4-49e8-a515-8077106c948d" providerId="ADAL" clId="{A48413E9-C7F5-4F46-988C-D001E48BF5CF}" dt="2024-09-10T00:38:57.505" v="100" actId="14100"/>
          <ac:cxnSpMkLst>
            <pc:docMk/>
            <pc:sldMk cId="2009923557" sldId="270"/>
            <ac:cxnSpMk id="170" creationId="{0D51728F-48BB-14BB-256E-5F0C0284BCDF}"/>
          </ac:cxnSpMkLst>
        </pc:cxnChg>
      </pc:sldChg>
    </pc:docChg>
  </pc:docChgLst>
  <pc:docChgLst>
    <pc:chgData name="Darcy Roach" userId="ba676ee9-e9b4-49e8-a515-8077106c948d" providerId="ADAL" clId="{93CA6C6F-529B-4A4F-B82C-6E8D10BBC26D}"/>
    <pc:docChg chg="modSld">
      <pc:chgData name="Darcy Roach" userId="ba676ee9-e9b4-49e8-a515-8077106c948d" providerId="ADAL" clId="{93CA6C6F-529B-4A4F-B82C-6E8D10BBC26D}" dt="2024-09-23T03:40:41.841" v="20" actId="20577"/>
      <pc:docMkLst>
        <pc:docMk/>
      </pc:docMkLst>
      <pc:sldChg chg="modSp mod">
        <pc:chgData name="Darcy Roach" userId="ba676ee9-e9b4-49e8-a515-8077106c948d" providerId="ADAL" clId="{93CA6C6F-529B-4A4F-B82C-6E8D10BBC26D}" dt="2024-09-23T03:40:41.841" v="20" actId="20577"/>
        <pc:sldMkLst>
          <pc:docMk/>
          <pc:sldMk cId="2009923557" sldId="270"/>
        </pc:sldMkLst>
        <pc:spChg chg="mod">
          <ac:chgData name="Darcy Roach" userId="ba676ee9-e9b4-49e8-a515-8077106c948d" providerId="ADAL" clId="{93CA6C6F-529B-4A4F-B82C-6E8D10BBC26D}" dt="2024-09-23T03:40:41.841" v="20" actId="20577"/>
          <ac:spMkLst>
            <pc:docMk/>
            <pc:sldMk cId="2009923557" sldId="270"/>
            <ac:spMk id="34" creationId="{918A7F92-3316-08FB-509F-21C3938C9792}"/>
          </ac:spMkLst>
        </pc:spChg>
        <pc:cxnChg chg="mod">
          <ac:chgData name="Darcy Roach" userId="ba676ee9-e9b4-49e8-a515-8077106c948d" providerId="ADAL" clId="{93CA6C6F-529B-4A4F-B82C-6E8D10BBC26D}" dt="2024-09-12T01:45:52.764" v="0" actId="14100"/>
          <ac:cxnSpMkLst>
            <pc:docMk/>
            <pc:sldMk cId="2009923557" sldId="270"/>
            <ac:cxnSpMk id="21" creationId="{B0913DE4-461D-CE43-AABC-C4B3D7D22F45}"/>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9/23/2024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9/23/2024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9/23/2024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9/23/2024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918A7F92-3316-08FB-509F-21C3938C9792}"/>
              </a:ext>
            </a:extLst>
          </p:cNvPr>
          <p:cNvSpPr txBox="1"/>
          <p:nvPr/>
        </p:nvSpPr>
        <p:spPr>
          <a:xfrm>
            <a:off x="8118489" y="1456630"/>
            <a:ext cx="1951941" cy="89255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Government</a:t>
            </a:r>
          </a:p>
          <a:p>
            <a:pPr marL="0" indent="0">
              <a:lnSpc>
                <a:spcPct val="150000"/>
              </a:lnSpc>
              <a:buNone/>
            </a:pPr>
            <a:r>
              <a:rPr lang="en-GB" sz="1200" dirty="0">
                <a:solidFill>
                  <a:srgbClr val="00AB80"/>
                </a:solidFill>
              </a:rPr>
              <a:t>Property</a:t>
            </a:r>
          </a:p>
          <a:p>
            <a:pPr marL="0" indent="0">
              <a:lnSpc>
                <a:spcPct val="150000"/>
              </a:lnSpc>
              <a:buNone/>
            </a:pPr>
            <a:r>
              <a:rPr lang="en-GB" sz="1200" dirty="0">
                <a:solidFill>
                  <a:srgbClr val="00AB80"/>
                </a:solidFill>
              </a:rPr>
              <a:t>Education</a:t>
            </a: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003221"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Sindhu</a:t>
            </a:r>
          </a:p>
          <a:p>
            <a:r>
              <a:rPr lang="en-US" sz="2800" b="1" dirty="0">
                <a:solidFill>
                  <a:srgbClr val="00AB80"/>
                </a:solidFill>
                <a:latin typeface="Roboto" panose="02000000000000000000" pitchFamily="2" charset="0"/>
                <a:ea typeface="Roboto" panose="02000000000000000000" pitchFamily="2" charset="0"/>
              </a:rPr>
              <a:t>Veluguleti</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66854"/>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1018029"/>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256920"/>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37162" y="5661603"/>
            <a:ext cx="1510046" cy="20313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Azure</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PowerBI</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JSON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CSS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Linux</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Git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555416"/>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3491889"/>
            <a:ext cx="0" cy="1922708"/>
          </a:xfrm>
          <a:prstGeom prst="line">
            <a:avLst/>
          </a:prstGeom>
          <a:ln w="19050">
            <a:solidFill>
              <a:srgbClr val="ED7D31"/>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494199"/>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623063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2709643"/>
            <a:ext cx="1963972" cy="3046988"/>
            <a:chOff x="8106458" y="2681447"/>
            <a:chExt cx="1963972" cy="304698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63972" cy="3046988"/>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Google Cloud Certified | Professional Data Engineer </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Microsoft | Certified Associate</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Masters – Data Science University of Melbourne </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Bachelor – Technology, Computer Science</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Lakireddy Bali Reddy College of Engineering</a:t>
              </a: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grpSp>
        <p:nvGrpSpPr>
          <p:cNvPr id="12" name="Group 11">
            <a:extLst>
              <a:ext uri="{FF2B5EF4-FFF2-40B4-BE49-F238E27FC236}">
                <a16:creationId xmlns:a16="http://schemas.microsoft.com/office/drawing/2014/main" id="{C465E181-1D5D-D878-8A71-F5848AAF858F}"/>
              </a:ext>
            </a:extLst>
          </p:cNvPr>
          <p:cNvGrpSpPr/>
          <p:nvPr/>
        </p:nvGrpSpPr>
        <p:grpSpPr>
          <a:xfrm>
            <a:off x="3340413" y="1028049"/>
            <a:ext cx="4642274" cy="2196941"/>
            <a:chOff x="3335753" y="5068700"/>
            <a:chExt cx="4642274" cy="2196941"/>
          </a:xfrm>
        </p:grpSpPr>
        <p:sp>
          <p:nvSpPr>
            <p:cNvPr id="2" name="TextBox 1">
              <a:extLst>
                <a:ext uri="{FF2B5EF4-FFF2-40B4-BE49-F238E27FC236}">
                  <a16:creationId xmlns:a16="http://schemas.microsoft.com/office/drawing/2014/main" id="{2FA774CA-3857-9308-4D38-9414B0CC2B95}"/>
                </a:ext>
              </a:extLst>
            </p:cNvPr>
            <p:cNvSpPr txBox="1"/>
            <p:nvPr/>
          </p:nvSpPr>
          <p:spPr>
            <a:xfrm>
              <a:off x="3335753" y="5068700"/>
              <a:ext cx="3933897" cy="461665"/>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Australian Government </a:t>
              </a:r>
              <a:r>
                <a:rPr lang="en-US" sz="1200" b="1" dirty="0" err="1">
                  <a:solidFill>
                    <a:srgbClr val="0059FF"/>
                  </a:solidFill>
                  <a:latin typeface="Roboto" panose="02000000000000000000" pitchFamily="2" charset="0"/>
                  <a:ea typeface="Roboto" panose="02000000000000000000" pitchFamily="2" charset="0"/>
                </a:rPr>
                <a:t>Organisation</a:t>
              </a:r>
              <a:r>
                <a:rPr lang="en-US" sz="1200" b="1" dirty="0">
                  <a:solidFill>
                    <a:srgbClr val="0059FF"/>
                  </a:solidFill>
                  <a:latin typeface="Roboto" panose="02000000000000000000" pitchFamily="2" charset="0"/>
                  <a:ea typeface="Roboto" panose="02000000000000000000" pitchFamily="2" charset="0"/>
                </a:rPr>
                <a:t> – Data Engineer</a:t>
              </a:r>
              <a:endParaRPr lang="en-AU" sz="1200" b="1" dirty="0">
                <a:solidFill>
                  <a:srgbClr val="0059FF"/>
                </a:solidFill>
                <a:latin typeface="Roboto" panose="02000000000000000000" pitchFamily="2" charset="0"/>
                <a:ea typeface="Roboto" panose="02000000000000000000" pitchFamily="2" charset="0"/>
              </a:endParaRPr>
            </a:p>
            <a:p>
              <a:endParaRPr lang="en-AU" sz="1200" b="1" dirty="0">
                <a:solidFill>
                  <a:srgbClr val="ED7D31"/>
                </a:solidFill>
                <a:latin typeface="Roboto" panose="02000000000000000000" pitchFamily="2" charset="0"/>
                <a:ea typeface="Roboto" panose="02000000000000000000" pitchFamily="2" charset="0"/>
              </a:endParaRPr>
            </a:p>
          </p:txBody>
        </p:sp>
        <p:grpSp>
          <p:nvGrpSpPr>
            <p:cNvPr id="163" name="Group 162">
              <a:extLst>
                <a:ext uri="{FF2B5EF4-FFF2-40B4-BE49-F238E27FC236}">
                  <a16:creationId xmlns:a16="http://schemas.microsoft.com/office/drawing/2014/main" id="{E52FDF9F-B084-9074-7DB9-539AD5456487}"/>
                </a:ext>
              </a:extLst>
            </p:cNvPr>
            <p:cNvGrpSpPr/>
            <p:nvPr/>
          </p:nvGrpSpPr>
          <p:grpSpPr>
            <a:xfrm>
              <a:off x="3428144" y="5326649"/>
              <a:ext cx="4549883" cy="1938992"/>
              <a:chOff x="5030740" y="2225627"/>
              <a:chExt cx="4859978" cy="1938992"/>
            </a:xfrm>
          </p:grpSpPr>
          <p:sp>
            <p:nvSpPr>
              <p:cNvPr id="10" name="TextBox 9">
                <a:extLst>
                  <a:ext uri="{FF2B5EF4-FFF2-40B4-BE49-F238E27FC236}">
                    <a16:creationId xmlns:a16="http://schemas.microsoft.com/office/drawing/2014/main" id="{06312B81-BCF1-2796-C112-3DBE0E02F483}"/>
                  </a:ext>
                </a:extLst>
              </p:cNvPr>
              <p:cNvSpPr txBox="1"/>
              <p:nvPr/>
            </p:nvSpPr>
            <p:spPr>
              <a:xfrm>
                <a:off x="5059474" y="2225627"/>
                <a:ext cx="4831244"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Designed interactive and visually appealing Power BI dashboards to provide key insights and analytics based on business needs and user requirements.</a:t>
                </a:r>
              </a:p>
              <a:p>
                <a:r>
                  <a:rPr lang="en-AU" sz="1000" dirty="0"/>
                  <a:t>Integrated the tabular models into Power BI, enabling seamless data refreshes and real-time data analysis.</a:t>
                </a:r>
              </a:p>
              <a:p>
                <a:r>
                  <a:rPr lang="en-AU" sz="1000" dirty="0"/>
                  <a:t>Developed a Unified Enterprise Data Model - Crafted an integrated data model tailored to meet specifications.</a:t>
                </a:r>
              </a:p>
              <a:p>
                <a:r>
                  <a:rPr lang="en-AU" sz="1000" dirty="0"/>
                  <a:t>Designed Data Sourcing and Ingestion Pipelines - Created automated pipelines to optimise data sourcing, streamline data flow, and ensure punctual and precise data delivery, leveraged Microsoft's SSIS functionality.</a:t>
                </a:r>
              </a:p>
              <a:p>
                <a:r>
                  <a:rPr lang="en-AU" sz="1000" dirty="0"/>
                  <a:t>Engaged with Stakeholders to Elicit Requirements and Define Project Objectives - Clarified needs, aligning expectations, and setting clear, actionable project goals to ensure successful outcomes.</a:t>
                </a: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2294036"/>
                <a:ext cx="0" cy="1562807"/>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grpSp>
      <p:sp>
        <p:nvSpPr>
          <p:cNvPr id="4" name="TextBox 3">
            <a:extLst>
              <a:ext uri="{FF2B5EF4-FFF2-40B4-BE49-F238E27FC236}">
                <a16:creationId xmlns:a16="http://schemas.microsoft.com/office/drawing/2014/main" id="{80F49B2F-21D4-F9EB-049F-717A10CB7D84}"/>
              </a:ext>
            </a:extLst>
          </p:cNvPr>
          <p:cNvSpPr txBox="1"/>
          <p:nvPr/>
        </p:nvSpPr>
        <p:spPr>
          <a:xfrm>
            <a:off x="131065" y="5661603"/>
            <a:ext cx="1528457" cy="20313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Science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Visualisation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Artificial Intelligence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Machine Learning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Deep Learning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t>
            </a:r>
            <a:r>
              <a:rPr lang="en-AU" sz="900" dirty="0" err="1">
                <a:latin typeface="Roboto Light" panose="02000000000000000000" pitchFamily="2" charset="0"/>
                <a:ea typeface="Roboto Light" panose="02000000000000000000" pitchFamily="2" charset="0"/>
              </a:rPr>
              <a:t>takeholder</a:t>
            </a:r>
            <a:r>
              <a:rPr lang="en-AU" sz="900" dirty="0">
                <a:latin typeface="Roboto Light" panose="02000000000000000000" pitchFamily="2" charset="0"/>
                <a:ea typeface="Roboto Light" panose="02000000000000000000" pitchFamily="2" charset="0"/>
              </a:rPr>
              <a:t>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Mentoring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Problem Solving</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299927"/>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3186104"/>
            <a:ext cx="4023794" cy="461665"/>
          </a:xfrm>
          <a:prstGeom prst="rect">
            <a:avLst/>
          </a:prstGeom>
          <a:noFill/>
        </p:spPr>
        <p:txBody>
          <a:bodyPr wrap="square" rtlCol="0">
            <a:spAutoFit/>
          </a:bodyPr>
          <a:lstStyle/>
          <a:p>
            <a:r>
              <a:rPr lang="en-US" sz="1200" b="1" dirty="0">
                <a:solidFill>
                  <a:srgbClr val="ED7D31"/>
                </a:solidFill>
                <a:latin typeface="Roboto" panose="02000000000000000000" pitchFamily="2" charset="0"/>
                <a:ea typeface="Roboto" panose="02000000000000000000" pitchFamily="2" charset="0"/>
              </a:rPr>
              <a:t>Australian Construction </a:t>
            </a:r>
            <a:r>
              <a:rPr lang="en-US" sz="1200" b="1" dirty="0" err="1">
                <a:solidFill>
                  <a:srgbClr val="ED7D31"/>
                </a:solidFill>
                <a:latin typeface="Roboto" panose="02000000000000000000" pitchFamily="2" charset="0"/>
                <a:ea typeface="Roboto" panose="02000000000000000000" pitchFamily="2" charset="0"/>
              </a:rPr>
              <a:t>Organisation</a:t>
            </a:r>
            <a:r>
              <a:rPr lang="en-US" sz="1200" b="1" dirty="0">
                <a:solidFill>
                  <a:srgbClr val="ED7D31"/>
                </a:solidFill>
                <a:latin typeface="Roboto" panose="02000000000000000000" pitchFamily="2" charset="0"/>
                <a:ea typeface="Roboto" panose="02000000000000000000" pitchFamily="2" charset="0"/>
              </a:rPr>
              <a:t> – Data Engineer </a:t>
            </a:r>
            <a:endParaRPr lang="en-AU" sz="1200" b="1" dirty="0">
              <a:solidFill>
                <a:srgbClr val="ED7D31"/>
              </a:solidFill>
              <a:latin typeface="Roboto" panose="02000000000000000000" pitchFamily="2" charset="0"/>
              <a:ea typeface="Roboto" panose="02000000000000000000" pitchFamily="2" charset="0"/>
            </a:endParaRPr>
          </a:p>
          <a:p>
            <a:endParaRPr lang="en-AU" sz="1200" b="1" dirty="0">
              <a:solidFill>
                <a:srgbClr val="ED7D31"/>
              </a:solidFill>
              <a:latin typeface="Roboto" panose="02000000000000000000" pitchFamily="2" charset="0"/>
              <a:ea typeface="Roboto" panose="02000000000000000000" pitchFamily="2" charset="0"/>
            </a:endParaRP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3416186"/>
            <a:ext cx="4566838" cy="209288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r>
              <a:rPr lang="en-AU" sz="1000" dirty="0">
                <a:solidFill>
                  <a:schemeClr val="bg1"/>
                </a:solidFill>
              </a:rPr>
              <a:t>Provided comprehensive support and development for Power BI, SSIS, SSRS, and the EDM Platform, enhanced data management, reporting, and analytics capabilities across the organisation.</a:t>
            </a:r>
          </a:p>
          <a:p>
            <a:r>
              <a:rPr lang="en-AU" sz="1000" dirty="0">
                <a:solidFill>
                  <a:schemeClr val="bg1"/>
                </a:solidFill>
              </a:rPr>
              <a:t>Designed and developed interactive Power BI dashboards and SSRS reports tailored to meet stakeholder needs and business goals.</a:t>
            </a:r>
          </a:p>
          <a:p>
            <a:r>
              <a:rPr lang="en-AU" sz="1000" dirty="0">
                <a:solidFill>
                  <a:schemeClr val="bg1"/>
                </a:solidFill>
              </a:rPr>
              <a:t>Engaged actively with stakeholders and clients to gather requirements, provide updates, and ensure the dashboards and reports effectively supported decision-making processes.</a:t>
            </a:r>
          </a:p>
          <a:p>
            <a:r>
              <a:rPr lang="en-AU" sz="1000" dirty="0">
                <a:solidFill>
                  <a:schemeClr val="bg1"/>
                </a:solidFill>
              </a:rPr>
              <a:t>Handled data modelling tasks to structure and optimise data for analysis and reporting.</a:t>
            </a:r>
          </a:p>
          <a:p>
            <a:r>
              <a:rPr lang="en-AU" sz="1000" dirty="0">
                <a:solidFill>
                  <a:schemeClr val="bg1"/>
                </a:solidFill>
              </a:rPr>
              <a:t>Ran initiatives aimed at improving data processes and analytics capabilities</a:t>
            </a:r>
          </a:p>
          <a:p>
            <a:r>
              <a:rPr lang="en-AU" sz="1000" dirty="0">
                <a:solidFill>
                  <a:schemeClr val="bg1"/>
                </a:solidFill>
              </a:rPr>
              <a:t>Aligned platform operations with DevOps practices to streamline processes and enhance productivity.</a:t>
            </a:r>
          </a:p>
        </p:txBody>
      </p:sp>
      <p:grpSp>
        <p:nvGrpSpPr>
          <p:cNvPr id="9" name="Group 8">
            <a:extLst>
              <a:ext uri="{FF2B5EF4-FFF2-40B4-BE49-F238E27FC236}">
                <a16:creationId xmlns:a16="http://schemas.microsoft.com/office/drawing/2014/main" id="{E7DD910D-15D0-5CBC-B70B-D2480ECA3DCA}"/>
              </a:ext>
            </a:extLst>
          </p:cNvPr>
          <p:cNvGrpSpPr/>
          <p:nvPr/>
        </p:nvGrpSpPr>
        <p:grpSpPr>
          <a:xfrm>
            <a:off x="3327379" y="5548923"/>
            <a:ext cx="4637086" cy="2186060"/>
            <a:chOff x="3303046" y="6194352"/>
            <a:chExt cx="4637086" cy="2186060"/>
          </a:xfrm>
        </p:grpSpPr>
        <p:grpSp>
          <p:nvGrpSpPr>
            <p:cNvPr id="18" name="Group 17">
              <a:extLst>
                <a:ext uri="{FF2B5EF4-FFF2-40B4-BE49-F238E27FC236}">
                  <a16:creationId xmlns:a16="http://schemas.microsoft.com/office/drawing/2014/main" id="{E0B3FDFC-4A78-346F-E1D4-E183BEB90A60}"/>
                </a:ext>
              </a:extLst>
            </p:cNvPr>
            <p:cNvGrpSpPr/>
            <p:nvPr/>
          </p:nvGrpSpPr>
          <p:grpSpPr>
            <a:xfrm>
              <a:off x="3412332" y="6441420"/>
              <a:ext cx="4527800" cy="1938992"/>
              <a:chOff x="5007346" y="4494578"/>
              <a:chExt cx="4698198" cy="1938992"/>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494578"/>
                <a:ext cx="4646070"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Pipeline Design and Integration - Built an end-to-end TensorFlow Extended (TFX) pipeline to predict demand based on Spatial data, leveraging Google Cloud solutions such as Vertex AI, Big Query and GCS </a:t>
                </a:r>
              </a:p>
              <a:p>
                <a:r>
                  <a:rPr lang="en-AU" sz="1000" dirty="0"/>
                  <a:t>Data Management with Google Cloud - Utilised </a:t>
                </a:r>
                <a:r>
                  <a:rPr lang="en-AU" sz="1000" dirty="0" err="1"/>
                  <a:t>BigQuery</a:t>
                </a:r>
                <a:r>
                  <a:rPr lang="en-AU" sz="1000" dirty="0"/>
                  <a:t> for managing large datasets of spatial information and Google Cloud Storage (GCS) for efficient data storage and accessibility across the pipeline stages. </a:t>
                </a:r>
              </a:p>
              <a:p>
                <a:r>
                  <a:rPr lang="en-AU" sz="1000" dirty="0"/>
                  <a:t>Machine Learning Model Development - Deployed the trained models on Vertex AI, ensuring scalable model serving capabilities and real-time demand prediction using spatial data. </a:t>
                </a:r>
              </a:p>
              <a:p>
                <a:r>
                  <a:rPr lang="en-AU" sz="1000" dirty="0"/>
                  <a:t>Model Deployment and Serving - Implemented continuous monitoring and performance tuning of the machine learning models, using Vertex AI’s monitoring tools to optimise accuracy and reduce latency in predictions.</a:t>
                </a: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07346" y="4579160"/>
                <a:ext cx="0" cy="1812355"/>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03046" y="6194352"/>
              <a:ext cx="4278378" cy="276999"/>
            </a:xfrm>
            <a:prstGeom prst="rect">
              <a:avLst/>
            </a:prstGeom>
            <a:noFill/>
          </p:spPr>
          <p:txBody>
            <a:bodyPr wrap="square" rtlCol="0">
              <a:spAutoFit/>
            </a:bodyPr>
            <a:lstStyle/>
            <a:p>
              <a:r>
                <a:rPr lang="en-US" sz="1200" b="1" dirty="0">
                  <a:solidFill>
                    <a:srgbClr val="A93584"/>
                  </a:solidFill>
                  <a:latin typeface="Roboto" panose="02000000000000000000" pitchFamily="2" charset="0"/>
                  <a:ea typeface="Roboto" panose="02000000000000000000" pitchFamily="2" charset="0"/>
                </a:rPr>
                <a:t>Large Cloud Technology Provider – GCP Data Engineer</a:t>
              </a:r>
              <a:endParaRPr lang="en-AU" sz="1200" b="1" dirty="0">
                <a:solidFill>
                  <a:srgbClr val="A93584"/>
                </a:solidFill>
                <a:latin typeface="Roboto" panose="02000000000000000000" pitchFamily="2" charset="0"/>
                <a:ea typeface="Roboto" panose="02000000000000000000" pitchFamily="2" charset="0"/>
              </a:endParaRPr>
            </a:p>
          </p:txBody>
        </p:sp>
      </p:grpSp>
      <p:sp>
        <p:nvSpPr>
          <p:cNvPr id="16" name="TextBox 15">
            <a:extLst>
              <a:ext uri="{FF2B5EF4-FFF2-40B4-BE49-F238E27FC236}">
                <a16:creationId xmlns:a16="http://schemas.microsoft.com/office/drawing/2014/main" id="{7E35B594-218B-9758-86B8-379A2D52014C}"/>
              </a:ext>
            </a:extLst>
          </p:cNvPr>
          <p:cNvSpPr txBox="1"/>
          <p:nvPr/>
        </p:nvSpPr>
        <p:spPr>
          <a:xfrm>
            <a:off x="234577" y="1608123"/>
            <a:ext cx="2975870" cy="3446456"/>
          </a:xfrm>
          <a:prstGeom prst="rect">
            <a:avLst/>
          </a:prstGeom>
          <a:noFill/>
        </p:spPr>
        <p:txBody>
          <a:bodyPr wrap="square" lIns="0" tIns="0" rIns="0" bIns="0" rtlCol="0" anchor="t">
            <a:spAutoFit/>
          </a:bodyPr>
          <a:lstStyle>
            <a:defPPr>
              <a:defRPr lang="en-US"/>
            </a:defPPr>
            <a:lvl1pPr>
              <a:lnSpc>
                <a:spcPts val="1500"/>
              </a:lnSpc>
              <a:defRPr sz="1000" spc="13">
                <a:solidFill>
                  <a:schemeClr val="bg1"/>
                </a:solidFill>
                <a:latin typeface="Roboto Light" panose="02000000000000000000" pitchFamily="2" charset="0"/>
                <a:ea typeface="Roboto Light" panose="02000000000000000000" pitchFamily="2" charset="0"/>
                <a:cs typeface="Lato" panose="020F0502020204030203" pitchFamily="34" charset="0"/>
              </a:defRPr>
            </a:lvl1pPr>
          </a:lstStyle>
          <a:p>
            <a:r>
              <a:rPr lang="en-AU" dirty="0">
                <a:solidFill>
                  <a:schemeClr val="tx1"/>
                </a:solidFill>
              </a:rPr>
              <a:t>Sindhu is a highly skilled Google Cloud Certified Data Engineer, with project experience in organisations covering Government and Private Sectors. She is passionate about enhancing business processes and decision-making capabilities with data-driven insights and solutions. </a:t>
            </a:r>
          </a:p>
          <a:p>
            <a:endParaRPr lang="en-AU" dirty="0">
              <a:solidFill>
                <a:schemeClr val="tx1"/>
              </a:solidFill>
            </a:endParaRPr>
          </a:p>
          <a:p>
            <a:r>
              <a:rPr lang="en-AU" dirty="0">
                <a:solidFill>
                  <a:schemeClr val="tx1"/>
                </a:solidFill>
              </a:rPr>
              <a:t>In addition,  Sindhu has great know-how in applying statistical machine learning, artificial intelligence, and natural language processing techniques to solve business problems, she also has strong capability in data visualisation and creating interactive dashboards and reports for stakeholders in tools such as Power BI, Tableau and Looker.</a:t>
            </a:r>
          </a:p>
          <a:p>
            <a:endParaRPr lang="en-AU" dirty="0">
              <a:solidFill>
                <a:schemeClr val="tx1"/>
              </a:solidFill>
            </a:endParaRPr>
          </a:p>
          <a:p>
            <a:r>
              <a:rPr lang="en-AU" dirty="0">
                <a:solidFill>
                  <a:schemeClr val="tx1"/>
                </a:solidFill>
              </a:rPr>
              <a:t>In her spare time, she also volunteers as a stem mentor at the University of Melbourne, supporting students in their data science journeys. </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DED3751-8046-450E-BBF0-0C652FE3CD2B}">
  <ds:schemaRefs>
    <ds:schemaRef ds:uri="http://schemas.microsoft.com/office/2006/documentManagement/types"/>
    <ds:schemaRef ds:uri="http://schemas.microsoft.com/office/infopath/2007/PartnerControls"/>
    <ds:schemaRef ds:uri="daf93972-1964-4522-aa34-640805a01c3a"/>
    <ds:schemaRef ds:uri="http://purl.org/dc/elements/1.1/"/>
    <ds:schemaRef ds:uri="e52cd9e7-35e5-4bd3-9cab-ca6a63c31e52"/>
    <ds:schemaRef ds:uri="http://schemas.microsoft.com/office/2006/metadata/properties"/>
    <ds:schemaRef ds:uri="http://www.w3.org/XML/1998/namespace"/>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05604DA7-C5E1-49DD-8C41-CCB449994644}">
  <ds:schemaRefs>
    <ds:schemaRef ds:uri="http://schemas.microsoft.com/sharepoint/v3/contenttype/forms"/>
  </ds:schemaRefs>
</ds:datastoreItem>
</file>

<file path=customXml/itemProps3.xml><?xml version="1.0" encoding="utf-8"?>
<ds:datastoreItem xmlns:ds="http://schemas.openxmlformats.org/officeDocument/2006/customXml" ds:itemID="{48404738-B430-4EA4-9F77-CD985C1EDC50}">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263</TotalTime>
  <Words>576</Words>
  <Application>Microsoft Office PowerPoint</Application>
  <PresentationFormat>Custom</PresentationFormat>
  <Paragraphs>68</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2</cp:revision>
  <dcterms:created xsi:type="dcterms:W3CDTF">2019-12-03T01:50:37Z</dcterms:created>
  <dcterms:modified xsi:type="dcterms:W3CDTF">2024-09-23T03:40:49Z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