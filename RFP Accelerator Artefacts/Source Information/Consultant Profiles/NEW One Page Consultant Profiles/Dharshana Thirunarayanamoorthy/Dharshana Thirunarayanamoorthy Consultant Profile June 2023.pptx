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B80"/>
    <a:srgbClr val="A93584"/>
    <a:srgbClr val="0F2B3F"/>
    <a:srgbClr val="0059FF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8E5324-857F-44A4-9D08-4B9339C3935F}" v="4" dt="2023-07-24T07:36:25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2"/>
    <p:restoredTop sz="96357" autoAdjust="0"/>
  </p:normalViewPr>
  <p:slideViewPr>
    <p:cSldViewPr snapToGrid="0">
      <p:cViewPr varScale="1">
        <p:scale>
          <a:sx n="59" d="100"/>
          <a:sy n="59" d="100"/>
        </p:scale>
        <p:origin x="1372" y="28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o Parente" userId="S::emilio.parente@intelia.com.au::01da3a18-a8c9-4a65-a55b-c6794ec7dcc4" providerId="AD" clId="Web-{CE8E5324-857F-44A4-9D08-4B9339C3935F}"/>
    <pc:docChg chg="modSld">
      <pc:chgData name="Emilio Parente" userId="S::emilio.parente@intelia.com.au::01da3a18-a8c9-4a65-a55b-c6794ec7dcc4" providerId="AD" clId="Web-{CE8E5324-857F-44A4-9D08-4B9339C3935F}" dt="2023-07-24T07:36:25.691" v="1" actId="20577"/>
      <pc:docMkLst>
        <pc:docMk/>
      </pc:docMkLst>
      <pc:sldChg chg="modSp">
        <pc:chgData name="Emilio Parente" userId="S::emilio.parente@intelia.com.au::01da3a18-a8c9-4a65-a55b-c6794ec7dcc4" providerId="AD" clId="Web-{CE8E5324-857F-44A4-9D08-4B9339C3935F}" dt="2023-07-24T07:36:25.691" v="1" actId="20577"/>
        <pc:sldMkLst>
          <pc:docMk/>
          <pc:sldMk cId="2009923557" sldId="270"/>
        </pc:sldMkLst>
        <pc:spChg chg="mod">
          <ac:chgData name="Emilio Parente" userId="S::emilio.parente@intelia.com.au::01da3a18-a8c9-4a65-a55b-c6794ec7dcc4" providerId="AD" clId="Web-{CE8E5324-857F-44A4-9D08-4B9339C3935F}" dt="2023-07-24T07:36:25.691" v="1" actId="20577"/>
          <ac:spMkLst>
            <pc:docMk/>
            <pc:sldMk cId="2009923557" sldId="270"/>
            <ac:spMk id="17" creationId="{1BDE5051-9F34-F139-742D-4450E5D6591E}"/>
          </ac:spMkLst>
        </pc:spChg>
      </pc:sldChg>
    </pc:docChg>
  </pc:docChgLst>
  <pc:docChgLst>
    <pc:chgData name="Darcy Roach" userId="ba676ee9-e9b4-49e8-a515-8077106c948d" providerId="ADAL" clId="{28278C2A-797D-450B-B606-CD4F194B296E}"/>
    <pc:docChg chg="modSld">
      <pc:chgData name="Darcy Roach" userId="ba676ee9-e9b4-49e8-a515-8077106c948d" providerId="ADAL" clId="{28278C2A-797D-450B-B606-CD4F194B296E}" dt="2023-07-03T03:14:20.105" v="5" actId="20577"/>
      <pc:docMkLst>
        <pc:docMk/>
      </pc:docMkLst>
      <pc:sldChg chg="modSp mod">
        <pc:chgData name="Darcy Roach" userId="ba676ee9-e9b4-49e8-a515-8077106c948d" providerId="ADAL" clId="{28278C2A-797D-450B-B606-CD4F194B296E}" dt="2023-07-03T03:14:20.105" v="5" actId="20577"/>
        <pc:sldMkLst>
          <pc:docMk/>
          <pc:sldMk cId="2009923557" sldId="270"/>
        </pc:sldMkLst>
        <pc:spChg chg="mod">
          <ac:chgData name="Darcy Roach" userId="ba676ee9-e9b4-49e8-a515-8077106c948d" providerId="ADAL" clId="{28278C2A-797D-450B-B606-CD4F194B296E}" dt="2023-07-03T03:14:09.566" v="0" actId="2057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28278C2A-797D-450B-B606-CD4F194B296E}" dt="2023-07-03T03:14:20.105" v="5" actId="20577"/>
          <ac:spMkLst>
            <pc:docMk/>
            <pc:sldMk cId="2009923557" sldId="270"/>
            <ac:spMk id="17" creationId="{1BDE5051-9F34-F139-742D-4450E5D6591E}"/>
          </ac:spMkLst>
        </pc:spChg>
      </pc:sldChg>
    </pc:docChg>
  </pc:docChgLst>
  <pc:docChgLst>
    <pc:chgData name="Darcy Roach" userId="ba676ee9-e9b4-49e8-a515-8077106c948d" providerId="ADAL" clId="{97279A0E-65CB-4E1F-9D0B-A7C8C736F902}"/>
    <pc:docChg chg="modSld">
      <pc:chgData name="Darcy Roach" userId="ba676ee9-e9b4-49e8-a515-8077106c948d" providerId="ADAL" clId="{97279A0E-65CB-4E1F-9D0B-A7C8C736F902}" dt="2023-07-06T23:04:40.872" v="4" actId="404"/>
      <pc:docMkLst>
        <pc:docMk/>
      </pc:docMkLst>
      <pc:sldChg chg="modSp mod">
        <pc:chgData name="Darcy Roach" userId="ba676ee9-e9b4-49e8-a515-8077106c948d" providerId="ADAL" clId="{97279A0E-65CB-4E1F-9D0B-A7C8C736F902}" dt="2023-07-06T23:04:40.872" v="4" actId="404"/>
        <pc:sldMkLst>
          <pc:docMk/>
          <pc:sldMk cId="2009923557" sldId="270"/>
        </pc:sldMkLst>
        <pc:spChg chg="mod">
          <ac:chgData name="Darcy Roach" userId="ba676ee9-e9b4-49e8-a515-8077106c948d" providerId="ADAL" clId="{97279A0E-65CB-4E1F-9D0B-A7C8C736F902}" dt="2023-07-06T23:04:40.872" v="4" actId="404"/>
          <ac:spMkLst>
            <pc:docMk/>
            <pc:sldMk cId="2009923557" sldId="270"/>
            <ac:spMk id="13" creationId="{FD2720C9-A79F-BD7F-E179-674AD67D78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68085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Dharshana</a:t>
            </a:r>
          </a:p>
          <a:p>
            <a:r>
              <a:rPr lang="en-US" sz="20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Thirunarayanamoorthy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50509" y="1634583"/>
            <a:ext cx="2928002" cy="33855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AU" sz="1000" spc="13" dirty="0">
                <a:latin typeface="Roboto Light"/>
                <a:ea typeface="Roboto Light"/>
                <a:cs typeface="Lato"/>
              </a:rPr>
              <a:t>Dharshana is a Senior Business Intelligence and Azure Data Engineer with 15 years' experience in Leadership, Design, Development, and Implementation of end-to-end data solutions on-prem and in the cloud.</a:t>
            </a:r>
          </a:p>
          <a:p>
            <a:pPr algn="l"/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r>
              <a:rPr lang="en-AU" sz="1000" spc="13" dirty="0">
                <a:latin typeface="Roboto Light"/>
                <a:ea typeface="Roboto Light"/>
                <a:cs typeface="Lato"/>
              </a:rPr>
              <a:t>A Microsoft Certified Azure Developer and Technology Specialist Dharshana has working experience across the Banking, Financial Services, Education, Health and Airline Travel sectors. </a:t>
            </a:r>
          </a:p>
          <a:p>
            <a:r>
              <a:rPr lang="en-AU" sz="1000" spc="13" dirty="0">
                <a:latin typeface="Roboto Light"/>
                <a:ea typeface="Roboto Light"/>
                <a:cs typeface="Lato"/>
              </a:rPr>
              <a:t>Dharshana has a solid foundation in Database Design, Data Modelling, ELT/ETL, MDM, Database warehousing architecture, Data integration and developing advanced scalable reporting solutions. </a:t>
            </a:r>
          </a:p>
          <a:p>
            <a:pPr algn="l"/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r>
              <a:rPr lang="en-AU" sz="1000" spc="13" dirty="0">
                <a:latin typeface="Roboto Light"/>
                <a:ea typeface="Roboto Light"/>
                <a:cs typeface="Lato"/>
              </a:rPr>
              <a:t>Dharshana also has experience as a Delivery Lead where she has led teams to deliver data projects and technical/solution design while adopting Agile Methodologies. Dharshana is enthusiastic about developing and implementing improvements in software methodologies and technologies to achieve and deliver value to delight the customer.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693950"/>
            <a:ext cx="1510046" cy="258532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Microsoft 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GCP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PySpark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PowerShell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SSAS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Power BI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Qlik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JIRA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Confluence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C#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buClr>
                <a:srgbClr val="00AB80"/>
              </a:buClr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19232"/>
            <a:ext cx="0" cy="2224068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048197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530959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263641"/>
            <a:ext cx="1951941" cy="3046988"/>
            <a:chOff x="8106458" y="2681447"/>
            <a:chExt cx="1951941" cy="304698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Microsoft Certified |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Azure Developer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Microsoft Certified |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Technology Specialist – BI &amp; Database Development</a:t>
              </a: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Maste</a:t>
              </a: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Business Administration | </a:t>
              </a: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Loyola Institute </a:t>
              </a: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–Engineering, Electronics &amp; Communication | </a:t>
              </a: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Anna University</a:t>
              </a: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27339" y="5698493"/>
            <a:ext cx="1557991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Wrangling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Cloud Computing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Project Delivery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Leadership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Software Development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1026883"/>
            <a:ext cx="463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Australian Big 4 Banking </a:t>
            </a:r>
            <a:r>
              <a:rPr lang="en-US" sz="1200" b="1" dirty="0" err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Organisation</a:t>
            </a: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– Senior Data Engineer</a:t>
            </a: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en-AU" sz="1200" b="1" dirty="0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E989F-A988-8C86-5720-1FE5B119EB30}"/>
              </a:ext>
            </a:extLst>
          </p:cNvPr>
          <p:cNvSpPr txBox="1"/>
          <p:nvPr/>
        </p:nvSpPr>
        <p:spPr>
          <a:xfrm>
            <a:off x="3463961" y="1232965"/>
            <a:ext cx="4586204" cy="2431435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sz="1000" dirty="0">
                <a:solidFill>
                  <a:schemeClr val="bg1"/>
                </a:solidFill>
              </a:rPr>
              <a:t>Lead a team of engineers through the delivery process from design, development to successful implementation of initiatives across; Market Risk, Credit Risk, Treasury Risk, Conduct and Compliance Risk &amp; Regulatory Compliance. Responsibilities of this role include:</a:t>
            </a:r>
          </a:p>
          <a:p>
            <a:r>
              <a:rPr lang="en-AU" sz="1000" dirty="0">
                <a:solidFill>
                  <a:schemeClr val="bg1"/>
                </a:solidFill>
              </a:rPr>
              <a:t>Administration &amp; Maintenance of cloud resources, Production Incident, Risk monitoring, after hours/on-call support using Azure monitoring, App insights, Log Analytics and co-ordinate remediation activities.</a:t>
            </a:r>
          </a:p>
          <a:p>
            <a:r>
              <a:rPr lang="en-AU" sz="1000" dirty="0">
                <a:solidFill>
                  <a:schemeClr val="bg1"/>
                </a:solidFill>
              </a:rPr>
              <a:t>Migrated on-premises SQL Server database and applications to Azure</a:t>
            </a:r>
          </a:p>
          <a:p>
            <a:r>
              <a:rPr lang="en-AU" sz="1000" dirty="0">
                <a:solidFill>
                  <a:schemeClr val="bg1"/>
                </a:solidFill>
              </a:rPr>
              <a:t>Configured and Maintained CI/CD pipelines in Azure </a:t>
            </a:r>
            <a:r>
              <a:rPr lang="en-AU" sz="1000" dirty="0" err="1">
                <a:solidFill>
                  <a:schemeClr val="bg1"/>
                </a:solidFill>
              </a:rPr>
              <a:t>Devops</a:t>
            </a:r>
            <a:r>
              <a:rPr lang="en-AU" sz="1000" dirty="0">
                <a:solidFill>
                  <a:schemeClr val="bg1"/>
                </a:solidFill>
              </a:rPr>
              <a:t> across multiple projects, coordinate production release activities, go/no-go decisions, designed release plans coordinated with stakeholders</a:t>
            </a:r>
          </a:p>
          <a:p>
            <a:r>
              <a:rPr lang="en-AU" sz="1000" dirty="0">
                <a:solidFill>
                  <a:schemeClr val="bg1"/>
                </a:solidFill>
              </a:rPr>
              <a:t>Efficient delivery of quality audit evidence, including walkthroughs, control identification, control design assessments and control operating effectiveness testing.</a:t>
            </a:r>
          </a:p>
          <a:p>
            <a:r>
              <a:rPr lang="en-AU" sz="1000" dirty="0">
                <a:solidFill>
                  <a:schemeClr val="bg1"/>
                </a:solidFill>
              </a:rPr>
              <a:t>Code review, coaching, solution design and consulting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C004A0F-26FD-81BE-0DC7-EDCD01D4194B}"/>
              </a:ext>
            </a:extLst>
          </p:cNvPr>
          <p:cNvGrpSpPr/>
          <p:nvPr/>
        </p:nvGrpSpPr>
        <p:grpSpPr>
          <a:xfrm>
            <a:off x="3335753" y="3651616"/>
            <a:ext cx="5029198" cy="2313129"/>
            <a:chOff x="3335753" y="2997642"/>
            <a:chExt cx="5029198" cy="245698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4" y="3336592"/>
              <a:ext cx="0" cy="201463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2997642"/>
              <a:ext cx="50291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Financial Services Company – Senior Data Analyst</a:t>
              </a:r>
            </a:p>
            <a:p>
              <a:endPara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644C1D-FE62-9752-27C7-42A94F729A86}"/>
                </a:ext>
              </a:extLst>
            </p:cNvPr>
            <p:cNvSpPr txBox="1"/>
            <p:nvPr/>
          </p:nvSpPr>
          <p:spPr>
            <a:xfrm>
              <a:off x="3455046" y="3198896"/>
              <a:ext cx="4423172" cy="2255726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endParaRPr lang="en-US" sz="200" dirty="0"/>
            </a:p>
            <a:p>
              <a:r>
                <a:rPr lang="en-AU" sz="1000" dirty="0"/>
                <a:t>Designed and built VAGO’s data warehouse that integrates the data from multiple Financial/Payroll operational systems such as Oracle financials, &amp; SAP financial accounting to establish a common normalised format on Azure IaaS and PaaS platforms</a:t>
              </a:r>
            </a:p>
            <a:p>
              <a:r>
                <a:rPr lang="en-AU" sz="1000" dirty="0"/>
                <a:t>Automated and streamlined the data collection on a regular on-going basis from various public sector entities across different platforms and operational systems defining the overall BI data architecture</a:t>
              </a:r>
            </a:p>
            <a:p>
              <a:r>
                <a:rPr lang="en-AU" sz="1000" dirty="0"/>
                <a:t>Reformatted data to the data warehouse’s model, corrected data issues and standardised data across different sources</a:t>
              </a:r>
            </a:p>
            <a:p>
              <a:r>
                <a:rPr lang="en-AU" sz="1000" dirty="0"/>
                <a:t>Ensured organisational DA Services deliver reliable, feature rich, and cost-effective services within agreed service levels to support strategy</a:t>
              </a:r>
            </a:p>
            <a:p>
              <a:r>
                <a:rPr lang="en-AU" sz="1000" dirty="0"/>
                <a:t>Provided advanced technical skill and leadership in the design, development, control, and use of audit data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E936835-C132-4204-2E91-FE9D8E6EC671}"/>
              </a:ext>
            </a:extLst>
          </p:cNvPr>
          <p:cNvSpPr txBox="1"/>
          <p:nvPr/>
        </p:nvSpPr>
        <p:spPr>
          <a:xfrm>
            <a:off x="8118489" y="1456630"/>
            <a:ext cx="1951941" cy="144655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Big 4 Bank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Education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Health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Airline Travel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927CF3-C0AD-7B0E-CC21-BDD13E4FAF2F}"/>
              </a:ext>
            </a:extLst>
          </p:cNvPr>
          <p:cNvGrpSpPr/>
          <p:nvPr/>
        </p:nvGrpSpPr>
        <p:grpSpPr>
          <a:xfrm>
            <a:off x="3335752" y="5981002"/>
            <a:ext cx="4782734" cy="1552331"/>
            <a:chOff x="3335752" y="5766857"/>
            <a:chExt cx="4782734" cy="155233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0D856C0-6C6C-30D2-8947-79D3F4B5FE07}"/>
                </a:ext>
              </a:extLst>
            </p:cNvPr>
            <p:cNvSpPr txBox="1"/>
            <p:nvPr/>
          </p:nvSpPr>
          <p:spPr>
            <a:xfrm>
              <a:off x="3335752" y="5766857"/>
              <a:ext cx="47827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Tertiary Education Institution – SQL Database Administrator</a:t>
              </a:r>
            </a:p>
            <a:p>
              <a:endPara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F1DF6EC-2D10-1310-483C-35027A70DDA1}"/>
                </a:ext>
              </a:extLst>
            </p:cNvPr>
            <p:cNvSpPr txBox="1"/>
            <p:nvPr/>
          </p:nvSpPr>
          <p:spPr>
            <a:xfrm>
              <a:off x="3469640" y="5995749"/>
              <a:ext cx="4435479" cy="1323439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10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AU" dirty="0"/>
                <a:t>Designed and implemented database solutions for supporting Training, Exams and Fellowship</a:t>
              </a:r>
            </a:p>
            <a:p>
              <a:r>
                <a:rPr lang="en-AU" dirty="0"/>
                <a:t>Maintenance &amp; administration of SQL Server database systems including installation, configuration, patching, upgrading, providing security access, migration, monitoring, backup, restore and disaster recovery.</a:t>
              </a:r>
            </a:p>
            <a:p>
              <a:r>
                <a:rPr lang="en-AU" dirty="0"/>
                <a:t>Developed understanding of business requirements, design, and implementation reporting applications including BI dashboards, reporting cubes and static SSRS reports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0271841-9AD2-76A9-36A3-77AD3CD1ED17}"/>
                </a:ext>
              </a:extLst>
            </p:cNvPr>
            <p:cNvCxnSpPr>
              <a:cxnSpLocks/>
            </p:cNvCxnSpPr>
            <p:nvPr/>
          </p:nvCxnSpPr>
          <p:spPr>
            <a:xfrm>
              <a:off x="3430684" y="6077707"/>
              <a:ext cx="0" cy="1193585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9DDFC6-124A-4859-BB62-4C7039BA48C0}">
  <ds:schemaRefs>
    <ds:schemaRef ds:uri="http://www.w3.org/XML/1998/namespace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daf93972-1964-4522-aa34-640805a01c3a"/>
    <ds:schemaRef ds:uri="http://purl.org/dc/terms/"/>
    <ds:schemaRef ds:uri="http://schemas.openxmlformats.org/package/2006/metadata/core-properties"/>
    <ds:schemaRef ds:uri="e52cd9e7-35e5-4bd3-9cab-ca6a63c31e5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EAAB431-6FA9-4678-BFEA-63CD1CAD6F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EF23CB-E36E-464C-8864-DA3789D907D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4936</TotalTime>
  <Words>595</Words>
  <Application>Microsoft Office PowerPoint</Application>
  <PresentationFormat>Custom</PresentationFormat>
  <Paragraphs>78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13</cp:revision>
  <dcterms:created xsi:type="dcterms:W3CDTF">2019-12-03T01:50:37Z</dcterms:created>
  <dcterms:modified xsi:type="dcterms:W3CDTF">2023-07-24T07:36:28Z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