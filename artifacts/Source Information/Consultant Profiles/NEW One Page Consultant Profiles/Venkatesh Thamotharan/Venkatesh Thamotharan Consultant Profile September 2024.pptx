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7"/>
  </p:notesMasterIdLst>
  <p:sldIdLst>
    <p:sldId id="270" r:id="rId5"/>
    <p:sldId id="272" r:id="rId6"/>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00AB80"/>
    <a:srgbClr val="ED7D31"/>
    <a:srgbClr val="0F2B3F"/>
    <a:srgbClr val="005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ACD17E-604E-4F14-AB51-7886EAF329C4}" v="50" dt="2025-09-30T05:17:30.2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1878"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go Bates" userId="S::hugo.bates@intelia.com.au::ba74953f-2fdb-4aeb-90e3-56b78010c38c" providerId="AD" clId="Web-{C8ACD17E-604E-4F14-AB51-7886EAF329C4}"/>
    <pc:docChg chg="addSld delSld">
      <pc:chgData name="Hugo Bates" userId="S::hugo.bates@intelia.com.au::ba74953f-2fdb-4aeb-90e3-56b78010c38c" providerId="AD" clId="Web-{C8ACD17E-604E-4F14-AB51-7886EAF329C4}" dt="2025-09-30T05:17:24.629" v="5"/>
      <pc:docMkLst>
        <pc:docMk/>
      </pc:docMkLst>
      <pc:sldChg chg="add del">
        <pc:chgData name="Hugo Bates" userId="S::hugo.bates@intelia.com.au::ba74953f-2fdb-4aeb-90e3-56b78010c38c" providerId="AD" clId="Web-{C8ACD17E-604E-4F14-AB51-7886EAF329C4}" dt="2025-09-30T05:17:24.629" v="5"/>
        <pc:sldMkLst>
          <pc:docMk/>
          <pc:sldMk cId="2009923557" sldId="270"/>
        </pc:sldMkLst>
      </pc:sldChg>
      <pc:sldChg chg="add del">
        <pc:chgData name="Hugo Bates" userId="S::hugo.bates@intelia.com.au::ba74953f-2fdb-4aeb-90e3-56b78010c38c" providerId="AD" clId="Web-{C8ACD17E-604E-4F14-AB51-7886EAF329C4}" dt="2025-09-30T05:17:22.816" v="4"/>
        <pc:sldMkLst>
          <pc:docMk/>
          <pc:sldMk cId="3587322375"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181DD58-D18A-411E-BEFC-B37931B77491}" type="datetimeFigureOut">
              <a:rPr lang="en-AU" smtClean="0"/>
              <a:t>29/09/2025</a:t>
            </a:fld>
            <a:endParaRPr lang="en-AU"/>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567418DA-87BC-447C-B557-D0DFB6940F99}" type="slidenum">
              <a:rPr lang="en-AU" smtClean="0"/>
              <a:t>‹#›</a:t>
            </a:fld>
            <a:endParaRPr lang="en-AU"/>
          </a:p>
        </p:txBody>
      </p:sp>
    </p:spTree>
    <p:extLst>
      <p:ext uri="{BB962C8B-B14F-4D97-AF65-F5344CB8AC3E}">
        <p14:creationId xmlns:p14="http://schemas.microsoft.com/office/powerpoint/2010/main" val="38399084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solidFill>
                  <a:srgbClr val="A93584"/>
                </a:solidFill>
                <a:latin typeface="Roboto" panose="02000000000000000000" pitchFamily="2" charset="0"/>
                <a:ea typeface="Roboto" panose="02000000000000000000" pitchFamily="2" charset="0"/>
              </a:rPr>
              <a:t>Large Australian Energy Operator – Data Engineer</a:t>
            </a:r>
          </a:p>
          <a:p>
            <a:pPr marL="171450" indent="-171450">
              <a:buFont typeface="Arial" panose="020B0604020202020204" pitchFamily="34" charset="0"/>
              <a:buChar char="•"/>
            </a:pPr>
            <a:r>
              <a:rPr lang="en-AU" dirty="0"/>
              <a:t>Developed complex SQL queries for reports, used by reporting tools to publish the data</a:t>
            </a:r>
          </a:p>
          <a:p>
            <a:pPr marL="171450" indent="-171450">
              <a:buFont typeface="Arial" panose="020B0604020202020204" pitchFamily="34" charset="0"/>
              <a:buChar char="•"/>
            </a:pPr>
            <a:r>
              <a:rPr lang="en-AU" dirty="0"/>
              <a:t>Database development which included creating tables, views, and stored procedures and performed database backups activities</a:t>
            </a:r>
          </a:p>
          <a:p>
            <a:pPr marL="171450" indent="-171450">
              <a:buFont typeface="Arial" panose="020B0604020202020204" pitchFamily="34" charset="0"/>
              <a:buChar char="•"/>
            </a:pPr>
            <a:r>
              <a:rPr lang="en-AU" dirty="0"/>
              <a:t>Created and maintained database objects to improve database performance and re-wrote existing queries as part of Query Optimisation to improve the performance of queries</a:t>
            </a:r>
          </a:p>
          <a:p>
            <a:pPr marL="171450" indent="-171450">
              <a:buFont typeface="Arial" panose="020B0604020202020204" pitchFamily="34" charset="0"/>
              <a:buChar char="•"/>
            </a:pPr>
            <a:r>
              <a:rPr lang="en-AU" dirty="0"/>
              <a:t>Performed data quality checks on customer data and performed data cleansing, de-duplication of data and checked for data integrity issues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1" dirty="0">
              <a:solidFill>
                <a:srgbClr val="ED7D31"/>
              </a:solidFill>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1" dirty="0">
              <a:solidFill>
                <a:srgbClr val="ED7D31"/>
              </a:solidFill>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solidFill>
                  <a:srgbClr val="ED7D31"/>
                </a:solidFill>
                <a:latin typeface="Roboto" panose="02000000000000000000" pitchFamily="2" charset="0"/>
                <a:ea typeface="Roboto" panose="02000000000000000000" pitchFamily="2" charset="0"/>
              </a:rPr>
              <a:t>Financial Services Company – Senior Data Analyst</a:t>
            </a:r>
            <a:endParaRPr lang="en-US" dirty="0"/>
          </a:p>
          <a:p>
            <a:pPr marL="171450" indent="-171450">
              <a:buFont typeface="Arial" panose="020B0604020202020204" pitchFamily="34" charset="0"/>
              <a:buChar char="•"/>
            </a:pPr>
            <a:r>
              <a:rPr lang="en-AU" sz="1200" dirty="0" err="1">
                <a:solidFill>
                  <a:schemeClr val="bg1"/>
                </a:solidFill>
              </a:rPr>
              <a:t>Strategised</a:t>
            </a:r>
            <a:r>
              <a:rPr lang="en-AU" sz="1200" dirty="0">
                <a:solidFill>
                  <a:schemeClr val="bg1"/>
                </a:solidFill>
              </a:rPr>
              <a:t> and designed the data migration solution and involved in deployment of scalable solutions</a:t>
            </a:r>
          </a:p>
          <a:p>
            <a:pPr marL="171450" indent="-171450">
              <a:buFont typeface="Arial" panose="020B0604020202020204" pitchFamily="34" charset="0"/>
              <a:buChar char="•"/>
            </a:pPr>
            <a:r>
              <a:rPr lang="en-AU" sz="1200" dirty="0">
                <a:solidFill>
                  <a:schemeClr val="bg1"/>
                </a:solidFill>
              </a:rPr>
              <a:t>Lead a team of Data Analysts, to migrate legacy data from various sources into Google Cloud SQL for Record Keeping and into </a:t>
            </a:r>
            <a:r>
              <a:rPr lang="en-AU" sz="1200" dirty="0" err="1">
                <a:solidFill>
                  <a:schemeClr val="bg1"/>
                </a:solidFill>
              </a:rPr>
              <a:t>BigQuery</a:t>
            </a:r>
            <a:r>
              <a:rPr lang="en-AU" sz="1200" dirty="0">
                <a:solidFill>
                  <a:schemeClr val="bg1"/>
                </a:solidFill>
              </a:rPr>
              <a:t> to build an Analytics Dataset for analysis and reporting using Google Data Studio</a:t>
            </a:r>
          </a:p>
          <a:p>
            <a:pPr marL="171450" indent="-171450">
              <a:buFont typeface="Arial" panose="020B0604020202020204" pitchFamily="34" charset="0"/>
              <a:buChar char="•"/>
            </a:pPr>
            <a:r>
              <a:rPr lang="en-AU" sz="1200" dirty="0">
                <a:solidFill>
                  <a:schemeClr val="bg1"/>
                </a:solidFill>
              </a:rPr>
              <a:t>Deployed the solution in UAT and PROD environments, created run-sheets to document the progress of deployment and a create deployment guides</a:t>
            </a:r>
          </a:p>
          <a:p>
            <a:pPr marL="171450" indent="-171450">
              <a:buFont typeface="Arial" panose="020B0604020202020204" pitchFamily="34" charset="0"/>
              <a:buChar char="•"/>
            </a:pPr>
            <a:r>
              <a:rPr lang="en-AU" sz="1200" dirty="0">
                <a:solidFill>
                  <a:schemeClr val="bg1"/>
                </a:solidFill>
              </a:rPr>
              <a:t>Performed reverse engineering tasks to understand the business and functional requirements of legacy systems and create technical documentations, to understand and build the analytical dataset in </a:t>
            </a:r>
            <a:r>
              <a:rPr lang="en-AU" sz="1200" dirty="0" err="1">
                <a:solidFill>
                  <a:schemeClr val="bg1"/>
                </a:solidFill>
              </a:rPr>
              <a:t>BigQuery</a:t>
            </a:r>
            <a:endParaRPr lang="en-AU" sz="1200" dirty="0">
              <a:solidFill>
                <a:schemeClr val="bg1"/>
              </a:solidFill>
            </a:endParaRPr>
          </a:p>
          <a:p>
            <a:pPr marL="171450" indent="-171450">
              <a:buFont typeface="Arial" panose="020B0604020202020204" pitchFamily="34" charset="0"/>
              <a:buChar char="•"/>
            </a:pPr>
            <a:r>
              <a:rPr lang="en-AU" sz="1200" dirty="0">
                <a:solidFill>
                  <a:schemeClr val="bg1"/>
                </a:solidFill>
              </a:rPr>
              <a:t>Setup GCP’s cloud identity and access management (IAM) to manage users, roles, and privileges for Dev team and Business Analysts</a:t>
            </a:r>
          </a:p>
          <a:p>
            <a:endParaRPr lang="en-AU" dirty="0"/>
          </a:p>
        </p:txBody>
      </p:sp>
      <p:sp>
        <p:nvSpPr>
          <p:cNvPr id="4" name="Slide Number Placeholder 3"/>
          <p:cNvSpPr>
            <a:spLocks noGrp="1"/>
          </p:cNvSpPr>
          <p:nvPr>
            <p:ph type="sldNum" sz="quarter" idx="5"/>
          </p:nvPr>
        </p:nvSpPr>
        <p:spPr/>
        <p:txBody>
          <a:bodyPr/>
          <a:lstStyle/>
          <a:p>
            <a:fld id="{567418DA-87BC-447C-B557-D0DFB6940F99}" type="slidenum">
              <a:rPr lang="en-AU" smtClean="0"/>
              <a:t>1</a:t>
            </a:fld>
            <a:endParaRPr lang="en-AU"/>
          </a:p>
        </p:txBody>
      </p:sp>
    </p:spTree>
    <p:extLst>
      <p:ext uri="{BB962C8B-B14F-4D97-AF65-F5344CB8AC3E}">
        <p14:creationId xmlns:p14="http://schemas.microsoft.com/office/powerpoint/2010/main" val="2616904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7F51E-0522-C2CD-036C-D174FC9BC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3FE17-A16F-1DBE-3DC3-936728F9A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F4BB4-59AB-DE48-96DD-81567573371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solidFill>
                  <a:srgbClr val="A93584"/>
                </a:solidFill>
                <a:latin typeface="Roboto" panose="02000000000000000000" pitchFamily="2" charset="0"/>
                <a:ea typeface="Roboto" panose="02000000000000000000" pitchFamily="2" charset="0"/>
              </a:rPr>
              <a:t>Large Australian Energy Operator – Data Engineer</a:t>
            </a:r>
          </a:p>
          <a:p>
            <a:pPr marL="171450" indent="-171450">
              <a:buFont typeface="Arial" panose="020B0604020202020204" pitchFamily="34" charset="0"/>
              <a:buChar char="•"/>
            </a:pPr>
            <a:r>
              <a:rPr lang="en-AU" dirty="0"/>
              <a:t>Developed complex SQL queries for reports, used by reporting tools to publish the data</a:t>
            </a:r>
          </a:p>
          <a:p>
            <a:pPr marL="171450" indent="-171450">
              <a:buFont typeface="Arial" panose="020B0604020202020204" pitchFamily="34" charset="0"/>
              <a:buChar char="•"/>
            </a:pPr>
            <a:r>
              <a:rPr lang="en-AU" dirty="0"/>
              <a:t>Database development which included creating tables, views, and stored procedures and performed database backups activities</a:t>
            </a:r>
          </a:p>
          <a:p>
            <a:pPr marL="171450" indent="-171450">
              <a:buFont typeface="Arial" panose="020B0604020202020204" pitchFamily="34" charset="0"/>
              <a:buChar char="•"/>
            </a:pPr>
            <a:r>
              <a:rPr lang="en-AU" dirty="0"/>
              <a:t>Created and maintained database objects to improve database performance and re-wrote existing queries as part of Query Optimisation to improve the performance of queries</a:t>
            </a:r>
          </a:p>
          <a:p>
            <a:pPr marL="171450" indent="-171450">
              <a:buFont typeface="Arial" panose="020B0604020202020204" pitchFamily="34" charset="0"/>
              <a:buChar char="•"/>
            </a:pPr>
            <a:r>
              <a:rPr lang="en-AU" dirty="0"/>
              <a:t>Performed data quality checks on customer data and performed data cleansing, de-duplication of data and checked for data integrity issues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1" dirty="0">
              <a:solidFill>
                <a:srgbClr val="ED7D31"/>
              </a:solidFill>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1" dirty="0">
              <a:solidFill>
                <a:srgbClr val="ED7D31"/>
              </a:solidFill>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1" dirty="0">
              <a:solidFill>
                <a:srgbClr val="ED7D31"/>
              </a:solidFill>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1" dirty="0">
              <a:solidFill>
                <a:srgbClr val="ED7D31"/>
              </a:solidFill>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dirty="0">
                <a:solidFill>
                  <a:srgbClr val="ED7D31"/>
                </a:solidFill>
                <a:latin typeface="Roboto" panose="02000000000000000000" pitchFamily="2" charset="0"/>
                <a:ea typeface="Roboto" panose="02000000000000000000" pitchFamily="2" charset="0"/>
              </a:rPr>
              <a:t>Financial Services Company – Senior Data Analyst</a:t>
            </a:r>
            <a:endParaRPr lang="en-US" dirty="0"/>
          </a:p>
          <a:p>
            <a:pPr marL="171450" indent="-171450">
              <a:buFont typeface="Arial" panose="020B0604020202020204" pitchFamily="34" charset="0"/>
              <a:buChar char="•"/>
            </a:pPr>
            <a:r>
              <a:rPr lang="en-AU" sz="1200" dirty="0" err="1">
                <a:solidFill>
                  <a:schemeClr val="bg1"/>
                </a:solidFill>
              </a:rPr>
              <a:t>Strategised</a:t>
            </a:r>
            <a:r>
              <a:rPr lang="en-AU" sz="1200" dirty="0">
                <a:solidFill>
                  <a:schemeClr val="bg1"/>
                </a:solidFill>
              </a:rPr>
              <a:t> and designed the data migration solution and involved in deployment of scalable solutions</a:t>
            </a:r>
          </a:p>
          <a:p>
            <a:pPr marL="171450" indent="-171450">
              <a:buFont typeface="Arial" panose="020B0604020202020204" pitchFamily="34" charset="0"/>
              <a:buChar char="•"/>
            </a:pPr>
            <a:r>
              <a:rPr lang="en-AU" sz="1200" dirty="0">
                <a:solidFill>
                  <a:schemeClr val="bg1"/>
                </a:solidFill>
              </a:rPr>
              <a:t>Lead a team of Data Analysts, to migrate legacy data from various sources into Google Cloud SQL for Record Keeping and into </a:t>
            </a:r>
            <a:r>
              <a:rPr lang="en-AU" sz="1200" dirty="0" err="1">
                <a:solidFill>
                  <a:schemeClr val="bg1"/>
                </a:solidFill>
              </a:rPr>
              <a:t>BigQuery</a:t>
            </a:r>
            <a:r>
              <a:rPr lang="en-AU" sz="1200" dirty="0">
                <a:solidFill>
                  <a:schemeClr val="bg1"/>
                </a:solidFill>
              </a:rPr>
              <a:t> to build an Analytics Dataset for analysis and reporting using Google Data Studio</a:t>
            </a:r>
          </a:p>
          <a:p>
            <a:pPr marL="171450" indent="-171450">
              <a:buFont typeface="Arial" panose="020B0604020202020204" pitchFamily="34" charset="0"/>
              <a:buChar char="•"/>
            </a:pPr>
            <a:r>
              <a:rPr lang="en-AU" sz="1200" dirty="0">
                <a:solidFill>
                  <a:schemeClr val="bg1"/>
                </a:solidFill>
              </a:rPr>
              <a:t>Deployed the solution in UAT and PROD environments, created run-sheets to document the progress of deployment and a create deployment guides</a:t>
            </a:r>
          </a:p>
          <a:p>
            <a:pPr marL="171450" indent="-171450">
              <a:buFont typeface="Arial" panose="020B0604020202020204" pitchFamily="34" charset="0"/>
              <a:buChar char="•"/>
            </a:pPr>
            <a:r>
              <a:rPr lang="en-AU" sz="1200" dirty="0">
                <a:solidFill>
                  <a:schemeClr val="bg1"/>
                </a:solidFill>
              </a:rPr>
              <a:t>Performed reverse engineering tasks to understand the business and functional requirements of legacy systems and create technical documentations, to understand and build the analytical dataset in </a:t>
            </a:r>
            <a:r>
              <a:rPr lang="en-AU" sz="1200" dirty="0" err="1">
                <a:solidFill>
                  <a:schemeClr val="bg1"/>
                </a:solidFill>
              </a:rPr>
              <a:t>BigQuery</a:t>
            </a:r>
            <a:endParaRPr lang="en-AU" sz="1200" dirty="0">
              <a:solidFill>
                <a:schemeClr val="bg1"/>
              </a:solidFill>
            </a:endParaRPr>
          </a:p>
          <a:p>
            <a:pPr marL="171450" indent="-171450">
              <a:buFont typeface="Arial" panose="020B0604020202020204" pitchFamily="34" charset="0"/>
              <a:buChar char="•"/>
            </a:pPr>
            <a:r>
              <a:rPr lang="en-AU" sz="1200" dirty="0">
                <a:solidFill>
                  <a:schemeClr val="bg1"/>
                </a:solidFill>
              </a:rPr>
              <a:t>Setup GCP’s cloud identity and access management (IAM) to manage users, roles, and privileges for Dev team and Business Analysts</a:t>
            </a:r>
          </a:p>
          <a:p>
            <a:endParaRPr lang="en-AU" dirty="0"/>
          </a:p>
        </p:txBody>
      </p:sp>
      <p:sp>
        <p:nvSpPr>
          <p:cNvPr id="4" name="Slide Number Placeholder 3">
            <a:extLst>
              <a:ext uri="{FF2B5EF4-FFF2-40B4-BE49-F238E27FC236}">
                <a16:creationId xmlns:a16="http://schemas.microsoft.com/office/drawing/2014/main" id="{229F6123-7043-DAAA-EDE0-823490F7EB83}"/>
              </a:ext>
            </a:extLst>
          </p:cNvPr>
          <p:cNvSpPr>
            <a:spLocks noGrp="1"/>
          </p:cNvSpPr>
          <p:nvPr>
            <p:ph type="sldNum" sz="quarter" idx="5"/>
          </p:nvPr>
        </p:nvSpPr>
        <p:spPr/>
        <p:txBody>
          <a:bodyPr/>
          <a:lstStyle/>
          <a:p>
            <a:fld id="{567418DA-87BC-447C-B557-D0DFB6940F99}" type="slidenum">
              <a:rPr lang="en-AU" smtClean="0"/>
              <a:t>2</a:t>
            </a:fld>
            <a:endParaRPr lang="en-AU"/>
          </a:p>
        </p:txBody>
      </p:sp>
    </p:spTree>
    <p:extLst>
      <p:ext uri="{BB962C8B-B14F-4D97-AF65-F5344CB8AC3E}">
        <p14:creationId xmlns:p14="http://schemas.microsoft.com/office/powerpoint/2010/main" val="2427936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9/29/2025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Venkatesh Thamotharan</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634583"/>
            <a:ext cx="2928002" cy="923330"/>
          </a:xfrm>
          <a:prstGeom prst="rect">
            <a:avLst/>
          </a:prstGeom>
          <a:noFill/>
        </p:spPr>
        <p:txBody>
          <a:bodyPr wrap="square" lIns="0" tIns="0" rIns="0" bIns="0" rtlCol="0" anchor="t">
            <a:spAutoFit/>
          </a:bodyPr>
          <a:lstStyle/>
          <a:p>
            <a:pPr algn="l"/>
            <a:r>
              <a:rPr lang="en-AU" sz="1000" spc="13" dirty="0">
                <a:latin typeface="Roboto Light"/>
                <a:ea typeface="Roboto Light"/>
                <a:cs typeface="Lato"/>
              </a:rPr>
              <a:t>Venkatesh is a Senior Data Analyst and Data Engineer with over 15 years of experience in the IT industry. Predominantly working as a Data Migration Specialist and a Team Lead, Venkatesh demonstrates exceptional analytical and SQL skills, and creative problem solving. </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1272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528850"/>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 Business Objects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Confluence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Databricks</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Google Cloud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SSIS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Data Studio</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Linx/Unix Scripting </a:t>
            </a:r>
          </a:p>
          <a:p>
            <a:pPr>
              <a:buClr>
                <a:srgbClr val="00AB80"/>
              </a:buClr>
            </a:pPr>
            <a:endParaRPr lang="en-US" sz="900" dirty="0">
              <a:latin typeface="Roboto Light" panose="02000000000000000000" pitchFamily="2" charset="0"/>
              <a:ea typeface="Roboto Light" panose="02000000000000000000" pitchFamily="2" charset="0"/>
            </a:endParaRP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4765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2562004"/>
            <a:ext cx="0" cy="869021"/>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46597"/>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92879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62041"/>
            <a:ext cx="1951941" cy="4339650"/>
            <a:chOff x="8106458" y="2681447"/>
            <a:chExt cx="1951941" cy="4339650"/>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4339650"/>
            </a:xfrm>
            <a:prstGeom prst="rect">
              <a:avLst/>
            </a:prstGeom>
            <a:noFill/>
          </p:spPr>
          <p:txBody>
            <a:bodyPr wrap="square">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rPr>
                <a:t>Databricks | Lakehouse Fundamentals</a:t>
              </a:r>
            </a:p>
            <a:p>
              <a:pPr>
                <a:tabLst>
                  <a:tab pos="3819525" algn="l"/>
                  <a:tab pos="3895725" algn="l"/>
                </a:tabLst>
              </a:pPr>
              <a:endParaRPr lang="en-GB" sz="1200">
                <a:solidFill>
                  <a:srgbClr val="00AB80"/>
                </a:solidFill>
                <a:latin typeface="Roboto Light" panose="02000000000000000000" pitchFamily="2" charset="0"/>
              </a:endParaRPr>
            </a:p>
            <a:p>
              <a:pPr>
                <a:tabLst>
                  <a:tab pos="3819525" algn="l"/>
                  <a:tab pos="3895725" algn="l"/>
                </a:tabLst>
              </a:pPr>
              <a:r>
                <a:rPr lang="en-AU" sz="1200" dirty="0">
                  <a:solidFill>
                    <a:srgbClr val="00AB80"/>
                  </a:solidFill>
                  <a:latin typeface="Roboto Light" panose="02000000000000000000" pitchFamily="2" charset="0"/>
                </a:rPr>
                <a:t>Databricks </a:t>
              </a:r>
              <a:r>
                <a:rPr lang="en-GB" sz="1200" dirty="0">
                  <a:solidFill>
                    <a:srgbClr val="00AB80"/>
                  </a:solidFill>
                  <a:latin typeface="Roboto Light" panose="02000000000000000000" pitchFamily="2" charset="0"/>
                </a:rPr>
                <a:t>| </a:t>
              </a:r>
              <a:r>
                <a:rPr lang="en-AU" sz="1200" dirty="0">
                  <a:solidFill>
                    <a:srgbClr val="00AB80"/>
                  </a:solidFill>
                  <a:latin typeface="Roboto Light" panose="02000000000000000000" pitchFamily="2" charset="0"/>
                </a:rPr>
                <a:t>Certified Data Engineer</a:t>
              </a:r>
              <a:endParaRPr lang="en-GB" sz="1200">
                <a:solidFill>
                  <a:srgbClr val="00AB80"/>
                </a:solidFill>
                <a:latin typeface="Roboto Light" panose="02000000000000000000" pitchFamily="2" charset="0"/>
              </a:endParaRP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Microsoft Azure Certified |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Solution Developer</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a:t>
              </a:r>
              <a:r>
                <a:rPr lang="en-GB" sz="1200" dirty="0">
                  <a:solidFill>
                    <a:srgbClr val="00AB80"/>
                  </a:solidFill>
                  <a:effectLst/>
                  <a:latin typeface="Roboto Light" panose="02000000000000000000" pitchFamily="2" charset="0"/>
                  <a:ea typeface="Calibri" panose="020F0502020204030204" pitchFamily="34" charset="0"/>
                </a:rPr>
                <a:t>r</a:t>
              </a:r>
              <a:r>
                <a:rPr lang="en-GB" sz="1200" dirty="0">
                  <a:solidFill>
                    <a:srgbClr val="00AB80"/>
                  </a:solidFill>
                  <a:latin typeface="Roboto Light" panose="02000000000000000000" pitchFamily="2" charset="0"/>
                  <a:ea typeface="Calibri" panose="020F0502020204030204" pitchFamily="34" charset="0"/>
                </a:rPr>
                <a:t> – Science, Computer Software | </a:t>
              </a:r>
            </a:p>
            <a:p>
              <a:pPr>
                <a:tabLst>
                  <a:tab pos="3819525" algn="l"/>
                  <a:tab pos="3895725" algn="l"/>
                </a:tabLst>
              </a:pPr>
              <a:r>
                <a:rPr lang="en-US" sz="1200" dirty="0">
                  <a:solidFill>
                    <a:srgbClr val="00AB80"/>
                  </a:solidFill>
                  <a:effectLst/>
                  <a:latin typeface="Roboto Light" panose="02000000000000000000" pitchFamily="2" charset="0"/>
                  <a:ea typeface="Calibri" panose="020F0502020204030204" pitchFamily="34" charset="0"/>
                </a:rPr>
                <a:t>Vellore Institute of Tech</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Computer Science &amp; Software Engineering | </a:t>
              </a:r>
              <a:r>
                <a:rPr lang="en-US" sz="1200" dirty="0">
                  <a:solidFill>
                    <a:srgbClr val="00AB80"/>
                  </a:solidFill>
                  <a:latin typeface="Roboto Light" panose="02000000000000000000" pitchFamily="2" charset="0"/>
                  <a:ea typeface="Calibri" panose="020F0502020204030204" pitchFamily="34" charset="0"/>
                </a:rPr>
                <a:t> Australian College of Business &amp; Tech</a:t>
              </a:r>
              <a:endParaRPr lang="en-GB" sz="1200" dirty="0">
                <a:solidFill>
                  <a:srgbClr val="00AB80"/>
                </a:solidFill>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0378" y="5531073"/>
            <a:ext cx="1458993"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2083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2256955"/>
            <a:ext cx="46311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Australian Government </a:t>
            </a:r>
            <a:r>
              <a:rPr lang="en-US" sz="1200" b="1" dirty="0" err="1">
                <a:solidFill>
                  <a:srgbClr val="0059FF"/>
                </a:solidFill>
                <a:latin typeface="Roboto" panose="02000000000000000000" pitchFamily="2" charset="0"/>
                <a:ea typeface="Roboto" panose="02000000000000000000" pitchFamily="2" charset="0"/>
              </a:rPr>
              <a:t>Organisation</a:t>
            </a:r>
            <a:r>
              <a:rPr lang="en-US" sz="1200" b="1" dirty="0">
                <a:solidFill>
                  <a:srgbClr val="0059FF"/>
                </a:solidFill>
                <a:latin typeface="Roboto" panose="02000000000000000000" pitchFamily="2" charset="0"/>
                <a:ea typeface="Roboto" panose="02000000000000000000" pitchFamily="2" charset="0"/>
              </a:rPr>
              <a:t> </a:t>
            </a:r>
            <a:r>
              <a:rPr lang="en-AU" sz="1200" b="1" dirty="0">
                <a:solidFill>
                  <a:srgbClr val="0059FF"/>
                </a:solidFill>
                <a:latin typeface="Roboto" panose="02000000000000000000" pitchFamily="2" charset="0"/>
                <a:ea typeface="Roboto" panose="02000000000000000000" pitchFamily="2" charset="0"/>
              </a:rPr>
              <a:t>– Senior Data Engineer</a:t>
            </a:r>
            <a:r>
              <a:rPr lang="en-US" sz="1200" b="1" dirty="0">
                <a:solidFill>
                  <a:srgbClr val="0059FF"/>
                </a:solidFill>
                <a:latin typeface="Roboto" panose="02000000000000000000" pitchFamily="2" charset="0"/>
                <a:ea typeface="Roboto" panose="02000000000000000000" pitchFamily="2" charset="0"/>
              </a:rPr>
              <a:t> </a:t>
            </a:r>
            <a:endParaRPr lang="en-AU" sz="1200" b="1" dirty="0">
              <a:solidFill>
                <a:srgbClr val="0059FF"/>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525879" y="2438894"/>
            <a:ext cx="4325436" cy="120032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Worked intensively on development of an ETL solution using SSIS/SSMS to move data between different layers/zones</a:t>
            </a:r>
          </a:p>
          <a:p>
            <a:r>
              <a:rPr lang="en-AU" sz="1000" dirty="0"/>
              <a:t>Developed and maintained SQL scripts, indexes, complex queries for extraction, transformation and data analysis</a:t>
            </a:r>
          </a:p>
          <a:p>
            <a:r>
              <a:rPr lang="en-AU" sz="1000" dirty="0"/>
              <a:t>Utilised Azure DevOps to manage deployment of project components and manage work functions and tasks</a:t>
            </a:r>
          </a:p>
          <a:p>
            <a:endParaRPr lang="en-AU" sz="1000" dirty="0"/>
          </a:p>
        </p:txBody>
      </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Insurance</a:t>
            </a: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Government</a:t>
            </a:r>
          </a:p>
          <a:p>
            <a:pPr marL="0" indent="0">
              <a:lnSpc>
                <a:spcPct val="150000"/>
              </a:lnSpc>
              <a:buNone/>
            </a:pPr>
            <a:r>
              <a:rPr lang="en-GB" sz="1200" dirty="0">
                <a:solidFill>
                  <a:srgbClr val="00AB80"/>
                </a:solidFill>
              </a:rPr>
              <a:t>Education</a:t>
            </a:r>
          </a:p>
        </p:txBody>
      </p:sp>
      <p:grpSp>
        <p:nvGrpSpPr>
          <p:cNvPr id="10" name="Group 9">
            <a:extLst>
              <a:ext uri="{FF2B5EF4-FFF2-40B4-BE49-F238E27FC236}">
                <a16:creationId xmlns:a16="http://schemas.microsoft.com/office/drawing/2014/main" id="{A6927CF3-C0AD-7B0E-CC21-BDD13E4FAF2F}"/>
              </a:ext>
            </a:extLst>
          </p:cNvPr>
          <p:cNvGrpSpPr/>
          <p:nvPr/>
        </p:nvGrpSpPr>
        <p:grpSpPr>
          <a:xfrm>
            <a:off x="3335752" y="5998781"/>
            <a:ext cx="4782734" cy="1860108"/>
            <a:chOff x="3335752" y="5766857"/>
            <a:chExt cx="4782734" cy="1860108"/>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766857"/>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Large Australian Energy Operator – Data Engineer</a:t>
              </a:r>
            </a:p>
            <a:p>
              <a:endParaRPr lang="en-AU" sz="1200" b="1">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40" y="5995749"/>
              <a:ext cx="4435479"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Developed complex SQL queries for reports, used by reporting tools to publish the data</a:t>
              </a:r>
            </a:p>
            <a:p>
              <a:r>
                <a:rPr lang="en-AU" dirty="0"/>
                <a:t>Database development which included creating tables, views, and stored procedures and performed database backups activities</a:t>
              </a:r>
            </a:p>
            <a:p>
              <a:r>
                <a:rPr lang="en-AU" dirty="0"/>
                <a:t>Created and maintained database objects to improve database performance and re-wrote existing queries as part of Query Optimisation to improve the performance of queries</a:t>
              </a:r>
            </a:p>
            <a:p>
              <a:r>
                <a:rPr lang="en-AU" dirty="0"/>
                <a:t>Performed data quality checks on customer data and performed data cleansing, de-duplication of data and checked for data integrity issues </a:t>
              </a:r>
            </a:p>
            <a:p>
              <a:endParaRPr lang="en-AU" dirty="0"/>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077707"/>
              <a:ext cx="0" cy="137591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60" name="TextBox 59">
            <a:extLst>
              <a:ext uri="{FF2B5EF4-FFF2-40B4-BE49-F238E27FC236}">
                <a16:creationId xmlns:a16="http://schemas.microsoft.com/office/drawing/2014/main" id="{FD202519-197D-24FE-C4B7-F4419021EC1E}"/>
              </a:ext>
            </a:extLst>
          </p:cNvPr>
          <p:cNvSpPr txBox="1"/>
          <p:nvPr/>
        </p:nvSpPr>
        <p:spPr>
          <a:xfrm>
            <a:off x="254204" y="2847789"/>
            <a:ext cx="2873026" cy="2308324"/>
          </a:xfrm>
          <a:prstGeom prst="rect">
            <a:avLst/>
          </a:prstGeom>
          <a:noFill/>
        </p:spPr>
        <p:txBody>
          <a:bodyPr wrap="square" lIns="0" tIns="0" rIns="0" bIns="0" rtlCol="0" anchor="t">
            <a:spAutoFit/>
          </a:bodyPr>
          <a:lstStyle>
            <a:defPPr>
              <a:defRPr lang="en-US"/>
            </a:defPPr>
            <a:lvl1pPr>
              <a:defRPr sz="1000" spc="13">
                <a:latin typeface="Roboto Light"/>
                <a:ea typeface="Roboto Light"/>
                <a:cs typeface="Lato"/>
              </a:defRPr>
            </a:lvl1pPr>
          </a:lstStyle>
          <a:p>
            <a:r>
              <a:rPr lang="en-AU" dirty="0"/>
              <a:t>Venkatesh has experience in analysis, modelling, engineering, development, ETL and data migration as well as extensive experience in creating and managing of cloud computing services.</a:t>
            </a:r>
          </a:p>
          <a:p>
            <a:endParaRPr lang="en-AU"/>
          </a:p>
          <a:p>
            <a:r>
              <a:rPr lang="en-AU" dirty="0"/>
              <a:t>Venkatesh is committed to provide technical guidance and assistance in all phases of project lifecycle, using his strong written and verbal communication skills.</a:t>
            </a:r>
          </a:p>
          <a:p>
            <a:endParaRPr lang="en-AU"/>
          </a:p>
          <a:p>
            <a:r>
              <a:rPr lang="en-AU" dirty="0"/>
              <a:t>He is passionate about keeping up with change and innovations and is a highly accredited and certified professional.</a:t>
            </a:r>
          </a:p>
          <a:p>
            <a:endParaRPr lang="en-AU"/>
          </a:p>
          <a:p>
            <a:endParaRPr lang="en-US"/>
          </a:p>
        </p:txBody>
      </p:sp>
      <p:cxnSp>
        <p:nvCxnSpPr>
          <p:cNvPr id="16" name="Straight Connector 15">
            <a:extLst>
              <a:ext uri="{FF2B5EF4-FFF2-40B4-BE49-F238E27FC236}">
                <a16:creationId xmlns:a16="http://schemas.microsoft.com/office/drawing/2014/main" id="{E2A93AC7-746F-2FDC-E304-A5F3B7A04F46}"/>
              </a:ext>
            </a:extLst>
          </p:cNvPr>
          <p:cNvCxnSpPr>
            <a:cxnSpLocks/>
          </p:cNvCxnSpPr>
          <p:nvPr/>
        </p:nvCxnSpPr>
        <p:spPr>
          <a:xfrm>
            <a:off x="3428143" y="3822008"/>
            <a:ext cx="0" cy="2070061"/>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94139D3-2578-E094-5476-9607EBAB0E92}"/>
              </a:ext>
            </a:extLst>
          </p:cNvPr>
          <p:cNvSpPr txBox="1"/>
          <p:nvPr/>
        </p:nvSpPr>
        <p:spPr>
          <a:xfrm>
            <a:off x="3321267" y="3516959"/>
            <a:ext cx="4631164" cy="276999"/>
          </a:xfrm>
          <a:prstGeom prst="rect">
            <a:avLst/>
          </a:prstGeom>
          <a:noFill/>
        </p:spPr>
        <p:txBody>
          <a:bodyPr wrap="square" rtlCol="0">
            <a:spAutoFit/>
          </a:bodyPr>
          <a:lstStyle/>
          <a:p>
            <a:r>
              <a:rPr lang="en-US" sz="1200" b="1" dirty="0">
                <a:solidFill>
                  <a:srgbClr val="ED7D31"/>
                </a:solidFill>
                <a:latin typeface="Roboto" panose="02000000000000000000" pitchFamily="2" charset="0"/>
                <a:ea typeface="Roboto" panose="02000000000000000000" pitchFamily="2" charset="0"/>
              </a:rPr>
              <a:t>Financial Services Company </a:t>
            </a:r>
            <a:r>
              <a:rPr lang="en-AU" sz="1200" b="1" dirty="0">
                <a:solidFill>
                  <a:srgbClr val="ED7D31"/>
                </a:solidFill>
                <a:latin typeface="Roboto" panose="02000000000000000000" pitchFamily="2" charset="0"/>
                <a:ea typeface="Roboto" panose="02000000000000000000" pitchFamily="2" charset="0"/>
              </a:rPr>
              <a:t>– Senior Data Consultant</a:t>
            </a:r>
            <a:r>
              <a:rPr lang="en-US" sz="1200" b="1" dirty="0">
                <a:solidFill>
                  <a:srgbClr val="ED7D31"/>
                </a:solidFill>
                <a:latin typeface="Roboto" panose="02000000000000000000" pitchFamily="2" charset="0"/>
                <a:ea typeface="Roboto" panose="02000000000000000000" pitchFamily="2" charset="0"/>
              </a:rPr>
              <a:t> </a:t>
            </a:r>
            <a:endParaRPr lang="en-AU" sz="1200" b="1" dirty="0">
              <a:solidFill>
                <a:srgbClr val="ED7D31"/>
              </a:solidFill>
              <a:latin typeface="Roboto" panose="02000000000000000000" pitchFamily="2" charset="0"/>
              <a:ea typeface="Roboto" panose="02000000000000000000" pitchFamily="2" charset="0"/>
            </a:endParaRPr>
          </a:p>
        </p:txBody>
      </p:sp>
      <p:sp>
        <p:nvSpPr>
          <p:cNvPr id="19" name="TextBox 18">
            <a:extLst>
              <a:ext uri="{FF2B5EF4-FFF2-40B4-BE49-F238E27FC236}">
                <a16:creationId xmlns:a16="http://schemas.microsoft.com/office/drawing/2014/main" id="{F7392734-6CDD-4B78-C55C-5DBD7DD7F1FE}"/>
              </a:ext>
            </a:extLst>
          </p:cNvPr>
          <p:cNvSpPr txBox="1"/>
          <p:nvPr/>
        </p:nvSpPr>
        <p:spPr>
          <a:xfrm>
            <a:off x="3525879" y="3698898"/>
            <a:ext cx="4325436" cy="227754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Lead a 3-member offshore team for an end-to-end data migration project, merging various client data from different systems into one core system </a:t>
            </a:r>
          </a:p>
          <a:p>
            <a:r>
              <a:rPr lang="en-AU" sz="1000" dirty="0"/>
              <a:t>Liaised with key stakeholders, business analysts and SMEs, to review, understand and document requirements for data mapping and data loading processes</a:t>
            </a:r>
          </a:p>
          <a:p>
            <a:r>
              <a:rPr lang="en-AU" sz="1000" dirty="0"/>
              <a:t>Designed and developed various data profiling functions and queries for Data Quality Analysis, Data Integrity, Address Validation</a:t>
            </a:r>
          </a:p>
          <a:p>
            <a:r>
              <a:rPr lang="en-AU" sz="1000" dirty="0"/>
              <a:t>Handled end to end data migration projects, extracted data from various sources to transform data as per requirements and generated data load files for target systems such as Oracle Fusion HCM and Financials, JD Edwards, Salesforce and Google </a:t>
            </a:r>
            <a:r>
              <a:rPr lang="en-AU" sz="1000" dirty="0" err="1"/>
              <a:t>BigQuery</a:t>
            </a:r>
            <a:endParaRPr lang="en-AU" sz="1000" dirty="0"/>
          </a:p>
          <a:p>
            <a:r>
              <a:rPr lang="en-AU" sz="1000" dirty="0"/>
              <a:t>Worked with Oracle Partners, as Data Migration consultant, for End-to-End Project Implementation in Oracle Fusion space</a:t>
            </a:r>
          </a:p>
        </p:txBody>
      </p:sp>
      <p:cxnSp>
        <p:nvCxnSpPr>
          <p:cNvPr id="2" name="Straight Connector 1">
            <a:extLst>
              <a:ext uri="{FF2B5EF4-FFF2-40B4-BE49-F238E27FC236}">
                <a16:creationId xmlns:a16="http://schemas.microsoft.com/office/drawing/2014/main" id="{594C7E40-A5DE-4DA0-66C7-92EDDAE3255F}"/>
              </a:ext>
            </a:extLst>
          </p:cNvPr>
          <p:cNvCxnSpPr>
            <a:cxnSpLocks/>
          </p:cNvCxnSpPr>
          <p:nvPr/>
        </p:nvCxnSpPr>
        <p:spPr>
          <a:xfrm>
            <a:off x="3428143" y="1314363"/>
            <a:ext cx="0" cy="869021"/>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D450357-2E79-F557-175A-826E98E05609}"/>
              </a:ext>
            </a:extLst>
          </p:cNvPr>
          <p:cNvSpPr txBox="1"/>
          <p:nvPr/>
        </p:nvSpPr>
        <p:spPr>
          <a:xfrm>
            <a:off x="3321267" y="1039837"/>
            <a:ext cx="4631164" cy="276999"/>
          </a:xfrm>
          <a:prstGeom prst="rect">
            <a:avLst/>
          </a:prstGeom>
          <a:noFill/>
        </p:spPr>
        <p:txBody>
          <a:bodyPr wrap="square" rtlCol="0">
            <a:spAutoFit/>
          </a:bodyPr>
          <a:lstStyle/>
          <a:p>
            <a:r>
              <a:rPr lang="en-US" sz="1200" b="1" dirty="0">
                <a:solidFill>
                  <a:srgbClr val="00AB80"/>
                </a:solidFill>
                <a:latin typeface="Roboto" panose="02000000000000000000" pitchFamily="2" charset="0"/>
                <a:ea typeface="Roboto" panose="02000000000000000000" pitchFamily="2" charset="0"/>
              </a:rPr>
              <a:t>Australian Government </a:t>
            </a:r>
            <a:r>
              <a:rPr lang="en-US" sz="1200" b="1" dirty="0" err="1">
                <a:solidFill>
                  <a:srgbClr val="00AB80"/>
                </a:solidFill>
                <a:latin typeface="Roboto" panose="02000000000000000000" pitchFamily="2" charset="0"/>
                <a:ea typeface="Roboto" panose="02000000000000000000" pitchFamily="2" charset="0"/>
              </a:rPr>
              <a:t>Organisation</a:t>
            </a:r>
            <a:r>
              <a:rPr lang="en-US" sz="1200" b="1" dirty="0">
                <a:solidFill>
                  <a:srgbClr val="00AB80"/>
                </a:solidFill>
                <a:latin typeface="Roboto" panose="02000000000000000000" pitchFamily="2" charset="0"/>
                <a:ea typeface="Roboto" panose="02000000000000000000" pitchFamily="2" charset="0"/>
              </a:rPr>
              <a:t> </a:t>
            </a:r>
            <a:r>
              <a:rPr lang="en-AU" sz="1200" b="1" dirty="0">
                <a:solidFill>
                  <a:srgbClr val="00AB80"/>
                </a:solidFill>
                <a:latin typeface="Roboto" panose="02000000000000000000" pitchFamily="2" charset="0"/>
                <a:ea typeface="Roboto" panose="02000000000000000000" pitchFamily="2" charset="0"/>
              </a:rPr>
              <a:t>– Senior Data Engineer</a:t>
            </a:r>
            <a:r>
              <a:rPr lang="en-US" sz="1200" b="1" dirty="0">
                <a:solidFill>
                  <a:srgbClr val="00AB80"/>
                </a:solidFill>
                <a:latin typeface="Roboto" panose="02000000000000000000" pitchFamily="2" charset="0"/>
                <a:ea typeface="Roboto" panose="02000000000000000000" pitchFamily="2" charset="0"/>
              </a:rPr>
              <a:t> </a:t>
            </a:r>
            <a:endParaRPr lang="en-AU" sz="1200" b="1" dirty="0">
              <a:solidFill>
                <a:srgbClr val="00AB80"/>
              </a:solidFill>
              <a:latin typeface="Roboto" panose="02000000000000000000" pitchFamily="2" charset="0"/>
              <a:ea typeface="Roboto" panose="02000000000000000000" pitchFamily="2" charset="0"/>
            </a:endParaRPr>
          </a:p>
        </p:txBody>
      </p:sp>
      <p:sp>
        <p:nvSpPr>
          <p:cNvPr id="15" name="TextBox 14">
            <a:extLst>
              <a:ext uri="{FF2B5EF4-FFF2-40B4-BE49-F238E27FC236}">
                <a16:creationId xmlns:a16="http://schemas.microsoft.com/office/drawing/2014/main" id="{F9FE36A7-8634-28AD-1C5E-02093401EBE1}"/>
              </a:ext>
            </a:extLst>
          </p:cNvPr>
          <p:cNvSpPr txBox="1"/>
          <p:nvPr/>
        </p:nvSpPr>
        <p:spPr>
          <a:xfrm>
            <a:off x="3525879" y="1221776"/>
            <a:ext cx="4325436" cy="120032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Worked intensively on development of an ETL solution using SSIS/SSMS to move data between different layers/zones</a:t>
            </a:r>
          </a:p>
          <a:p>
            <a:r>
              <a:rPr lang="en-AU" sz="1000" dirty="0"/>
              <a:t>Developed and maintained SQL scripts, indexes, complex queries for extraction, transformation and data analysis</a:t>
            </a:r>
          </a:p>
          <a:p>
            <a:r>
              <a:rPr lang="en-AU" sz="1000" dirty="0"/>
              <a:t>Utilised Azure DevOps to manage deployment of project components and manage work functions and tasks</a:t>
            </a:r>
          </a:p>
          <a:p>
            <a:endParaRPr lang="en-AU" sz="1000" dirty="0"/>
          </a:p>
        </p:txBody>
      </p:sp>
    </p:spTree>
    <p:extLst>
      <p:ext uri="{BB962C8B-B14F-4D97-AF65-F5344CB8AC3E}">
        <p14:creationId xmlns:p14="http://schemas.microsoft.com/office/powerpoint/2010/main" val="2009923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a:extLst>
            <a:ext uri="{FF2B5EF4-FFF2-40B4-BE49-F238E27FC236}">
              <a16:creationId xmlns:a16="http://schemas.microsoft.com/office/drawing/2014/main" id="{D83DFF23-18CE-4085-957A-85A94804CF1E}"/>
            </a:ext>
          </a:extLst>
        </p:cNvPr>
        <p:cNvGrpSpPr/>
        <p:nvPr/>
      </p:nvGrpSpPr>
      <p:grpSpPr>
        <a:xfrm>
          <a:off x="0" y="0"/>
          <a:ext cx="0" cy="0"/>
          <a:chOff x="0" y="0"/>
          <a:chExt cx="0" cy="0"/>
        </a:xfrm>
      </p:grpSpPr>
      <p:sp>
        <p:nvSpPr>
          <p:cNvPr id="189" name="TextBox 188">
            <a:extLst>
              <a:ext uri="{FF2B5EF4-FFF2-40B4-BE49-F238E27FC236}">
                <a16:creationId xmlns:a16="http://schemas.microsoft.com/office/drawing/2014/main" id="{8CAB0A6B-91DE-0294-4DBC-DBB92BBA1558}"/>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947F88DB-810B-23F9-228F-D4699612D2EE}"/>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7BC0D94-908E-BF35-9991-D9AC20A34A0A}"/>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623BAF23-ADCC-B3DF-206F-B10028188E0D}"/>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517681FD-ACDF-E652-F98C-7BD27574AB19}"/>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Venkatesh Thamotharan</a:t>
            </a:r>
          </a:p>
        </p:txBody>
      </p:sp>
      <p:sp>
        <p:nvSpPr>
          <p:cNvPr id="17" name="TextBox 16">
            <a:extLst>
              <a:ext uri="{FF2B5EF4-FFF2-40B4-BE49-F238E27FC236}">
                <a16:creationId xmlns:a16="http://schemas.microsoft.com/office/drawing/2014/main" id="{E05E7505-BD8C-8236-C355-C78EAEB29162}"/>
              </a:ext>
            </a:extLst>
          </p:cNvPr>
          <p:cNvSpPr txBox="1"/>
          <p:nvPr/>
        </p:nvSpPr>
        <p:spPr>
          <a:xfrm>
            <a:off x="250509" y="1634583"/>
            <a:ext cx="2928002" cy="1077218"/>
          </a:xfrm>
          <a:prstGeom prst="rect">
            <a:avLst/>
          </a:prstGeom>
          <a:noFill/>
        </p:spPr>
        <p:txBody>
          <a:bodyPr wrap="square" lIns="0" tIns="0" rIns="0" bIns="0" rtlCol="0" anchor="t">
            <a:spAutoFit/>
          </a:bodyPr>
          <a:lstStyle/>
          <a:p>
            <a:pPr algn="l"/>
            <a:r>
              <a:rPr lang="en-AU" sz="1000" spc="13" dirty="0">
                <a:latin typeface="Roboto Light"/>
                <a:ea typeface="Roboto Light"/>
                <a:cs typeface="Lato"/>
              </a:rPr>
              <a:t>Venkatesh is a Senior Data Engineer, Analyst and Developer with over 15 years of experience in the IT industry. Predominantly working as a Data Migration Specialist and a Team Lead, Venkatesh has experience in SAP Business Objects Web Intelligence report development, BI analysis, and data warehouse architecture.</a:t>
            </a:r>
          </a:p>
        </p:txBody>
      </p:sp>
      <p:sp>
        <p:nvSpPr>
          <p:cNvPr id="20" name="TextBox 19">
            <a:extLst>
              <a:ext uri="{FF2B5EF4-FFF2-40B4-BE49-F238E27FC236}">
                <a16:creationId xmlns:a16="http://schemas.microsoft.com/office/drawing/2014/main" id="{2B6033A5-D24D-3D95-AC0E-D61B46850EAA}"/>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246A53DD-5628-9A60-87C6-8C91D9FFBA42}"/>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1436987B-B4A7-0712-4808-A38684A2AFE7}"/>
              </a:ext>
            </a:extLst>
          </p:cNvPr>
          <p:cNvSpPr/>
          <p:nvPr/>
        </p:nvSpPr>
        <p:spPr>
          <a:xfrm>
            <a:off x="132977" y="5127266"/>
            <a:ext cx="2991223" cy="249302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9082C5CF-BE4D-8A4A-E022-320812E23F5B}"/>
              </a:ext>
            </a:extLst>
          </p:cNvPr>
          <p:cNvSpPr txBox="1"/>
          <p:nvPr/>
        </p:nvSpPr>
        <p:spPr>
          <a:xfrm>
            <a:off x="1716674" y="5528850"/>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 Business Objects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Confluence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Databricks</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Google Cloud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SSIS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Data Studio</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Linx/Unix Scripting </a:t>
            </a:r>
          </a:p>
          <a:p>
            <a:pPr>
              <a:buClr>
                <a:srgbClr val="00AB80"/>
              </a:buClr>
            </a:pPr>
            <a:endParaRPr lang="en-US" sz="900" dirty="0">
              <a:latin typeface="Roboto Light" panose="02000000000000000000" pitchFamily="2" charset="0"/>
              <a:ea typeface="Roboto Light" panose="02000000000000000000" pitchFamily="2" charset="0"/>
            </a:endParaRP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8E951F34-6972-E280-CAA7-910AE56E778C}"/>
              </a:ext>
            </a:extLst>
          </p:cNvPr>
          <p:cNvCxnSpPr>
            <a:cxnSpLocks/>
          </p:cNvCxnSpPr>
          <p:nvPr/>
        </p:nvCxnSpPr>
        <p:spPr>
          <a:xfrm rot="5400000" flipH="1" flipV="1">
            <a:off x="712796" y="64765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890AC3C5-671F-9E43-3EC6-B9AF0B01279E}"/>
              </a:ext>
            </a:extLst>
          </p:cNvPr>
          <p:cNvCxnSpPr>
            <a:cxnSpLocks/>
          </p:cNvCxnSpPr>
          <p:nvPr/>
        </p:nvCxnSpPr>
        <p:spPr>
          <a:xfrm>
            <a:off x="3428143" y="2611321"/>
            <a:ext cx="0" cy="869021"/>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C4ACCB7C-4A07-52D7-D74D-ACC94C1AFED1}"/>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344FA34-FDFF-074A-3DB3-F0CB56611A7D}"/>
              </a:ext>
            </a:extLst>
          </p:cNvPr>
          <p:cNvSpPr txBox="1"/>
          <p:nvPr/>
        </p:nvSpPr>
        <p:spPr>
          <a:xfrm>
            <a:off x="8192705" y="2946597"/>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367789A4-07E5-0F1A-48FA-07DB23F08BF7}"/>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5835F4A2-BFEB-51F0-4927-DEC806A1106F}"/>
              </a:ext>
            </a:extLst>
          </p:cNvPr>
          <p:cNvCxnSpPr>
            <a:cxnSpLocks/>
          </p:cNvCxnSpPr>
          <p:nvPr/>
        </p:nvCxnSpPr>
        <p:spPr>
          <a:xfrm flipV="1">
            <a:off x="8035461" y="957777"/>
            <a:ext cx="0" cy="642349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431145B-074D-B813-60D0-1213E528571D}"/>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B86ECD51-0AA3-8F57-13CB-7FFA84C71854}"/>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D0CB6677-EA13-2F5E-6C3C-0FC41DE8EEED}"/>
              </a:ext>
            </a:extLst>
          </p:cNvPr>
          <p:cNvGrpSpPr/>
          <p:nvPr/>
        </p:nvGrpSpPr>
        <p:grpSpPr>
          <a:xfrm>
            <a:off x="8106458" y="3162041"/>
            <a:ext cx="1951941" cy="4339650"/>
            <a:chOff x="8106458" y="2681447"/>
            <a:chExt cx="1951941" cy="4339650"/>
          </a:xfrm>
        </p:grpSpPr>
        <p:cxnSp>
          <p:nvCxnSpPr>
            <p:cNvPr id="40" name="Straight Connector 39">
              <a:extLst>
                <a:ext uri="{FF2B5EF4-FFF2-40B4-BE49-F238E27FC236}">
                  <a16:creationId xmlns:a16="http://schemas.microsoft.com/office/drawing/2014/main" id="{2E5A0B05-4814-E7B0-09BA-57B10AB720DF}"/>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D81B01E9-847D-1C3F-2F8D-4C8396D4914E}"/>
                </a:ext>
              </a:extLst>
            </p:cNvPr>
            <p:cNvSpPr txBox="1"/>
            <p:nvPr/>
          </p:nvSpPr>
          <p:spPr>
            <a:xfrm>
              <a:off x="8106458" y="2681447"/>
              <a:ext cx="1951941" cy="4339650"/>
            </a:xfrm>
            <a:prstGeom prst="rect">
              <a:avLst/>
            </a:prstGeom>
            <a:noFill/>
          </p:spPr>
          <p:txBody>
            <a:bodyPr wrap="square">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rPr>
                <a:t>Databricks | Lakehouse Fundamentals</a:t>
              </a:r>
            </a:p>
            <a:p>
              <a:pPr>
                <a:tabLst>
                  <a:tab pos="3819525" algn="l"/>
                  <a:tab pos="3895725" algn="l"/>
                </a:tabLst>
              </a:pPr>
              <a:endParaRPr lang="en-GB" sz="1200">
                <a:solidFill>
                  <a:srgbClr val="00AB80"/>
                </a:solidFill>
                <a:latin typeface="Roboto Light" panose="02000000000000000000" pitchFamily="2" charset="0"/>
              </a:endParaRPr>
            </a:p>
            <a:p>
              <a:pPr>
                <a:tabLst>
                  <a:tab pos="3819525" algn="l"/>
                  <a:tab pos="3895725" algn="l"/>
                </a:tabLst>
              </a:pPr>
              <a:r>
                <a:rPr lang="en-AU" sz="1200" dirty="0">
                  <a:solidFill>
                    <a:srgbClr val="00AB80"/>
                  </a:solidFill>
                  <a:latin typeface="Roboto Light" panose="02000000000000000000" pitchFamily="2" charset="0"/>
                </a:rPr>
                <a:t>Databricks </a:t>
              </a:r>
              <a:r>
                <a:rPr lang="en-GB" sz="1200" dirty="0">
                  <a:solidFill>
                    <a:srgbClr val="00AB80"/>
                  </a:solidFill>
                  <a:latin typeface="Roboto Light" panose="02000000000000000000" pitchFamily="2" charset="0"/>
                </a:rPr>
                <a:t>| </a:t>
              </a:r>
              <a:r>
                <a:rPr lang="en-AU" sz="1200" dirty="0">
                  <a:solidFill>
                    <a:srgbClr val="00AB80"/>
                  </a:solidFill>
                  <a:latin typeface="Roboto Light" panose="02000000000000000000" pitchFamily="2" charset="0"/>
                </a:rPr>
                <a:t>Certified Data Engineer</a:t>
              </a:r>
              <a:endParaRPr lang="en-GB" sz="1200">
                <a:solidFill>
                  <a:srgbClr val="00AB80"/>
                </a:solidFill>
                <a:latin typeface="Roboto Light" panose="02000000000000000000" pitchFamily="2" charset="0"/>
              </a:endParaRP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Microsoft Azure Certified |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Solution Developer</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a:t>
              </a:r>
              <a:r>
                <a:rPr lang="en-GB" sz="1200" dirty="0">
                  <a:solidFill>
                    <a:srgbClr val="00AB80"/>
                  </a:solidFill>
                  <a:effectLst/>
                  <a:latin typeface="Roboto Light" panose="02000000000000000000" pitchFamily="2" charset="0"/>
                  <a:ea typeface="Calibri" panose="020F0502020204030204" pitchFamily="34" charset="0"/>
                </a:rPr>
                <a:t>r</a:t>
              </a:r>
              <a:r>
                <a:rPr lang="en-GB" sz="1200" dirty="0">
                  <a:solidFill>
                    <a:srgbClr val="00AB80"/>
                  </a:solidFill>
                  <a:latin typeface="Roboto Light" panose="02000000000000000000" pitchFamily="2" charset="0"/>
                  <a:ea typeface="Calibri" panose="020F0502020204030204" pitchFamily="34" charset="0"/>
                </a:rPr>
                <a:t> – Science, Computer Software | </a:t>
              </a:r>
            </a:p>
            <a:p>
              <a:pPr>
                <a:tabLst>
                  <a:tab pos="3819525" algn="l"/>
                  <a:tab pos="3895725" algn="l"/>
                </a:tabLst>
              </a:pPr>
              <a:r>
                <a:rPr lang="en-US" sz="1200" dirty="0">
                  <a:solidFill>
                    <a:srgbClr val="00AB80"/>
                  </a:solidFill>
                  <a:effectLst/>
                  <a:latin typeface="Roboto Light" panose="02000000000000000000" pitchFamily="2" charset="0"/>
                  <a:ea typeface="Calibri" panose="020F0502020204030204" pitchFamily="34" charset="0"/>
                </a:rPr>
                <a:t>Vellore Institute of Tech</a:t>
              </a: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Computer Science &amp; Software Engineering | </a:t>
              </a:r>
              <a:r>
                <a:rPr lang="en-US" sz="1200" dirty="0">
                  <a:solidFill>
                    <a:srgbClr val="00AB80"/>
                  </a:solidFill>
                  <a:latin typeface="Roboto Light" panose="02000000000000000000" pitchFamily="2" charset="0"/>
                  <a:ea typeface="Calibri" panose="020F0502020204030204" pitchFamily="34" charset="0"/>
                </a:rPr>
                <a:t> Australian College of Business &amp; Tech</a:t>
              </a:r>
              <a:endParaRPr lang="en-GB" sz="1200" dirty="0">
                <a:solidFill>
                  <a:srgbClr val="00AB80"/>
                </a:solidFill>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0746AF61-837A-CD10-CA06-A56A6A632960}"/>
              </a:ext>
            </a:extLst>
          </p:cNvPr>
          <p:cNvSpPr txBox="1"/>
          <p:nvPr/>
        </p:nvSpPr>
        <p:spPr>
          <a:xfrm>
            <a:off x="140378" y="5531073"/>
            <a:ext cx="1458993"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032DF5F6-0ED5-76DE-C8E0-CC7FA407A393}"/>
              </a:ext>
            </a:extLst>
          </p:cNvPr>
          <p:cNvSpPr txBox="1"/>
          <p:nvPr/>
        </p:nvSpPr>
        <p:spPr>
          <a:xfrm>
            <a:off x="-19943" y="52083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2BEB8ECB-27AB-5A78-0665-EC4C3A9E8333}"/>
              </a:ext>
            </a:extLst>
          </p:cNvPr>
          <p:cNvSpPr txBox="1"/>
          <p:nvPr/>
        </p:nvSpPr>
        <p:spPr>
          <a:xfrm>
            <a:off x="3321267" y="2272997"/>
            <a:ext cx="4631164" cy="276999"/>
          </a:xfrm>
          <a:prstGeom prst="rect">
            <a:avLst/>
          </a:prstGeom>
          <a:noFill/>
        </p:spPr>
        <p:txBody>
          <a:bodyPr wrap="square" rtlCol="0">
            <a:spAutoFit/>
          </a:bodyPr>
          <a:lstStyle/>
          <a:p>
            <a:r>
              <a:rPr lang="en-US" sz="1200" b="1" dirty="0">
                <a:solidFill>
                  <a:srgbClr val="00AB80"/>
                </a:solidFill>
                <a:latin typeface="Roboto" panose="02000000000000000000" pitchFamily="2" charset="0"/>
                <a:ea typeface="Roboto" panose="02000000000000000000" pitchFamily="2" charset="0"/>
              </a:rPr>
              <a:t>Australian Government </a:t>
            </a:r>
            <a:r>
              <a:rPr lang="en-US" sz="1200" b="1" dirty="0" err="1">
                <a:solidFill>
                  <a:srgbClr val="00AB80"/>
                </a:solidFill>
                <a:latin typeface="Roboto" panose="02000000000000000000" pitchFamily="2" charset="0"/>
                <a:ea typeface="Roboto" panose="02000000000000000000" pitchFamily="2" charset="0"/>
              </a:rPr>
              <a:t>Organisation</a:t>
            </a:r>
            <a:r>
              <a:rPr lang="en-US" sz="1200" b="1" dirty="0">
                <a:solidFill>
                  <a:srgbClr val="00AB80"/>
                </a:solidFill>
                <a:latin typeface="Roboto" panose="02000000000000000000" pitchFamily="2" charset="0"/>
                <a:ea typeface="Roboto" panose="02000000000000000000" pitchFamily="2" charset="0"/>
              </a:rPr>
              <a:t> </a:t>
            </a:r>
            <a:r>
              <a:rPr lang="en-AU" sz="1200" b="1" dirty="0">
                <a:solidFill>
                  <a:srgbClr val="00AB80"/>
                </a:solidFill>
                <a:latin typeface="Roboto" panose="02000000000000000000" pitchFamily="2" charset="0"/>
                <a:ea typeface="Roboto" panose="02000000000000000000" pitchFamily="2" charset="0"/>
              </a:rPr>
              <a:t>– Senior Data Engineer</a:t>
            </a:r>
            <a:r>
              <a:rPr lang="en-US" sz="1200" b="1" dirty="0">
                <a:solidFill>
                  <a:srgbClr val="00AB80"/>
                </a:solidFill>
                <a:latin typeface="Roboto" panose="02000000000000000000" pitchFamily="2" charset="0"/>
                <a:ea typeface="Roboto" panose="02000000000000000000" pitchFamily="2" charset="0"/>
              </a:rPr>
              <a:t> </a:t>
            </a:r>
            <a:endParaRPr lang="en-AU" sz="1200" b="1" dirty="0">
              <a:solidFill>
                <a:srgbClr val="00AB80"/>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F765D6E5-E11F-AC2F-0AAF-501EE62F3975}"/>
              </a:ext>
            </a:extLst>
          </p:cNvPr>
          <p:cNvSpPr txBox="1"/>
          <p:nvPr/>
        </p:nvSpPr>
        <p:spPr>
          <a:xfrm>
            <a:off x="3525879" y="2454936"/>
            <a:ext cx="4325436" cy="120032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Worked intensively on development of an ETL solution using SSIS/SSMS to move data between different layers/zones</a:t>
            </a:r>
          </a:p>
          <a:p>
            <a:r>
              <a:rPr lang="en-AU" sz="1000" dirty="0"/>
              <a:t>Developed and maintained SQL scripts, indexes, complex queries for extraction, transformation and data analysis</a:t>
            </a:r>
          </a:p>
          <a:p>
            <a:r>
              <a:rPr lang="en-AU" sz="1000" dirty="0"/>
              <a:t>Utilised Azure DevOps to manage deployment of project components and manage work functions and tasks</a:t>
            </a:r>
          </a:p>
          <a:p>
            <a:endParaRPr lang="en-AU" sz="1000" dirty="0"/>
          </a:p>
        </p:txBody>
      </p:sp>
      <p:sp>
        <p:nvSpPr>
          <p:cNvPr id="48" name="TextBox 47">
            <a:extLst>
              <a:ext uri="{FF2B5EF4-FFF2-40B4-BE49-F238E27FC236}">
                <a16:creationId xmlns:a16="http://schemas.microsoft.com/office/drawing/2014/main" id="{35C31423-FFC4-D078-EF0E-4374DF0FB241}"/>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Government</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Insurance</a:t>
            </a: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Education</a:t>
            </a:r>
          </a:p>
        </p:txBody>
      </p:sp>
      <p:sp>
        <p:nvSpPr>
          <p:cNvPr id="60" name="TextBox 59">
            <a:extLst>
              <a:ext uri="{FF2B5EF4-FFF2-40B4-BE49-F238E27FC236}">
                <a16:creationId xmlns:a16="http://schemas.microsoft.com/office/drawing/2014/main" id="{59BA8C34-E901-0D15-E368-E3D4BC4D67E1}"/>
              </a:ext>
            </a:extLst>
          </p:cNvPr>
          <p:cNvSpPr txBox="1"/>
          <p:nvPr/>
        </p:nvSpPr>
        <p:spPr>
          <a:xfrm>
            <a:off x="254204" y="2847789"/>
            <a:ext cx="2873026" cy="2154436"/>
          </a:xfrm>
          <a:prstGeom prst="rect">
            <a:avLst/>
          </a:prstGeom>
          <a:noFill/>
        </p:spPr>
        <p:txBody>
          <a:bodyPr wrap="square" lIns="0" tIns="0" rIns="0" bIns="0" rtlCol="0" anchor="t">
            <a:spAutoFit/>
          </a:bodyPr>
          <a:lstStyle>
            <a:defPPr>
              <a:defRPr lang="en-US"/>
            </a:defPPr>
            <a:lvl1pPr>
              <a:defRPr sz="1000" spc="13">
                <a:latin typeface="Roboto Light"/>
                <a:ea typeface="Roboto Light"/>
                <a:cs typeface="Lato"/>
              </a:defRPr>
            </a:lvl1pPr>
          </a:lstStyle>
          <a:p>
            <a:r>
              <a:rPr lang="en-AU" dirty="0"/>
              <a:t>With extensive experience in Data Analysis, Modelling, Engineering, ETL Development, and Migration, Venkatesh is an expert in creating and managing cloud computing services. Additionally, Venkatesh is well-versed with Jira and Confluence, and has experience with developing financial reports for enterprise systems.</a:t>
            </a:r>
          </a:p>
          <a:p>
            <a:endParaRPr lang="en-AU" dirty="0"/>
          </a:p>
          <a:p>
            <a:r>
              <a:rPr lang="en-AU" dirty="0"/>
              <a:t>Venkatesh is committed to providing technical guidance and assistance in all phases of the project lifecycle, and is a highly accredited and certified professional.</a:t>
            </a:r>
          </a:p>
          <a:p>
            <a:endParaRPr lang="en-AU" dirty="0"/>
          </a:p>
          <a:p>
            <a:endParaRPr lang="en-US" dirty="0"/>
          </a:p>
        </p:txBody>
      </p:sp>
      <p:cxnSp>
        <p:nvCxnSpPr>
          <p:cNvPr id="16" name="Straight Connector 15">
            <a:extLst>
              <a:ext uri="{FF2B5EF4-FFF2-40B4-BE49-F238E27FC236}">
                <a16:creationId xmlns:a16="http://schemas.microsoft.com/office/drawing/2014/main" id="{2CC06A47-FDC9-7380-D91D-C6699810112C}"/>
              </a:ext>
            </a:extLst>
          </p:cNvPr>
          <p:cNvCxnSpPr>
            <a:cxnSpLocks/>
          </p:cNvCxnSpPr>
          <p:nvPr/>
        </p:nvCxnSpPr>
        <p:spPr>
          <a:xfrm>
            <a:off x="3428143" y="5181314"/>
            <a:ext cx="0" cy="2381118"/>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B8B30B9-D6E5-E292-6AD8-61E080CFE35C}"/>
              </a:ext>
            </a:extLst>
          </p:cNvPr>
          <p:cNvSpPr txBox="1"/>
          <p:nvPr/>
        </p:nvSpPr>
        <p:spPr>
          <a:xfrm>
            <a:off x="3321267" y="4876265"/>
            <a:ext cx="4631164" cy="276999"/>
          </a:xfrm>
          <a:prstGeom prst="rect">
            <a:avLst/>
          </a:prstGeom>
          <a:noFill/>
        </p:spPr>
        <p:txBody>
          <a:bodyPr wrap="square" rtlCol="0">
            <a:spAutoFit/>
          </a:bodyPr>
          <a:lstStyle/>
          <a:p>
            <a:r>
              <a:rPr lang="en-US" sz="1200" b="1" dirty="0">
                <a:solidFill>
                  <a:srgbClr val="A93584"/>
                </a:solidFill>
                <a:latin typeface="Roboto" panose="02000000000000000000" pitchFamily="2" charset="0"/>
                <a:ea typeface="Roboto" panose="02000000000000000000" pitchFamily="2" charset="0"/>
              </a:rPr>
              <a:t>Financial Services Company </a:t>
            </a:r>
            <a:r>
              <a:rPr lang="en-AU" sz="1200" b="1" dirty="0">
                <a:solidFill>
                  <a:srgbClr val="A93584"/>
                </a:solidFill>
                <a:latin typeface="Roboto" panose="02000000000000000000" pitchFamily="2" charset="0"/>
                <a:ea typeface="Roboto" panose="02000000000000000000" pitchFamily="2" charset="0"/>
              </a:rPr>
              <a:t>– Senior Data Consultant</a:t>
            </a:r>
            <a:r>
              <a:rPr lang="en-US" sz="1200" b="1" dirty="0">
                <a:solidFill>
                  <a:srgbClr val="A93584"/>
                </a:solidFill>
                <a:latin typeface="Roboto" panose="02000000000000000000" pitchFamily="2" charset="0"/>
                <a:ea typeface="Roboto" panose="02000000000000000000" pitchFamily="2" charset="0"/>
              </a:rPr>
              <a:t> </a:t>
            </a:r>
            <a:endParaRPr lang="en-AU" sz="1200" b="1" dirty="0">
              <a:solidFill>
                <a:srgbClr val="A93584"/>
              </a:solidFill>
              <a:latin typeface="Roboto" panose="02000000000000000000" pitchFamily="2" charset="0"/>
              <a:ea typeface="Roboto" panose="02000000000000000000" pitchFamily="2" charset="0"/>
            </a:endParaRPr>
          </a:p>
        </p:txBody>
      </p:sp>
      <p:sp>
        <p:nvSpPr>
          <p:cNvPr id="19" name="TextBox 18">
            <a:extLst>
              <a:ext uri="{FF2B5EF4-FFF2-40B4-BE49-F238E27FC236}">
                <a16:creationId xmlns:a16="http://schemas.microsoft.com/office/drawing/2014/main" id="{981DBECC-76D8-E24A-7404-66E723F7F02D}"/>
              </a:ext>
            </a:extLst>
          </p:cNvPr>
          <p:cNvSpPr txBox="1"/>
          <p:nvPr/>
        </p:nvSpPr>
        <p:spPr>
          <a:xfrm>
            <a:off x="3525878" y="5058204"/>
            <a:ext cx="4372053" cy="2585323"/>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latin typeface="Roboto Light"/>
                <a:ea typeface="Roboto Light"/>
                <a:cs typeface="Roboto Light"/>
              </a:rPr>
              <a:t>Developed an ETL solution to extract data from various source systems, conform data and generate load files for Sage HR and Salesforce</a:t>
            </a:r>
            <a:endParaRPr lang="en-AU" sz="1000" dirty="0"/>
          </a:p>
          <a:p>
            <a:r>
              <a:rPr lang="en-AU" sz="1000" dirty="0"/>
              <a:t>Lead a 3-member offshore team for an end-to-end data migration project, merging various client data from different systems into one core system </a:t>
            </a:r>
          </a:p>
          <a:p>
            <a:r>
              <a:rPr lang="en-AU" sz="1000" dirty="0"/>
              <a:t>Liaised with key stakeholders, business analysts and SMEs, to review, understand and document requirements for data mapping and data loading processes</a:t>
            </a:r>
          </a:p>
          <a:p>
            <a:r>
              <a:rPr lang="en-AU" sz="1000" dirty="0"/>
              <a:t>Designed and developed various data profiling functions and queries for Data Quality Analysis, Data Integrity, Address Validation</a:t>
            </a:r>
          </a:p>
          <a:p>
            <a:r>
              <a:rPr lang="en-AU" sz="1000" dirty="0"/>
              <a:t>Handled end to end data migration projects, extracted data from various sources to transform data as per requirements and generated data load files for target systems such as Oracle Fusion HCM and Financials, JD Edwards, Salesforce and Google </a:t>
            </a:r>
            <a:r>
              <a:rPr lang="en-AU" sz="1000" dirty="0" err="1"/>
              <a:t>BigQuery</a:t>
            </a:r>
            <a:endParaRPr lang="en-AU" sz="1000" dirty="0"/>
          </a:p>
          <a:p>
            <a:r>
              <a:rPr lang="en-AU" sz="1000" dirty="0"/>
              <a:t>Worked with Oracle Partners, as Data Migration consultant, for End-to-End Project Implementation in Oracle Fusion space</a:t>
            </a:r>
          </a:p>
        </p:txBody>
      </p:sp>
      <p:cxnSp>
        <p:nvCxnSpPr>
          <p:cNvPr id="21" name="Straight Connector 20">
            <a:extLst>
              <a:ext uri="{FF2B5EF4-FFF2-40B4-BE49-F238E27FC236}">
                <a16:creationId xmlns:a16="http://schemas.microsoft.com/office/drawing/2014/main" id="{C4AF5C5A-6D17-6F7D-E3B1-09D2354417D6}"/>
              </a:ext>
            </a:extLst>
          </p:cNvPr>
          <p:cNvCxnSpPr>
            <a:cxnSpLocks/>
          </p:cNvCxnSpPr>
          <p:nvPr/>
        </p:nvCxnSpPr>
        <p:spPr>
          <a:xfrm>
            <a:off x="3428143" y="1344961"/>
            <a:ext cx="0" cy="869021"/>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301A25C-0D3F-E34A-2E83-03AD6D543BF4}"/>
              </a:ext>
            </a:extLst>
          </p:cNvPr>
          <p:cNvSpPr txBox="1"/>
          <p:nvPr/>
        </p:nvSpPr>
        <p:spPr>
          <a:xfrm>
            <a:off x="3321267" y="1039912"/>
            <a:ext cx="46311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Australian Government </a:t>
            </a:r>
            <a:r>
              <a:rPr lang="en-US" sz="1200" b="1" dirty="0" err="1">
                <a:solidFill>
                  <a:srgbClr val="0059FF"/>
                </a:solidFill>
                <a:latin typeface="Roboto" panose="02000000000000000000" pitchFamily="2" charset="0"/>
                <a:ea typeface="Roboto" panose="02000000000000000000" pitchFamily="2" charset="0"/>
              </a:rPr>
              <a:t>Organisation</a:t>
            </a:r>
            <a:r>
              <a:rPr lang="en-US" sz="1200" b="1" dirty="0">
                <a:solidFill>
                  <a:srgbClr val="0059FF"/>
                </a:solidFill>
                <a:latin typeface="Roboto" panose="02000000000000000000" pitchFamily="2" charset="0"/>
                <a:ea typeface="Roboto" panose="02000000000000000000" pitchFamily="2" charset="0"/>
              </a:rPr>
              <a:t> </a:t>
            </a:r>
            <a:r>
              <a:rPr lang="en-AU" sz="1200" b="1" dirty="0">
                <a:solidFill>
                  <a:srgbClr val="0059FF"/>
                </a:solidFill>
                <a:latin typeface="Roboto" panose="02000000000000000000" pitchFamily="2" charset="0"/>
                <a:ea typeface="Roboto" panose="02000000000000000000" pitchFamily="2" charset="0"/>
              </a:rPr>
              <a:t>– Senior Data Engineer</a:t>
            </a:r>
            <a:r>
              <a:rPr lang="en-US" sz="1200" b="1" dirty="0">
                <a:solidFill>
                  <a:srgbClr val="0059FF"/>
                </a:solidFill>
                <a:latin typeface="Roboto" panose="02000000000000000000" pitchFamily="2" charset="0"/>
                <a:ea typeface="Roboto" panose="02000000000000000000" pitchFamily="2" charset="0"/>
              </a:rPr>
              <a:t> </a:t>
            </a:r>
            <a:endParaRPr lang="en-AU" sz="1200" b="1" dirty="0">
              <a:solidFill>
                <a:srgbClr val="0059FF"/>
              </a:solidFill>
              <a:latin typeface="Roboto" panose="02000000000000000000" pitchFamily="2" charset="0"/>
              <a:ea typeface="Roboto" panose="02000000000000000000" pitchFamily="2" charset="0"/>
            </a:endParaRPr>
          </a:p>
        </p:txBody>
      </p:sp>
      <p:sp>
        <p:nvSpPr>
          <p:cNvPr id="28" name="TextBox 27">
            <a:extLst>
              <a:ext uri="{FF2B5EF4-FFF2-40B4-BE49-F238E27FC236}">
                <a16:creationId xmlns:a16="http://schemas.microsoft.com/office/drawing/2014/main" id="{52CF2D43-6E6A-BD85-A490-A9CA9164EF73}"/>
              </a:ext>
            </a:extLst>
          </p:cNvPr>
          <p:cNvSpPr txBox="1"/>
          <p:nvPr/>
        </p:nvSpPr>
        <p:spPr>
          <a:xfrm>
            <a:off x="3525879" y="1221851"/>
            <a:ext cx="4325436" cy="104644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latin typeface="Roboto Light"/>
                <a:ea typeface="Roboto Light"/>
                <a:cs typeface="Roboto Light"/>
              </a:rPr>
              <a:t>Designed and Developed data pipelines to extract and load data from Google Cloud into Microsoft Fabric instance</a:t>
            </a:r>
          </a:p>
          <a:p>
            <a:r>
              <a:rPr lang="en-AU" sz="1000" dirty="0">
                <a:latin typeface="Roboto Light"/>
                <a:ea typeface="Roboto Light"/>
                <a:cs typeface="Roboto Light"/>
              </a:rPr>
              <a:t>Utilised MS Fabric Deployment pipelines to manage deployment of project components into various environments/workspaces</a:t>
            </a:r>
          </a:p>
          <a:p>
            <a:r>
              <a:rPr lang="en-AU" sz="1000" dirty="0">
                <a:latin typeface="Roboto Light"/>
                <a:ea typeface="Roboto Light"/>
                <a:cs typeface="Roboto Light"/>
              </a:rPr>
              <a:t>Documented the whole ETL process, as part of hand over on Confluence</a:t>
            </a:r>
            <a:endParaRPr lang="en-AU" sz="1000" dirty="0">
              <a:cs typeface="Roboto Light" panose="02000000000000000000" pitchFamily="2" charset="0"/>
            </a:endParaRPr>
          </a:p>
        </p:txBody>
      </p:sp>
      <p:cxnSp>
        <p:nvCxnSpPr>
          <p:cNvPr id="34" name="Straight Connector 33">
            <a:extLst>
              <a:ext uri="{FF2B5EF4-FFF2-40B4-BE49-F238E27FC236}">
                <a16:creationId xmlns:a16="http://schemas.microsoft.com/office/drawing/2014/main" id="{A3D08823-F2BA-8834-B958-87C1B7FB8435}"/>
              </a:ext>
            </a:extLst>
          </p:cNvPr>
          <p:cNvCxnSpPr>
            <a:cxnSpLocks/>
          </p:cNvCxnSpPr>
          <p:nvPr/>
        </p:nvCxnSpPr>
        <p:spPr>
          <a:xfrm>
            <a:off x="3428143" y="3898093"/>
            <a:ext cx="0" cy="869021"/>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BECCA38-33B3-57A6-48A8-4A67204A8C49}"/>
              </a:ext>
            </a:extLst>
          </p:cNvPr>
          <p:cNvSpPr txBox="1"/>
          <p:nvPr/>
        </p:nvSpPr>
        <p:spPr>
          <a:xfrm>
            <a:off x="3321267" y="3593044"/>
            <a:ext cx="4631164" cy="276999"/>
          </a:xfrm>
          <a:prstGeom prst="rect">
            <a:avLst/>
          </a:prstGeom>
          <a:noFill/>
        </p:spPr>
        <p:txBody>
          <a:bodyPr wrap="square" rtlCol="0">
            <a:spAutoFit/>
          </a:bodyPr>
          <a:lstStyle/>
          <a:p>
            <a:r>
              <a:rPr lang="en-US" sz="1200" b="1" dirty="0">
                <a:solidFill>
                  <a:srgbClr val="ED7D31"/>
                </a:solidFill>
                <a:latin typeface="Roboto" panose="02000000000000000000" pitchFamily="2" charset="0"/>
                <a:ea typeface="Roboto" panose="02000000000000000000" pitchFamily="2" charset="0"/>
              </a:rPr>
              <a:t>Financial Services </a:t>
            </a:r>
            <a:r>
              <a:rPr lang="en-US" sz="1200" b="1" dirty="0" err="1">
                <a:solidFill>
                  <a:srgbClr val="ED7D31"/>
                </a:solidFill>
                <a:latin typeface="Roboto" panose="02000000000000000000" pitchFamily="2" charset="0"/>
                <a:ea typeface="Roboto" panose="02000000000000000000" pitchFamily="2" charset="0"/>
              </a:rPr>
              <a:t>Organisation</a:t>
            </a:r>
            <a:r>
              <a:rPr lang="en-US" sz="1200" b="1" dirty="0">
                <a:solidFill>
                  <a:srgbClr val="ED7D31"/>
                </a:solidFill>
                <a:latin typeface="Roboto" panose="02000000000000000000" pitchFamily="2" charset="0"/>
                <a:ea typeface="Roboto" panose="02000000000000000000" pitchFamily="2" charset="0"/>
              </a:rPr>
              <a:t> – </a:t>
            </a:r>
            <a:r>
              <a:rPr lang="en-AU" sz="1200" b="1" dirty="0">
                <a:solidFill>
                  <a:srgbClr val="ED7D31"/>
                </a:solidFill>
                <a:latin typeface="Roboto" panose="02000000000000000000" pitchFamily="2" charset="0"/>
                <a:ea typeface="Roboto" panose="02000000000000000000" pitchFamily="2" charset="0"/>
              </a:rPr>
              <a:t>Data Engineer</a:t>
            </a:r>
            <a:r>
              <a:rPr lang="en-US" sz="1200" b="1" dirty="0">
                <a:solidFill>
                  <a:srgbClr val="ED7D31"/>
                </a:solidFill>
                <a:latin typeface="Roboto" panose="02000000000000000000" pitchFamily="2" charset="0"/>
                <a:ea typeface="Roboto" panose="02000000000000000000" pitchFamily="2" charset="0"/>
              </a:rPr>
              <a:t> </a:t>
            </a:r>
            <a:endParaRPr lang="en-AU" sz="1200" b="1" dirty="0">
              <a:solidFill>
                <a:srgbClr val="ED7D31"/>
              </a:solidFill>
              <a:latin typeface="Roboto" panose="02000000000000000000" pitchFamily="2" charset="0"/>
              <a:ea typeface="Roboto" panose="02000000000000000000" pitchFamily="2" charset="0"/>
            </a:endParaRPr>
          </a:p>
        </p:txBody>
      </p:sp>
      <p:sp>
        <p:nvSpPr>
          <p:cNvPr id="36" name="TextBox 35">
            <a:extLst>
              <a:ext uri="{FF2B5EF4-FFF2-40B4-BE49-F238E27FC236}">
                <a16:creationId xmlns:a16="http://schemas.microsoft.com/office/drawing/2014/main" id="{D093C5E4-E792-7038-0BE2-33AA514D77CD}"/>
              </a:ext>
            </a:extLst>
          </p:cNvPr>
          <p:cNvSpPr txBox="1"/>
          <p:nvPr/>
        </p:nvSpPr>
        <p:spPr>
          <a:xfrm>
            <a:off x="3525879" y="3774983"/>
            <a:ext cx="4325436" cy="104644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latin typeface="Roboto Light"/>
                <a:ea typeface="Roboto Light"/>
                <a:cs typeface="Roboto Light"/>
              </a:rPr>
              <a:t>Designed and developed ETL solutions using Informatica to load data into Oracle data warehouses</a:t>
            </a:r>
            <a:endParaRPr lang="en-AU" sz="1000" dirty="0">
              <a:cs typeface="Roboto Light"/>
            </a:endParaRPr>
          </a:p>
          <a:p>
            <a:r>
              <a:rPr lang="en-AU" sz="1000" dirty="0">
                <a:latin typeface="Roboto Light"/>
                <a:ea typeface="Roboto Light"/>
                <a:cs typeface="Roboto Light"/>
              </a:rPr>
              <a:t>Assisted in development and maintenance of reports in SAP BusinessObjects XI R3</a:t>
            </a:r>
          </a:p>
          <a:p>
            <a:r>
              <a:rPr lang="en-AU" sz="1000" dirty="0">
                <a:latin typeface="Roboto Light"/>
                <a:ea typeface="Roboto Light"/>
                <a:cs typeface="Roboto Light"/>
              </a:rPr>
              <a:t>Experience in documenting Mapping Specifications, Data Reconciliation Specifications and User Acceptance Test Cases</a:t>
            </a:r>
            <a:endParaRPr lang="en-AU" sz="1000" dirty="0">
              <a:cs typeface="Roboto Light"/>
            </a:endParaRPr>
          </a:p>
        </p:txBody>
      </p:sp>
    </p:spTree>
    <p:extLst>
      <p:ext uri="{BB962C8B-B14F-4D97-AF65-F5344CB8AC3E}">
        <p14:creationId xmlns:p14="http://schemas.microsoft.com/office/powerpoint/2010/main" val="35873223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2.xml><?xml version="1.0" encoding="utf-8"?>
<ds:datastoreItem xmlns:ds="http://schemas.openxmlformats.org/officeDocument/2006/customXml" ds:itemID="{B79DDFC6-124A-4859-BB62-4C7039BA48C0}">
  <ds:schemaRefs>
    <ds:schemaRef ds:uri="http://purl.org/dc/terms/"/>
    <ds:schemaRef ds:uri="http://schemas.microsoft.com/office/2006/metadata/properties"/>
    <ds:schemaRef ds:uri="e52cd9e7-35e5-4bd3-9cab-ca6a63c31e52"/>
    <ds:schemaRef ds:uri="http://schemas.microsoft.com/office/2006/documentManagement/types"/>
    <ds:schemaRef ds:uri="daf93972-1964-4522-aa34-640805a01c3a"/>
    <ds:schemaRef ds:uri="http://purl.org/dc/elements/1.1/"/>
    <ds:schemaRef ds:uri="http://www.w3.org/XML/1998/namespace"/>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67E8EF89-143E-4923-9D60-5C2BE2C5C610}">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94</TotalTime>
  <Words>1557</Words>
  <Application>Microsoft Office PowerPoint</Application>
  <PresentationFormat>Custom</PresentationFormat>
  <Paragraphs>192</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7</cp:revision>
  <dcterms:created xsi:type="dcterms:W3CDTF">2019-12-03T01:50:37Z</dcterms:created>
  <dcterms:modified xsi:type="dcterms:W3CDTF">2025-09-30T05:17:33Z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