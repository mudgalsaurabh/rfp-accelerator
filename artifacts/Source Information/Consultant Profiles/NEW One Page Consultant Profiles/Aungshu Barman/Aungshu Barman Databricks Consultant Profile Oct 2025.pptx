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75A909-C5FD-5349-8D4C-49E552D5FCA7}" v="307" dt="2025-10-21T02:16:42.635"/>
    <p1510:client id="{E4BD4AB4-E48A-49F4-942B-07799D2B2D23}" v="23" dt="2025-10-21T02:21:06.3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491076AF-459F-4660-98D1-05D43B79D51A}"/>
    <pc:docChg chg="undo custSel modSld">
      <pc:chgData name="Darcy Roach" userId="ba676ee9-e9b4-49e8-a515-8077106c948d" providerId="ADAL" clId="{491076AF-459F-4660-98D1-05D43B79D51A}" dt="2025-10-21T02:21:06.377" v="251" actId="20577"/>
      <pc:docMkLst>
        <pc:docMk/>
      </pc:docMkLst>
      <pc:sldChg chg="delSp modSp mod">
        <pc:chgData name="Darcy Roach" userId="ba676ee9-e9b4-49e8-a515-8077106c948d" providerId="ADAL" clId="{491076AF-459F-4660-98D1-05D43B79D51A}" dt="2025-10-21T02:21:06.377" v="251" actId="20577"/>
        <pc:sldMkLst>
          <pc:docMk/>
          <pc:sldMk cId="2009923557" sldId="270"/>
        </pc:sldMkLst>
        <pc:spChg chg="mod">
          <ac:chgData name="Darcy Roach" userId="ba676ee9-e9b4-49e8-a515-8077106c948d" providerId="ADAL" clId="{491076AF-459F-4660-98D1-05D43B79D51A}" dt="2025-10-21T02:00:18.618" v="224" actId="1076"/>
          <ac:spMkLst>
            <pc:docMk/>
            <pc:sldMk cId="2009923557" sldId="270"/>
            <ac:spMk id="6" creationId="{701E125D-B356-8A2A-B86B-AB6567CEABE1}"/>
          </ac:spMkLst>
        </pc:spChg>
        <pc:spChg chg="mod">
          <ac:chgData name="Darcy Roach" userId="ba676ee9-e9b4-49e8-a515-8077106c948d" providerId="ADAL" clId="{491076AF-459F-4660-98D1-05D43B79D51A}" dt="2025-10-21T02:19:33.526" v="243" actId="1076"/>
          <ac:spMkLst>
            <pc:docMk/>
            <pc:sldMk cId="2009923557" sldId="270"/>
            <ac:spMk id="7" creationId="{6B2F289A-52B4-2A27-52EA-B05DE2DA93CE}"/>
          </ac:spMkLst>
        </pc:spChg>
        <pc:spChg chg="del">
          <ac:chgData name="Darcy Roach" userId="ba676ee9-e9b4-49e8-a515-8077106c948d" providerId="ADAL" clId="{491076AF-459F-4660-98D1-05D43B79D51A}" dt="2025-10-21T02:18:11.992" v="238" actId="478"/>
          <ac:spMkLst>
            <pc:docMk/>
            <pc:sldMk cId="2009923557" sldId="270"/>
            <ac:spMk id="8" creationId="{79B64066-D061-F1EA-2D48-61E07F23A776}"/>
          </ac:spMkLst>
        </pc:spChg>
        <pc:spChg chg="mod">
          <ac:chgData name="Darcy Roach" userId="ba676ee9-e9b4-49e8-a515-8077106c948d" providerId="ADAL" clId="{491076AF-459F-4660-98D1-05D43B79D51A}" dt="2025-10-21T02:00:18.618" v="224" actId="1076"/>
          <ac:spMkLst>
            <pc:docMk/>
            <pc:sldMk cId="2009923557" sldId="270"/>
            <ac:spMk id="12" creationId="{70DE989F-A988-8C86-5720-1FE5B119EB30}"/>
          </ac:spMkLst>
        </pc:spChg>
        <pc:spChg chg="mod">
          <ac:chgData name="Darcy Roach" userId="ba676ee9-e9b4-49e8-a515-8077106c948d" providerId="ADAL" clId="{491076AF-459F-4660-98D1-05D43B79D51A}" dt="2025-10-21T02:21:06.377" v="251" actId="20577"/>
          <ac:spMkLst>
            <pc:docMk/>
            <pc:sldMk cId="2009923557" sldId="270"/>
            <ac:spMk id="17" creationId="{1BDE5051-9F34-F139-742D-4450E5D6591E}"/>
          </ac:spMkLst>
        </pc:spChg>
        <pc:spChg chg="mod">
          <ac:chgData name="Darcy Roach" userId="ba676ee9-e9b4-49e8-a515-8077106c948d" providerId="ADAL" clId="{491076AF-459F-4660-98D1-05D43B79D51A}" dt="2025-10-21T02:00:34.473" v="227" actId="1076"/>
          <ac:spMkLst>
            <pc:docMk/>
            <pc:sldMk cId="2009923557" sldId="270"/>
            <ac:spMk id="38" creationId="{AB47A2EE-BF0B-DB05-8B7C-DB6594B2B3D5}"/>
          </ac:spMkLst>
        </pc:spChg>
        <pc:spChg chg="del mod">
          <ac:chgData name="Darcy Roach" userId="ba676ee9-e9b4-49e8-a515-8077106c948d" providerId="ADAL" clId="{491076AF-459F-4660-98D1-05D43B79D51A}" dt="2025-10-21T02:18:02.571" v="237"/>
          <ac:spMkLst>
            <pc:docMk/>
            <pc:sldMk cId="2009923557" sldId="270"/>
            <ac:spMk id="60" creationId="{FD202519-197D-24FE-C4B7-F4419021EC1E}"/>
          </ac:spMkLst>
        </pc:spChg>
        <pc:grpChg chg="mod">
          <ac:chgData name="Darcy Roach" userId="ba676ee9-e9b4-49e8-a515-8077106c948d" providerId="ADAL" clId="{491076AF-459F-4660-98D1-05D43B79D51A}" dt="2025-10-21T02:00:02.407" v="220" actId="1076"/>
          <ac:grpSpMkLst>
            <pc:docMk/>
            <pc:sldMk cId="2009923557" sldId="270"/>
            <ac:grpSpMk id="45" creationId="{7C004A0F-26FD-81BE-0DC7-EDCD01D4194B}"/>
          </ac:grpSpMkLst>
        </pc:grpChg>
        <pc:cxnChg chg="mod">
          <ac:chgData name="Darcy Roach" userId="ba676ee9-e9b4-49e8-a515-8077106c948d" providerId="ADAL" clId="{491076AF-459F-4660-98D1-05D43B79D51A}" dt="2025-10-21T02:00:28.014" v="226" actId="1035"/>
          <ac:cxnSpMkLst>
            <pc:docMk/>
            <pc:sldMk cId="2009923557" sldId="270"/>
            <ac:cxnSpMk id="15" creationId="{F87F05F2-DA4C-4F55-A5D0-1887110DF155}"/>
          </ac:cxnSpMkLst>
        </pc:cxnChg>
      </pc:sldChg>
    </pc:docChg>
  </pc:docChgLst>
  <pc:docChgLst>
    <pc:chgData name="Direnc Uysal" userId="2a92f630-07d4-4511-a559-74d281fb5860" providerId="ADAL" clId="{22C53117-4B23-55F6-8AC3-958B6BAA1360}"/>
    <pc:docChg chg="undo custSel modSld">
      <pc:chgData name="Direnc Uysal" userId="2a92f630-07d4-4511-a559-74d281fb5860" providerId="ADAL" clId="{22C53117-4B23-55F6-8AC3-958B6BAA1360}" dt="2025-10-21T02:16:42.635" v="306" actId="767"/>
      <pc:docMkLst>
        <pc:docMk/>
      </pc:docMkLst>
      <pc:sldChg chg="addSp modSp mod">
        <pc:chgData name="Direnc Uysal" userId="2a92f630-07d4-4511-a559-74d281fb5860" providerId="ADAL" clId="{22C53117-4B23-55F6-8AC3-958B6BAA1360}" dt="2025-10-21T02:16:42.635" v="306" actId="767"/>
        <pc:sldMkLst>
          <pc:docMk/>
          <pc:sldMk cId="2009923557" sldId="270"/>
        </pc:sldMkLst>
        <pc:spChg chg="add mod">
          <ac:chgData name="Direnc Uysal" userId="2a92f630-07d4-4511-a559-74d281fb5860" providerId="ADAL" clId="{22C53117-4B23-55F6-8AC3-958B6BAA1360}" dt="2025-10-21T02:16:42.635" v="306" actId="767"/>
          <ac:spMkLst>
            <pc:docMk/>
            <pc:sldMk cId="2009923557" sldId="270"/>
            <ac:spMk id="8" creationId="{79B64066-D061-F1EA-2D48-61E07F23A776}"/>
          </ac:spMkLst>
        </pc:spChg>
        <pc:spChg chg="mod">
          <ac:chgData name="Direnc Uysal" userId="2a92f630-07d4-4511-a559-74d281fb5860" providerId="ADAL" clId="{22C53117-4B23-55F6-8AC3-958B6BAA1360}" dt="2025-10-21T02:15:14.548" v="305" actId="20577"/>
          <ac:spMkLst>
            <pc:docMk/>
            <pc:sldMk cId="2009923557" sldId="270"/>
            <ac:spMk id="17" creationId="{1BDE5051-9F34-F139-742D-4450E5D6591E}"/>
          </ac:spMkLst>
        </pc:spChg>
        <pc:spChg chg="mod">
          <ac:chgData name="Direnc Uysal" userId="2a92f630-07d4-4511-a559-74d281fb5860" providerId="ADAL" clId="{22C53117-4B23-55F6-8AC3-958B6BAA1360}" dt="2025-10-21T02:13:23.014" v="93" actId="20577"/>
          <ac:spMkLst>
            <pc:docMk/>
            <pc:sldMk cId="2009923557" sldId="270"/>
            <ac:spMk id="31" creationId="{5D644C1D-FE62-9752-27C7-42A94F729A8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10/20/2025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27543" y="972831"/>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Aungshu Barman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88526"/>
            <a:ext cx="2883963" cy="3847207"/>
          </a:xfrm>
          <a:prstGeom prst="rect">
            <a:avLst/>
          </a:prstGeom>
          <a:noFill/>
        </p:spPr>
        <p:txBody>
          <a:bodyPr wrap="square" lIns="0" tIns="0" rIns="0" bIns="0" rtlCol="0" anchor="t">
            <a:spAutoFit/>
          </a:bodyPr>
          <a:lstStyle/>
          <a:p>
            <a:pPr algn="l"/>
            <a:r>
              <a:rPr lang="en-AU" sz="1000" spc="13">
                <a:latin typeface="Roboto Light"/>
                <a:ea typeface="Roboto Light"/>
                <a:cs typeface="Lato"/>
              </a:rPr>
              <a:t>Aungshu is a Databricks Professional Data Engineer and experienced technology professional in both project development and operational roles. He has designed and implemented several data platform and large-scale reporting migrations across enterprise clients, moving them from legacy to strategic platforms. </a:t>
            </a:r>
          </a:p>
          <a:p>
            <a:pPr algn="l"/>
            <a:endParaRPr lang="en-AU" sz="1000" spc="13">
              <a:latin typeface="Roboto Light"/>
              <a:ea typeface="Roboto Light"/>
              <a:cs typeface="Lato"/>
            </a:endParaRPr>
          </a:p>
          <a:p>
            <a:pPr algn="l"/>
            <a:r>
              <a:rPr lang="en-AU" sz="1000" spc="13">
                <a:latin typeface="Roboto Light"/>
                <a:ea typeface="Roboto Light"/>
                <a:cs typeface="Lato"/>
              </a:rPr>
              <a:t>Aungshu is an expert in developing end-to-end analytics solutions, including data modelling, transformation, automation, developing analytical reports and dashboards, enabling effective decision-making. Aungshu holds significant experience with multiple data platforms, SQL, relational and distributed data technologies in high-volume data environments across multiple industries. A strong understanding of CI/ CD practices, code versioning and configuration management. Adaptive and collaborative, Aungshu has a problem-solving mindset and is highly enthusiastic about cloud technologies. Keen to share his expertise, Aungshu has a passion for assisting businesses to effectively leverage investments in cloud.</a:t>
            </a:r>
          </a:p>
          <a:p>
            <a:pPr algn="l"/>
            <a:endParaRPr lang="en-AU" sz="1000" spc="13">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1002159"/>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Lead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8012" y="5693950"/>
            <a:ext cx="1510046" cy="2446824"/>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AU" sz="900">
                <a:latin typeface="Roboto Light"/>
                <a:ea typeface="Roboto Light"/>
                <a:cs typeface="Roboto Light"/>
              </a:rPr>
              <a:t>Google Cloud Platform</a:t>
            </a:r>
          </a:p>
          <a:p>
            <a:pPr marL="171450" indent="-171450">
              <a:buClr>
                <a:srgbClr val="00AB80"/>
              </a:buClr>
              <a:buFont typeface="Arial" panose="020B0604020202020204" pitchFamily="34" charset="0"/>
              <a:buChar char="•"/>
            </a:pPr>
            <a:r>
              <a:rPr lang="en-AU" sz="900" err="1">
                <a:latin typeface="Roboto Light"/>
                <a:ea typeface="Roboto Light"/>
                <a:cs typeface="Roboto Light"/>
              </a:rPr>
              <a:t>BigQuery</a:t>
            </a:r>
            <a:endParaRPr lang="en-US" sz="900" err="1">
              <a:latin typeface="Roboto Light"/>
              <a:ea typeface="Roboto Light"/>
              <a:cs typeface="Roboto Light"/>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Cloud Composer</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Kubernetes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ERP</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PL/SQL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Microsoft SQL Server</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SSIS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Crystal Reports</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a:buClr>
                <a:srgbClr val="00AB80"/>
              </a:buCl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60837"/>
            <a:ext cx="0" cy="163006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90905"/>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7192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026615"/>
            <a:ext cx="1951941" cy="4154984"/>
            <a:chOff x="8106458" y="2501713"/>
            <a:chExt cx="1951941" cy="415498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501713"/>
              <a:ext cx="1951941" cy="4154984"/>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Databricks </a:t>
              </a:r>
              <a:r>
                <a:rPr lang="en-GB" sz="1200">
                  <a:solidFill>
                    <a:srgbClr val="00AB80"/>
                  </a:solidFill>
                  <a:effectLst/>
                  <a:latin typeface="Roboto Light" panose="02000000000000000000" pitchFamily="2" charset="0"/>
                  <a:ea typeface="Calibri" panose="020F0502020204030204" pitchFamily="34" charset="0"/>
                </a:rPr>
                <a:t>| Data Engineer Professional</a:t>
              </a: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Databricks </a:t>
              </a:r>
              <a:r>
                <a:rPr lang="en-GB" sz="1200">
                  <a:solidFill>
                    <a:srgbClr val="00AB80"/>
                  </a:solidFill>
                  <a:effectLst/>
                  <a:latin typeface="Roboto Light" panose="02000000000000000000" pitchFamily="2" charset="0"/>
                  <a:ea typeface="Calibri" panose="020F0502020204030204" pitchFamily="34" charset="0"/>
                </a:rPr>
                <a:t>| GenAI Engineer Associate</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Google Cloud Certified | Professional Data Engineer</a:t>
              </a: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Master – Business Administration | </a:t>
              </a:r>
            </a:p>
            <a:p>
              <a:pPr>
                <a:tabLst>
                  <a:tab pos="3819525" algn="l"/>
                  <a:tab pos="3895725" algn="l"/>
                </a:tabLst>
              </a:pPr>
              <a:r>
                <a:rPr lang="en-US" sz="1200">
                  <a:solidFill>
                    <a:srgbClr val="00AB80"/>
                  </a:solidFill>
                  <a:latin typeface="Roboto Light" panose="02000000000000000000" pitchFamily="2" charset="0"/>
                </a:rPr>
                <a:t>Dhaka University,</a:t>
              </a: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Bachelor</a:t>
              </a:r>
              <a:r>
                <a:rPr lang="en-GB" sz="1200">
                  <a:solidFill>
                    <a:srgbClr val="00AB80"/>
                  </a:solidFill>
                  <a:latin typeface="Roboto Light" panose="02000000000000000000" pitchFamily="2" charset="0"/>
                  <a:ea typeface="Calibri" panose="020F0502020204030204" pitchFamily="34" charset="0"/>
                </a:rPr>
                <a:t> – Technology, Computer Science &amp; Engineering | West Bengal</a:t>
              </a:r>
              <a:r>
                <a:rPr lang="en-US" sz="1200">
                  <a:solidFill>
                    <a:srgbClr val="00AB80"/>
                  </a:solidFill>
                  <a:latin typeface="Roboto Light" panose="02000000000000000000" pitchFamily="2" charset="0"/>
                </a:rPr>
                <a:t> University</a:t>
              </a: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698493"/>
            <a:ext cx="1570024"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Shell Scripting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Solution Architecture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54407"/>
            <a:ext cx="4870891" cy="276999"/>
          </a:xfrm>
          <a:prstGeom prst="rect">
            <a:avLst/>
          </a:prstGeom>
          <a:noFill/>
        </p:spPr>
        <p:txBody>
          <a:bodyPr wrap="square" rtlCol="0">
            <a:spAutoFit/>
          </a:bodyPr>
          <a:lstStyle/>
          <a:p>
            <a:r>
              <a:rPr lang="en-US" sz="1200" b="1">
                <a:solidFill>
                  <a:srgbClr val="0059FF"/>
                </a:solidFill>
                <a:latin typeface="Roboto" panose="02000000000000000000" pitchFamily="2" charset="0"/>
                <a:ea typeface="Roboto" panose="02000000000000000000" pitchFamily="2" charset="0"/>
              </a:rPr>
              <a:t>Major Australian Energy </a:t>
            </a:r>
            <a:r>
              <a:rPr lang="en-US" sz="1200" b="1" err="1">
                <a:solidFill>
                  <a:srgbClr val="0059FF"/>
                </a:solidFill>
                <a:latin typeface="Roboto" panose="02000000000000000000" pitchFamily="2" charset="0"/>
                <a:ea typeface="Roboto" panose="02000000000000000000" pitchFamily="2" charset="0"/>
              </a:rPr>
              <a:t>Organisation</a:t>
            </a:r>
            <a:r>
              <a:rPr lang="en-US" sz="1200" b="1">
                <a:solidFill>
                  <a:srgbClr val="0059FF"/>
                </a:solidFill>
                <a:latin typeface="Roboto" panose="02000000000000000000" pitchFamily="2" charset="0"/>
                <a:ea typeface="Roboto" panose="02000000000000000000" pitchFamily="2" charset="0"/>
              </a:rPr>
              <a:t> </a:t>
            </a:r>
            <a:r>
              <a:rPr lang="en-AU" sz="1200" b="1">
                <a:solidFill>
                  <a:srgbClr val="0059FF"/>
                </a:solidFill>
                <a:latin typeface="Roboto" panose="02000000000000000000" pitchFamily="2" charset="0"/>
                <a:ea typeface="Roboto" panose="02000000000000000000" pitchFamily="2" charset="0"/>
              </a:rPr>
              <a:t>– Senior Data Engineer</a:t>
            </a: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74570"/>
            <a:ext cx="4533549"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a:solidFill>
                <a:schemeClr val="bg1"/>
              </a:solidFill>
            </a:endParaRPr>
          </a:p>
          <a:p>
            <a:r>
              <a:rPr lang="en-AU" sz="1000">
                <a:solidFill>
                  <a:schemeClr val="bg1"/>
                </a:solidFill>
              </a:rPr>
              <a:t>Delivered cross-platform, reusable metadata-driven data ingestion solutions in Databricks on Azure for master data management</a:t>
            </a:r>
          </a:p>
          <a:p>
            <a:r>
              <a:rPr lang="en-AU" sz="1000">
                <a:solidFill>
                  <a:schemeClr val="bg1"/>
                </a:solidFill>
              </a:rPr>
              <a:t>Lead team of data engineers to deliver streaming from multi-cloud sources into Databricks on Azure using change data capture to enterprise analytics</a:t>
            </a:r>
          </a:p>
          <a:p>
            <a:r>
              <a:rPr lang="en-AU" sz="1000">
                <a:solidFill>
                  <a:schemeClr val="bg1"/>
                </a:solidFill>
              </a:rPr>
              <a:t>Monitored and optimised data pipeline jobs to meet enterprise-wide cost and performance standards</a:t>
            </a:r>
          </a:p>
          <a:p>
            <a:r>
              <a:rPr lang="en-AU" sz="1000">
                <a:solidFill>
                  <a:schemeClr val="bg1"/>
                </a:solidFill>
              </a:rPr>
              <a:t> Provided technical design and managed the solution approval process for the enterprise data team regarding data architecture, cloud architectures, and solution designs</a:t>
            </a:r>
          </a:p>
          <a:p>
            <a:r>
              <a:rPr lang="en-AU" sz="1000">
                <a:solidFill>
                  <a:schemeClr val="bg1"/>
                </a:solidFill>
              </a:rPr>
              <a:t>Managed the operational handover of the Databricks platform from the technical delivery team into the operations team</a:t>
            </a: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090452"/>
            <a:ext cx="5029198" cy="2940465"/>
            <a:chOff x="3335753" y="2997642"/>
            <a:chExt cx="5029198" cy="2940465"/>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16496"/>
              <a:ext cx="0" cy="237390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61665"/>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Major Telecommunications Organisation – Senior Data Engineer</a:t>
              </a:r>
            </a:p>
            <a:p>
              <a:endParaRPr lang="en-AU" sz="1200" b="1">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98896"/>
              <a:ext cx="4423172" cy="273921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a:p>
            <a:p>
              <a:r>
                <a:rPr lang="en-AU" sz="1000"/>
                <a:t>Designed and built dashboards and reports that included building physical layer connections, logically modelling data entities and relations in Business model and mapping (BMM) layer and making data available for consumption through presentation layer in a multiuser development environment</a:t>
              </a:r>
            </a:p>
            <a:p>
              <a:r>
                <a:rPr lang="en-AU" sz="1000"/>
                <a:t>Built and managed End User Layer (EUL), database tier, workbooks and </a:t>
              </a:r>
              <a:r>
                <a:rPr lang="en-AU" sz="1000" err="1"/>
                <a:t>catalog</a:t>
              </a:r>
              <a:r>
                <a:rPr lang="en-AU" sz="1000"/>
                <a:t> in Oracle Discoverer that enabled business users to query and generate reports</a:t>
              </a:r>
            </a:p>
            <a:p>
              <a:r>
                <a:rPr lang="en-AU" sz="1000"/>
                <a:t>Built data models, ELT/ ETL routines and dashboards using shell and python scripts, SQL, PL/ SQL, ODI and OBIEE</a:t>
              </a:r>
            </a:p>
            <a:p>
              <a:r>
                <a:rPr lang="en-AU" sz="1000"/>
                <a:t>Supported client teams with data analysis, ad-hoc reporting requirements and data reconciliation with external sources.</a:t>
              </a:r>
            </a:p>
            <a:p>
              <a:r>
                <a:rPr lang="en-AU" sz="1000"/>
                <a:t>Developed the geospatial reporting solution to monitor community correction services performance across Victoria.</a:t>
              </a:r>
            </a:p>
            <a:p>
              <a:r>
                <a:rPr lang="en-AU" sz="1000"/>
                <a:t>Developed and tested software verification plans and managed the quality assurance process</a:t>
              </a:r>
            </a:p>
            <a:p>
              <a:pPr marL="0" indent="0">
                <a:buNone/>
              </a:pPr>
              <a:endParaRPr lang="en-AU" sz="1000"/>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Energy</a:t>
            </a:r>
          </a:p>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Telecommunications</a:t>
            </a:r>
          </a:p>
          <a:p>
            <a:pPr marL="0" indent="0">
              <a:lnSpc>
                <a:spcPct val="150000"/>
              </a:lnSpc>
              <a:buNone/>
            </a:pPr>
            <a:r>
              <a:rPr lang="en-GB" sz="1200">
                <a:solidFill>
                  <a:srgbClr val="00AB80"/>
                </a:solidFill>
              </a:rPr>
              <a:t>Retail</a:t>
            </a:r>
          </a:p>
          <a:p>
            <a:pPr marL="0" indent="0">
              <a:lnSpc>
                <a:spcPct val="150000"/>
              </a:lnSpc>
              <a:buNone/>
            </a:pPr>
            <a:r>
              <a:rPr lang="en-GB" sz="1200">
                <a:solidFill>
                  <a:srgbClr val="00AB80"/>
                </a:solidFill>
              </a:rPr>
              <a:t>Education</a:t>
            </a:r>
          </a:p>
        </p:txBody>
      </p:sp>
      <p:grpSp>
        <p:nvGrpSpPr>
          <p:cNvPr id="30" name="Group 29">
            <a:extLst>
              <a:ext uri="{FF2B5EF4-FFF2-40B4-BE49-F238E27FC236}">
                <a16:creationId xmlns:a16="http://schemas.microsoft.com/office/drawing/2014/main" id="{A04F5F41-3A2D-4DD1-FE07-979FAD2578E8}"/>
              </a:ext>
            </a:extLst>
          </p:cNvPr>
          <p:cNvGrpSpPr/>
          <p:nvPr/>
        </p:nvGrpSpPr>
        <p:grpSpPr>
          <a:xfrm>
            <a:off x="3335752" y="5818001"/>
            <a:ext cx="4782734" cy="2036755"/>
            <a:chOff x="3335752" y="5822449"/>
            <a:chExt cx="4782734" cy="2036755"/>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822449"/>
              <a:ext cx="4782734" cy="461665"/>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Financial Services Organisation– Team Lead</a:t>
              </a:r>
            </a:p>
            <a:p>
              <a:endParaRPr lang="en-AU" sz="1200" b="1">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0" y="6074100"/>
              <a:ext cx="4527869"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t>Designed solutions to meet business, technical and user requirements using OCDM, ODI, OWB, OBIEE and Discoverer.</a:t>
              </a:r>
            </a:p>
            <a:p>
              <a:r>
                <a:rPr lang="en-AU"/>
                <a:t>Designed, implemented and managed the operation of BI &amp; Analytics assets and processes in Oracle Data Warehouse.</a:t>
              </a:r>
            </a:p>
            <a:p>
              <a:r>
                <a:rPr lang="en-AU"/>
                <a:t>Analysed data to identify patterns/ trends and work with business to develop strategies for better service delivery.</a:t>
              </a:r>
            </a:p>
            <a:p>
              <a:r>
                <a:rPr lang="en-AU"/>
                <a:t>Presented service performance KPI and operational reports to executives </a:t>
              </a:r>
            </a:p>
            <a:p>
              <a:r>
                <a:rPr lang="en-AU"/>
                <a:t>Led the client IT team in ‘DWH Overhauling’ project that replaced the legacy data warehouse with OCDM on Exadata enabling data availability for better decision making and leading the pathway for advanced data mining. </a:t>
              </a:r>
            </a:p>
            <a:p>
              <a:endParaRPr lang="en-AU"/>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120172"/>
              <a:ext cx="0" cy="1496786"/>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2.xml><?xml version="1.0" encoding="utf-8"?>
<ds:datastoreItem xmlns:ds="http://schemas.openxmlformats.org/officeDocument/2006/customXml" ds:itemID="{E88910B1-5802-43AB-A9A5-DDABF570E12B}">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79DDFC6-124A-4859-BB62-4C7039BA48C0}">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2025-10-21T02:21:19Z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