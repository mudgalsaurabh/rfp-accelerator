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2"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B62EE7-1802-42B1-A487-66B410F842B7}" v="6" dt="2023-10-25T23:04:22.6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1794" y="-132"/>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E5B62EE7-1802-42B1-A487-66B410F842B7}"/>
    <pc:docChg chg="undo custSel modSld">
      <pc:chgData name="Darcy Roach" userId="ba676ee9-e9b4-49e8-a515-8077106c948d" providerId="ADAL" clId="{E5B62EE7-1802-42B1-A487-66B410F842B7}" dt="2023-10-25T23:24:39.612" v="1422" actId="1076"/>
      <pc:docMkLst>
        <pc:docMk/>
      </pc:docMkLst>
      <pc:sldChg chg="addSp delSp modSp mod">
        <pc:chgData name="Darcy Roach" userId="ba676ee9-e9b4-49e8-a515-8077106c948d" providerId="ADAL" clId="{E5B62EE7-1802-42B1-A487-66B410F842B7}" dt="2023-10-25T23:24:39.612" v="1422" actId="1076"/>
        <pc:sldMkLst>
          <pc:docMk/>
          <pc:sldMk cId="2144306671" sldId="272"/>
        </pc:sldMkLst>
        <pc:spChg chg="del">
          <ac:chgData name="Darcy Roach" userId="ba676ee9-e9b4-49e8-a515-8077106c948d" providerId="ADAL" clId="{E5B62EE7-1802-42B1-A487-66B410F842B7}" dt="2023-10-25T23:02:15.102" v="1179" actId="21"/>
          <ac:spMkLst>
            <pc:docMk/>
            <pc:sldMk cId="2144306671" sldId="272"/>
            <ac:spMk id="2" creationId="{2FA774CA-3857-9308-4D38-9414B0CC2B95}"/>
          </ac:spMkLst>
        </pc:spChg>
        <pc:spChg chg="mod">
          <ac:chgData name="Darcy Roach" userId="ba676ee9-e9b4-49e8-a515-8077106c948d" providerId="ADAL" clId="{E5B62EE7-1802-42B1-A487-66B410F842B7}" dt="2023-10-25T22:24:09.225" v="499" actId="20577"/>
          <ac:spMkLst>
            <pc:docMk/>
            <pc:sldMk cId="2144306671" sldId="272"/>
            <ac:spMk id="4" creationId="{80F49B2F-21D4-F9EB-049F-717A10CB7D84}"/>
          </ac:spMkLst>
        </pc:spChg>
        <pc:spChg chg="mod">
          <ac:chgData name="Darcy Roach" userId="ba676ee9-e9b4-49e8-a515-8077106c948d" providerId="ADAL" clId="{E5B62EE7-1802-42B1-A487-66B410F842B7}" dt="2023-10-25T23:14:56.359" v="1354" actId="20577"/>
          <ac:spMkLst>
            <pc:docMk/>
            <pc:sldMk cId="2144306671" sldId="272"/>
            <ac:spMk id="6" creationId="{701E125D-B356-8A2A-B86B-AB6567CEABE1}"/>
          </ac:spMkLst>
        </pc:spChg>
        <pc:spChg chg="mod">
          <ac:chgData name="Darcy Roach" userId="ba676ee9-e9b4-49e8-a515-8077106c948d" providerId="ADAL" clId="{E5B62EE7-1802-42B1-A487-66B410F842B7}" dt="2023-10-25T23:24:18.185" v="1419" actId="20577"/>
          <ac:spMkLst>
            <pc:docMk/>
            <pc:sldMk cId="2144306671" sldId="272"/>
            <ac:spMk id="8" creationId="{59FEB941-5146-6B10-4E4D-8A4ADE918AEF}"/>
          </ac:spMkLst>
        </pc:spChg>
        <pc:spChg chg="mod">
          <ac:chgData name="Darcy Roach" userId="ba676ee9-e9b4-49e8-a515-8077106c948d" providerId="ADAL" clId="{E5B62EE7-1802-42B1-A487-66B410F842B7}" dt="2023-10-25T22:29:59.357" v="764" actId="13926"/>
          <ac:spMkLst>
            <pc:docMk/>
            <pc:sldMk cId="2144306671" sldId="272"/>
            <ac:spMk id="10" creationId="{06312B81-BCF1-2796-C112-3DBE0E02F483}"/>
          </ac:spMkLst>
        </pc:spChg>
        <pc:spChg chg="mod">
          <ac:chgData name="Darcy Roach" userId="ba676ee9-e9b4-49e8-a515-8077106c948d" providerId="ADAL" clId="{E5B62EE7-1802-42B1-A487-66B410F842B7}" dt="2023-10-25T04:06:13.457" v="24" actId="20577"/>
          <ac:spMkLst>
            <pc:docMk/>
            <pc:sldMk cId="2144306671" sldId="272"/>
            <ac:spMk id="13" creationId="{FD2720C9-A79F-BD7F-E179-674AD67D7892}"/>
          </ac:spMkLst>
        </pc:spChg>
        <pc:spChg chg="del mod">
          <ac:chgData name="Darcy Roach" userId="ba676ee9-e9b4-49e8-a515-8077106c948d" providerId="ADAL" clId="{E5B62EE7-1802-42B1-A487-66B410F842B7}" dt="2023-10-25T22:29:32.775" v="758" actId="21"/>
          <ac:spMkLst>
            <pc:docMk/>
            <pc:sldMk cId="2144306671" sldId="272"/>
            <ac:spMk id="16" creationId="{7A53ACAB-BBC9-A3AA-740D-EB947374392F}"/>
          </ac:spMkLst>
        </pc:spChg>
        <pc:spChg chg="mod">
          <ac:chgData name="Darcy Roach" userId="ba676ee9-e9b4-49e8-a515-8077106c948d" providerId="ADAL" clId="{E5B62EE7-1802-42B1-A487-66B410F842B7}" dt="2023-10-25T22:22:50.642" v="440" actId="20577"/>
          <ac:spMkLst>
            <pc:docMk/>
            <pc:sldMk cId="2144306671" sldId="272"/>
            <ac:spMk id="17" creationId="{1BDE5051-9F34-F139-742D-4450E5D6591E}"/>
          </ac:spMkLst>
        </pc:spChg>
        <pc:spChg chg="mod">
          <ac:chgData name="Darcy Roach" userId="ba676ee9-e9b4-49e8-a515-8077106c948d" providerId="ADAL" clId="{E5B62EE7-1802-42B1-A487-66B410F842B7}" dt="2023-10-25T23:20:56.685" v="1407" actId="20577"/>
          <ac:spMkLst>
            <pc:docMk/>
            <pc:sldMk cId="2144306671" sldId="272"/>
            <ac:spMk id="19" creationId="{7513C49A-2DF2-8111-FED4-FC07A8EAD258}"/>
          </ac:spMkLst>
        </pc:spChg>
        <pc:spChg chg="mod">
          <ac:chgData name="Darcy Roach" userId="ba676ee9-e9b4-49e8-a515-8077106c948d" providerId="ADAL" clId="{E5B62EE7-1802-42B1-A487-66B410F842B7}" dt="2023-10-25T04:08:28.537" v="47" actId="1076"/>
          <ac:spMkLst>
            <pc:docMk/>
            <pc:sldMk cId="2144306671" sldId="272"/>
            <ac:spMk id="22" creationId="{9D4E289E-1D52-CBDD-E381-40963429D7F1}"/>
          </ac:spMkLst>
        </pc:spChg>
        <pc:spChg chg="mod">
          <ac:chgData name="Darcy Roach" userId="ba676ee9-e9b4-49e8-a515-8077106c948d" providerId="ADAL" clId="{E5B62EE7-1802-42B1-A487-66B410F842B7}" dt="2023-10-25T22:28:11.856" v="637" actId="20577"/>
          <ac:spMkLst>
            <pc:docMk/>
            <pc:sldMk cId="2144306671" sldId="272"/>
            <ac:spMk id="26" creationId="{1A3D666D-00C8-D106-73C3-9FF300F8618C}"/>
          </ac:spMkLst>
        </pc:spChg>
        <pc:spChg chg="mod">
          <ac:chgData name="Darcy Roach" userId="ba676ee9-e9b4-49e8-a515-8077106c948d" providerId="ADAL" clId="{E5B62EE7-1802-42B1-A487-66B410F842B7}" dt="2023-10-25T23:24:39.612" v="1422" actId="1076"/>
          <ac:spMkLst>
            <pc:docMk/>
            <pc:sldMk cId="2144306671" sldId="272"/>
            <ac:spMk id="28" creationId="{6059F888-3BDF-A1C0-65E5-CB6FDD43D97C}"/>
          </ac:spMkLst>
        </pc:spChg>
        <pc:spChg chg="add mod">
          <ac:chgData name="Darcy Roach" userId="ba676ee9-e9b4-49e8-a515-8077106c948d" providerId="ADAL" clId="{E5B62EE7-1802-42B1-A487-66B410F842B7}" dt="2023-10-25T22:29:46.618" v="762"/>
          <ac:spMkLst>
            <pc:docMk/>
            <pc:sldMk cId="2144306671" sldId="272"/>
            <ac:spMk id="31" creationId="{49AF20CC-FCF5-6C08-FA16-C5B4C1353175}"/>
          </ac:spMkLst>
        </pc:spChg>
        <pc:spChg chg="mod">
          <ac:chgData name="Darcy Roach" userId="ba676ee9-e9b4-49e8-a515-8077106c948d" providerId="ADAL" clId="{E5B62EE7-1802-42B1-A487-66B410F842B7}" dt="2023-10-25T23:03:56.370" v="1198"/>
          <ac:spMkLst>
            <pc:docMk/>
            <pc:sldMk cId="2144306671" sldId="272"/>
            <ac:spMk id="34" creationId="{07396EE3-6B18-7B31-04B7-0BF078C25A54}"/>
          </ac:spMkLst>
        </pc:spChg>
        <pc:spChg chg="add del mod">
          <ac:chgData name="Darcy Roach" userId="ba676ee9-e9b4-49e8-a515-8077106c948d" providerId="ADAL" clId="{E5B62EE7-1802-42B1-A487-66B410F842B7}" dt="2023-10-25T23:04:16.306" v="1201"/>
          <ac:spMkLst>
            <pc:docMk/>
            <pc:sldMk cId="2144306671" sldId="272"/>
            <ac:spMk id="36" creationId="{8BC445D3-2E53-CF29-B35A-AAF8FE0CC4F6}"/>
          </ac:spMkLst>
        </pc:spChg>
        <pc:spChg chg="mod">
          <ac:chgData name="Darcy Roach" userId="ba676ee9-e9b4-49e8-a515-8077106c948d" providerId="ADAL" clId="{E5B62EE7-1802-42B1-A487-66B410F842B7}" dt="2023-10-25T22:36:44.273" v="1031" actId="20577"/>
          <ac:spMkLst>
            <pc:docMk/>
            <pc:sldMk cId="2144306671" sldId="272"/>
            <ac:spMk id="38" creationId="{AB47A2EE-BF0B-DB05-8B7C-DB6594B2B3D5}"/>
          </ac:spMkLst>
        </pc:spChg>
        <pc:spChg chg="mod">
          <ac:chgData name="Darcy Roach" userId="ba676ee9-e9b4-49e8-a515-8077106c948d" providerId="ADAL" clId="{E5B62EE7-1802-42B1-A487-66B410F842B7}" dt="2023-10-25T22:29:52.546" v="763" actId="1076"/>
          <ac:spMkLst>
            <pc:docMk/>
            <pc:sldMk cId="2144306671" sldId="272"/>
            <ac:spMk id="39" creationId="{3EA81938-6A76-B850-B0E8-A5F905AEBA98}"/>
          </ac:spMkLst>
        </pc:spChg>
        <pc:spChg chg="mod">
          <ac:chgData name="Darcy Roach" userId="ba676ee9-e9b4-49e8-a515-8077106c948d" providerId="ADAL" clId="{E5B62EE7-1802-42B1-A487-66B410F842B7}" dt="2023-10-25T23:12:13.577" v="1263" actId="20577"/>
          <ac:spMkLst>
            <pc:docMk/>
            <pc:sldMk cId="2144306671" sldId="272"/>
            <ac:spMk id="41" creationId="{8801D76C-9668-EA45-8D91-875CA8669289}"/>
          </ac:spMkLst>
        </pc:spChg>
        <pc:spChg chg="add mod">
          <ac:chgData name="Darcy Roach" userId="ba676ee9-e9b4-49e8-a515-8077106c948d" providerId="ADAL" clId="{E5B62EE7-1802-42B1-A487-66B410F842B7}" dt="2023-10-25T23:24:33.663" v="1421" actId="1076"/>
          <ac:spMkLst>
            <pc:docMk/>
            <pc:sldMk cId="2144306671" sldId="272"/>
            <ac:spMk id="43" creationId="{18B1B090-EBD4-E9DA-33D3-6F6F9894C8D7}"/>
          </ac:spMkLst>
        </pc:spChg>
        <pc:grpChg chg="mod">
          <ac:chgData name="Darcy Roach" userId="ba676ee9-e9b4-49e8-a515-8077106c948d" providerId="ADAL" clId="{E5B62EE7-1802-42B1-A487-66B410F842B7}" dt="2023-10-25T22:29:52.546" v="763" actId="1076"/>
          <ac:grpSpMkLst>
            <pc:docMk/>
            <pc:sldMk cId="2144306671" sldId="272"/>
            <ac:grpSpMk id="5" creationId="{980A06B1-0A2F-7DF6-91DB-0F6DFA896A23}"/>
          </ac:grpSpMkLst>
        </pc:grpChg>
        <pc:grpChg chg="mod">
          <ac:chgData name="Darcy Roach" userId="ba676ee9-e9b4-49e8-a515-8077106c948d" providerId="ADAL" clId="{E5B62EE7-1802-42B1-A487-66B410F842B7}" dt="2023-10-25T23:24:39.612" v="1422" actId="1076"/>
          <ac:grpSpMkLst>
            <pc:docMk/>
            <pc:sldMk cId="2144306671" sldId="272"/>
            <ac:grpSpMk id="18" creationId="{E0B3FDFC-4A78-346F-E1D4-E183BEB90A60}"/>
          </ac:grpSpMkLst>
        </pc:grpChg>
        <pc:grpChg chg="add del mod">
          <ac:chgData name="Darcy Roach" userId="ba676ee9-e9b4-49e8-a515-8077106c948d" providerId="ADAL" clId="{E5B62EE7-1802-42B1-A487-66B410F842B7}" dt="2023-10-25T23:04:16.306" v="1201"/>
          <ac:grpSpMkLst>
            <pc:docMk/>
            <pc:sldMk cId="2144306671" sldId="272"/>
            <ac:grpSpMk id="32" creationId="{1F7354E7-4A93-924C-CFAC-D01067736D68}"/>
          </ac:grpSpMkLst>
        </pc:grpChg>
        <pc:grpChg chg="add mod">
          <ac:chgData name="Darcy Roach" userId="ba676ee9-e9b4-49e8-a515-8077106c948d" providerId="ADAL" clId="{E5B62EE7-1802-42B1-A487-66B410F842B7}" dt="2023-10-25T23:24:33.663" v="1421" actId="1076"/>
          <ac:grpSpMkLst>
            <pc:docMk/>
            <pc:sldMk cId="2144306671" sldId="272"/>
            <ac:grpSpMk id="37" creationId="{AAC51E01-57C2-E591-236C-B359FC768B8D}"/>
          </ac:grpSpMkLst>
        </pc:grpChg>
        <pc:grpChg chg="del">
          <ac:chgData name="Darcy Roach" userId="ba676ee9-e9b4-49e8-a515-8077106c948d" providerId="ADAL" clId="{E5B62EE7-1802-42B1-A487-66B410F842B7}" dt="2023-10-25T23:02:15.102" v="1179" actId="21"/>
          <ac:grpSpMkLst>
            <pc:docMk/>
            <pc:sldMk cId="2144306671" sldId="272"/>
            <ac:grpSpMk id="163" creationId="{E52FDF9F-B084-9074-7DB9-539AD5456487}"/>
          </ac:grpSpMkLst>
        </pc:grpChg>
        <pc:cxnChg chg="mod">
          <ac:chgData name="Darcy Roach" userId="ba676ee9-e9b4-49e8-a515-8077106c948d" providerId="ADAL" clId="{E5B62EE7-1802-42B1-A487-66B410F842B7}" dt="2023-10-25T23:24:27.419" v="1420" actId="14100"/>
          <ac:cxnSpMkLst>
            <pc:docMk/>
            <pc:sldMk cId="2144306671" sldId="272"/>
            <ac:cxnSpMk id="3" creationId="{67C34E10-2CF8-9BCA-1CC6-D78A3FF9CA80}"/>
          </ac:cxnSpMkLst>
        </pc:cxnChg>
        <pc:cxnChg chg="mod">
          <ac:chgData name="Darcy Roach" userId="ba676ee9-e9b4-49e8-a515-8077106c948d" providerId="ADAL" clId="{E5B62EE7-1802-42B1-A487-66B410F842B7}" dt="2023-10-25T23:22:05.552" v="1408" actId="14100"/>
          <ac:cxnSpMkLst>
            <pc:docMk/>
            <pc:sldMk cId="2144306671" sldId="272"/>
            <ac:cxnSpMk id="21" creationId="{B0913DE4-461D-CE43-AABC-C4B3D7D22F45}"/>
          </ac:cxnSpMkLst>
        </pc:cxnChg>
        <pc:cxnChg chg="mod">
          <ac:chgData name="Darcy Roach" userId="ba676ee9-e9b4-49e8-a515-8077106c948d" providerId="ADAL" clId="{E5B62EE7-1802-42B1-A487-66B410F842B7}" dt="2023-10-25T23:03:56.370" v="1198"/>
          <ac:cxnSpMkLst>
            <pc:docMk/>
            <pc:sldMk cId="2144306671" sldId="272"/>
            <ac:cxnSpMk id="35" creationId="{019F2A22-1F19-EC68-1CE1-5D109C7D1721}"/>
          </ac:cxnSpMkLst>
        </pc:cxnChg>
        <pc:cxnChg chg="mod">
          <ac:chgData name="Darcy Roach" userId="ba676ee9-e9b4-49e8-a515-8077106c948d" providerId="ADAL" clId="{E5B62EE7-1802-42B1-A487-66B410F842B7}" dt="2023-10-25T23:12:20.343" v="1264" actId="14100"/>
          <ac:cxnSpMkLst>
            <pc:docMk/>
            <pc:sldMk cId="2144306671" sldId="272"/>
            <ac:cxnSpMk id="42" creationId="{6941A794-ABF7-C95A-782B-6637A8FD36EA}"/>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10/25/2023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10/25/2023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10/25/2023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10/25/2023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10/25/2023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10/25/2023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10/25/2023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10/25/2023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10/25/2023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329" b="0" i="0" u="none" strike="noStrike" kern="1200" cap="none" spc="0" normalizeH="0" baseline="0" noProof="0">
              <a:ln>
                <a:noFill/>
              </a:ln>
              <a:solidFill>
                <a:srgbClr val="4472C4">
                  <a:lumMod val="20000"/>
                  <a:lumOff val="80000"/>
                </a:srgbClr>
              </a:solidFill>
              <a:effectLst/>
              <a:uLnTx/>
              <a:uFillTx/>
              <a:latin typeface="Calibri" panose="020F0502020204030204"/>
              <a:ea typeface="+mn-ea"/>
              <a:cs typeface="+mn-cs"/>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158595" y="120831"/>
            <a:ext cx="2168863" cy="861774"/>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solidFill>
                  <a:srgbClr val="00AB80"/>
                </a:solidFill>
                <a:latin typeface="Roboto" panose="02000000000000000000" pitchFamily="2" charset="0"/>
                <a:ea typeface="Roboto" panose="02000000000000000000" pitchFamily="2" charset="0"/>
              </a:rPr>
              <a:t>Manish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solidFill>
                  <a:srgbClr val="00AB80"/>
                </a:solidFill>
                <a:latin typeface="Roboto" panose="02000000000000000000" pitchFamily="2" charset="0"/>
                <a:ea typeface="Roboto" panose="02000000000000000000" pitchFamily="2" charset="0"/>
              </a:rPr>
              <a:t>Arora</a:t>
            </a:r>
          </a:p>
        </p:txBody>
      </p:sp>
      <p:sp>
        <p:nvSpPr>
          <p:cNvPr id="17" name="TextBox 16">
            <a:extLst>
              <a:ext uri="{FF2B5EF4-FFF2-40B4-BE49-F238E27FC236}">
                <a16:creationId xmlns:a16="http://schemas.microsoft.com/office/drawing/2014/main" id="{1BDE5051-9F34-F139-742D-4450E5D6591E}"/>
              </a:ext>
            </a:extLst>
          </p:cNvPr>
          <p:cNvSpPr txBox="1"/>
          <p:nvPr/>
        </p:nvSpPr>
        <p:spPr>
          <a:xfrm>
            <a:off x="162230" y="1596294"/>
            <a:ext cx="3033145" cy="3638817"/>
          </a:xfrm>
          <a:prstGeom prst="rect">
            <a:avLst/>
          </a:prstGeom>
          <a:noFill/>
        </p:spPr>
        <p:txBody>
          <a:bodyPr wrap="square" lIns="0" tIns="0" rIns="0" bIns="0" rtlCol="0" anchor="t">
            <a:spAutoFit/>
          </a:bodyPr>
          <a:lstStyle/>
          <a:p>
            <a:pPr marL="0" marR="0" lvl="0" indent="0" algn="l" defTabSz="457200" rtl="0" eaLnBrk="1" fontAlgn="auto" latinLnBrk="0" hangingPunct="1">
              <a:lnSpc>
                <a:spcPts val="1500"/>
              </a:lnSpc>
              <a:spcBef>
                <a:spcPts val="0"/>
              </a:spcBef>
              <a:spcAft>
                <a:spcPts val="0"/>
              </a:spcAft>
              <a:buClrTx/>
              <a:buSzTx/>
              <a:buFontTx/>
              <a:buNone/>
              <a:tabLst/>
              <a:defRPr/>
            </a:pPr>
            <a:r>
              <a:rPr kumimoji="0" lang="en-AU" sz="1000" b="0" i="0" u="none" strike="noStrike" kern="1200" cap="none" spc="13"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Lato" panose="020F0502020204030203" pitchFamily="34" charset="0"/>
              </a:rPr>
              <a:t>Manish is a highly experienced and accomplished Senior Data Engineer with over 20 years of expertise in the field of Data management and it’s various disciplines including Data Migrations/Integrations, Data Analytics, DW/BI, Data Lakes, Data Governance, MDM, Data Quality management, Data Security, Data Architecture and Content Management. His expertise lies in architecting, solutioning, developing, and optimising data solutions to drive organisational success and data-driven decision-making.</a:t>
            </a:r>
          </a:p>
          <a:p>
            <a:pPr marL="0" marR="0" lvl="0" indent="0" algn="l" defTabSz="457200" rtl="0" eaLnBrk="1" fontAlgn="auto" latinLnBrk="0" hangingPunct="1">
              <a:lnSpc>
                <a:spcPts val="1500"/>
              </a:lnSpc>
              <a:spcBef>
                <a:spcPts val="0"/>
              </a:spcBef>
              <a:spcAft>
                <a:spcPts val="0"/>
              </a:spcAft>
              <a:buClrTx/>
              <a:buSzTx/>
              <a:buFontTx/>
              <a:buNone/>
              <a:tabLst/>
              <a:defRPr/>
            </a:pPr>
            <a:endParaRPr kumimoji="0" lang="en-AU" sz="300" b="0" i="0" u="none" strike="noStrike" kern="1200" cap="none" spc="13"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Lato" panose="020F0502020204030203" pitchFamily="34" charset="0"/>
            </a:endParaRPr>
          </a:p>
          <a:p>
            <a:pPr marL="0" marR="0" lvl="0" indent="0" algn="l" defTabSz="457200" rtl="0" eaLnBrk="1" fontAlgn="auto" latinLnBrk="0" hangingPunct="1">
              <a:lnSpc>
                <a:spcPts val="1500"/>
              </a:lnSpc>
              <a:spcBef>
                <a:spcPts val="0"/>
              </a:spcBef>
              <a:spcAft>
                <a:spcPts val="0"/>
              </a:spcAft>
              <a:buClrTx/>
              <a:buSzTx/>
              <a:buFontTx/>
              <a:buNone/>
              <a:tabLst/>
              <a:defRPr/>
            </a:pPr>
            <a:r>
              <a:rPr kumimoji="0" lang="en-AU" sz="1000" b="0" i="0" u="none" strike="noStrike" kern="1200" cap="none" spc="13"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Lato" panose="020F0502020204030203" pitchFamily="34" charset="0"/>
              </a:rPr>
              <a:t>Adept in using diverse toolsets and technology across multi-cloud and hybrid offerings and settings, Manish has compiled an impressive portfolio of delivering successful projects and business transformations spanning a spectrum of domains including Insurance, Finance, Banking, Research, Education, and Government from project inception to completion.</a:t>
            </a:r>
          </a:p>
        </p:txBody>
      </p:sp>
      <p:sp>
        <p:nvSpPr>
          <p:cNvPr id="20" name="TextBox 19">
            <a:extLst>
              <a:ext uri="{FF2B5EF4-FFF2-40B4-BE49-F238E27FC236}">
                <a16:creationId xmlns:a16="http://schemas.microsoft.com/office/drawing/2014/main" id="{716A87E2-F657-C1C6-3715-B7C8A7F1E050}"/>
              </a:ext>
            </a:extLst>
          </p:cNvPr>
          <p:cNvSpPr txBox="1"/>
          <p:nvPr/>
        </p:nvSpPr>
        <p:spPr>
          <a:xfrm>
            <a:off x="84993" y="1239722"/>
            <a:ext cx="5029200" cy="310341"/>
          </a:xfrm>
          <a:prstGeom prst="rect">
            <a:avLst/>
          </a:prstGeom>
          <a:noFill/>
        </p:spPr>
        <p:txBody>
          <a:bodyPr wrap="square">
            <a:spAutoFit/>
          </a:bodyPr>
          <a:lstStyle/>
          <a:p>
            <a:pPr marL="0" marR="0" lvl="0" indent="0" algn="l" defTabSz="457200" rtl="0" eaLnBrk="1" fontAlgn="auto" latinLnBrk="0" hangingPunct="1">
              <a:lnSpc>
                <a:spcPts val="1812"/>
              </a:lnSpc>
              <a:spcBef>
                <a:spcPts val="0"/>
              </a:spcBef>
              <a:spcAft>
                <a:spcPts val="0"/>
              </a:spcAft>
              <a:buClrTx/>
              <a:buSzTx/>
              <a:buFontTx/>
              <a:buNone/>
              <a:tabLst/>
              <a:defRPr/>
            </a:pPr>
            <a:r>
              <a:rPr kumimoji="0" lang="en-US" sz="1400" b="1" i="0" u="none" strike="noStrike" kern="1200" cap="none" spc="13" normalizeH="0" baseline="0" noProof="0">
                <a:ln>
                  <a:noFill/>
                </a:ln>
                <a:solidFill>
                  <a:srgbClr val="00AB80"/>
                </a:solidFill>
                <a:effectLst/>
                <a:uLnTx/>
                <a:uFillTx/>
                <a:latin typeface="Roboto Light" panose="02000000000000000000" pitchFamily="2" charset="0"/>
                <a:ea typeface="Roboto Light" panose="02000000000000000000" pitchFamily="2" charset="0"/>
                <a:cs typeface="Lato" panose="020F0502020204030203" pitchFamily="34" charset="0"/>
              </a:rPr>
              <a:t>Profile</a:t>
            </a:r>
            <a:endParaRPr kumimoji="0" lang="en-US" sz="400" b="1" i="0" u="none" strike="noStrike" kern="1200" cap="none" spc="13" normalizeH="0" baseline="0" noProof="0">
              <a:ln>
                <a:noFill/>
              </a:ln>
              <a:solidFill>
                <a:srgbClr val="00AB80"/>
              </a:solidFill>
              <a:effectLst/>
              <a:uLnTx/>
              <a:uFillTx/>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158595" y="1011677"/>
            <a:ext cx="2489720" cy="218008"/>
          </a:xfrm>
          <a:prstGeom prst="rect">
            <a:avLst/>
          </a:prstGeom>
          <a:noFill/>
        </p:spPr>
        <p:txBody>
          <a:bodyPr wrap="square" lIns="0" tIns="0" rIns="0" bIns="0" rtlCol="0" anchor="t">
            <a:spAutoFit/>
          </a:bodyPr>
          <a:lstStyle/>
          <a:p>
            <a:pPr marL="0" marR="0" lvl="0" indent="0" algn="l" defTabSz="457200" rtl="0" eaLnBrk="1" fontAlgn="auto" latinLnBrk="0" hangingPunct="1">
              <a:lnSpc>
                <a:spcPts val="1812"/>
              </a:lnSpc>
              <a:spcBef>
                <a:spcPts val="0"/>
              </a:spcBef>
              <a:spcAft>
                <a:spcPts val="0"/>
              </a:spcAft>
              <a:buClrTx/>
              <a:buSzTx/>
              <a:buFontTx/>
              <a:buNone/>
              <a:tabLst/>
              <a:defRPr/>
            </a:pPr>
            <a:r>
              <a:rPr kumimoji="0" lang="en-US" sz="1400" b="0" i="0" u="none" strike="noStrike" kern="1200" cap="none" spc="13" normalizeH="0" baseline="0" noProof="0" dirty="0">
                <a:ln>
                  <a:noFill/>
                </a:ln>
                <a:solidFill>
                  <a:prstClr val="white">
                    <a:lumMod val="50000"/>
                  </a:prstClr>
                </a:solidFill>
                <a:effectLst/>
                <a:uLnTx/>
                <a:uFillTx/>
                <a:latin typeface="Roboto Light" panose="02000000000000000000" pitchFamily="2" charset="0"/>
                <a:ea typeface="Roboto Light" panose="02000000000000000000" pitchFamily="2" charset="0"/>
                <a:cs typeface="Lato" panose="020F0502020204030203" pitchFamily="34" charset="0"/>
              </a:rPr>
              <a:t>Principal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1A3D666D-00C8-D106-73C3-9FF300F8618C}"/>
              </a:ext>
            </a:extLst>
          </p:cNvPr>
          <p:cNvSpPr txBox="1"/>
          <p:nvPr/>
        </p:nvSpPr>
        <p:spPr>
          <a:xfrm>
            <a:off x="1642327" y="5747849"/>
            <a:ext cx="1510046" cy="2446824"/>
          </a:xfrm>
          <a:prstGeom prst="rect">
            <a:avLst/>
          </a:prstGeom>
          <a:noFill/>
        </p:spPr>
        <p:txBody>
          <a:bodyPr wrap="square" numCol="1" rtlCol="0">
            <a:spAutoFit/>
          </a:bodyPr>
          <a:lstStyle/>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Google Cloud Platform</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Amazon Web Service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ELT/ETL</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SSIS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Talend</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SQL</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Oracle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Apache Spark</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Apache Beam</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Python</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R</a:t>
            </a: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Databricks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Collibra</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lang="en-US" sz="900" dirty="0">
              <a:solidFill>
                <a:prstClr val="black"/>
              </a:solidFill>
              <a:latin typeface="Roboto Light" panose="02000000000000000000" pitchFamily="2" charset="0"/>
              <a:ea typeface="Roboto Light" panose="02000000000000000000" pitchFamily="2" charset="0"/>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47073"/>
            <a:ext cx="0" cy="2984250"/>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276388"/>
            <a:ext cx="1648720" cy="215444"/>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dirty="0">
                <a:ln>
                  <a:noFill/>
                </a:ln>
                <a:solidFill>
                  <a:prstClr val="white"/>
                </a:solidFill>
                <a:effectLst/>
                <a:uLnTx/>
                <a:uFillTx/>
                <a:latin typeface="Roboto" panose="02000000000000000000" pitchFamily="2" charset="0"/>
                <a:ea typeface="Roboto" panose="02000000000000000000" pitchFamily="2" charset="0"/>
                <a:cs typeface="+mn-cs"/>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AB80"/>
                </a:solidFill>
                <a:effectLst/>
                <a:uLnTx/>
                <a:uFillTx/>
                <a:latin typeface="Roboto" panose="02000000000000000000" pitchFamily="2" charset="0"/>
                <a:ea typeface="Roboto" panose="02000000000000000000" pitchFamily="2" charset="0"/>
                <a:cs typeface="+mn-cs"/>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492965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Industry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491832"/>
            <a:ext cx="1951941" cy="2862322"/>
            <a:chOff x="8106458" y="2681447"/>
            <a:chExt cx="1951941" cy="2862322"/>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286232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AU" sz="1200" b="0" i="0" u="none" strike="noStrike" kern="1200" cap="none" spc="0" normalizeH="0" baseline="0" noProof="0" dirty="0">
                <a:ln>
                  <a:noFill/>
                </a:ln>
                <a:solidFill>
                  <a:srgbClr val="00AB80"/>
                </a:solidFill>
                <a:effectLst/>
                <a:uLnTx/>
                <a:uFillTx/>
                <a:latin typeface="Times New Roman" panose="02020603050405020304" pitchFamily="18" charset="0"/>
                <a:ea typeface="Calibri" panose="020F0502020204030204" pitchFamily="34" charset="0"/>
                <a:cs typeface="+mn-cs"/>
              </a:endParaRPr>
            </a:p>
            <a:p>
              <a:pPr>
                <a:tabLst>
                  <a:tab pos="3819525" algn="l"/>
                  <a:tab pos="3895725" algn="l"/>
                </a:tabLst>
                <a:defRPr/>
              </a:pPr>
              <a:r>
                <a:rPr lang="en-GB" sz="1200" dirty="0">
                  <a:solidFill>
                    <a:srgbClr val="00AB80"/>
                  </a:solidFill>
                  <a:latin typeface="Roboto Light" panose="02000000000000000000" pitchFamily="2" charset="0"/>
                  <a:ea typeface="Calibri" panose="020F0502020204030204" pitchFamily="34" charset="0"/>
                </a:rPr>
                <a:t>Amazon Web Services</a:t>
              </a:r>
              <a:r>
                <a:rPr lang="en-GB" sz="1200" dirty="0">
                  <a:solidFill>
                    <a:srgbClr val="00AB80"/>
                  </a:solidFill>
                  <a:effectLst/>
                  <a:latin typeface="Roboto Light" panose="02000000000000000000" pitchFamily="2" charset="0"/>
                  <a:ea typeface="Calibri" panose="020F0502020204030204" pitchFamily="34" charset="0"/>
                </a:rPr>
                <a:t> Certified | Solutions Architect Associate</a:t>
              </a:r>
            </a:p>
            <a:p>
              <a:pPr>
                <a:tabLst>
                  <a:tab pos="3819525" algn="l"/>
                  <a:tab pos="3895725" algn="l"/>
                </a:tabLst>
                <a:defRPr/>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defRPr/>
              </a:pPr>
              <a:r>
                <a:rPr lang="en-GB" sz="1200" dirty="0">
                  <a:solidFill>
                    <a:srgbClr val="00AB80"/>
                  </a:solidFill>
                  <a:effectLst/>
                  <a:latin typeface="Roboto Light" panose="02000000000000000000" pitchFamily="2" charset="0"/>
                  <a:ea typeface="Calibri" panose="020F0502020204030204" pitchFamily="34" charset="0"/>
                </a:rPr>
                <a:t>Scrum Alliance Certified | Scrum Master</a:t>
              </a:r>
            </a:p>
            <a:p>
              <a:pPr>
                <a:tabLst>
                  <a:tab pos="3819525" algn="l"/>
                  <a:tab pos="3895725" algn="l"/>
                </a:tabLst>
                <a:defRPr/>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defRPr/>
              </a:pPr>
              <a:r>
                <a:rPr lang="en-GB" sz="1200" dirty="0">
                  <a:solidFill>
                    <a:srgbClr val="00AB80"/>
                  </a:solidFill>
                  <a:latin typeface="Roboto Light" panose="02000000000000000000" pitchFamily="2" charset="0"/>
                  <a:ea typeface="Calibri" panose="020F0502020204030204" pitchFamily="34" charset="0"/>
                </a:rPr>
                <a:t>Certified - Prince2 Practitioner</a:t>
              </a:r>
            </a:p>
            <a:p>
              <a:pPr>
                <a:tabLst>
                  <a:tab pos="3819525" algn="l"/>
                  <a:tab pos="3895725" algn="l"/>
                </a:tabLst>
                <a:defRPr/>
              </a:pPr>
              <a:endParaRPr lang="en-US" sz="1200" dirty="0">
                <a:solidFill>
                  <a:srgbClr val="00AB80"/>
                </a:solidFill>
                <a:latin typeface="Roboto Light" panose="02000000000000000000" pitchFamily="2" charset="0"/>
                <a:ea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US" sz="1200" b="0" i="0" u="none" strike="noStrike" kern="1200" cap="none" spc="0" normalizeH="0" baseline="0" noProof="0" dirty="0">
                  <a:ln>
                    <a:noFill/>
                  </a:ln>
                  <a:solidFill>
                    <a:srgbClr val="00AB80"/>
                  </a:solidFill>
                  <a:effectLst/>
                  <a:uLnTx/>
                  <a:uFillTx/>
                  <a:latin typeface="Roboto Light" panose="02000000000000000000" pitchFamily="2" charset="0"/>
                  <a:ea typeface="Calibri" panose="020F0502020204030204" pitchFamily="34" charset="0"/>
                  <a:cs typeface="+mn-cs"/>
                </a:rPr>
                <a:t>Bachelor </a:t>
              </a: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Calibri" panose="020F0502020204030204" pitchFamily="34" charset="0"/>
                  <a:cs typeface="+mn-cs"/>
                </a:rPr>
                <a:t>–Science, Computer Science, Delhi University</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AU" sz="1200" b="0" i="0" u="none" strike="noStrike" kern="1200" cap="none" spc="0" normalizeH="0" baseline="0" noProof="0" dirty="0">
                <a:ln>
                  <a:noFill/>
                </a:ln>
                <a:solidFill>
                  <a:srgbClr val="00AB80"/>
                </a:solidFill>
                <a:effectLst/>
                <a:uLnTx/>
                <a:uFillTx/>
                <a:latin typeface="Times New Roman" panose="02020603050405020304" pitchFamily="18" charset="0"/>
                <a:ea typeface="Calibri" panose="020F0502020204030204" pitchFamily="34" charset="0"/>
                <a:cs typeface="+mn-cs"/>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747849"/>
            <a:ext cx="1591709"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defRPr/>
            </a:pPr>
            <a:r>
              <a:rPr lang="en-US" sz="900" dirty="0">
                <a:solidFill>
                  <a:prstClr val="black"/>
                </a:solidFill>
                <a:latin typeface="Roboto Light" panose="02000000000000000000" pitchFamily="2" charset="0"/>
                <a:ea typeface="Roboto Light" panose="02000000000000000000" pitchFamily="2" charset="0"/>
              </a:rPr>
              <a:t>Project Management</a:t>
            </a: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Business Intelligence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Warehousing</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Data Governance</a:t>
            </a: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Data Migration</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Modelling</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Data Integration</a:t>
            </a: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Data Quality</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Requirements </a:t>
            </a:r>
            <a:r>
              <a:rPr kumimoji="0" lang="en-US" sz="900" b="0" i="0" u="none" strike="noStrike" kern="1200" cap="none" spc="0" normalizeH="0" baseline="0" noProof="0" dirty="0" err="1">
                <a:ln>
                  <a:noFill/>
                </a:ln>
                <a:solidFill>
                  <a:prstClr val="black"/>
                </a:solidFill>
                <a:effectLst/>
                <a:uLnTx/>
                <a:uFillTx/>
                <a:latin typeface="Roboto Light" panose="02000000000000000000" pitchFamily="2" charset="0"/>
                <a:ea typeface="Roboto Light" panose="02000000000000000000" pitchFamily="2" charset="0"/>
                <a:cs typeface="+mn-cs"/>
              </a:rPr>
              <a:t>Analys</a:t>
            </a:r>
            <a:r>
              <a:rPr lang="en-US" sz="900" dirty="0">
                <a:solidFill>
                  <a:prstClr val="black"/>
                </a:solidFill>
                <a:latin typeface="Roboto Light" panose="02000000000000000000" pitchFamily="2" charset="0"/>
                <a:ea typeface="Roboto Light" panose="02000000000000000000" pitchFamily="2" charset="0"/>
              </a:rPr>
              <a:t>is &amp; Gathering</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Enterprise Architecture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ETL</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Team Leadership</a:t>
            </a:r>
            <a:endParaRPr lang="en-US" sz="900" dirty="0">
              <a:solidFill>
                <a:prstClr val="black"/>
              </a:solidFill>
              <a:latin typeface="Roboto Light" panose="02000000000000000000" pitchFamily="2" charset="0"/>
              <a:ea typeface="Roboto Light" panose="02000000000000000000" pitchFamily="2" charset="0"/>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00AB80"/>
                </a:solidFill>
                <a:effectLst/>
                <a:uLnTx/>
                <a:uFillTx/>
                <a:latin typeface="Roboto" panose="02000000000000000000" pitchFamily="2" charset="0"/>
                <a:ea typeface="Roboto" panose="02000000000000000000" pitchFamily="2" charset="0"/>
                <a:cs typeface="+mn-cs"/>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6" y="1096904"/>
            <a:ext cx="4281541"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59FF"/>
                </a:solidFill>
                <a:latin typeface="Roboto" panose="02000000000000000000" pitchFamily="2" charset="0"/>
                <a:ea typeface="Roboto" panose="02000000000000000000" pitchFamily="2" charset="0"/>
              </a:rPr>
              <a:t>Leading Australian University</a:t>
            </a:r>
            <a:r>
              <a:rPr kumimoji="0" lang="en-AU" sz="1200" b="1" i="0" u="none" strike="noStrike" kern="1200" cap="none" spc="0" normalizeH="0" baseline="0" noProof="0" dirty="0">
                <a:ln>
                  <a:noFill/>
                </a:ln>
                <a:solidFill>
                  <a:srgbClr val="0059FF"/>
                </a:solidFill>
                <a:effectLst/>
                <a:uLnTx/>
                <a:uFillTx/>
                <a:latin typeface="Roboto" panose="02000000000000000000" pitchFamily="2" charset="0"/>
                <a:ea typeface="Roboto" panose="02000000000000000000" pitchFamily="2" charset="0"/>
                <a:cs typeface="+mn-cs"/>
              </a:rPr>
              <a:t> – Lead Data Engineer</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73630"/>
            <a:ext cx="4522983" cy="332398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Development of an end-to-end Data Migration Strategy </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Undertook data discovery and technical analysis with data SMEs and produced ERDs, and Data Dictionary.</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Conducted technical data analysis and profiling on source data and established an as-is image of the underlying data quality, inter-relationships, gaps, inconsistencies, and data anomalies for source data cleansing and quality control</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Design, develop and implement a robust Data Model using the Data Vault approach in SQL Server.</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Solutioning, and development of a Data Migration Model, ETL, ELT Pipelines, Data migration scripts and orchestration. </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Solutioning and development of an Audit Trail Model to fulfill the Technical Reconciliation requirements on migrated data, and Quality Assurance via Technical Reconciliation reports</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Developed a Quality Assurance model and implemented quality checks on migrated data. Developed Data Quality reports, Errors, and exceptions logs.  </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Instrumental in establishing a Data Governance model for the management and governance of end-to-end data migration activities</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Versioning and DevOps using </a:t>
            </a:r>
            <a:r>
              <a:rPr kumimoji="0" lang="en-AU" sz="1000" b="0" i="0" u="none" strike="noStrike" kern="1200" cap="none" spc="0" normalizeH="0" baseline="0" noProof="0" dirty="0" err="1">
                <a:ln>
                  <a:noFill/>
                </a:ln>
                <a:solidFill>
                  <a:prstClr val="white"/>
                </a:solidFill>
                <a:effectLst/>
                <a:uLnTx/>
                <a:uFillTx/>
                <a:latin typeface="Roboto Light" panose="02000000000000000000" pitchFamily="2" charset="0"/>
                <a:ea typeface="Roboto Light" panose="02000000000000000000" pitchFamily="2" charset="0"/>
                <a:cs typeface="+mn-cs"/>
              </a:rPr>
              <a:t>GitLabs</a:t>
            </a:r>
            <a:endPar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endParaRP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Dry Runs and implementation planning of the data migration</a:t>
            </a:r>
          </a:p>
          <a:p>
            <a:pPr>
              <a:defRPr/>
            </a:pPr>
            <a:endPar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endParaRP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6673196"/>
            <a:ext cx="4524290" cy="1015663"/>
            <a:chOff x="5023753" y="4247510"/>
            <a:chExt cx="4694557" cy="1015663"/>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5" y="4247510"/>
              <a:ext cx="4658835" cy="1015663"/>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a:defRPr/>
              </a:pPr>
              <a:r>
                <a:rPr lang="en-AU" sz="1000" dirty="0">
                  <a:solidFill>
                    <a:prstClr val="white"/>
                  </a:solidFill>
                </a:rPr>
                <a:t>Engineered and delivered an ETL solution that orchestrates the movement of Market Data</a:t>
              </a:r>
            </a:p>
            <a:p>
              <a:pPr>
                <a:defRPr/>
              </a:pPr>
              <a:r>
                <a:rPr lang="en-AU" sz="1000" dirty="0">
                  <a:solidFill>
                    <a:prstClr val="white"/>
                  </a:solidFill>
                </a:rPr>
                <a:t> Collected and analysed data from various different sources - flat Files, databases, spreadsheets, IOT sensor data etc to SQL Server Datawarehouse in Azure, and HIVE. </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GB"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endParaRP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12460"/>
              <a:ext cx="0" cy="794168"/>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6396197"/>
            <a:ext cx="352696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b="1" i="0" u="none" strike="noStrike" kern="1200" cap="none" spc="0" normalizeH="0" baseline="0" noProof="0" dirty="0">
                <a:ln>
                  <a:noFill/>
                </a:ln>
                <a:solidFill>
                  <a:srgbClr val="A93584"/>
                </a:solidFill>
                <a:effectLst/>
                <a:uLnTx/>
                <a:uFillTx/>
                <a:latin typeface="Roboto" panose="02000000000000000000" pitchFamily="2" charset="0"/>
                <a:ea typeface="Roboto" panose="02000000000000000000" pitchFamily="2" charset="0"/>
                <a:cs typeface="+mn-cs"/>
              </a:rPr>
              <a:t>Leading Energy Organisation</a:t>
            </a:r>
          </a:p>
        </p:txBody>
      </p:sp>
      <p:sp>
        <p:nvSpPr>
          <p:cNvPr id="31" name="TextBox 30">
            <a:extLst>
              <a:ext uri="{FF2B5EF4-FFF2-40B4-BE49-F238E27FC236}">
                <a16:creationId xmlns:a16="http://schemas.microsoft.com/office/drawing/2014/main" id="{49AF20CC-FCF5-6C08-FA16-C5B4C1353175}"/>
              </a:ext>
            </a:extLst>
          </p:cNvPr>
          <p:cNvSpPr txBox="1"/>
          <p:nvPr/>
        </p:nvSpPr>
        <p:spPr>
          <a:xfrm>
            <a:off x="8118489" y="1456630"/>
            <a:ext cx="1951941" cy="172354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Roboto Light" panose="02000000000000000000" pitchFamily="2" charset="0"/>
                <a:cs typeface="+mn-cs"/>
              </a:rPr>
              <a:t>Education</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Roboto Light" panose="02000000000000000000" pitchFamily="2" charset="0"/>
                <a:cs typeface="+mn-cs"/>
              </a:rPr>
              <a:t>Financial Services</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Roboto Light" panose="02000000000000000000" pitchFamily="2" charset="0"/>
                <a:cs typeface="+mn-cs"/>
              </a:rPr>
              <a:t>Telecommunications</a:t>
            </a:r>
            <a:endParaRPr lang="en-GB" sz="1200" dirty="0">
              <a:solidFill>
                <a:srgbClr val="00AB80"/>
              </a:solidFill>
            </a:endParaRP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Roboto Light" panose="02000000000000000000" pitchFamily="2" charset="0"/>
                <a:cs typeface="+mn-cs"/>
              </a:rPr>
              <a:t>Insurance</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lang="en-GB" sz="1200" dirty="0">
                <a:solidFill>
                  <a:srgbClr val="00AB80"/>
                </a:solidFill>
              </a:rPr>
              <a:t>Energy</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Roboto Light" panose="02000000000000000000" pitchFamily="2" charset="0"/>
                <a:cs typeface="+mn-cs"/>
              </a:rPr>
              <a:t>Government</a:t>
            </a:r>
          </a:p>
        </p:txBody>
      </p:sp>
      <p:grpSp>
        <p:nvGrpSpPr>
          <p:cNvPr id="37" name="Group 36">
            <a:extLst>
              <a:ext uri="{FF2B5EF4-FFF2-40B4-BE49-F238E27FC236}">
                <a16:creationId xmlns:a16="http://schemas.microsoft.com/office/drawing/2014/main" id="{AAC51E01-57C2-E591-236C-B359FC768B8D}"/>
              </a:ext>
            </a:extLst>
          </p:cNvPr>
          <p:cNvGrpSpPr/>
          <p:nvPr/>
        </p:nvGrpSpPr>
        <p:grpSpPr>
          <a:xfrm>
            <a:off x="3428144" y="4852729"/>
            <a:ext cx="4558799" cy="1631216"/>
            <a:chOff x="5030740" y="2268038"/>
            <a:chExt cx="4869502" cy="1631216"/>
          </a:xfrm>
        </p:grpSpPr>
        <p:sp>
          <p:nvSpPr>
            <p:cNvPr id="41" name="TextBox 40">
              <a:extLst>
                <a:ext uri="{FF2B5EF4-FFF2-40B4-BE49-F238E27FC236}">
                  <a16:creationId xmlns:a16="http://schemas.microsoft.com/office/drawing/2014/main" id="{8801D76C-9668-EA45-8D91-875CA8669289}"/>
                </a:ext>
              </a:extLst>
            </p:cNvPr>
            <p:cNvSpPr txBox="1"/>
            <p:nvPr/>
          </p:nvSpPr>
          <p:spPr>
            <a:xfrm>
              <a:off x="5059474" y="2268038"/>
              <a:ext cx="4840768" cy="1631216"/>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Developed an Audit Trail / Technical Reconciliation model to validate source to target data migration and transformations, based on a metadata driven approach which enabled data analysts to create and use metadata to drive comparisons between source and target.</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Developed a data migration model using a metadata approach, driven by  metadata entered by Data SMEs as Source Tables, Columns, Joins, Filter, and transformations criteria to construct migration scripts in SQL</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Developed a series of custom scripts for more complex Financial transactions based on custom needs of the target system</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endParaRPr>
            </a:p>
          </p:txBody>
        </p:sp>
        <p:cxnSp>
          <p:nvCxnSpPr>
            <p:cNvPr id="42" name="Straight Connector 41">
              <a:extLst>
                <a:ext uri="{FF2B5EF4-FFF2-40B4-BE49-F238E27FC236}">
                  <a16:creationId xmlns:a16="http://schemas.microsoft.com/office/drawing/2014/main" id="{6941A794-ABF7-C95A-782B-6637A8FD36EA}"/>
                </a:ext>
              </a:extLst>
            </p:cNvPr>
            <p:cNvCxnSpPr>
              <a:cxnSpLocks/>
            </p:cNvCxnSpPr>
            <p:nvPr/>
          </p:nvCxnSpPr>
          <p:spPr>
            <a:xfrm>
              <a:off x="5030740" y="2325935"/>
              <a:ext cx="0" cy="135423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18B1B090-EBD4-E9DA-33D3-6F6F9894C8D7}"/>
              </a:ext>
            </a:extLst>
          </p:cNvPr>
          <p:cNvSpPr txBox="1"/>
          <p:nvPr/>
        </p:nvSpPr>
        <p:spPr>
          <a:xfrm>
            <a:off x="3335753" y="4575730"/>
            <a:ext cx="4364458"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ED7D31"/>
                </a:solidFill>
                <a:latin typeface="Roboto" panose="02000000000000000000" pitchFamily="2" charset="0"/>
                <a:ea typeface="Roboto" panose="02000000000000000000" pitchFamily="2" charset="0"/>
              </a:rPr>
              <a:t>Leading Insurance</a:t>
            </a:r>
            <a:r>
              <a:rPr lang="en-AU" sz="1200" b="1" dirty="0">
                <a:solidFill>
                  <a:srgbClr val="ED7D31"/>
                </a:solidFill>
                <a:latin typeface="Roboto" panose="02000000000000000000" pitchFamily="2" charset="0"/>
                <a:ea typeface="Roboto" panose="02000000000000000000" pitchFamily="2" charset="0"/>
              </a:rPr>
              <a:t> Organisation – Senior Solutions Lead</a:t>
            </a:r>
            <a:endParaRPr kumimoji="0" lang="en-AU" sz="1200" b="1" i="0" u="none" strike="noStrike" kern="1200" cap="none" spc="0" normalizeH="0" baseline="0" noProof="0" dirty="0">
              <a:ln>
                <a:noFill/>
              </a:ln>
              <a:solidFill>
                <a:srgbClr val="ED7D31"/>
              </a:solidFill>
              <a:effectLst/>
              <a:uLnTx/>
              <a:uFillTx/>
              <a:latin typeface="Roboto" panose="02000000000000000000" pitchFamily="2" charset="0"/>
              <a:ea typeface="Roboto" panose="02000000000000000000" pitchFamily="2" charset="0"/>
              <a:cs typeface="+mn-cs"/>
            </a:endParaRPr>
          </a:p>
        </p:txBody>
      </p:sp>
    </p:spTree>
    <p:extLst>
      <p:ext uri="{BB962C8B-B14F-4D97-AF65-F5344CB8AC3E}">
        <p14:creationId xmlns:p14="http://schemas.microsoft.com/office/powerpoint/2010/main" val="21443066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BEDE27A-5D3F-48EC-A4D1-3F35063BDCD3}">
  <ds:schemaRefs>
    <ds:schemaRef ds:uri="http://schemas.microsoft.com/sharepoint/v3/contenttype/forms"/>
  </ds:schemaRefs>
</ds:datastoreItem>
</file>

<file path=customXml/itemProps2.xml><?xml version="1.0" encoding="utf-8"?>
<ds:datastoreItem xmlns:ds="http://schemas.openxmlformats.org/officeDocument/2006/customXml" ds:itemID="{B37C197F-8A37-4225-AAA6-02164E973821}"/>
</file>

<file path=customXml/itemProps3.xml><?xml version="1.0" encoding="utf-8"?>
<ds:datastoreItem xmlns:ds="http://schemas.openxmlformats.org/officeDocument/2006/customXml" ds:itemID="{2CBCFD15-CFFF-49AE-B6C5-12DE46320969}">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1360</TotalTime>
  <Words>567</Words>
  <Application>Microsoft Office PowerPoint</Application>
  <PresentationFormat>Custom</PresentationFormat>
  <Paragraphs>74</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3</cp:revision>
  <dcterms:created xsi:type="dcterms:W3CDTF">2019-12-03T01:50:37Z</dcterms:created>
  <dcterms:modified xsi:type="dcterms:W3CDTF">2023-10-25T23:24:45Z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