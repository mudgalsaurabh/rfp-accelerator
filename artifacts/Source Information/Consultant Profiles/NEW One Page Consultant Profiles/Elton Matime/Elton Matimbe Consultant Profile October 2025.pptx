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8288000" cy="10287000"/>
  <p:notesSz cx="6858000" cy="9144000"/>
  <p:embeddedFontLst>
    <p:embeddedFont>
      <p:font typeface="Roboto" panose="02000000000000000000" pitchFamily="2" charset="0"/>
      <p:regular r:id="rId3"/>
      <p:bold r:id="rId4"/>
      <p:italic r:id="rId5"/>
      <p:boldItalic r:id="rId6"/>
    </p:embeddedFont>
    <p:embeddedFont>
      <p:font typeface="Roboto Bold" panose="02000000000000000000" pitchFamily="2" charset="0"/>
      <p:regular r:id="rId7"/>
      <p:bold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A7F"/>
    <a:srgbClr val="0F2B3F"/>
    <a:srgbClr val="D77432"/>
    <a:srgbClr val="92337A"/>
    <a:srgbClr val="0059FF"/>
    <a:srgbClr val="EF9B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6" d="100"/>
          <a:sy n="66" d="100"/>
        </p:scale>
        <p:origin x="5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customXml" Target="../customXml/item1.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heme" Target="theme/theme1.xml"/><Relationship Id="rId5" Type="http://schemas.openxmlformats.org/officeDocument/2006/relationships/font" Target="fonts/font3.fntdata"/><Relationship Id="rId15" Type="http://schemas.openxmlformats.org/officeDocument/2006/relationships/customXml" Target="../customXml/item3.xml"/><Relationship Id="rId10" Type="http://schemas.openxmlformats.org/officeDocument/2006/relationships/viewProps" Target="viewProps.xml"/><Relationship Id="rId4" Type="http://schemas.openxmlformats.org/officeDocument/2006/relationships/font" Target="fonts/font2.fntdata"/><Relationship Id="rId9" Type="http://schemas.openxmlformats.org/officeDocument/2006/relationships/presProps" Target="presProps.xml"/><Relationship Id="rId14"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Freeform 2"/>
          <p:cNvSpPr/>
          <p:nvPr userDrawn="1"/>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3"/>
            <a:stretch>
              <a:fillRect t="-9675" b="-9675"/>
            </a:stretch>
          </a:blipFill>
        </p:spPr>
        <p:txBody>
          <a:bodyPr/>
          <a:lstStyle/>
          <a:p>
            <a:endParaRPr lang="en-AU"/>
          </a:p>
        </p:txBody>
      </p:sp>
      <p:sp>
        <p:nvSpPr>
          <p:cNvPr id="8" name="Freeform 7"/>
          <p:cNvSpPr/>
          <p:nvPr userDrawn="1"/>
        </p:nvSpPr>
        <p:spPr>
          <a:xfrm>
            <a:off x="16137869" y="7528219"/>
            <a:ext cx="2145775" cy="2770530"/>
          </a:xfrm>
          <a:custGeom>
            <a:avLst/>
            <a:gdLst/>
            <a:ahLst/>
            <a:cxnLst/>
            <a:rect l="l" t="t" r="r" b="b"/>
            <a:pathLst>
              <a:path w="2150131" h="2776154">
                <a:moveTo>
                  <a:pt x="0" y="0"/>
                </a:moveTo>
                <a:lnTo>
                  <a:pt x="2150131" y="0"/>
                </a:lnTo>
                <a:lnTo>
                  <a:pt x="2150131" y="2776154"/>
                </a:lnTo>
                <a:lnTo>
                  <a:pt x="0" y="277615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flipV="1">
            <a:off x="200025" y="2552960"/>
            <a:ext cx="649337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4" name="AutoShape 4"/>
          <p:cNvSpPr/>
          <p:nvPr/>
        </p:nvSpPr>
        <p:spPr>
          <a:xfrm flipV="1">
            <a:off x="7231789" y="778751"/>
            <a:ext cx="7629610" cy="0"/>
          </a:xfrm>
          <a:prstGeom prst="line">
            <a:avLst/>
          </a:prstGeom>
          <a:ln w="19050" cap="flat">
            <a:solidFill>
              <a:srgbClr val="0F2B3F"/>
            </a:solidFill>
            <a:prstDash val="sysDot"/>
            <a:headEnd type="none" w="sm" len="sm"/>
            <a:tailEnd type="none" w="sm" len="sm"/>
          </a:ln>
        </p:spPr>
        <p:txBody>
          <a:bodyPr/>
          <a:lstStyle/>
          <a:p>
            <a:endParaRPr lang="en-AU"/>
          </a:p>
        </p:txBody>
      </p:sp>
      <p:sp>
        <p:nvSpPr>
          <p:cNvPr id="5" name="AutoShape 5"/>
          <p:cNvSpPr/>
          <p:nvPr/>
        </p:nvSpPr>
        <p:spPr>
          <a:xfrm flipV="1">
            <a:off x="6934200" y="345438"/>
            <a:ext cx="0" cy="9566935"/>
          </a:xfrm>
          <a:prstGeom prst="line">
            <a:avLst/>
          </a:prstGeom>
          <a:ln w="19050" cap="flat">
            <a:solidFill>
              <a:srgbClr val="00AA7F"/>
            </a:solidFill>
            <a:prstDash val="sysDot"/>
            <a:headEnd type="none" w="sm" len="sm"/>
            <a:tailEnd type="none" w="sm" len="sm"/>
          </a:ln>
        </p:spPr>
        <p:txBody>
          <a:bodyPr/>
          <a:lstStyle/>
          <a:p>
            <a:endParaRPr lang="en-AU"/>
          </a:p>
        </p:txBody>
      </p:sp>
      <p:sp>
        <p:nvSpPr>
          <p:cNvPr id="6" name="AutoShape 6"/>
          <p:cNvSpPr/>
          <p:nvPr/>
        </p:nvSpPr>
        <p:spPr>
          <a:xfrm flipV="1">
            <a:off x="15329903" y="899862"/>
            <a:ext cx="0" cy="9041700"/>
          </a:xfrm>
          <a:prstGeom prst="line">
            <a:avLst/>
          </a:prstGeom>
          <a:ln w="19050" cap="flat">
            <a:solidFill>
              <a:srgbClr val="00AA7F"/>
            </a:solidFill>
            <a:prstDash val="sysDot"/>
            <a:headEnd type="none" w="sm" len="sm"/>
            <a:tailEnd type="none" w="sm" len="sm"/>
          </a:ln>
        </p:spPr>
        <p:txBody>
          <a:bodyPr/>
          <a:lstStyle/>
          <a:p>
            <a:endParaRPr lang="en-AU"/>
          </a:p>
        </p:txBody>
      </p:sp>
      <p:sp>
        <p:nvSpPr>
          <p:cNvPr id="8" name="Freeform 8"/>
          <p:cNvSpPr/>
          <p:nvPr/>
        </p:nvSpPr>
        <p:spPr>
          <a:xfrm>
            <a:off x="15588910" y="204425"/>
            <a:ext cx="2048952" cy="474651"/>
          </a:xfrm>
          <a:custGeom>
            <a:avLst/>
            <a:gdLst/>
            <a:ahLst/>
            <a:cxnLst/>
            <a:rect l="l" t="t" r="r" b="b"/>
            <a:pathLst>
              <a:path w="2048952" h="474651">
                <a:moveTo>
                  <a:pt x="0" y="0"/>
                </a:moveTo>
                <a:lnTo>
                  <a:pt x="2048952" y="0"/>
                </a:lnTo>
                <a:lnTo>
                  <a:pt x="2048952" y="474651"/>
                </a:lnTo>
                <a:lnTo>
                  <a:pt x="0" y="474651"/>
                </a:lnTo>
                <a:lnTo>
                  <a:pt x="0" y="0"/>
                </a:lnTo>
                <a:close/>
              </a:path>
            </a:pathLst>
          </a:custGeom>
          <a:blipFill>
            <a:blip r:embed="rId2"/>
            <a:stretch>
              <a:fillRect/>
            </a:stretch>
          </a:blipFill>
        </p:spPr>
        <p:txBody>
          <a:bodyPr/>
          <a:lstStyle/>
          <a:p>
            <a:endParaRPr lang="en-AU"/>
          </a:p>
        </p:txBody>
      </p:sp>
      <p:sp>
        <p:nvSpPr>
          <p:cNvPr id="10" name="AutoShape 10"/>
          <p:cNvSpPr/>
          <p:nvPr/>
        </p:nvSpPr>
        <p:spPr>
          <a:xfrm>
            <a:off x="15568938" y="5134515"/>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1" name="AutoShape 11"/>
          <p:cNvSpPr/>
          <p:nvPr/>
        </p:nvSpPr>
        <p:spPr>
          <a:xfrm>
            <a:off x="15559425" y="1729786"/>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2" name="TextBox 12"/>
          <p:cNvSpPr txBox="1"/>
          <p:nvPr/>
        </p:nvSpPr>
        <p:spPr>
          <a:xfrm>
            <a:off x="15539453" y="1235074"/>
            <a:ext cx="7840469" cy="358774"/>
          </a:xfrm>
          <a:prstGeom prst="rect">
            <a:avLst/>
          </a:prstGeom>
        </p:spPr>
        <p:txBody>
          <a:bodyPr lIns="0" tIns="0" rIns="0" bIns="0" rtlCol="0" anchor="t">
            <a:spAutoFit/>
          </a:bodyPr>
          <a:lstStyle/>
          <a:p>
            <a:pPr algn="l">
              <a:lnSpc>
                <a:spcPts val="2800"/>
              </a:lnSpc>
              <a:spcBef>
                <a:spcPct val="0"/>
              </a:spcBef>
            </a:pPr>
            <a:r>
              <a:rPr lang="en-US" sz="2000" b="1">
                <a:solidFill>
                  <a:srgbClr val="0F2B3F"/>
                </a:solidFill>
                <a:latin typeface="Roboto Bold"/>
                <a:ea typeface="Roboto Bold"/>
                <a:cs typeface="Roboto Bold"/>
                <a:sym typeface="Roboto Bold"/>
              </a:rPr>
              <a:t>Industry Experience</a:t>
            </a:r>
          </a:p>
        </p:txBody>
      </p:sp>
      <p:sp>
        <p:nvSpPr>
          <p:cNvPr id="13" name="TextBox 13"/>
          <p:cNvSpPr txBox="1"/>
          <p:nvPr/>
        </p:nvSpPr>
        <p:spPr>
          <a:xfrm>
            <a:off x="15539453" y="1796461"/>
            <a:ext cx="2293267" cy="3186770"/>
          </a:xfrm>
          <a:prstGeom prst="rect">
            <a:avLst/>
          </a:prstGeom>
        </p:spPr>
        <p:txBody>
          <a:bodyPr lIns="0" tIns="0" rIns="0" bIns="0" rtlCol="0" anchor="t">
            <a:spAutoFit/>
          </a:bodyPr>
          <a:lstStyle/>
          <a:p>
            <a:pPr>
              <a:lnSpc>
                <a:spcPts val="2800"/>
              </a:lnSpc>
            </a:pPr>
            <a:r>
              <a:rPr lang="en-AU" sz="1400" b="1" dirty="0">
                <a:solidFill>
                  <a:srgbClr val="00AA7F"/>
                </a:solidFill>
                <a:latin typeface="Roboto Bold"/>
                <a:ea typeface="Roboto Bold"/>
                <a:cs typeface="Roboto Bold"/>
                <a:sym typeface="Roboto Bold"/>
              </a:rPr>
              <a:t>Government</a:t>
            </a:r>
          </a:p>
          <a:p>
            <a:pPr>
              <a:lnSpc>
                <a:spcPts val="2800"/>
              </a:lnSpc>
            </a:pPr>
            <a:r>
              <a:rPr lang="en-AU" sz="1400" b="1" dirty="0">
                <a:solidFill>
                  <a:srgbClr val="00AA7F"/>
                </a:solidFill>
                <a:latin typeface="Roboto Bold"/>
                <a:ea typeface="Roboto Bold"/>
                <a:cs typeface="Roboto Bold"/>
                <a:sym typeface="Roboto Bold"/>
              </a:rPr>
              <a:t>Healthcare</a:t>
            </a:r>
          </a:p>
          <a:p>
            <a:pPr>
              <a:lnSpc>
                <a:spcPts val="2800"/>
              </a:lnSpc>
            </a:pPr>
            <a:r>
              <a:rPr lang="en-AU" sz="1400" b="1" dirty="0">
                <a:solidFill>
                  <a:srgbClr val="00AA7F"/>
                </a:solidFill>
                <a:latin typeface="Roboto Bold"/>
                <a:ea typeface="Roboto Bold"/>
                <a:cs typeface="Roboto Bold"/>
                <a:sym typeface="Roboto Bold"/>
              </a:rPr>
              <a:t>Energy</a:t>
            </a:r>
          </a:p>
          <a:p>
            <a:pPr>
              <a:lnSpc>
                <a:spcPts val="2800"/>
              </a:lnSpc>
            </a:pPr>
            <a:r>
              <a:rPr lang="en-AU" sz="1400" b="1" dirty="0">
                <a:solidFill>
                  <a:srgbClr val="00AA7F"/>
                </a:solidFill>
                <a:latin typeface="Roboto Bold"/>
                <a:ea typeface="Roboto Bold"/>
                <a:cs typeface="Roboto Bold"/>
                <a:sym typeface="Roboto Bold"/>
              </a:rPr>
              <a:t>Retail</a:t>
            </a:r>
          </a:p>
          <a:p>
            <a:pPr>
              <a:lnSpc>
                <a:spcPts val="2800"/>
              </a:lnSpc>
            </a:pPr>
            <a:r>
              <a:rPr lang="en-AU" sz="1400" b="1" dirty="0">
                <a:solidFill>
                  <a:srgbClr val="00AA7F"/>
                </a:solidFill>
                <a:latin typeface="Roboto Bold"/>
                <a:ea typeface="Roboto Bold"/>
                <a:cs typeface="Roboto Bold"/>
                <a:sym typeface="Roboto Bold"/>
              </a:rPr>
              <a:t>Logistics</a:t>
            </a:r>
          </a:p>
          <a:p>
            <a:pPr>
              <a:lnSpc>
                <a:spcPts val="2800"/>
              </a:lnSpc>
            </a:pPr>
            <a:r>
              <a:rPr lang="en-AU" sz="1400" b="1" dirty="0">
                <a:solidFill>
                  <a:srgbClr val="00AA7F"/>
                </a:solidFill>
                <a:latin typeface="Roboto Bold"/>
                <a:ea typeface="Roboto Bold"/>
                <a:cs typeface="Roboto Bold"/>
                <a:sym typeface="Roboto Bold"/>
              </a:rPr>
              <a:t>Financial Services</a:t>
            </a:r>
          </a:p>
          <a:p>
            <a:pPr>
              <a:lnSpc>
                <a:spcPts val="2800"/>
              </a:lnSpc>
            </a:pPr>
            <a:r>
              <a:rPr lang="en-AU" sz="1400" b="1" dirty="0">
                <a:solidFill>
                  <a:srgbClr val="00AA7F"/>
                </a:solidFill>
                <a:latin typeface="Roboto Bold"/>
                <a:ea typeface="Roboto Bold"/>
                <a:cs typeface="Roboto Bold"/>
                <a:sym typeface="Roboto Bold"/>
              </a:rPr>
              <a:t>Entertainment &amp; Gaming</a:t>
            </a:r>
          </a:p>
          <a:p>
            <a:pPr>
              <a:lnSpc>
                <a:spcPts val="2800"/>
              </a:lnSpc>
            </a:pPr>
            <a:endParaRPr lang="en-AU" sz="1400" b="1" dirty="0">
              <a:solidFill>
                <a:srgbClr val="00AA7F"/>
              </a:solidFill>
              <a:latin typeface="Roboto Bold"/>
              <a:ea typeface="Roboto Bold"/>
              <a:cs typeface="Roboto Bold"/>
              <a:sym typeface="Roboto Bold"/>
            </a:endParaRPr>
          </a:p>
          <a:p>
            <a:pPr>
              <a:lnSpc>
                <a:spcPts val="2800"/>
              </a:lnSpc>
            </a:pPr>
            <a:endParaRPr lang="en-US" sz="1400" b="1" dirty="0">
              <a:solidFill>
                <a:srgbClr val="00AA7F"/>
              </a:solidFill>
              <a:latin typeface="Roboto Bold"/>
              <a:ea typeface="Roboto Bold"/>
              <a:cs typeface="Roboto Bold"/>
              <a:sym typeface="Roboto Bold"/>
            </a:endParaRPr>
          </a:p>
        </p:txBody>
      </p:sp>
      <p:sp>
        <p:nvSpPr>
          <p:cNvPr id="14" name="TextBox 14"/>
          <p:cNvSpPr txBox="1"/>
          <p:nvPr/>
        </p:nvSpPr>
        <p:spPr>
          <a:xfrm>
            <a:off x="15539453" y="4649806"/>
            <a:ext cx="2687031" cy="333425"/>
          </a:xfrm>
          <a:prstGeom prst="rect">
            <a:avLst/>
          </a:prstGeom>
        </p:spPr>
        <p:txBody>
          <a:bodyPr lIns="0" tIns="0" rIns="0" bIns="0" rtlCol="0" anchor="t">
            <a:spAutoFit/>
          </a:bodyPr>
          <a:lstStyle/>
          <a:p>
            <a:pPr algn="l">
              <a:lnSpc>
                <a:spcPts val="2800"/>
              </a:lnSpc>
              <a:spcBef>
                <a:spcPct val="0"/>
              </a:spcBef>
            </a:pPr>
            <a:r>
              <a:rPr lang="en-US" sz="2000" b="1" dirty="0">
                <a:solidFill>
                  <a:srgbClr val="0F2B3F"/>
                </a:solidFill>
                <a:latin typeface="Roboto Bold"/>
                <a:ea typeface="Roboto Bold"/>
                <a:cs typeface="Roboto Bold"/>
                <a:sym typeface="Roboto Bold"/>
              </a:rPr>
              <a:t>Certification</a:t>
            </a:r>
          </a:p>
        </p:txBody>
      </p:sp>
      <p:sp>
        <p:nvSpPr>
          <p:cNvPr id="15" name="TextBox 15"/>
          <p:cNvSpPr txBox="1"/>
          <p:nvPr/>
        </p:nvSpPr>
        <p:spPr>
          <a:xfrm>
            <a:off x="7211817" y="171689"/>
            <a:ext cx="7840469" cy="500137"/>
          </a:xfrm>
          <a:prstGeom prst="rect">
            <a:avLst/>
          </a:prstGeom>
        </p:spPr>
        <p:txBody>
          <a:bodyPr lIns="0" tIns="0" rIns="0" bIns="0" rtlCol="0" anchor="t">
            <a:spAutoFit/>
          </a:bodyPr>
          <a:lstStyle/>
          <a:p>
            <a:pPr algn="l">
              <a:lnSpc>
                <a:spcPts val="4200"/>
              </a:lnSpc>
              <a:spcBef>
                <a:spcPct val="0"/>
              </a:spcBef>
            </a:pPr>
            <a:r>
              <a:rPr lang="en-US" sz="3000" b="1" dirty="0">
                <a:solidFill>
                  <a:srgbClr val="0F2B3F"/>
                </a:solidFill>
                <a:latin typeface="Roboto Bold"/>
                <a:ea typeface="Roboto Bold"/>
                <a:cs typeface="Roboto Bold"/>
                <a:sym typeface="Roboto Bold"/>
              </a:rPr>
              <a:t>Selected Project Experience</a:t>
            </a:r>
          </a:p>
        </p:txBody>
      </p:sp>
      <p:sp>
        <p:nvSpPr>
          <p:cNvPr id="16" name="TextBox 16"/>
          <p:cNvSpPr txBox="1"/>
          <p:nvPr/>
        </p:nvSpPr>
        <p:spPr>
          <a:xfrm>
            <a:off x="222666" y="765476"/>
            <a:ext cx="6593800" cy="1384995"/>
          </a:xfrm>
          <a:prstGeom prst="rect">
            <a:avLst/>
          </a:prstGeom>
        </p:spPr>
        <p:txBody>
          <a:bodyPr wrap="square" lIns="0" tIns="0" rIns="0" bIns="0" rtlCol="0" anchor="t">
            <a:spAutoFit/>
          </a:bodyPr>
          <a:lstStyle/>
          <a:p>
            <a:pPr algn="l">
              <a:lnSpc>
                <a:spcPts val="5599"/>
              </a:lnSpc>
              <a:spcBef>
                <a:spcPct val="0"/>
              </a:spcBef>
            </a:pPr>
            <a:r>
              <a:rPr lang="en-US" sz="3999" b="1" dirty="0">
                <a:solidFill>
                  <a:srgbClr val="00AA7F"/>
                </a:solidFill>
                <a:latin typeface="Roboto Bold"/>
                <a:ea typeface="Roboto Bold"/>
                <a:cs typeface="Roboto Bold"/>
                <a:sym typeface="Roboto Bold"/>
              </a:rPr>
              <a:t>Elton Matimbe</a:t>
            </a:r>
          </a:p>
          <a:p>
            <a:pPr algn="l">
              <a:lnSpc>
                <a:spcPts val="5599"/>
              </a:lnSpc>
              <a:spcBef>
                <a:spcPct val="0"/>
              </a:spcBef>
            </a:pPr>
            <a:endParaRPr lang="en-US" sz="3999" b="1" dirty="0">
              <a:solidFill>
                <a:srgbClr val="00AA7F"/>
              </a:solidFill>
              <a:latin typeface="Roboto Bold"/>
              <a:ea typeface="Roboto Bold"/>
              <a:cs typeface="Roboto Bold"/>
              <a:sym typeface="Roboto Bold"/>
            </a:endParaRPr>
          </a:p>
        </p:txBody>
      </p:sp>
      <p:sp>
        <p:nvSpPr>
          <p:cNvPr id="17" name="TextBox 17"/>
          <p:cNvSpPr txBox="1"/>
          <p:nvPr/>
        </p:nvSpPr>
        <p:spPr>
          <a:xfrm>
            <a:off x="222207" y="1427714"/>
            <a:ext cx="4631684" cy="500137"/>
          </a:xfrm>
          <a:prstGeom prst="rect">
            <a:avLst/>
          </a:prstGeom>
        </p:spPr>
        <p:txBody>
          <a:bodyPr lIns="0" tIns="0" rIns="0" bIns="0" rtlCol="0" anchor="t">
            <a:spAutoFit/>
          </a:bodyPr>
          <a:lstStyle/>
          <a:p>
            <a:pPr algn="l">
              <a:lnSpc>
                <a:spcPts val="4200"/>
              </a:lnSpc>
              <a:spcBef>
                <a:spcPct val="0"/>
              </a:spcBef>
            </a:pPr>
            <a:r>
              <a:rPr lang="en-US" sz="3000" dirty="0">
                <a:solidFill>
                  <a:srgbClr val="0F2B3F"/>
                </a:solidFill>
                <a:latin typeface="Roboto"/>
                <a:ea typeface="Roboto"/>
                <a:cs typeface="Roboto"/>
                <a:sym typeface="Roboto"/>
              </a:rPr>
              <a:t>Principal Consultant</a:t>
            </a:r>
          </a:p>
        </p:txBody>
      </p:sp>
      <p:sp>
        <p:nvSpPr>
          <p:cNvPr id="18" name="TextBox 18"/>
          <p:cNvSpPr txBox="1"/>
          <p:nvPr/>
        </p:nvSpPr>
        <p:spPr>
          <a:xfrm>
            <a:off x="222207" y="2020005"/>
            <a:ext cx="3072317" cy="533400"/>
          </a:xfrm>
          <a:prstGeom prst="rect">
            <a:avLst/>
          </a:prstGeom>
        </p:spPr>
        <p:txBody>
          <a:bodyPr lIns="0" tIns="0" rIns="0" bIns="0" rtlCol="0" anchor="t">
            <a:spAutoFit/>
          </a:bodyPr>
          <a:lstStyle/>
          <a:p>
            <a:pPr algn="l">
              <a:lnSpc>
                <a:spcPts val="4200"/>
              </a:lnSpc>
              <a:spcBef>
                <a:spcPct val="0"/>
              </a:spcBef>
            </a:pPr>
            <a:r>
              <a:rPr lang="en-US" sz="3000" b="1" dirty="0">
                <a:solidFill>
                  <a:srgbClr val="00AA7F"/>
                </a:solidFill>
                <a:latin typeface="Roboto Bold"/>
                <a:ea typeface="Roboto Bold"/>
                <a:cs typeface="Roboto Bold"/>
                <a:sym typeface="Roboto Bold"/>
              </a:rPr>
              <a:t>Summary</a:t>
            </a:r>
          </a:p>
        </p:txBody>
      </p:sp>
      <p:sp>
        <p:nvSpPr>
          <p:cNvPr id="19" name="TextBox 19"/>
          <p:cNvSpPr txBox="1"/>
          <p:nvPr/>
        </p:nvSpPr>
        <p:spPr>
          <a:xfrm>
            <a:off x="222208" y="2753393"/>
            <a:ext cx="6471192" cy="3359894"/>
          </a:xfrm>
          <a:prstGeom prst="rect">
            <a:avLst/>
          </a:prstGeom>
        </p:spPr>
        <p:txBody>
          <a:bodyPr wrap="square" lIns="0" tIns="0" rIns="0" bIns="0" rtlCol="0" anchor="t">
            <a:spAutoFit/>
          </a:bodyPr>
          <a:lstStyle/>
          <a:p>
            <a:pPr algn="l">
              <a:lnSpc>
                <a:spcPts val="2239"/>
              </a:lnSpc>
            </a:pPr>
            <a:r>
              <a:rPr lang="en-AU" sz="1400" dirty="0">
                <a:solidFill>
                  <a:srgbClr val="0F2B3F"/>
                </a:solidFill>
                <a:latin typeface="Roboto"/>
                <a:ea typeface="Roboto"/>
                <a:cs typeface="Roboto"/>
                <a:sym typeface="Roboto"/>
              </a:rPr>
              <a:t>Elton is a seasoned Solutions Architect and Data Engineer with over a decade of </a:t>
            </a:r>
            <a:r>
              <a:rPr lang="en-AU" sz="1400" dirty="0">
                <a:solidFill>
                  <a:srgbClr val="0F2B3F"/>
                </a:solidFill>
                <a:latin typeface="Roboto"/>
                <a:ea typeface="Roboto"/>
                <a:sym typeface="Roboto"/>
              </a:rPr>
              <a:t>experience designing and delivering large-scale data, AI, and cloud solutions across enterprise environments. Elton brings deep expertise in data architecture, cloud transformation, and applied AI, having led projects that combine innovation with measurable business impact. </a:t>
            </a:r>
          </a:p>
          <a:p>
            <a:pPr algn="l">
              <a:lnSpc>
                <a:spcPts val="2239"/>
              </a:lnSpc>
            </a:pPr>
            <a:endParaRPr lang="en-AU" sz="1400" dirty="0">
              <a:solidFill>
                <a:srgbClr val="0F2B3F"/>
              </a:solidFill>
              <a:latin typeface="Roboto"/>
              <a:ea typeface="Roboto"/>
              <a:sym typeface="Roboto"/>
            </a:endParaRPr>
          </a:p>
          <a:p>
            <a:pPr algn="l">
              <a:lnSpc>
                <a:spcPts val="2239"/>
              </a:lnSpc>
            </a:pPr>
            <a:r>
              <a:rPr lang="en-AU" sz="1400" dirty="0">
                <a:solidFill>
                  <a:srgbClr val="0F2B3F"/>
                </a:solidFill>
                <a:latin typeface="Roboto"/>
                <a:ea typeface="Roboto"/>
              </a:rPr>
              <a:t>Holding certifications across Google Cloud, AWS, TOGAF, and TensorFlow, Elton combines a strong architectural foundation with a passion for innovation - applying data and AI to solve complex business challenges and enable intelligent automation.</a:t>
            </a:r>
            <a:r>
              <a:rPr lang="en-AU" sz="1400" dirty="0">
                <a:solidFill>
                  <a:srgbClr val="0F2B3F"/>
                </a:solidFill>
                <a:latin typeface="Roboto"/>
                <a:ea typeface="Roboto"/>
                <a:sym typeface="Roboto"/>
              </a:rPr>
              <a:t> His work consistently bridges technical excellence with real-world outcomes - from streamlining nationwide logistics systems to building AI-powered search platforms that enhance customer experience.</a:t>
            </a:r>
            <a:endParaRPr lang="en-US" sz="1400" dirty="0">
              <a:solidFill>
                <a:srgbClr val="0F2B3F"/>
              </a:solidFill>
              <a:latin typeface="Roboto"/>
              <a:ea typeface="Roboto"/>
              <a:sym typeface="Roboto"/>
            </a:endParaRPr>
          </a:p>
        </p:txBody>
      </p:sp>
      <p:sp>
        <p:nvSpPr>
          <p:cNvPr id="20" name="TextBox 20"/>
          <p:cNvSpPr txBox="1"/>
          <p:nvPr/>
        </p:nvSpPr>
        <p:spPr>
          <a:xfrm>
            <a:off x="7381790" y="7307291"/>
            <a:ext cx="7629610" cy="2545569"/>
          </a:xfrm>
          <a:prstGeom prst="rect">
            <a:avLst/>
          </a:prstGeom>
        </p:spPr>
        <p:txBody>
          <a:bodyPr lIns="0" tIns="0" rIns="0" bIns="0" rtlCol="0" anchor="t">
            <a:spAutoFit/>
          </a:bodyPr>
          <a:lstStyle/>
          <a:p>
            <a:pPr algn="just">
              <a:lnSpc>
                <a:spcPts val="1960"/>
              </a:lnSpc>
            </a:pPr>
            <a:r>
              <a:rPr lang="en-US" sz="1400" b="1" dirty="0">
                <a:solidFill>
                  <a:srgbClr val="92337A"/>
                </a:solidFill>
                <a:latin typeface="Roboto Bold"/>
                <a:ea typeface="Roboto Bold"/>
                <a:cs typeface="Roboto Bold"/>
                <a:sym typeface="Roboto Bold"/>
              </a:rPr>
              <a:t>Major Entertainment &amp; Gaming </a:t>
            </a:r>
            <a:r>
              <a:rPr lang="en-US" sz="1400" b="1" dirty="0" err="1">
                <a:solidFill>
                  <a:srgbClr val="92337A"/>
                </a:solidFill>
                <a:latin typeface="Roboto Bold"/>
                <a:ea typeface="Roboto Bold"/>
                <a:cs typeface="Roboto Bold"/>
                <a:sym typeface="Roboto Bold"/>
              </a:rPr>
              <a:t>Organisation</a:t>
            </a:r>
            <a:r>
              <a:rPr lang="en-US" sz="1400" b="1" dirty="0">
                <a:solidFill>
                  <a:srgbClr val="92337A"/>
                </a:solidFill>
                <a:latin typeface="Roboto Bold"/>
                <a:ea typeface="Roboto Bold"/>
                <a:cs typeface="Roboto Bold"/>
                <a:sym typeface="Roboto Bold"/>
              </a:rPr>
              <a:t> – Senior Data Engineer</a:t>
            </a:r>
          </a:p>
          <a:p>
            <a:pPr marL="302261" lvl="1" indent="-151130">
              <a:lnSpc>
                <a:spcPts val="1960"/>
              </a:lnSpc>
              <a:buFont typeface="Arial"/>
              <a:buChar char="•"/>
            </a:pPr>
            <a:r>
              <a:rPr lang="en-AU" sz="1400" dirty="0">
                <a:solidFill>
                  <a:srgbClr val="0F2B3F"/>
                </a:solidFill>
                <a:latin typeface="Roboto"/>
                <a:ea typeface="Roboto"/>
                <a:cs typeface="Roboto"/>
                <a:sym typeface="Roboto"/>
              </a:rPr>
              <a:t>Provided technical leadership to a distributed team of data engineers and analysts to construct data pipelines and ensure data integrity to downstream data consumers </a:t>
            </a:r>
          </a:p>
          <a:p>
            <a:pPr marL="302261" lvl="1" indent="-151130">
              <a:lnSpc>
                <a:spcPts val="1960"/>
              </a:lnSpc>
              <a:buFont typeface="Arial"/>
              <a:buChar char="•"/>
            </a:pPr>
            <a:r>
              <a:rPr lang="en-AU" sz="1400" dirty="0">
                <a:solidFill>
                  <a:srgbClr val="0F2B3F"/>
                </a:solidFill>
                <a:latin typeface="Roboto"/>
                <a:ea typeface="Roboto"/>
                <a:cs typeface="Roboto"/>
                <a:sym typeface="Roboto"/>
              </a:rPr>
              <a:t>Replaced a data dump system with a highly configurable event-based pipeline that ingests 8 million AML daily messages</a:t>
            </a:r>
          </a:p>
          <a:p>
            <a:pPr marL="302261" lvl="1" indent="-151130">
              <a:lnSpc>
                <a:spcPts val="1960"/>
              </a:lnSpc>
              <a:buFont typeface="Arial"/>
              <a:buChar char="•"/>
            </a:pPr>
            <a:r>
              <a:rPr lang="en-AU" sz="1400" dirty="0">
                <a:solidFill>
                  <a:srgbClr val="0F2B3F"/>
                </a:solidFill>
                <a:latin typeface="Roboto"/>
                <a:ea typeface="Roboto"/>
                <a:cs typeface="Roboto"/>
                <a:sym typeface="Roboto"/>
              </a:rPr>
              <a:t>Managed a security remediation project to secure our cloud resources and corporate data assets</a:t>
            </a:r>
          </a:p>
          <a:p>
            <a:pPr marL="302261" lvl="1" indent="-151130">
              <a:lnSpc>
                <a:spcPts val="1960"/>
              </a:lnSpc>
              <a:buFont typeface="Arial"/>
              <a:buChar char="•"/>
            </a:pPr>
            <a:r>
              <a:rPr lang="en-AU" sz="1400" dirty="0">
                <a:solidFill>
                  <a:srgbClr val="0F2B3F"/>
                </a:solidFill>
                <a:latin typeface="Roboto"/>
                <a:ea typeface="Roboto"/>
                <a:cs typeface="Roboto"/>
                <a:sym typeface="Roboto"/>
              </a:rPr>
              <a:t>Designed and implemented serverless ELT batch system, increased ingest rate by 200%</a:t>
            </a:r>
          </a:p>
          <a:p>
            <a:pPr marL="302261" lvl="1" indent="-151130">
              <a:lnSpc>
                <a:spcPts val="1960"/>
              </a:lnSpc>
              <a:buFont typeface="Arial"/>
              <a:buChar char="•"/>
            </a:pPr>
            <a:r>
              <a:rPr lang="en-AU" sz="1400" dirty="0">
                <a:solidFill>
                  <a:srgbClr val="0F2B3F"/>
                </a:solidFill>
                <a:latin typeface="Roboto"/>
                <a:ea typeface="Roboto"/>
                <a:cs typeface="Roboto"/>
                <a:sym typeface="Roboto"/>
              </a:rPr>
              <a:t>Implemented infrastructure as code paradigm and designed a roadmap to automation of cloud and code operations</a:t>
            </a:r>
            <a:endParaRPr lang="en-US" sz="1400" dirty="0">
              <a:solidFill>
                <a:srgbClr val="0F2B3F"/>
              </a:solidFill>
              <a:latin typeface="Roboto"/>
              <a:ea typeface="Roboto"/>
              <a:cs typeface="Roboto"/>
              <a:sym typeface="Roboto"/>
            </a:endParaRPr>
          </a:p>
        </p:txBody>
      </p:sp>
      <p:sp>
        <p:nvSpPr>
          <p:cNvPr id="22" name="TextBox 22"/>
          <p:cNvSpPr txBox="1"/>
          <p:nvPr/>
        </p:nvSpPr>
        <p:spPr>
          <a:xfrm>
            <a:off x="7367528" y="3711333"/>
            <a:ext cx="7752823" cy="3057953"/>
          </a:xfrm>
          <a:prstGeom prst="rect">
            <a:avLst/>
          </a:prstGeom>
        </p:spPr>
        <p:txBody>
          <a:bodyPr wrap="square" lIns="0" tIns="0" rIns="0" bIns="0" rtlCol="0" anchor="t">
            <a:spAutoFit/>
          </a:bodyPr>
          <a:lstStyle/>
          <a:p>
            <a:pPr>
              <a:lnSpc>
                <a:spcPts val="1960"/>
              </a:lnSpc>
              <a:spcBef>
                <a:spcPct val="0"/>
              </a:spcBef>
            </a:pPr>
            <a:r>
              <a:rPr lang="en-AU" sz="1400" b="1" u="none" strike="noStrike" dirty="0">
                <a:solidFill>
                  <a:srgbClr val="D77432"/>
                </a:solidFill>
                <a:latin typeface="Roboto Bold"/>
                <a:ea typeface="Roboto Bold"/>
                <a:cs typeface="Roboto Bold"/>
                <a:sym typeface="Roboto Bold"/>
              </a:rPr>
              <a:t>Australian Supermarket Giant – Principal Data Engineer</a:t>
            </a:r>
            <a:endParaRPr lang="en-US" sz="1400" b="1" u="none" strike="noStrike" dirty="0">
              <a:solidFill>
                <a:srgbClr val="D77432"/>
              </a:solidFill>
              <a:latin typeface="Roboto Bold"/>
              <a:ea typeface="Roboto Bold"/>
              <a:cs typeface="Roboto Bold"/>
              <a:sym typeface="Roboto Bold"/>
            </a:endParaRP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Created a GenAI adoption framework that paved the way for use of AI tools and processes across the organisation </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Designed and deployed a near real-time data ingestion and processing solution utilising MongoDB, Apache Beam, and </a:t>
            </a:r>
            <a:r>
              <a:rPr lang="en-AU" sz="1400" u="none" strike="noStrike" dirty="0" err="1">
                <a:solidFill>
                  <a:srgbClr val="0F2B3F"/>
                </a:solidFill>
                <a:latin typeface="Roboto"/>
                <a:ea typeface="Roboto"/>
                <a:cs typeface="Roboto"/>
                <a:sym typeface="Roboto"/>
              </a:rPr>
              <a:t>BigQuery</a:t>
            </a:r>
            <a:r>
              <a:rPr lang="en-AU" sz="1400" u="none" strike="noStrike" dirty="0">
                <a:solidFill>
                  <a:srgbClr val="0F2B3F"/>
                </a:solidFill>
                <a:latin typeface="Roboto"/>
                <a:ea typeface="Roboto"/>
                <a:cs typeface="Roboto"/>
                <a:sym typeface="Roboto"/>
              </a:rPr>
              <a:t>, resulting in a reduction of transaction settlement time by over 99%, from 38 hours to 15 minutes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Led a project to migrate reporting and analytics platform from Tableau to </a:t>
            </a:r>
            <a:r>
              <a:rPr lang="en-AU" sz="1400" u="none" strike="noStrike" dirty="0" err="1">
                <a:solidFill>
                  <a:srgbClr val="0F2B3F"/>
                </a:solidFill>
                <a:latin typeface="Roboto"/>
                <a:ea typeface="Roboto"/>
                <a:cs typeface="Roboto"/>
                <a:sym typeface="Roboto"/>
              </a:rPr>
              <a:t>LookerBI</a:t>
            </a:r>
            <a:r>
              <a:rPr lang="en-AU" sz="1400" u="none" strike="noStrike" dirty="0">
                <a:solidFill>
                  <a:srgbClr val="0F2B3F"/>
                </a:solidFill>
                <a:latin typeface="Roboto"/>
                <a:ea typeface="Roboto"/>
                <a:cs typeface="Roboto"/>
                <a:sym typeface="Roboto"/>
              </a:rPr>
              <a:t> to serve internal teams and merchant partners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Led </a:t>
            </a:r>
            <a:r>
              <a:rPr lang="en-AU" sz="1400" dirty="0">
                <a:solidFill>
                  <a:srgbClr val="0F2B3F"/>
                </a:solidFill>
                <a:latin typeface="Roboto"/>
                <a:ea typeface="Roboto"/>
                <a:cs typeface="Roboto"/>
                <a:sym typeface="Roboto"/>
              </a:rPr>
              <a:t>and g</a:t>
            </a:r>
            <a:r>
              <a:rPr lang="en-AU" sz="1400" u="none" strike="noStrike" dirty="0">
                <a:solidFill>
                  <a:srgbClr val="0F2B3F"/>
                </a:solidFill>
                <a:latin typeface="Roboto"/>
                <a:ea typeface="Roboto"/>
                <a:cs typeface="Roboto"/>
                <a:sym typeface="Roboto"/>
              </a:rPr>
              <a:t>uided a team of onshore and offshore engineers in modernising data warehousing</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Established best practices for data management, </a:t>
            </a:r>
            <a:r>
              <a:rPr lang="en-AU" sz="1400" u="none" strike="noStrike" dirty="0" err="1">
                <a:solidFill>
                  <a:srgbClr val="0F2B3F"/>
                </a:solidFill>
                <a:latin typeface="Roboto"/>
                <a:ea typeface="Roboto"/>
                <a:cs typeface="Roboto"/>
                <a:sym typeface="Roboto"/>
              </a:rPr>
              <a:t>DevSecOps</a:t>
            </a:r>
            <a:r>
              <a:rPr lang="en-AU" sz="1400" u="none" strike="noStrike" dirty="0">
                <a:solidFill>
                  <a:srgbClr val="0F2B3F"/>
                </a:solidFill>
                <a:latin typeface="Roboto"/>
                <a:ea typeface="Roboto"/>
                <a:cs typeface="Roboto"/>
                <a:sym typeface="Roboto"/>
              </a:rPr>
              <a:t> and DevOps to improve efficiency and reliability</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Implemented robust CI/CD pipelines based on GitHub actions to ensure continuous</a:t>
            </a:r>
            <a:endParaRPr lang="en-US" sz="1400" u="none" strike="noStrike" dirty="0">
              <a:solidFill>
                <a:srgbClr val="0F2B3F"/>
              </a:solidFill>
              <a:latin typeface="Roboto"/>
              <a:ea typeface="Roboto"/>
              <a:cs typeface="Roboto"/>
              <a:sym typeface="Roboto"/>
            </a:endParaRPr>
          </a:p>
        </p:txBody>
      </p:sp>
      <p:sp>
        <p:nvSpPr>
          <p:cNvPr id="23" name="AutoShape 23"/>
          <p:cNvSpPr/>
          <p:nvPr/>
        </p:nvSpPr>
        <p:spPr>
          <a:xfrm>
            <a:off x="460616" y="7080882"/>
            <a:ext cx="3944578" cy="0"/>
          </a:xfrm>
          <a:prstGeom prst="line">
            <a:avLst/>
          </a:prstGeom>
          <a:ln w="19050" cap="flat">
            <a:solidFill>
              <a:srgbClr val="0F2B3F"/>
            </a:solidFill>
            <a:prstDash val="sysDot"/>
            <a:headEnd type="none" w="sm" len="sm"/>
            <a:tailEnd type="none" w="sm" len="sm"/>
          </a:ln>
        </p:spPr>
        <p:txBody>
          <a:bodyPr/>
          <a:lstStyle/>
          <a:p>
            <a:endParaRPr lang="en-AU"/>
          </a:p>
        </p:txBody>
      </p:sp>
      <p:grpSp>
        <p:nvGrpSpPr>
          <p:cNvPr id="24" name="Group 24"/>
          <p:cNvGrpSpPr/>
          <p:nvPr/>
        </p:nvGrpSpPr>
        <p:grpSpPr>
          <a:xfrm>
            <a:off x="200025" y="6502345"/>
            <a:ext cx="6493375" cy="3410028"/>
            <a:chOff x="0" y="0"/>
            <a:chExt cx="1710189" cy="898114"/>
          </a:xfrm>
        </p:grpSpPr>
        <p:sp>
          <p:nvSpPr>
            <p:cNvPr id="25" name="Freeform 25"/>
            <p:cNvSpPr/>
            <p:nvPr/>
          </p:nvSpPr>
          <p:spPr>
            <a:xfrm>
              <a:off x="0" y="0"/>
              <a:ext cx="1710189" cy="898114"/>
            </a:xfrm>
            <a:custGeom>
              <a:avLst/>
              <a:gdLst/>
              <a:ahLst/>
              <a:cxnLst/>
              <a:rect l="l" t="t" r="r" b="b"/>
              <a:pathLst>
                <a:path w="1710189" h="898114">
                  <a:moveTo>
                    <a:pt x="0" y="0"/>
                  </a:moveTo>
                  <a:lnTo>
                    <a:pt x="1710189" y="0"/>
                  </a:lnTo>
                  <a:lnTo>
                    <a:pt x="1710189" y="898114"/>
                  </a:lnTo>
                  <a:lnTo>
                    <a:pt x="0" y="898114"/>
                  </a:lnTo>
                  <a:close/>
                </a:path>
              </a:pathLst>
            </a:custGeom>
            <a:solidFill>
              <a:srgbClr val="0F2B3F"/>
            </a:solidFill>
          </p:spPr>
          <p:txBody>
            <a:bodyPr/>
            <a:lstStyle/>
            <a:p>
              <a:endParaRPr lang="en-AU"/>
            </a:p>
          </p:txBody>
        </p:sp>
        <p:sp>
          <p:nvSpPr>
            <p:cNvPr id="26" name="TextBox 26"/>
            <p:cNvSpPr txBox="1"/>
            <p:nvPr/>
          </p:nvSpPr>
          <p:spPr>
            <a:xfrm>
              <a:off x="0" y="-38100"/>
              <a:ext cx="1710189" cy="936214"/>
            </a:xfrm>
            <a:prstGeom prst="rect">
              <a:avLst/>
            </a:prstGeom>
          </p:spPr>
          <p:txBody>
            <a:bodyPr lIns="50800" tIns="50800" rIns="50800" bIns="50800" rtlCol="0" anchor="ctr"/>
            <a:lstStyle/>
            <a:p>
              <a:pPr algn="ctr">
                <a:lnSpc>
                  <a:spcPts val="2693"/>
                </a:lnSpc>
              </a:pPr>
              <a:endParaRPr/>
            </a:p>
          </p:txBody>
        </p:sp>
      </p:grpSp>
      <p:sp>
        <p:nvSpPr>
          <p:cNvPr id="27" name="TextBox 27"/>
          <p:cNvSpPr txBox="1"/>
          <p:nvPr/>
        </p:nvSpPr>
        <p:spPr>
          <a:xfrm>
            <a:off x="301927" y="7042716"/>
            <a:ext cx="2543313" cy="3036088"/>
          </a:xfrm>
          <a:prstGeom prst="rect">
            <a:avLst/>
          </a:prstGeom>
        </p:spPr>
        <p:txBody>
          <a:bodyPr lIns="0" tIns="0" rIns="0" bIns="0" rtlCol="0" anchor="t">
            <a:spAutoFit/>
          </a:bodyPr>
          <a:lstStyle/>
          <a:p>
            <a:pPr marL="259078" lvl="1" indent="-129539" algn="l">
              <a:lnSpc>
                <a:spcPts val="1679"/>
              </a:lnSpc>
              <a:buFont typeface="Arial"/>
              <a:buChar char="•"/>
            </a:pPr>
            <a:r>
              <a:rPr lang="en-US" sz="1199" dirty="0">
                <a:solidFill>
                  <a:srgbClr val="FFFFFF"/>
                </a:solidFill>
                <a:latin typeface="Roboto"/>
                <a:ea typeface="Roboto"/>
                <a:cs typeface="Roboto"/>
                <a:sym typeface="Roboto"/>
              </a:rPr>
              <a:t>Solutions Architecture</a:t>
            </a:r>
          </a:p>
          <a:p>
            <a:pPr marL="259078" lvl="1" indent="-129539">
              <a:lnSpc>
                <a:spcPts val="1679"/>
              </a:lnSpc>
              <a:buFont typeface="Arial"/>
              <a:buChar char="•"/>
            </a:pPr>
            <a:r>
              <a:rPr lang="en-US" sz="1199" dirty="0">
                <a:solidFill>
                  <a:srgbClr val="FFFFFF"/>
                </a:solidFill>
                <a:latin typeface="Roboto"/>
                <a:ea typeface="Roboto"/>
                <a:cs typeface="Roboto"/>
                <a:sym typeface="Roboto"/>
              </a:rPr>
              <a:t>Data Architecture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Engineering</a:t>
            </a:r>
          </a:p>
          <a:p>
            <a:pPr marL="259078" lvl="1" indent="-129539">
              <a:lnSpc>
                <a:spcPts val="1679"/>
              </a:lnSpc>
              <a:buFont typeface="Arial"/>
              <a:buChar char="•"/>
            </a:pPr>
            <a:r>
              <a:rPr lang="en-US" sz="1199" dirty="0">
                <a:solidFill>
                  <a:srgbClr val="FFFFFF"/>
                </a:solidFill>
                <a:latin typeface="Roboto"/>
                <a:ea typeface="Roboto"/>
                <a:cs typeface="Roboto"/>
                <a:sym typeface="Roboto"/>
              </a:rPr>
              <a:t>Data Leadership</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Governance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Visualisation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Migration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Software Development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Cloud Computing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ETL</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Business Intelligence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SSAS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SSRS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SSIS</a:t>
            </a:r>
          </a:p>
        </p:txBody>
      </p:sp>
      <p:sp>
        <p:nvSpPr>
          <p:cNvPr id="28" name="TextBox 28"/>
          <p:cNvSpPr txBox="1"/>
          <p:nvPr/>
        </p:nvSpPr>
        <p:spPr>
          <a:xfrm>
            <a:off x="2945632" y="6991139"/>
            <a:ext cx="1957414" cy="2818079"/>
          </a:xfrm>
          <a:prstGeom prst="rect">
            <a:avLst/>
          </a:prstGeom>
        </p:spPr>
        <p:txBody>
          <a:bodyPr wrap="square" lIns="0" tIns="0" rIns="0" bIns="0" rtlCol="0" anchor="t">
            <a:spAutoFit/>
          </a:bodyPr>
          <a:lstStyle/>
          <a:p>
            <a:pPr algn="l">
              <a:lnSpc>
                <a:spcPts val="1679"/>
              </a:lnSpc>
            </a:pPr>
            <a:r>
              <a:rPr lang="en-US" sz="1199" b="1" dirty="0">
                <a:solidFill>
                  <a:srgbClr val="00AA7F"/>
                </a:solidFill>
                <a:latin typeface="Roboto Bold"/>
                <a:ea typeface="Roboto Bold"/>
                <a:cs typeface="Roboto Bold"/>
                <a:sym typeface="Roboto Bold"/>
              </a:rPr>
              <a:t>Platforms​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Google Cloud Platform</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Microsoft Azure​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AWS​</a:t>
            </a:r>
          </a:p>
          <a:p>
            <a:pPr marL="129539" lvl="1" algn="l">
              <a:lnSpc>
                <a:spcPts val="1679"/>
              </a:lnSpc>
            </a:pPr>
            <a:endParaRPr lang="en-US" sz="1199" dirty="0">
              <a:solidFill>
                <a:srgbClr val="FFFFFF"/>
              </a:solidFill>
              <a:latin typeface="Roboto"/>
              <a:ea typeface="Roboto"/>
              <a:sym typeface="Roboto Bold"/>
            </a:endParaRPr>
          </a:p>
          <a:p>
            <a:pPr>
              <a:lnSpc>
                <a:spcPts val="1679"/>
              </a:lnSpc>
            </a:pPr>
            <a:r>
              <a:rPr lang="en-AU" sz="1199" b="1" dirty="0">
                <a:solidFill>
                  <a:srgbClr val="00AA7F"/>
                </a:solidFill>
                <a:latin typeface="Roboto Bold"/>
                <a:ea typeface="Roboto Bold"/>
              </a:rPr>
              <a:t>Programming</a:t>
            </a:r>
            <a:endParaRPr lang="en-US" sz="1199" b="1" dirty="0">
              <a:solidFill>
                <a:srgbClr val="00AA7F"/>
              </a:solidFill>
              <a:latin typeface="Roboto Bold"/>
              <a:ea typeface="Roboto Bold"/>
              <a:sym typeface="Roboto Bold"/>
            </a:endParaRPr>
          </a:p>
          <a:p>
            <a:pPr marL="259078" lvl="1" indent="-129539">
              <a:lnSpc>
                <a:spcPts val="1679"/>
              </a:lnSpc>
              <a:buFont typeface="Arial"/>
              <a:buChar char="•"/>
            </a:pPr>
            <a:r>
              <a:rPr lang="en-US" sz="1199" dirty="0">
                <a:solidFill>
                  <a:srgbClr val="FFFFFF"/>
                </a:solidFill>
                <a:latin typeface="Roboto"/>
                <a:ea typeface="Roboto"/>
                <a:cs typeface="Roboto"/>
                <a:sym typeface="Roboto"/>
              </a:rPr>
              <a:t>Python</a:t>
            </a:r>
          </a:p>
          <a:p>
            <a:pPr marL="259078" lvl="1" indent="-129539">
              <a:lnSpc>
                <a:spcPts val="1679"/>
              </a:lnSpc>
              <a:buFont typeface="Arial"/>
              <a:buChar char="•"/>
            </a:pPr>
            <a:r>
              <a:rPr lang="en-US" sz="1199" dirty="0">
                <a:solidFill>
                  <a:srgbClr val="FFFFFF"/>
                </a:solidFill>
                <a:latin typeface="Roboto"/>
                <a:ea typeface="Roboto"/>
                <a:cs typeface="Roboto"/>
                <a:sym typeface="Roboto"/>
              </a:rPr>
              <a:t>SQL</a:t>
            </a:r>
          </a:p>
          <a:p>
            <a:pPr marL="259078" lvl="1" indent="-129539">
              <a:lnSpc>
                <a:spcPts val="1679"/>
              </a:lnSpc>
              <a:buFont typeface="Arial"/>
              <a:buChar char="•"/>
            </a:pPr>
            <a:r>
              <a:rPr lang="en-US" sz="1199" dirty="0">
                <a:solidFill>
                  <a:srgbClr val="FFFFFF"/>
                </a:solidFill>
                <a:latin typeface="Roboto"/>
                <a:ea typeface="Roboto"/>
                <a:cs typeface="Roboto"/>
                <a:sym typeface="Roboto"/>
              </a:rPr>
              <a:t>R</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C#</a:t>
            </a:r>
          </a:p>
          <a:p>
            <a:pPr marL="259078" lvl="1" indent="-129539" algn="l">
              <a:lnSpc>
                <a:spcPts val="1679"/>
              </a:lnSpc>
              <a:buFont typeface="Arial"/>
              <a:buChar char="•"/>
            </a:pPr>
            <a:r>
              <a:rPr lang="en-US" sz="1199" dirty="0" err="1">
                <a:solidFill>
                  <a:srgbClr val="FFFFFF"/>
                </a:solidFill>
                <a:latin typeface="Roboto"/>
                <a:ea typeface="Roboto"/>
                <a:cs typeface="Roboto"/>
                <a:sym typeface="Roboto"/>
              </a:rPr>
              <a:t>Vb.Net</a:t>
            </a:r>
            <a:endParaRPr lang="en-US" sz="1199" dirty="0">
              <a:solidFill>
                <a:srgbClr val="FFFFFF"/>
              </a:solidFill>
              <a:latin typeface="Roboto"/>
              <a:ea typeface="Roboto"/>
              <a:cs typeface="Roboto"/>
              <a:sym typeface="Roboto"/>
            </a:endParaRPr>
          </a:p>
          <a:p>
            <a:pPr marL="259078" lvl="1" indent="-129539" algn="l">
              <a:lnSpc>
                <a:spcPts val="1679"/>
              </a:lnSpc>
              <a:buFont typeface="Arial"/>
              <a:buChar char="•"/>
            </a:pPr>
            <a:r>
              <a:rPr lang="en-US" sz="1199" dirty="0">
                <a:solidFill>
                  <a:srgbClr val="FFFFFF"/>
                </a:solidFill>
                <a:latin typeface="Roboto"/>
                <a:ea typeface="Roboto"/>
                <a:cs typeface="Roboto"/>
                <a:sym typeface="Roboto"/>
              </a:rPr>
              <a:t>ASP.NET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Java</a:t>
            </a:r>
          </a:p>
        </p:txBody>
      </p:sp>
      <p:sp>
        <p:nvSpPr>
          <p:cNvPr id="29" name="TextBox 29"/>
          <p:cNvSpPr txBox="1"/>
          <p:nvPr/>
        </p:nvSpPr>
        <p:spPr>
          <a:xfrm>
            <a:off x="387699" y="6632364"/>
            <a:ext cx="3823490" cy="358775"/>
          </a:xfrm>
          <a:prstGeom prst="rect">
            <a:avLst/>
          </a:prstGeom>
        </p:spPr>
        <p:txBody>
          <a:bodyPr lIns="0" tIns="0" rIns="0" bIns="0" rtlCol="0" anchor="t">
            <a:spAutoFit/>
          </a:bodyPr>
          <a:lstStyle/>
          <a:p>
            <a:pPr algn="l">
              <a:lnSpc>
                <a:spcPts val="2800"/>
              </a:lnSpc>
              <a:spcBef>
                <a:spcPct val="0"/>
              </a:spcBef>
            </a:pPr>
            <a:r>
              <a:rPr lang="en-US" sz="2000" b="1" dirty="0">
                <a:solidFill>
                  <a:srgbClr val="F18018"/>
                </a:solidFill>
                <a:latin typeface="Roboto Bold"/>
                <a:ea typeface="Roboto Bold"/>
                <a:cs typeface="Roboto Bold"/>
                <a:sym typeface="Roboto Bold"/>
              </a:rPr>
              <a:t>Key Skills &amp; Tech</a:t>
            </a:r>
          </a:p>
        </p:txBody>
      </p:sp>
      <p:sp>
        <p:nvSpPr>
          <p:cNvPr id="30" name="TextBox 30"/>
          <p:cNvSpPr txBox="1"/>
          <p:nvPr/>
        </p:nvSpPr>
        <p:spPr>
          <a:xfrm>
            <a:off x="5087198" y="6821519"/>
            <a:ext cx="1752557" cy="3036088"/>
          </a:xfrm>
          <a:prstGeom prst="rect">
            <a:avLst/>
          </a:prstGeom>
        </p:spPr>
        <p:txBody>
          <a:bodyPr lIns="0" tIns="0" rIns="0" bIns="0" rtlCol="0" anchor="t">
            <a:spAutoFit/>
          </a:bodyPr>
          <a:lstStyle/>
          <a:p>
            <a:pPr indent="-327661">
              <a:lnSpc>
                <a:spcPts val="1679"/>
              </a:lnSpc>
            </a:pPr>
            <a:r>
              <a:rPr lang="en-US" sz="1199" b="1" dirty="0">
                <a:solidFill>
                  <a:srgbClr val="00AA7F"/>
                </a:solidFill>
                <a:latin typeface="Roboto Bold"/>
                <a:ea typeface="Roboto Bold"/>
                <a:cs typeface="Roboto Bold"/>
                <a:sym typeface="Roboto Bold"/>
              </a:rPr>
              <a:t>Tools</a:t>
            </a:r>
            <a:r>
              <a:rPr lang="en-US" sz="1199" b="1" dirty="0">
                <a:solidFill>
                  <a:srgbClr val="0F2B3F"/>
                </a:solidFill>
                <a:latin typeface="Roboto Bold"/>
                <a:ea typeface="Roboto Bold"/>
                <a:cs typeface="Roboto Bold"/>
                <a:sym typeface="Roboto Bold"/>
              </a:rPr>
              <a: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Power BI</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Looker</a:t>
            </a:r>
          </a:p>
          <a:p>
            <a:pPr marL="259078" lvl="1" indent="-129539">
              <a:lnSpc>
                <a:spcPts val="1679"/>
              </a:lnSpc>
              <a:buFont typeface="Arial"/>
              <a:buChar char="•"/>
            </a:pPr>
            <a:r>
              <a:rPr lang="en-US" sz="1199" dirty="0">
                <a:solidFill>
                  <a:srgbClr val="FFFFFF"/>
                </a:solidFill>
                <a:latin typeface="Roboto"/>
                <a:ea typeface="Roboto"/>
                <a:cs typeface="Roboto"/>
                <a:sym typeface="Roboto"/>
              </a:rPr>
              <a:t>Tableau</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MongoDB</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Terraform</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DBT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Salesforce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Git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Lambda</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Linux</a:t>
            </a:r>
          </a:p>
          <a:p>
            <a:pPr marL="259078" lvl="1" indent="-129539" algn="l">
              <a:lnSpc>
                <a:spcPts val="1679"/>
              </a:lnSpc>
              <a:buFont typeface="Arial"/>
              <a:buChar char="•"/>
            </a:pPr>
            <a:r>
              <a:rPr lang="en-US" sz="1199" dirty="0" err="1">
                <a:solidFill>
                  <a:srgbClr val="FFFFFF"/>
                </a:solidFill>
                <a:latin typeface="Roboto"/>
                <a:ea typeface="Roboto"/>
                <a:cs typeface="Roboto"/>
                <a:sym typeface="Roboto"/>
              </a:rPr>
              <a:t>Tensorflow</a:t>
            </a:r>
            <a:endParaRPr lang="en-US" sz="1199" dirty="0">
              <a:solidFill>
                <a:srgbClr val="FFFFFF"/>
              </a:solidFill>
              <a:latin typeface="Roboto"/>
              <a:ea typeface="Roboto"/>
              <a:cs typeface="Roboto"/>
              <a:sym typeface="Roboto"/>
            </a:endParaRPr>
          </a:p>
          <a:p>
            <a:pPr marL="259078" lvl="1" indent="-129539" algn="l">
              <a:lnSpc>
                <a:spcPts val="1679"/>
              </a:lnSpc>
              <a:buFont typeface="Arial"/>
              <a:buChar char="•"/>
            </a:pPr>
            <a:r>
              <a:rPr lang="en-US" sz="1199" dirty="0">
                <a:solidFill>
                  <a:srgbClr val="FFFFFF"/>
                </a:solidFill>
                <a:latin typeface="Roboto"/>
                <a:ea typeface="Roboto"/>
                <a:cs typeface="Roboto"/>
                <a:sym typeface="Roboto"/>
              </a:rPr>
              <a:t>Beam</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Airflow</a:t>
            </a:r>
          </a:p>
        </p:txBody>
      </p:sp>
      <p:sp>
        <p:nvSpPr>
          <p:cNvPr id="31" name="Freeform 31"/>
          <p:cNvSpPr/>
          <p:nvPr/>
        </p:nvSpPr>
        <p:spPr>
          <a:xfrm>
            <a:off x="140042" y="-24175"/>
            <a:ext cx="774435" cy="824275"/>
          </a:xfrm>
          <a:custGeom>
            <a:avLst/>
            <a:gdLst/>
            <a:ahLst/>
            <a:cxnLst/>
            <a:rect l="l" t="t" r="r" b="b"/>
            <a:pathLst>
              <a:path w="774435" h="824275">
                <a:moveTo>
                  <a:pt x="0" y="0"/>
                </a:moveTo>
                <a:lnTo>
                  <a:pt x="774435" y="0"/>
                </a:lnTo>
                <a:lnTo>
                  <a:pt x="774435" y="824275"/>
                </a:lnTo>
                <a:lnTo>
                  <a:pt x="0" y="824275"/>
                </a:lnTo>
                <a:lnTo>
                  <a:pt x="0" y="0"/>
                </a:lnTo>
                <a:close/>
              </a:path>
            </a:pathLst>
          </a:custGeom>
          <a:blipFill>
            <a:blip r:embed="rId3"/>
            <a:stretch>
              <a:fillRect/>
            </a:stretch>
          </a:blipFill>
        </p:spPr>
        <p:txBody>
          <a:bodyPr/>
          <a:lstStyle/>
          <a:p>
            <a:endParaRPr lang="en-AU"/>
          </a:p>
        </p:txBody>
      </p:sp>
      <p:sp>
        <p:nvSpPr>
          <p:cNvPr id="32" name="TextBox 32"/>
          <p:cNvSpPr txBox="1"/>
          <p:nvPr/>
        </p:nvSpPr>
        <p:spPr>
          <a:xfrm>
            <a:off x="1001693" y="103852"/>
            <a:ext cx="3570307" cy="556895"/>
          </a:xfrm>
          <a:prstGeom prst="rect">
            <a:avLst/>
          </a:prstGeom>
        </p:spPr>
        <p:txBody>
          <a:bodyPr lIns="0" tIns="0" rIns="0" bIns="0" rtlCol="0" anchor="t">
            <a:spAutoFit/>
          </a:bodyPr>
          <a:lstStyle/>
          <a:p>
            <a:pPr algn="l">
              <a:lnSpc>
                <a:spcPts val="4479"/>
              </a:lnSpc>
              <a:spcBef>
                <a:spcPct val="0"/>
              </a:spcBef>
            </a:pPr>
            <a:r>
              <a:rPr lang="en-US" sz="3199" b="1" dirty="0">
                <a:solidFill>
                  <a:srgbClr val="0F2B3F"/>
                </a:solidFill>
                <a:latin typeface="Roboto Bold"/>
                <a:ea typeface="Roboto Bold"/>
                <a:cs typeface="Roboto Bold"/>
                <a:sym typeface="Roboto Bold"/>
              </a:rPr>
              <a:t>Consultant Profile</a:t>
            </a:r>
          </a:p>
        </p:txBody>
      </p:sp>
      <p:sp>
        <p:nvSpPr>
          <p:cNvPr id="33" name="TextBox 21"/>
          <p:cNvSpPr txBox="1"/>
          <p:nvPr/>
        </p:nvSpPr>
        <p:spPr>
          <a:xfrm>
            <a:off x="7367528" y="1058838"/>
            <a:ext cx="7962369" cy="2545569"/>
          </a:xfrm>
          <a:prstGeom prst="rect">
            <a:avLst/>
          </a:prstGeom>
        </p:spPr>
        <p:txBody>
          <a:bodyPr wrap="square" lIns="0" tIns="0" rIns="0" bIns="0" rtlCol="0" anchor="t">
            <a:spAutoFit/>
          </a:bodyPr>
          <a:lstStyle/>
          <a:p>
            <a:pPr>
              <a:lnSpc>
                <a:spcPts val="1960"/>
              </a:lnSpc>
              <a:spcBef>
                <a:spcPct val="0"/>
              </a:spcBef>
            </a:pPr>
            <a:r>
              <a:rPr lang="en-US" sz="1400" b="1" dirty="0">
                <a:solidFill>
                  <a:srgbClr val="0059FF"/>
                </a:solidFill>
                <a:latin typeface="Roboto Bold"/>
                <a:ea typeface="Roboto Bold"/>
                <a:cs typeface="Roboto Bold"/>
                <a:sym typeface="Roboto Bold"/>
              </a:rPr>
              <a:t>Government Health</a:t>
            </a:r>
            <a:r>
              <a:rPr lang="en-US" sz="1400" b="1" u="none" strike="noStrike" dirty="0">
                <a:solidFill>
                  <a:srgbClr val="0059FF"/>
                </a:solidFill>
                <a:latin typeface="Roboto Bold"/>
                <a:ea typeface="Roboto Bold"/>
                <a:cs typeface="Roboto Bold"/>
                <a:sym typeface="Roboto Bold"/>
              </a:rPr>
              <a:t> </a:t>
            </a:r>
            <a:r>
              <a:rPr lang="en-US" sz="1400" b="1" u="none" strike="noStrike" dirty="0" err="1">
                <a:solidFill>
                  <a:srgbClr val="0059FF"/>
                </a:solidFill>
                <a:latin typeface="Roboto Bold"/>
                <a:ea typeface="Roboto Bold"/>
                <a:cs typeface="Roboto Bold"/>
                <a:sym typeface="Roboto Bold"/>
              </a:rPr>
              <a:t>Organisation</a:t>
            </a:r>
            <a:r>
              <a:rPr lang="en-US" sz="1400" b="1" u="none" strike="noStrike" dirty="0">
                <a:solidFill>
                  <a:srgbClr val="0059FF"/>
                </a:solidFill>
                <a:latin typeface="Roboto Bold"/>
                <a:ea typeface="Roboto Bold"/>
                <a:cs typeface="Roboto Bold"/>
                <a:sym typeface="Roboto Bold"/>
              </a:rPr>
              <a:t> – </a:t>
            </a:r>
            <a:r>
              <a:rPr lang="en-US" sz="1400" b="1" dirty="0">
                <a:solidFill>
                  <a:srgbClr val="0059FF"/>
                </a:solidFill>
                <a:latin typeface="Roboto Bold"/>
                <a:ea typeface="Roboto Bold"/>
                <a:cs typeface="Roboto Bold"/>
                <a:sym typeface="Roboto Bold"/>
              </a:rPr>
              <a:t>Solutions Architect</a:t>
            </a:r>
            <a:endParaRPr lang="en-US" sz="1400" b="1" u="none" strike="noStrike" dirty="0">
              <a:solidFill>
                <a:srgbClr val="0059FF"/>
              </a:solidFill>
              <a:latin typeface="Roboto Bold"/>
              <a:ea typeface="Roboto Bold"/>
              <a:cs typeface="Roboto Bold"/>
              <a:sym typeface="Roboto Bold"/>
            </a:endParaRP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Built an event-based, retrieval-augmented semantic search platform using Gemini on Vertex AI for NLU and multimodal data processing. Apache Airflow orchestrated the workflow, improving search accuracy and user experience across diverse file types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Led the redesign and deployment of a Salesforce and GCP solution, optimising nationwide vaccine distribution. This platform reduced delivery times by 30%</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Built a dynamic data orchestration engine using Apache Airflow to manage data reliability and governance by managing complex ETL/ELT workflows and enforcing data contracts across the enterprise data warehouse</a:t>
            </a:r>
          </a:p>
          <a:p>
            <a:pPr marL="302261" lvl="1" indent="-151130">
              <a:lnSpc>
                <a:spcPts val="1960"/>
              </a:lnSpc>
              <a:spcBef>
                <a:spcPct val="0"/>
              </a:spcBef>
              <a:buFont typeface="Arial"/>
              <a:buChar char="•"/>
            </a:pPr>
            <a:endParaRPr lang="en-US" sz="1400" u="none" strike="noStrike" dirty="0">
              <a:solidFill>
                <a:srgbClr val="0F2B3F"/>
              </a:solidFill>
              <a:latin typeface="Roboto"/>
              <a:ea typeface="Roboto"/>
              <a:cs typeface="Roboto"/>
              <a:sym typeface="Roboto"/>
            </a:endParaRPr>
          </a:p>
        </p:txBody>
      </p:sp>
      <p:cxnSp>
        <p:nvCxnSpPr>
          <p:cNvPr id="49" name="Straight Connector 48">
            <a:extLst>
              <a:ext uri="{FF2B5EF4-FFF2-40B4-BE49-F238E27FC236}">
                <a16:creationId xmlns:a16="http://schemas.microsoft.com/office/drawing/2014/main" id="{AB2A0672-5AF0-5438-8D24-87E280881A20}"/>
              </a:ext>
            </a:extLst>
          </p:cNvPr>
          <p:cNvCxnSpPr>
            <a:cxnSpLocks/>
          </p:cNvCxnSpPr>
          <p:nvPr/>
        </p:nvCxnSpPr>
        <p:spPr>
          <a:xfrm>
            <a:off x="7239000" y="1395215"/>
            <a:ext cx="0" cy="1927226"/>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5ABFD3B-85BE-9F1D-EBDE-61B80D7CD5F7}"/>
              </a:ext>
            </a:extLst>
          </p:cNvPr>
          <p:cNvCxnSpPr>
            <a:cxnSpLocks/>
          </p:cNvCxnSpPr>
          <p:nvPr/>
        </p:nvCxnSpPr>
        <p:spPr>
          <a:xfrm>
            <a:off x="7239000" y="3969528"/>
            <a:ext cx="0" cy="2759042"/>
          </a:xfrm>
          <a:prstGeom prst="line">
            <a:avLst/>
          </a:prstGeom>
          <a:ln w="19050">
            <a:solidFill>
              <a:srgbClr val="D7743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6FA25F3-F5B1-ADB7-8671-CA98D693BF24}"/>
              </a:ext>
            </a:extLst>
          </p:cNvPr>
          <p:cNvCxnSpPr>
            <a:cxnSpLocks/>
          </p:cNvCxnSpPr>
          <p:nvPr/>
        </p:nvCxnSpPr>
        <p:spPr>
          <a:xfrm>
            <a:off x="7239000" y="7620378"/>
            <a:ext cx="0" cy="2232482"/>
          </a:xfrm>
          <a:prstGeom prst="line">
            <a:avLst/>
          </a:prstGeom>
          <a:ln w="19050">
            <a:solidFill>
              <a:srgbClr val="92337A"/>
            </a:solidFill>
          </a:ln>
        </p:spPr>
        <p:style>
          <a:lnRef idx="1">
            <a:schemeClr val="accent1"/>
          </a:lnRef>
          <a:fillRef idx="0">
            <a:schemeClr val="accent1"/>
          </a:fillRef>
          <a:effectRef idx="0">
            <a:schemeClr val="accent1"/>
          </a:effectRef>
          <a:fontRef idx="minor">
            <a:schemeClr val="tx1"/>
          </a:fontRef>
        </p:style>
      </p:cxnSp>
      <p:sp>
        <p:nvSpPr>
          <p:cNvPr id="36" name="TextBox 9">
            <a:extLst>
              <a:ext uri="{FF2B5EF4-FFF2-40B4-BE49-F238E27FC236}">
                <a16:creationId xmlns:a16="http://schemas.microsoft.com/office/drawing/2014/main" id="{0F6BA3E9-E89B-AECA-C24F-E591FA01FB87}"/>
              </a:ext>
            </a:extLst>
          </p:cNvPr>
          <p:cNvSpPr txBox="1"/>
          <p:nvPr/>
        </p:nvSpPr>
        <p:spPr>
          <a:xfrm>
            <a:off x="15568937" y="5305757"/>
            <a:ext cx="2519031" cy="4084451"/>
          </a:xfrm>
          <a:prstGeom prst="rect">
            <a:avLst/>
          </a:prstGeom>
        </p:spPr>
        <p:txBody>
          <a:bodyPr wrap="square" lIns="0" tIns="0" rIns="0" bIns="0" rtlCol="0" anchor="t">
            <a:spAutoFit/>
          </a:bodyPr>
          <a:lstStyle/>
          <a:p>
            <a:pPr algn="l">
              <a:lnSpc>
                <a:spcPts val="1959"/>
              </a:lnSpc>
            </a:pPr>
            <a:r>
              <a:rPr lang="en-US" sz="1399" b="1" dirty="0">
                <a:solidFill>
                  <a:srgbClr val="00AA7F"/>
                </a:solidFill>
                <a:latin typeface="Roboto"/>
                <a:ea typeface="Roboto"/>
                <a:cs typeface="Roboto"/>
                <a:sym typeface="Roboto"/>
              </a:rPr>
              <a:t>Google Cloud | Certified Data Engineer</a:t>
            </a:r>
          </a:p>
          <a:p>
            <a:pPr algn="l">
              <a:lnSpc>
                <a:spcPts val="1959"/>
              </a:lnSpc>
            </a:pPr>
            <a:endParaRPr lang="en-US" sz="1399" b="1" dirty="0">
              <a:solidFill>
                <a:srgbClr val="00AA7F"/>
              </a:solidFill>
              <a:latin typeface="Roboto"/>
              <a:ea typeface="Roboto"/>
              <a:cs typeface="Roboto"/>
              <a:sym typeface="Roboto"/>
            </a:endParaRPr>
          </a:p>
          <a:p>
            <a:pPr>
              <a:lnSpc>
                <a:spcPts val="1959"/>
              </a:lnSpc>
              <a:spcBef>
                <a:spcPct val="0"/>
              </a:spcBef>
            </a:pPr>
            <a:r>
              <a:rPr lang="en-US" sz="1399" b="1" dirty="0">
                <a:solidFill>
                  <a:srgbClr val="00AA7F"/>
                </a:solidFill>
                <a:latin typeface="Roboto"/>
                <a:ea typeface="Roboto"/>
                <a:cs typeface="Roboto"/>
                <a:sym typeface="Roboto"/>
              </a:rPr>
              <a:t>AWS | Certified Solutions Architect</a:t>
            </a:r>
          </a:p>
          <a:p>
            <a:pPr>
              <a:lnSpc>
                <a:spcPts val="1959"/>
              </a:lnSpc>
              <a:spcBef>
                <a:spcPct val="0"/>
              </a:spcBef>
            </a:pPr>
            <a:endParaRPr lang="en-US" sz="1399" b="1" dirty="0">
              <a:solidFill>
                <a:srgbClr val="00AA7F"/>
              </a:solidFill>
              <a:latin typeface="Roboto"/>
              <a:ea typeface="Roboto"/>
              <a:cs typeface="Roboto"/>
              <a:sym typeface="Roboto"/>
            </a:endParaRPr>
          </a:p>
          <a:p>
            <a:pPr>
              <a:lnSpc>
                <a:spcPts val="1959"/>
              </a:lnSpc>
              <a:spcBef>
                <a:spcPct val="0"/>
              </a:spcBef>
            </a:pPr>
            <a:r>
              <a:rPr lang="en-US" sz="1399" b="1" dirty="0">
                <a:solidFill>
                  <a:srgbClr val="00AA7F"/>
                </a:solidFill>
                <a:latin typeface="Roboto"/>
                <a:ea typeface="Roboto"/>
                <a:cs typeface="Roboto"/>
                <a:sym typeface="Roboto"/>
              </a:rPr>
              <a:t>DMBOK | Certified Data Management Professional</a:t>
            </a:r>
          </a:p>
          <a:p>
            <a:pPr>
              <a:lnSpc>
                <a:spcPts val="1959"/>
              </a:lnSpc>
              <a:spcBef>
                <a:spcPct val="0"/>
              </a:spcBef>
            </a:pPr>
            <a:endParaRPr lang="en-US" sz="1399" b="1" dirty="0">
              <a:solidFill>
                <a:srgbClr val="00AA7F"/>
              </a:solidFill>
              <a:latin typeface="Roboto"/>
              <a:ea typeface="Roboto"/>
              <a:cs typeface="Roboto"/>
              <a:sym typeface="Roboto"/>
            </a:endParaRPr>
          </a:p>
          <a:p>
            <a:pPr>
              <a:lnSpc>
                <a:spcPts val="1959"/>
              </a:lnSpc>
              <a:spcBef>
                <a:spcPct val="0"/>
              </a:spcBef>
            </a:pPr>
            <a:r>
              <a:rPr lang="en-US" sz="1399" b="1" dirty="0">
                <a:solidFill>
                  <a:srgbClr val="00AA7F"/>
                </a:solidFill>
                <a:latin typeface="Roboto"/>
                <a:ea typeface="Roboto"/>
                <a:cs typeface="Roboto"/>
                <a:sym typeface="Roboto"/>
              </a:rPr>
              <a:t>Oracle | Certified</a:t>
            </a:r>
          </a:p>
          <a:p>
            <a:pPr>
              <a:lnSpc>
                <a:spcPts val="1959"/>
              </a:lnSpc>
              <a:spcBef>
                <a:spcPct val="0"/>
              </a:spcBef>
            </a:pPr>
            <a:r>
              <a:rPr lang="en-US" sz="1399" b="1" dirty="0">
                <a:solidFill>
                  <a:srgbClr val="00AA7F"/>
                </a:solidFill>
                <a:latin typeface="Roboto"/>
                <a:ea typeface="Roboto"/>
                <a:cs typeface="Roboto"/>
                <a:sym typeface="Roboto"/>
              </a:rPr>
              <a:t>SQL Expert</a:t>
            </a:r>
          </a:p>
          <a:p>
            <a:pPr>
              <a:lnSpc>
                <a:spcPts val="1959"/>
              </a:lnSpc>
              <a:spcBef>
                <a:spcPct val="0"/>
              </a:spcBef>
            </a:pPr>
            <a:endParaRPr lang="en-US" sz="1399" b="1" dirty="0">
              <a:solidFill>
                <a:srgbClr val="00AA7F"/>
              </a:solidFill>
              <a:latin typeface="Roboto"/>
              <a:ea typeface="Roboto"/>
              <a:cs typeface="Roboto"/>
              <a:sym typeface="Roboto"/>
            </a:endParaRPr>
          </a:p>
          <a:p>
            <a:pPr>
              <a:lnSpc>
                <a:spcPts val="1959"/>
              </a:lnSpc>
              <a:spcBef>
                <a:spcPct val="0"/>
              </a:spcBef>
            </a:pPr>
            <a:r>
              <a:rPr lang="en-US" sz="1399" b="1" dirty="0">
                <a:solidFill>
                  <a:srgbClr val="00AA7F"/>
                </a:solidFill>
                <a:latin typeface="Roboto"/>
                <a:ea typeface="Roboto"/>
                <a:cs typeface="Roboto"/>
                <a:sym typeface="Roboto"/>
              </a:rPr>
              <a:t>TOGAF | Certified </a:t>
            </a:r>
          </a:p>
          <a:p>
            <a:pPr>
              <a:lnSpc>
                <a:spcPts val="1959"/>
              </a:lnSpc>
              <a:spcBef>
                <a:spcPct val="0"/>
              </a:spcBef>
            </a:pPr>
            <a:r>
              <a:rPr lang="en-US" sz="1399" b="1" dirty="0">
                <a:solidFill>
                  <a:srgbClr val="00AA7F"/>
                </a:solidFill>
                <a:latin typeface="Roboto"/>
                <a:ea typeface="Roboto"/>
                <a:cs typeface="Roboto"/>
                <a:sym typeface="Roboto"/>
              </a:rPr>
              <a:t>Architect</a:t>
            </a:r>
          </a:p>
          <a:p>
            <a:pPr>
              <a:lnSpc>
                <a:spcPts val="1959"/>
              </a:lnSpc>
              <a:spcBef>
                <a:spcPct val="0"/>
              </a:spcBef>
            </a:pPr>
            <a:endParaRPr lang="en-US" sz="1399" b="1" dirty="0">
              <a:solidFill>
                <a:srgbClr val="00AA7F"/>
              </a:solidFill>
              <a:latin typeface="Roboto"/>
              <a:ea typeface="Roboto"/>
              <a:cs typeface="Roboto"/>
              <a:sym typeface="Roboto"/>
            </a:endParaRPr>
          </a:p>
          <a:p>
            <a:pPr algn="l">
              <a:lnSpc>
                <a:spcPts val="1959"/>
              </a:lnSpc>
              <a:spcBef>
                <a:spcPct val="0"/>
              </a:spcBef>
            </a:pPr>
            <a:endParaRPr lang="en-US" sz="1399" b="1" dirty="0">
              <a:solidFill>
                <a:srgbClr val="00AA7F"/>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A31EBE5-0DC9-48F1-99F1-6294DEE00F78}"/>
</file>

<file path=customXml/itemProps2.xml><?xml version="1.0" encoding="utf-8"?>
<ds:datastoreItem xmlns:ds="http://schemas.openxmlformats.org/officeDocument/2006/customXml" ds:itemID="{DB25533C-2878-4409-9629-D0B062FBF57B}"/>
</file>

<file path=customXml/itemProps3.xml><?xml version="1.0" encoding="utf-8"?>
<ds:datastoreItem xmlns:ds="http://schemas.openxmlformats.org/officeDocument/2006/customXml" ds:itemID="{092D5932-6064-4543-ACE7-5BCFD3E1F37A}"/>
</file>

<file path=docProps/app.xml><?xml version="1.0" encoding="utf-8"?>
<Properties xmlns="http://schemas.openxmlformats.org/officeDocument/2006/extended-properties" xmlns:vt="http://schemas.openxmlformats.org/officeDocument/2006/docPropsVTypes">
  <TotalTime>3184</TotalTime>
  <Words>555</Words>
  <Application>Microsoft Office PowerPoint</Application>
  <PresentationFormat>Custom</PresentationFormat>
  <Paragraphs>87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Roboto Bold</vt:lpstr>
      <vt:lpstr>Roboto</vt:lpstr>
      <vt:lpstr>Calibri</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Consultant profile templates (Presentation)</dc:title>
  <dc:creator>Darcy Roach</dc:creator>
  <cp:lastModifiedBy>Darcy Roach</cp:lastModifiedBy>
  <cp:revision>7</cp:revision>
  <dcterms:created xsi:type="dcterms:W3CDTF">2006-08-16T00:00:00Z</dcterms:created>
  <dcterms:modified xsi:type="dcterms:W3CDTF">2025-10-13T06:03:45Z</dcterms:modified>
  <dc:identifier>DAGrzN_SXAE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