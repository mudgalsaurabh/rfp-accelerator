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C70FD-88EA-4195-BDEE-EBF40FF68F1C}" v="102" dt="2023-09-20T04:44:54.084"/>
    <p1510:client id="{CF7E488F-96F2-4FCA-B9A8-12C3B870BEAD}" v="46" dt="2023-09-24T00:59:00.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94" y="48"/>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o Parente" userId="S::emilio.parente@intelia.com.au::01da3a18-a8c9-4a65-a55b-c6794ec7dcc4" providerId="AD" clId="Web-{CF7E488F-96F2-4FCA-B9A8-12C3B870BEAD}"/>
    <pc:docChg chg="modSld">
      <pc:chgData name="Emilio Parente" userId="S::emilio.parente@intelia.com.au::01da3a18-a8c9-4a65-a55b-c6794ec7dcc4" providerId="AD" clId="Web-{CF7E488F-96F2-4FCA-B9A8-12C3B870BEAD}" dt="2023-09-24T00:59:00.481" v="21" actId="20577"/>
      <pc:docMkLst>
        <pc:docMk/>
      </pc:docMkLst>
      <pc:sldChg chg="modSp">
        <pc:chgData name="Emilio Parente" userId="S::emilio.parente@intelia.com.au::01da3a18-a8c9-4a65-a55b-c6794ec7dcc4" providerId="AD" clId="Web-{CF7E488F-96F2-4FCA-B9A8-12C3B870BEAD}" dt="2023-09-24T00:59:00.481" v="21" actId="20577"/>
        <pc:sldMkLst>
          <pc:docMk/>
          <pc:sldMk cId="3618352684" sldId="271"/>
        </pc:sldMkLst>
        <pc:spChg chg="mod">
          <ac:chgData name="Emilio Parente" userId="S::emilio.parente@intelia.com.au::01da3a18-a8c9-4a65-a55b-c6794ec7dcc4" providerId="AD" clId="Web-{CF7E488F-96F2-4FCA-B9A8-12C3B870BEAD}" dt="2023-09-24T00:58:54.605" v="16" actId="20577"/>
          <ac:spMkLst>
            <pc:docMk/>
            <pc:sldMk cId="3618352684" sldId="271"/>
            <ac:spMk id="2" creationId="{2FA774CA-3857-9308-4D38-9414B0CC2B95}"/>
          </ac:spMkLst>
        </pc:spChg>
        <pc:spChg chg="mod">
          <ac:chgData name="Emilio Parente" userId="S::emilio.parente@intelia.com.au::01da3a18-a8c9-4a65-a55b-c6794ec7dcc4" providerId="AD" clId="Web-{CF7E488F-96F2-4FCA-B9A8-12C3B870BEAD}" dt="2023-09-24T00:57:22.349" v="5" actId="20577"/>
          <ac:spMkLst>
            <pc:docMk/>
            <pc:sldMk cId="3618352684" sldId="271"/>
            <ac:spMk id="6" creationId="{701E125D-B356-8A2A-B86B-AB6567CEABE1}"/>
          </ac:spMkLst>
        </pc:spChg>
        <pc:spChg chg="mod">
          <ac:chgData name="Emilio Parente" userId="S::emilio.parente@intelia.com.au::01da3a18-a8c9-4a65-a55b-c6794ec7dcc4" providerId="AD" clId="Web-{CF7E488F-96F2-4FCA-B9A8-12C3B870BEAD}" dt="2023-09-24T00:58:32.916" v="14" actId="20577"/>
          <ac:spMkLst>
            <pc:docMk/>
            <pc:sldMk cId="3618352684" sldId="271"/>
            <ac:spMk id="16" creationId="{7A53ACAB-BBC9-A3AA-740D-EB947374392F}"/>
          </ac:spMkLst>
        </pc:spChg>
        <pc:spChg chg="mod">
          <ac:chgData name="Emilio Parente" userId="S::emilio.parente@intelia.com.au::01da3a18-a8c9-4a65-a55b-c6794ec7dcc4" providerId="AD" clId="Web-{CF7E488F-96F2-4FCA-B9A8-12C3B870BEAD}" dt="2023-09-24T00:59:00.481" v="21" actId="20577"/>
          <ac:spMkLst>
            <pc:docMk/>
            <pc:sldMk cId="3618352684" sldId="271"/>
            <ac:spMk id="28" creationId="{6059F888-3BDF-A1C0-65E5-CB6FDD43D9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9/23/2023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C1E3E96-4B11-5242-E07F-7D9FDDBB0190}"/>
              </a:ext>
            </a:extLst>
          </p:cNvPr>
          <p:cNvSpPr txBox="1"/>
          <p:nvPr/>
        </p:nvSpPr>
        <p:spPr>
          <a:xfrm>
            <a:off x="3463961" y="1312085"/>
            <a:ext cx="4457043" cy="224676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latin typeface="Roboto Light"/>
                <a:ea typeface="Roboto Light"/>
                <a:cs typeface="Roboto Light"/>
              </a:rPr>
              <a:t>Senior Business/Data Analyst - </a:t>
            </a:r>
            <a:r>
              <a:rPr lang="en-AU" sz="1000" dirty="0">
                <a:solidFill>
                  <a:schemeClr val="bg1"/>
                </a:solidFill>
                <a:latin typeface="Roboto Light"/>
                <a:ea typeface="Roboto Light"/>
                <a:cs typeface="Roboto Light"/>
              </a:rPr>
              <a:t>responsibilities of this role included :</a:t>
            </a:r>
          </a:p>
          <a:p>
            <a:r>
              <a:rPr lang="en-AU" sz="1000" dirty="0">
                <a:solidFill>
                  <a:schemeClr val="bg1"/>
                </a:solidFill>
              </a:rPr>
              <a:t>Digitised and streamlined manual workflow consisting of delivery route data using Salesforce System.</a:t>
            </a:r>
          </a:p>
          <a:p>
            <a:r>
              <a:rPr lang="en-AU" sz="1000" dirty="0">
                <a:solidFill>
                  <a:schemeClr val="bg1"/>
                </a:solidFill>
              </a:rPr>
              <a:t>Data migration from numerous systems, including legacy EPOS system to Salesforce, using bespoke API integration. </a:t>
            </a:r>
          </a:p>
          <a:p>
            <a:r>
              <a:rPr lang="en-AU" sz="1000" dirty="0">
                <a:solidFill>
                  <a:schemeClr val="bg1"/>
                </a:solidFill>
              </a:rPr>
              <a:t>Establishment of process improvement and standards with 150 + retail outlets around master data gathering, and facilitation of data uploads to salesforce systems &amp; SAP EM systems. </a:t>
            </a:r>
          </a:p>
          <a:p>
            <a:r>
              <a:rPr lang="en-AU" sz="1000" dirty="0">
                <a:solidFill>
                  <a:schemeClr val="bg1"/>
                </a:solidFill>
              </a:rPr>
              <a:t>Point of contact for all master data related system interface issues. </a:t>
            </a:r>
          </a:p>
          <a:p>
            <a:r>
              <a:rPr lang="en-AU" sz="1000" dirty="0">
                <a:solidFill>
                  <a:schemeClr val="bg1"/>
                </a:solidFill>
              </a:rPr>
              <a:t>Development of SOPs and providing training to internal staff. </a:t>
            </a:r>
          </a:p>
          <a:p>
            <a:r>
              <a:rPr lang="en-AU" sz="1000" dirty="0">
                <a:solidFill>
                  <a:schemeClr val="bg1"/>
                </a:solidFill>
              </a:rPr>
              <a:t>Facilitation of requirements elicitation workshops (remotely via MS Teams and classroom based) with senior stakeholders, retail team members, and technical teams. </a:t>
            </a:r>
          </a:p>
          <a:p>
            <a:endParaRPr lang="en-AU" sz="1000" dirty="0">
              <a:solidFill>
                <a:schemeClr val="bg1"/>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Famil </a:t>
            </a:r>
          </a:p>
          <a:p>
            <a:r>
              <a:rPr lang="en-US" sz="2800" b="1" dirty="0">
                <a:solidFill>
                  <a:srgbClr val="00AB80"/>
                </a:solidFill>
                <a:latin typeface="Roboto" panose="02000000000000000000" pitchFamily="2" charset="0"/>
                <a:ea typeface="Roboto" panose="02000000000000000000" pitchFamily="2" charset="0"/>
              </a:rPr>
              <a:t>Farag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92375" y="1589600"/>
            <a:ext cx="2944517" cy="3831177"/>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Famil is an agile Business Analyst, and specialises in digital transformation that focuses on people, processes, culture, technology, and model change, to help achieve business benefits and contribute towards an excellent customer experience. </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Famil is a great communicator &amp; collaborator with business and technology teams, using his great ability to bridge the gap in communications between technical teams and nontechnical stakeholders he has a passion for transforming business-led activities and leading the change process from the initial concept to an operative state. </a:t>
            </a: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 </a:t>
            </a: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With strong skills to gather, analyse and document key business requirements Famil meets project deadlines whilst always balancing the outcome with the business objectives. </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3162388"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37801"/>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Collibra</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SQL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Power BI</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Advanced Excel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SAS</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a:ea typeface="Roboto Light"/>
                <a:cs typeface="Roboto Light"/>
              </a:rPr>
              <a:t>Adobe Analytics, </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SEO</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a:ea typeface="Roboto Light"/>
                <a:cs typeface="Roboto Light"/>
              </a:rPr>
              <a:t>Veeva CRM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Workday</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err="1">
                <a:latin typeface="Roboto Light"/>
                <a:ea typeface="Roboto Light"/>
                <a:cs typeface="Roboto Light"/>
              </a:rPr>
              <a:t>Qlikview</a:t>
            </a:r>
          </a:p>
          <a:p>
            <a:pPr marL="171450" indent="-171450">
              <a:buClr>
                <a:srgbClr val="00AB80"/>
              </a:buClr>
              <a:buFont typeface="Arial" panose="020B0604020202020204" pitchFamily="34" charset="0"/>
              <a:buChar char="•"/>
            </a:pPr>
            <a:r>
              <a:rPr lang="en-US" sz="900" dirty="0">
                <a:latin typeface="Roboto Light"/>
                <a:ea typeface="Roboto Light"/>
                <a:cs typeface="Roboto Light"/>
              </a:rPr>
              <a:t>ERP systems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Internet of Things (IoT)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90956"/>
            <a:ext cx="0" cy="192187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657763"/>
            <a:ext cx="4536321" cy="1938992"/>
            <a:chOff x="5030740" y="1885572"/>
            <a:chExt cx="4845492" cy="1938992"/>
          </a:xfrm>
        </p:grpSpPr>
        <p:sp>
          <p:nvSpPr>
            <p:cNvPr id="10" name="TextBox 9">
              <a:extLst>
                <a:ext uri="{FF2B5EF4-FFF2-40B4-BE49-F238E27FC236}">
                  <a16:creationId xmlns:a16="http://schemas.microsoft.com/office/drawing/2014/main" id="{06312B81-BCF1-2796-C112-3DBE0E02F483}"/>
                </a:ext>
              </a:extLst>
            </p:cNvPr>
            <p:cNvSpPr txBox="1"/>
            <p:nvPr/>
          </p:nvSpPr>
          <p:spPr>
            <a:xfrm>
              <a:off x="5059475" y="1885572"/>
              <a:ext cx="4816757"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dirty="0">
                  <a:solidFill>
                    <a:schemeClr val="bg1"/>
                  </a:solidFill>
                </a:rPr>
                <a:t>Senior Business Analyst - </a:t>
              </a:r>
              <a:r>
                <a:rPr lang="en-AU" sz="1000" dirty="0"/>
                <a:t>r</a:t>
              </a:r>
              <a:r>
                <a:rPr lang="en-AU" sz="1000" dirty="0">
                  <a:solidFill>
                    <a:schemeClr val="bg1"/>
                  </a:solidFill>
                </a:rPr>
                <a:t>esponsibilities of this role included:</a:t>
              </a:r>
            </a:p>
            <a:p>
              <a:r>
                <a:rPr lang="en-AU" sz="1000" dirty="0"/>
                <a:t>Developed and delivered a new Salesforce Booking System to manage pick- up and delivery services for depots. </a:t>
              </a:r>
            </a:p>
            <a:p>
              <a:r>
                <a:rPr lang="en-AU" sz="1000" dirty="0"/>
                <a:t>Reviewed existing documentations and developed detailed Business process documentations for developing a new in- house Salesforce solution to manage end to end Pick and Delivery services. </a:t>
              </a:r>
            </a:p>
            <a:p>
              <a:r>
                <a:rPr lang="en-AU" sz="1000" dirty="0"/>
                <a:t>Planned and managed requirements by running Agile Sprints and Showcases with the project team.</a:t>
              </a:r>
            </a:p>
            <a:p>
              <a:r>
                <a:rPr lang="en-AU" sz="1000" dirty="0"/>
                <a:t>Collaborated closely with developers to implement the requirements, provide necessary guidance to testers during Agile QA process.</a:t>
              </a:r>
            </a:p>
            <a:p>
              <a:r>
                <a:rPr lang="en-AU" sz="1000" dirty="0"/>
                <a:t>Developed use cases for testing and helped with end-to-end testing of Salesforce lighting functionalities.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1967574"/>
              <a:ext cx="0" cy="175668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30771"/>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492696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46215"/>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lIns="91440" tIns="45720" rIns="91440" bIns="45720" anchor="t">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BABOK - Certified Business Analyst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200" dirty="0">
                  <a:solidFill>
                    <a:srgbClr val="00AB80"/>
                  </a:solidFill>
                  <a:latin typeface="Roboto Light"/>
                  <a:ea typeface="Calibri" panose="020F0502020204030204" pitchFamily="34" charset="0"/>
                  <a:cs typeface="Roboto Light"/>
                </a:rPr>
                <a:t>Collibra – Certified Workflow Engineer</a:t>
              </a: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200" dirty="0">
                  <a:solidFill>
                    <a:srgbClr val="00AB80"/>
                  </a:solidFill>
                  <a:latin typeface="Roboto Light"/>
                  <a:ea typeface="Calibri" panose="020F0502020204030204" pitchFamily="34" charset="0"/>
                  <a:cs typeface="Roboto Light"/>
                </a:rPr>
                <a:t>Collibra – Certified Data Steward</a:t>
              </a: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Information &amp; Communication Technologies, Business Analysis, Swinburne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a:t>
              </a:r>
              <a:r>
                <a:rPr lang="en-AU" sz="1200" dirty="0">
                  <a:solidFill>
                    <a:srgbClr val="00AB80"/>
                  </a:solidFill>
                  <a:latin typeface="Roboto Light" panose="02000000000000000000" pitchFamily="2" charset="0"/>
                  <a:ea typeface="Calibri" panose="020F0502020204030204" pitchFamily="34" charset="0"/>
                </a:rPr>
                <a:t> Technology Management and Computing,</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Portsmouth University</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404782"/>
            <a:ext cx="4082813" cy="461665"/>
          </a:xfrm>
          <a:prstGeom prst="rect">
            <a:avLst/>
          </a:prstGeom>
          <a:noFill/>
        </p:spPr>
        <p:txBody>
          <a:bodyPr wrap="square" lIns="91440" tIns="45720" rIns="91440" bIns="45720" rtlCol="0" anchor="t">
            <a:spAutoFit/>
          </a:bodyPr>
          <a:lstStyle/>
          <a:p>
            <a:r>
              <a:rPr lang="en-AU" sz="1200" b="1" dirty="0">
                <a:solidFill>
                  <a:srgbClr val="ED7D31"/>
                </a:solidFill>
                <a:latin typeface="Roboto"/>
                <a:ea typeface="Roboto"/>
                <a:cs typeface="Roboto"/>
              </a:rPr>
              <a:t>Australia Post</a:t>
            </a:r>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1" y="5711189"/>
            <a:ext cx="1495675"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Tech Strategy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Digital 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Tender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Agile Methodology</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44151"/>
            <a:ext cx="4894951"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Australia Post</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915794"/>
            <a:ext cx="4584890" cy="1785104"/>
            <a:chOff x="5023753" y="4106685"/>
            <a:chExt cx="4757437" cy="1785104"/>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106685"/>
              <a:ext cx="472171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dirty="0">
                  <a:solidFill>
                    <a:schemeClr val="bg1"/>
                  </a:solidFill>
                </a:rPr>
                <a:t>Senior Business Analyst - responsibilities of this role included:</a:t>
              </a:r>
            </a:p>
            <a:p>
              <a:r>
                <a:rPr lang="en-AU" sz="1000" dirty="0">
                  <a:solidFill>
                    <a:schemeClr val="bg1"/>
                  </a:solidFill>
                </a:rPr>
                <a:t>Collaborated with cross-functional internal teams and external vendors to gather and document technical and non-technical functional requirements. </a:t>
              </a:r>
            </a:p>
            <a:p>
              <a:r>
                <a:rPr lang="en-AU" sz="1000" dirty="0">
                  <a:solidFill>
                    <a:schemeClr val="bg1"/>
                  </a:solidFill>
                </a:rPr>
                <a:t>Wrote user stories with clear acceptance criteria.</a:t>
              </a:r>
            </a:p>
            <a:p>
              <a:r>
                <a:rPr lang="en-AU" sz="1000" dirty="0">
                  <a:solidFill>
                    <a:schemeClr val="bg1"/>
                  </a:solidFill>
                </a:rPr>
                <a:t>Tracking of movement on all requirements progressing through the SDLC/ sprints via a requirement traceability matrix (RTM). </a:t>
              </a:r>
            </a:p>
            <a:p>
              <a:r>
                <a:rPr lang="en-AU" sz="1000" dirty="0">
                  <a:solidFill>
                    <a:schemeClr val="bg1"/>
                  </a:solidFill>
                </a:rPr>
                <a:t>Application testing of the new EPOS solution developed by internal team prior to implementation and going into production phase. </a:t>
              </a:r>
            </a:p>
            <a:p>
              <a:r>
                <a:rPr lang="en-AU" sz="1000" dirty="0">
                  <a:solidFill>
                    <a:schemeClr val="bg1"/>
                  </a:solidFill>
                </a:rPr>
                <a:t>Consulting with a range of business stakeholders and providing gap analysis </a:t>
              </a:r>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198160"/>
              <a:ext cx="0" cy="144860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43247"/>
            <a:ext cx="3526969" cy="461665"/>
          </a:xfrm>
          <a:prstGeom prst="rect">
            <a:avLst/>
          </a:prstGeom>
          <a:noFill/>
        </p:spPr>
        <p:txBody>
          <a:bodyPr wrap="square" lIns="91440" tIns="45720" rIns="91440" bIns="45720" rtlCol="0" anchor="t">
            <a:spAutoFit/>
          </a:bodyPr>
          <a:lstStyle/>
          <a:p>
            <a:r>
              <a:rPr lang="en-AU" sz="1200" b="1">
                <a:solidFill>
                  <a:srgbClr val="A93584"/>
                </a:solidFill>
                <a:latin typeface="Roboto"/>
                <a:ea typeface="Roboto"/>
                <a:cs typeface="Roboto"/>
              </a:rPr>
              <a:t>Australia Post</a:t>
            </a:r>
            <a:endParaRPr lang="en-AU" sz="1200" b="1" dirty="0">
              <a:solidFill>
                <a:srgbClr val="A93584"/>
              </a:solidFill>
              <a:latin typeface="Roboto" panose="02000000000000000000" pitchFamily="2" charset="0"/>
              <a:ea typeface="Roboto" panose="02000000000000000000" pitchFamily="2" charset="0"/>
            </a:endParaRPr>
          </a:p>
          <a:p>
            <a:endParaRPr lang="en-AU" sz="1200" b="1" dirty="0">
              <a:solidFill>
                <a:srgbClr val="A93584"/>
              </a:solidFill>
              <a:latin typeface="Roboto" panose="02000000000000000000" pitchFamily="2" charset="0"/>
              <a:ea typeface="Roboto" panose="02000000000000000000" pitchFamily="2" charset="0"/>
            </a:endParaRPr>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latin typeface="Roboto Light"/>
                <a:ea typeface="Roboto Light"/>
                <a:cs typeface="Roboto Light"/>
              </a:rPr>
              <a:t>Australia Post</a:t>
            </a:r>
            <a:endParaRPr lang="en-GB" sz="1200" dirty="0">
              <a:solidFill>
                <a:srgbClr val="00AB80"/>
              </a:solidFill>
              <a:cs typeface="Roboto Light"/>
            </a:endParaRP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latin typeface="Roboto Light"/>
                <a:ea typeface="Roboto Light"/>
                <a:cs typeface="Roboto Light"/>
              </a:rPr>
              <a:t>Higher Education</a:t>
            </a:r>
            <a:endParaRPr lang="en-GB" sz="1200" dirty="0">
              <a:solidFill>
                <a:srgbClr val="00AB80"/>
              </a:solidFill>
              <a:cs typeface="Roboto Light"/>
            </a:endParaRPr>
          </a:p>
          <a:p>
            <a:pPr marL="0" indent="0">
              <a:lnSpc>
                <a:spcPct val="150000"/>
              </a:lnSpc>
              <a:buNone/>
            </a:pPr>
            <a:r>
              <a:rPr lang="en-GB" sz="1200" dirty="0">
                <a:solidFill>
                  <a:srgbClr val="00AB80"/>
                </a:solidFill>
              </a:rPr>
              <a:t>Banking &amp; Insurance</a:t>
            </a:r>
          </a:p>
        </p:txBody>
      </p:sp>
    </p:spTree>
    <p:extLst>
      <p:ext uri="{BB962C8B-B14F-4D97-AF65-F5344CB8AC3E}">
        <p14:creationId xmlns:p14="http://schemas.microsoft.com/office/powerpoint/2010/main" val="36183526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04BCDEA1-A5AF-4A22-BC86-8E7A0EAAACC2}"/>
</file>

<file path=customXml/itemProps3.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3393</TotalTime>
  <Words>538</Words>
  <Application>Microsoft Office PowerPoint</Application>
  <PresentationFormat>Custom</PresentationFormat>
  <Paragraphs>74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35</cp:revision>
  <dcterms:created xsi:type="dcterms:W3CDTF">2019-12-03T01:50:37Z</dcterms:created>
  <dcterms:modified xsi:type="dcterms:W3CDTF">2023-09-24T00:59:05Z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