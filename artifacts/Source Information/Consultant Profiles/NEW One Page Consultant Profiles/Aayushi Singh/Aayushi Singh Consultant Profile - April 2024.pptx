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6"/>
  </p:notes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FF"/>
    <a:srgbClr val="ED7D31"/>
    <a:srgbClr val="A93584"/>
    <a:srgbClr val="0F2B3F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C19593-4B54-A73C-B5A9-A1FACF4F6A31}" v="2" dt="2025-06-26T01:42:25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/>
    <p:restoredTop sz="95595"/>
  </p:normalViewPr>
  <p:slideViewPr>
    <p:cSldViewPr snapToGrid="0" snapToObjects="1">
      <p:cViewPr>
        <p:scale>
          <a:sx n="70" d="100"/>
          <a:sy n="70" d="100"/>
        </p:scale>
        <p:origin x="696" y="-144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-1148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48C8F9AA-BED9-4932-ADC2-2B356398787C}"/>
    <pc:docChg chg="undo custSel modSld">
      <pc:chgData name="Darcy Roach" userId="ba676ee9-e9b4-49e8-a515-8077106c948d" providerId="ADAL" clId="{48C8F9AA-BED9-4932-ADC2-2B356398787C}" dt="2025-04-02T23:07:00.738" v="893" actId="20577"/>
      <pc:docMkLst>
        <pc:docMk/>
      </pc:docMkLst>
      <pc:sldChg chg="modSp mod modNotesTx">
        <pc:chgData name="Darcy Roach" userId="ba676ee9-e9b4-49e8-a515-8077106c948d" providerId="ADAL" clId="{48C8F9AA-BED9-4932-ADC2-2B356398787C}" dt="2025-04-02T23:07:00.738" v="893" actId="20577"/>
        <pc:sldMkLst>
          <pc:docMk/>
          <pc:sldMk cId="2009923557" sldId="270"/>
        </pc:sldMkLst>
        <pc:spChg chg="mod">
          <ac:chgData name="Darcy Roach" userId="ba676ee9-e9b4-49e8-a515-8077106c948d" providerId="ADAL" clId="{48C8F9AA-BED9-4932-ADC2-2B356398787C}" dt="2025-04-02T22:45:15.109" v="188" actId="20577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48C8F9AA-BED9-4932-ADC2-2B356398787C}" dt="2025-04-02T23:05:55.637" v="884" actId="14100"/>
          <ac:spMkLst>
            <pc:docMk/>
            <pc:sldMk cId="2009923557" sldId="270"/>
            <ac:spMk id="8" creationId="{59FEB941-5146-6B10-4E4D-8A4ADE918AEF}"/>
          </ac:spMkLst>
        </pc:spChg>
        <pc:spChg chg="mod">
          <ac:chgData name="Darcy Roach" userId="ba676ee9-e9b4-49e8-a515-8077106c948d" providerId="ADAL" clId="{48C8F9AA-BED9-4932-ADC2-2B356398787C}" dt="2025-04-02T22:47:59.177" v="323" actId="20577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48C8F9AA-BED9-4932-ADC2-2B356398787C}" dt="2025-04-02T22:47:33.759" v="239" actId="20577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Darcy Roach" userId="ba676ee9-e9b4-49e8-a515-8077106c948d" providerId="ADAL" clId="{48C8F9AA-BED9-4932-ADC2-2B356398787C}" dt="2025-04-02T23:07:00.738" v="893" actId="20577"/>
          <ac:spMkLst>
            <pc:docMk/>
            <pc:sldMk cId="2009923557" sldId="270"/>
            <ac:spMk id="175" creationId="{B9775FC7-7124-8CCA-9B1C-7CCD7D3DF384}"/>
          </ac:spMkLst>
        </pc:spChg>
        <pc:grpChg chg="mod">
          <ac:chgData name="Darcy Roach" userId="ba676ee9-e9b4-49e8-a515-8077106c948d" providerId="ADAL" clId="{48C8F9AA-BED9-4932-ADC2-2B356398787C}" dt="2025-04-02T23:06:41.533" v="889" actId="1076"/>
          <ac:grpSpMkLst>
            <pc:docMk/>
            <pc:sldMk cId="2009923557" sldId="270"/>
            <ac:grpSpMk id="9" creationId="{E7DD910D-15D0-5CBC-B70B-D2480ECA3DCA}"/>
          </ac:grpSpMkLst>
        </pc:grpChg>
        <pc:grpChg chg="mod">
          <ac:chgData name="Darcy Roach" userId="ba676ee9-e9b4-49e8-a515-8077106c948d" providerId="ADAL" clId="{48C8F9AA-BED9-4932-ADC2-2B356398787C}" dt="2025-04-02T23:06:22.265" v="887" actId="1076"/>
          <ac:grpSpMkLst>
            <pc:docMk/>
            <pc:sldMk cId="2009923557" sldId="270"/>
            <ac:grpSpMk id="12" creationId="{C465E181-1D5D-D878-8A71-F5848AAF858F}"/>
          </ac:grpSpMkLst>
        </pc:grpChg>
        <pc:grpChg chg="mod">
          <ac:chgData name="Darcy Roach" userId="ba676ee9-e9b4-49e8-a515-8077106c948d" providerId="ADAL" clId="{48C8F9AA-BED9-4932-ADC2-2B356398787C}" dt="2025-04-02T23:06:31.278" v="888" actId="1076"/>
          <ac:grpSpMkLst>
            <pc:docMk/>
            <pc:sldMk cId="2009923557" sldId="270"/>
            <ac:grpSpMk id="34" creationId="{0BBEF8AB-50F3-A0AA-9946-9CFF5A8CFABB}"/>
          </ac:grpSpMkLst>
        </pc:grpChg>
        <pc:cxnChg chg="mod">
          <ac:chgData name="Darcy Roach" userId="ba676ee9-e9b4-49e8-a515-8077106c948d" providerId="ADAL" clId="{48C8F9AA-BED9-4932-ADC2-2B356398787C}" dt="2025-04-02T23:06:04.965" v="885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48C8F9AA-BED9-4932-ADC2-2B356398787C}" dt="2025-04-02T22:48:09.093" v="324" actId="14100"/>
          <ac:cxnSpMkLst>
            <pc:docMk/>
            <pc:sldMk cId="2009923557" sldId="270"/>
            <ac:cxnSpMk id="21" creationId="{B0913DE4-461D-CE43-AABC-C4B3D7D22F45}"/>
          </ac:cxnSpMkLst>
        </pc:cxnChg>
      </pc:sldChg>
    </pc:docChg>
  </pc:docChgLst>
  <pc:docChgLst>
    <pc:chgData name="Hugo Bates" userId="S::hugo.bates@intelia.com.au::ba74953f-2fdb-4aeb-90e3-56b78010c38c" providerId="AD" clId="Web-{75A6ADFE-F1A6-2F34-0CA2-14EC147E3704}"/>
    <pc:docChg chg="modSld">
      <pc:chgData name="Hugo Bates" userId="S::hugo.bates@intelia.com.au::ba74953f-2fdb-4aeb-90e3-56b78010c38c" providerId="AD" clId="Web-{75A6ADFE-F1A6-2F34-0CA2-14EC147E3704}" dt="2025-05-13T03:45:52.528" v="1"/>
      <pc:docMkLst>
        <pc:docMk/>
      </pc:docMkLst>
      <pc:sldChg chg="addSp delSp">
        <pc:chgData name="Hugo Bates" userId="S::hugo.bates@intelia.com.au::ba74953f-2fdb-4aeb-90e3-56b78010c38c" providerId="AD" clId="Web-{75A6ADFE-F1A6-2F34-0CA2-14EC147E3704}" dt="2025-05-13T03:45:52.528" v="1"/>
        <pc:sldMkLst>
          <pc:docMk/>
          <pc:sldMk cId="2009923557" sldId="270"/>
        </pc:sldMkLst>
        <pc:spChg chg="add del">
          <ac:chgData name="Hugo Bates" userId="S::hugo.bates@intelia.com.au::ba74953f-2fdb-4aeb-90e3-56b78010c38c" providerId="AD" clId="Web-{75A6ADFE-F1A6-2F34-0CA2-14EC147E3704}" dt="2025-05-13T03:45:52.528" v="1"/>
          <ac:spMkLst>
            <pc:docMk/>
            <pc:sldMk cId="2009923557" sldId="270"/>
            <ac:spMk id="22" creationId="{9D4E289E-1D52-CBDD-E381-40963429D7F1}"/>
          </ac:spMkLst>
        </pc:spChg>
      </pc:sldChg>
    </pc:docChg>
  </pc:docChgLst>
  <pc:docChgLst>
    <pc:chgData name="Darcy Roach" userId="ba676ee9-e9b4-49e8-a515-8077106c948d" providerId="ADAL" clId="{99B30CC8-D24A-4DE4-8D93-00C219F50289}"/>
    <pc:docChg chg="undo custSel modSld">
      <pc:chgData name="Darcy Roach" userId="ba676ee9-e9b4-49e8-a515-8077106c948d" providerId="ADAL" clId="{99B30CC8-D24A-4DE4-8D93-00C219F50289}" dt="2024-03-12T23:22:25.434" v="2107" actId="20577"/>
      <pc:docMkLst>
        <pc:docMk/>
      </pc:docMkLst>
      <pc:sldChg chg="modSp mod">
        <pc:chgData name="Darcy Roach" userId="ba676ee9-e9b4-49e8-a515-8077106c948d" providerId="ADAL" clId="{99B30CC8-D24A-4DE4-8D93-00C219F50289}" dt="2024-03-12T23:22:25.434" v="2107" actId="20577"/>
        <pc:sldMkLst>
          <pc:docMk/>
          <pc:sldMk cId="2009923557" sldId="270"/>
        </pc:sldMkLst>
      </pc:sldChg>
    </pc:docChg>
  </pc:docChgLst>
  <pc:docChgLst>
    <pc:chgData name="Darcy Roach" userId="ba676ee9-e9b4-49e8-a515-8077106c948d" providerId="ADAL" clId="{14A3C645-5C43-48C5-9B2B-ABF55EB50BBC}"/>
    <pc:docChg chg="undo custSel modSld">
      <pc:chgData name="Darcy Roach" userId="ba676ee9-e9b4-49e8-a515-8077106c948d" providerId="ADAL" clId="{14A3C645-5C43-48C5-9B2B-ABF55EB50BBC}" dt="2024-04-18T03:11:52.341" v="364" actId="20577"/>
      <pc:docMkLst>
        <pc:docMk/>
      </pc:docMkLst>
      <pc:sldChg chg="modSp mod">
        <pc:chgData name="Darcy Roach" userId="ba676ee9-e9b4-49e8-a515-8077106c948d" providerId="ADAL" clId="{14A3C645-5C43-48C5-9B2B-ABF55EB50BBC}" dt="2024-04-18T03:11:52.341" v="364" actId="20577"/>
        <pc:sldMkLst>
          <pc:docMk/>
          <pc:sldMk cId="2009923557" sldId="270"/>
        </pc:sldMkLst>
      </pc:sldChg>
    </pc:docChg>
  </pc:docChgLst>
  <pc:docChgLst>
    <pc:chgData name="Bill Carlin" userId="S::bill.carlin@intelia.com.au::9a3cf2e6-028c-407a-aac5-4fcc663220f1" providerId="AD" clId="Web-{15C19593-4B54-A73C-B5A9-A1FACF4F6A31}"/>
    <pc:docChg chg="modSld modMainMaster">
      <pc:chgData name="Bill Carlin" userId="S::bill.carlin@intelia.com.au::9a3cf2e6-028c-407a-aac5-4fcc663220f1" providerId="AD" clId="Web-{15C19593-4B54-A73C-B5A9-A1FACF4F6A31}" dt="2025-06-26T01:42:25.247" v="1"/>
      <pc:docMkLst>
        <pc:docMk/>
      </pc:docMkLst>
      <pc:sldChg chg="mod">
        <pc:chgData name="Bill Carlin" userId="S::bill.carlin@intelia.com.au::9a3cf2e6-028c-407a-aac5-4fcc663220f1" providerId="AD" clId="Web-{15C19593-4B54-A73C-B5A9-A1FACF4F6A31}" dt="2025-06-26T01:42:25.247" v="1"/>
        <pc:sldMkLst>
          <pc:docMk/>
          <pc:sldMk cId="2009923557" sldId="270"/>
        </pc:sldMkLst>
      </pc:sldChg>
      <pc:sldMasterChg chg="mod setBg modSldLayout">
        <pc:chgData name="Bill Carlin" userId="S::bill.carlin@intelia.com.au::9a3cf2e6-028c-407a-aac5-4fcc663220f1" providerId="AD" clId="Web-{15C19593-4B54-A73C-B5A9-A1FACF4F6A31}" dt="2025-06-26T01:42:25.247" v="1"/>
        <pc:sldMasterMkLst>
          <pc:docMk/>
          <pc:sldMasterMk cId="3744927628" sldId="2147483669"/>
        </pc:sldMasterMkLst>
        <pc:sldLayoutChg chg="mod">
          <pc:chgData name="Bill Carlin" userId="S::bill.carlin@intelia.com.au::9a3cf2e6-028c-407a-aac5-4fcc663220f1" providerId="AD" clId="Web-{15C19593-4B54-A73C-B5A9-A1FACF4F6A31}" dt="2025-06-26T01:42:25.247" v="1"/>
          <pc:sldLayoutMkLst>
            <pc:docMk/>
            <pc:sldMasterMk cId="3744927628" sldId="2147483669"/>
            <pc:sldLayoutMk cId="443761537" sldId="2147483670"/>
          </pc:sldLayoutMkLst>
        </pc:sldLayoutChg>
        <pc:sldLayoutChg chg="mod">
          <pc:chgData name="Bill Carlin" userId="S::bill.carlin@intelia.com.au::9a3cf2e6-028c-407a-aac5-4fcc663220f1" providerId="AD" clId="Web-{15C19593-4B54-A73C-B5A9-A1FACF4F6A31}" dt="2025-06-26T01:42:25.247" v="1"/>
          <pc:sldLayoutMkLst>
            <pc:docMk/>
            <pc:sldMasterMk cId="3744927628" sldId="2147483669"/>
            <pc:sldLayoutMk cId="1408221057" sldId="2147483671"/>
          </pc:sldLayoutMkLst>
        </pc:sldLayoutChg>
        <pc:sldLayoutChg chg="mod">
          <pc:chgData name="Bill Carlin" userId="S::bill.carlin@intelia.com.au::9a3cf2e6-028c-407a-aac5-4fcc663220f1" providerId="AD" clId="Web-{15C19593-4B54-A73C-B5A9-A1FACF4F6A31}" dt="2025-06-26T01:42:25.247" v="1"/>
          <pc:sldLayoutMkLst>
            <pc:docMk/>
            <pc:sldMasterMk cId="3744927628" sldId="2147483669"/>
            <pc:sldLayoutMk cId="3878631113" sldId="2147483672"/>
          </pc:sldLayoutMkLst>
        </pc:sldLayoutChg>
        <pc:sldLayoutChg chg="mod">
          <pc:chgData name="Bill Carlin" userId="S::bill.carlin@intelia.com.au::9a3cf2e6-028c-407a-aac5-4fcc663220f1" providerId="AD" clId="Web-{15C19593-4B54-A73C-B5A9-A1FACF4F6A31}" dt="2025-06-26T01:42:25.247" v="1"/>
          <pc:sldLayoutMkLst>
            <pc:docMk/>
            <pc:sldMasterMk cId="3744927628" sldId="2147483669"/>
            <pc:sldLayoutMk cId="2585590735" sldId="2147483673"/>
          </pc:sldLayoutMkLst>
        </pc:sldLayoutChg>
        <pc:sldLayoutChg chg="mod">
          <pc:chgData name="Bill Carlin" userId="S::bill.carlin@intelia.com.au::9a3cf2e6-028c-407a-aac5-4fcc663220f1" providerId="AD" clId="Web-{15C19593-4B54-A73C-B5A9-A1FACF4F6A31}" dt="2025-06-26T01:42:25.247" v="1"/>
          <pc:sldLayoutMkLst>
            <pc:docMk/>
            <pc:sldMasterMk cId="3744927628" sldId="2147483669"/>
            <pc:sldLayoutMk cId="612769310" sldId="2147483674"/>
          </pc:sldLayoutMkLst>
        </pc:sldLayoutChg>
        <pc:sldLayoutChg chg="mod">
          <pc:chgData name="Bill Carlin" userId="S::bill.carlin@intelia.com.au::9a3cf2e6-028c-407a-aac5-4fcc663220f1" providerId="AD" clId="Web-{15C19593-4B54-A73C-B5A9-A1FACF4F6A31}" dt="2025-06-26T01:42:25.247" v="1"/>
          <pc:sldLayoutMkLst>
            <pc:docMk/>
            <pc:sldMasterMk cId="3744927628" sldId="2147483669"/>
            <pc:sldLayoutMk cId="366588188" sldId="2147483675"/>
          </pc:sldLayoutMkLst>
        </pc:sldLayoutChg>
        <pc:sldLayoutChg chg="mod">
          <pc:chgData name="Bill Carlin" userId="S::bill.carlin@intelia.com.au::9a3cf2e6-028c-407a-aac5-4fcc663220f1" providerId="AD" clId="Web-{15C19593-4B54-A73C-B5A9-A1FACF4F6A31}" dt="2025-06-26T01:42:25.247" v="1"/>
          <pc:sldLayoutMkLst>
            <pc:docMk/>
            <pc:sldMasterMk cId="3744927628" sldId="2147483669"/>
            <pc:sldLayoutMk cId="1001256128" sldId="2147483676"/>
          </pc:sldLayoutMkLst>
        </pc:sldLayoutChg>
        <pc:sldLayoutChg chg="mod">
          <pc:chgData name="Bill Carlin" userId="S::bill.carlin@intelia.com.au::9a3cf2e6-028c-407a-aac5-4fcc663220f1" providerId="AD" clId="Web-{15C19593-4B54-A73C-B5A9-A1FACF4F6A31}" dt="2025-06-26T01:42:25.247" v="1"/>
          <pc:sldLayoutMkLst>
            <pc:docMk/>
            <pc:sldMasterMk cId="3744927628" sldId="2147483669"/>
            <pc:sldLayoutMk cId="2792486181" sldId="2147483677"/>
          </pc:sldLayoutMkLst>
        </pc:sldLayoutChg>
        <pc:sldLayoutChg chg="mod">
          <pc:chgData name="Bill Carlin" userId="S::bill.carlin@intelia.com.au::9a3cf2e6-028c-407a-aac5-4fcc663220f1" providerId="AD" clId="Web-{15C19593-4B54-A73C-B5A9-A1FACF4F6A31}" dt="2025-06-26T01:42:25.247" v="1"/>
          <pc:sldLayoutMkLst>
            <pc:docMk/>
            <pc:sldMasterMk cId="3744927628" sldId="2147483669"/>
            <pc:sldLayoutMk cId="942769536" sldId="2147483678"/>
          </pc:sldLayoutMkLst>
        </pc:sldLayoutChg>
        <pc:sldLayoutChg chg="mod">
          <pc:chgData name="Bill Carlin" userId="S::bill.carlin@intelia.com.au::9a3cf2e6-028c-407a-aac5-4fcc663220f1" providerId="AD" clId="Web-{15C19593-4B54-A73C-B5A9-A1FACF4F6A31}" dt="2025-06-26T01:42:25.247" v="1"/>
          <pc:sldLayoutMkLst>
            <pc:docMk/>
            <pc:sldMasterMk cId="3744927628" sldId="2147483669"/>
            <pc:sldLayoutMk cId="3878832241" sldId="2147483679"/>
          </pc:sldLayoutMkLst>
        </pc:sldLayoutChg>
        <pc:sldLayoutChg chg="mod">
          <pc:chgData name="Bill Carlin" userId="S::bill.carlin@intelia.com.au::9a3cf2e6-028c-407a-aac5-4fcc663220f1" providerId="AD" clId="Web-{15C19593-4B54-A73C-B5A9-A1FACF4F6A31}" dt="2025-06-26T01:42:25.247" v="1"/>
          <pc:sldLayoutMkLst>
            <pc:docMk/>
            <pc:sldMasterMk cId="3744927628" sldId="2147483669"/>
            <pc:sldLayoutMk cId="3678883593" sldId="2147483680"/>
          </pc:sldLayoutMkLst>
        </pc:sldLayoutChg>
        <pc:sldLayoutChg chg="mod">
          <pc:chgData name="Bill Carlin" userId="S::bill.carlin@intelia.com.au::9a3cf2e6-028c-407a-aac5-4fcc663220f1" providerId="AD" clId="Web-{15C19593-4B54-A73C-B5A9-A1FACF4F6A31}" dt="2025-06-26T01:42:25.247" v="1"/>
          <pc:sldLayoutMkLst>
            <pc:docMk/>
            <pc:sldMasterMk cId="3744927628" sldId="2147483669"/>
            <pc:sldLayoutMk cId="1217459923" sldId="214748368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419CD-55C8-4260-841C-B74DA065D612}" type="datetimeFigureOut">
              <a:rPr lang="en-AU" smtClean="0"/>
              <a:t>25/06/2025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4988" y="857250"/>
            <a:ext cx="29940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30D9B-005D-48EE-BB00-6CACA710E0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398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Global Wholesale Retail Provider – BI Team Lead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/>
              <a:t>Requirements gathering, defined design steps, provided effort estimation for development and testing, to build an end-to-end Business Intelligence (BI) Analysis and Reporting workflow on AWS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/>
              <a:t>Engaged, collaborated and supported a wide range of stakeholders with the agenda to develop and build the analytical roadmap for AWS projects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/>
              <a:t>Identified clients business needs and translated them into business requirements in the form of Technical Design Documents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/>
              <a:t>Developed Corporate and Product Dashboards in </a:t>
            </a:r>
            <a:r>
              <a:rPr lang="en-AU" sz="1200" dirty="0" err="1"/>
              <a:t>Qliksense</a:t>
            </a:r>
            <a:r>
              <a:rPr lang="en-AU" sz="1200" dirty="0"/>
              <a:t> using AWS Data pipeline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/>
              <a:t>Actively collaborated the with client partners to translate complex multi-layered business calculations and developed subsequent dashboards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/>
              <a:t>Implemented best practices in overall BI Architecture and dashboards for seamless performance and user experience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/>
              <a:t>Engaged with the Quality Assurance team to gather 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/>
              <a:t>Implemented necessary feedback points in the final product 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/>
              <a:t>Actively involved with business analysts, platform and data engineers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/>
              <a:t>to assess improvement areas, identify gaps and evolution areas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30D9B-005D-48EE-BB00-6CACA710E068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081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7603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 err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Aayushi</a:t>
            </a:r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Singh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25585" y="1578840"/>
            <a:ext cx="2898615" cy="36388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Aayushi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is a Data Engineer with over 8 years of experience in BI Development, Data Analytics and Visualisation. She excels in building and implementing BI solutions to drive business analysis to help in powerful data-driven decision-making across both on-premise and Cloud platforms (AWS).</a:t>
            </a:r>
          </a:p>
          <a:p>
            <a:pPr>
              <a:lnSpc>
                <a:spcPts val="1500"/>
              </a:lnSpc>
            </a:pPr>
            <a:endParaRPr lang="en-AU" sz="7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 hands-on experience using Amazon Cloud technologies Aayushi has an innate understanding of Data Engineering through her experiences in both Australian and overseas Retail, Financial Services, Government, Healthcare and Telecommunications domains. </a:t>
            </a:r>
            <a:r>
              <a:rPr lang="en-AU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Aayushi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collaborates effectively with various stakeholders empowering her to implement desired solutions effectively. A fantastic team player, Aaushi also demonstrates an exemplary sense of ownership, responsibility, and professionalism.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40984" y="1000480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74784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AWS 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Databricks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Power BI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Qliksense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IBM Cognos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AWS </a:t>
            </a: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Quicksight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Redshift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Jenkins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Airflow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486778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601996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18851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200000"/>
              </a:lnSpc>
              <a:buNone/>
            </a:pPr>
            <a:r>
              <a:rPr lang="en-AU" sz="1200">
                <a:solidFill>
                  <a:srgbClr val="00AB80"/>
                </a:solidFill>
              </a:rPr>
              <a:t>Government</a:t>
            </a:r>
            <a:endParaRPr lang="en-GB" sz="1200">
              <a:solidFill>
                <a:srgbClr val="00AB8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AU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AU" sz="1200" dirty="0">
                <a:solidFill>
                  <a:srgbClr val="00AB80"/>
                </a:solidFill>
              </a:rPr>
              <a:t>Healthcare Telecommunications </a:t>
            </a:r>
            <a:endParaRPr lang="en-GB" sz="1200" dirty="0">
              <a:solidFill>
                <a:srgbClr val="00AB8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702222"/>
            <a:ext cx="1963972" cy="3020058"/>
            <a:chOff x="8106458" y="2681447"/>
            <a:chExt cx="1963972" cy="302005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63972" cy="30200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Databricks | Lakehouse Fundamentals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Post Graduate Diploma –</a:t>
              </a:r>
              <a:r>
                <a:rPr lang="en-AU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Management: Business Analytics</a:t>
              </a: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Institute of Management Technology</a:t>
              </a:r>
            </a:p>
            <a:p>
              <a:pPr>
                <a:lnSpc>
                  <a:spcPct val="150000"/>
                </a:lnSpc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-  Technology Electronics &amp; Communication Engineering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Amity University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65E181-1D5D-D878-8A71-F5848AAF858F}"/>
              </a:ext>
            </a:extLst>
          </p:cNvPr>
          <p:cNvGrpSpPr/>
          <p:nvPr/>
        </p:nvGrpSpPr>
        <p:grpSpPr>
          <a:xfrm>
            <a:off x="3361806" y="5725679"/>
            <a:ext cx="4673655" cy="1735277"/>
            <a:chOff x="3335753" y="5068700"/>
            <a:chExt cx="4673655" cy="1735277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52FDF9F-B084-9074-7DB9-539AD5456487}"/>
                </a:ext>
              </a:extLst>
            </p:cNvPr>
            <p:cNvGrpSpPr/>
            <p:nvPr/>
          </p:nvGrpSpPr>
          <p:grpSpPr>
            <a:xfrm>
              <a:off x="3428144" y="5326649"/>
              <a:ext cx="4581264" cy="1477328"/>
              <a:chOff x="5030740" y="2225627"/>
              <a:chExt cx="4893498" cy="1477328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312B81-BCF1-2796-C112-3DBE0E02F483}"/>
                  </a:ext>
                </a:extLst>
              </p:cNvPr>
              <p:cNvSpPr txBox="1"/>
              <p:nvPr/>
            </p:nvSpPr>
            <p:spPr>
              <a:xfrm>
                <a:off x="5059474" y="2225627"/>
                <a:ext cx="4864764" cy="1477328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Key contributor in developing data solutions and building data lake components as per project requirements using AWS services, including; AWS S3, RDS, EMR, Glue, Redshift along with Jenkins and Airflow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Involved in SAS Reports rewiring as part of a database migration project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Collaborated, delivered support and consulted with client/stakeholders, technical architects, leads and developers.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Worked with Implementation and Support Teams to deliver and deploy project deliverables 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endParaRPr lang="en-AU" sz="1000" dirty="0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87F05F2-DA4C-4F55-A5D0-1887110DF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0740" y="2294036"/>
                <a:ext cx="0" cy="1255030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5068700"/>
              <a:ext cx="46512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Major Australian Healthcare Provider – Data Engineer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31066" y="5747849"/>
            <a:ext cx="1502582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Modeling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Visualisations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Agile Methodologies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Dashboards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Requirements Analysis &amp; Gathering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BEF8AB-50F3-A0AA-9946-9CFF5A8CFABB}"/>
              </a:ext>
            </a:extLst>
          </p:cNvPr>
          <p:cNvGrpSpPr/>
          <p:nvPr/>
        </p:nvGrpSpPr>
        <p:grpSpPr>
          <a:xfrm>
            <a:off x="3359463" y="1211314"/>
            <a:ext cx="4653569" cy="2322796"/>
            <a:chOff x="3321267" y="1094557"/>
            <a:chExt cx="4653569" cy="23227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7C34E10-2CF8-9BCA-1CC6-D78A3FF9CA80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3" y="1405555"/>
              <a:ext cx="0" cy="1921279"/>
            </a:xfrm>
            <a:prstGeom prst="line">
              <a:avLst/>
            </a:prstGeom>
            <a:ln w="19050">
              <a:solidFill>
                <a:srgbClr val="005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1E125D-B356-8A2A-B86B-AB6567CEABE1}"/>
                </a:ext>
              </a:extLst>
            </p:cNvPr>
            <p:cNvSpPr txBox="1"/>
            <p:nvPr/>
          </p:nvSpPr>
          <p:spPr>
            <a:xfrm>
              <a:off x="3321267" y="1094557"/>
              <a:ext cx="45810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Australian Government </a:t>
              </a:r>
              <a:r>
                <a:rPr lang="en-US" sz="1200" b="1" dirty="0" err="1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Organisation</a:t>
              </a:r>
              <a:r>
                <a:rPr lang="en-US" sz="1200" b="1" dirty="0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– Data Engineer</a:t>
              </a:r>
            </a:p>
            <a:p>
              <a:r>
                <a:rPr lang="en-US" sz="1200" b="1" dirty="0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</a:p>
            <a:p>
              <a:endPara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FEB941-5146-6B10-4E4D-8A4ADE918AEF}"/>
                </a:ext>
              </a:extLst>
            </p:cNvPr>
            <p:cNvSpPr txBox="1"/>
            <p:nvPr/>
          </p:nvSpPr>
          <p:spPr>
            <a:xfrm>
              <a:off x="3463961" y="1324472"/>
              <a:ext cx="4510875" cy="2092881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Designed and deployed Power BI dashboards to streamline key reporting and enhance data-driven decision-making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Analysed the existing SSRS reports and created mappings with a new application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Conducted and drove business mapping sessions/workshops with stakeholders and the project application team to analyse mapping and fill the requirement gaps; this is critical for the development of the Power BI Data Model and subsequent dashboards.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Implemented enhancements and feedback from stakeholders on the dashboards and created Power BI Technical documentation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Worked actively with the customer team on data mapping, data transformation logics and data modelling logics to ensure all pre-requisites for dashboard development were accessible.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7DD910D-15D0-5CBC-B70B-D2480ECA3DCA}"/>
              </a:ext>
            </a:extLst>
          </p:cNvPr>
          <p:cNvGrpSpPr/>
          <p:nvPr/>
        </p:nvGrpSpPr>
        <p:grpSpPr>
          <a:xfrm>
            <a:off x="3329099" y="3816700"/>
            <a:ext cx="4683934" cy="1710022"/>
            <a:chOff x="3303046" y="6194352"/>
            <a:chExt cx="4709988" cy="181565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303046" y="6194352"/>
              <a:ext cx="4427756" cy="686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Australian Government Organisation – Data Engineer</a:t>
              </a:r>
            </a:p>
            <a:p>
              <a:endParaRPr lang="en-US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endPara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B3FDFC-4A78-346F-E1D4-E183BEB90A60}"/>
                </a:ext>
              </a:extLst>
            </p:cNvPr>
            <p:cNvGrpSpPr/>
            <p:nvPr/>
          </p:nvGrpSpPr>
          <p:grpSpPr>
            <a:xfrm>
              <a:off x="3428144" y="6441420"/>
              <a:ext cx="4584890" cy="1568588"/>
              <a:chOff x="5023753" y="4494578"/>
              <a:chExt cx="4757437" cy="1568588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13C49A-2DF2-8111-FED4-FC07A8EAD258}"/>
                  </a:ext>
                </a:extLst>
              </p:cNvPr>
              <p:cNvSpPr txBox="1"/>
              <p:nvPr/>
            </p:nvSpPr>
            <p:spPr>
              <a:xfrm>
                <a:off x="5059474" y="4494578"/>
                <a:ext cx="4721716" cy="1568588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Ensured user access to various links and sites to commence development</a:t>
                </a:r>
              </a:p>
              <a:p>
                <a:r>
                  <a:rPr lang="en-AU" sz="1000" dirty="0"/>
                  <a:t>Became familiar with project jargons, terms and technologies via reading project documentation consisting of Meeting Notes and Technical documentation</a:t>
                </a:r>
              </a:p>
              <a:p>
                <a:r>
                  <a:rPr lang="en-AU" sz="1000" dirty="0"/>
                  <a:t>Reverse engineered existing paginated reports and analysed the backend logic of the reports</a:t>
                </a:r>
              </a:p>
              <a:p>
                <a:r>
                  <a:rPr lang="en-AU" sz="1000" dirty="0"/>
                  <a:t>Built the data model in </a:t>
                </a:r>
                <a:r>
                  <a:rPr lang="en-AU" sz="1000" dirty="0" err="1"/>
                  <a:t>PowerBI</a:t>
                </a:r>
                <a:r>
                  <a:rPr lang="en-AU" sz="1000" dirty="0"/>
                  <a:t> using derived logic, and kept it aligned with the backend data integration layer to create report/dashboards in </a:t>
                </a:r>
                <a:r>
                  <a:rPr lang="en-AU" sz="1000" dirty="0" err="1"/>
                  <a:t>PowerBI</a:t>
                </a:r>
                <a:endParaRPr lang="en-AU" sz="1000" dirty="0"/>
              </a:p>
              <a:p>
                <a:endParaRPr lang="en-AU" sz="1000" dirty="0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0913DE4-461D-CE43-AABC-C4B3D7D22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3753" y="4579160"/>
                <a:ext cx="0" cy="1232234"/>
              </a:xfrm>
              <a:prstGeom prst="line">
                <a:avLst/>
              </a:prstGeom>
              <a:ln w="1905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Joel Collins</DisplayName>
        <AccountId>13</AccountId>
        <AccountType/>
      </UserInfo>
      <UserInfo>
        <DisplayName>Darcy Roach</DisplayName>
        <AccountId>14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ED3751-8046-450E-BBF0-0C652FE3CD2B}">
  <ds:schemaRefs>
    <ds:schemaRef ds:uri="http://schemas.microsoft.com/office/2006/documentManagement/types"/>
    <ds:schemaRef ds:uri="e52cd9e7-35e5-4bd3-9cab-ca6a63c31e52"/>
    <ds:schemaRef ds:uri="http://www.w3.org/XML/1998/namespace"/>
    <ds:schemaRef ds:uri="http://schemas.microsoft.com/office/infopath/2007/PartnerControls"/>
    <ds:schemaRef ds:uri="daf93972-1964-4522-aa34-640805a01c3a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E5C7165-DE77-46BA-BF37-FA75C4C142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604DA7-C5E1-49DD-8C41-CCB4499946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21624</TotalTime>
  <Words>635</Words>
  <Application>Microsoft Office PowerPoint</Application>
  <PresentationFormat>Custom</PresentationFormat>
  <Paragraphs>79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102</cp:revision>
  <dcterms:created xsi:type="dcterms:W3CDTF">2019-12-03T01:50:37Z</dcterms:created>
  <dcterms:modified xsi:type="dcterms:W3CDTF">2025-06-26T01:42:30Z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