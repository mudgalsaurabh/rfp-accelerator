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FF"/>
    <a:srgbClr val="ED7D31"/>
    <a:srgbClr val="A93584"/>
    <a:srgbClr val="0F2B3F"/>
    <a:srgbClr val="00A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F2E455-78A7-4FA9-A101-C0F8E20EE47A}" v="1" dt="2024-08-04T23:32:01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/>
    <p:restoredTop sz="95595"/>
  </p:normalViewPr>
  <p:slideViewPr>
    <p:cSldViewPr snapToGrid="0" snapToObjects="1">
      <p:cViewPr varScale="1">
        <p:scale>
          <a:sx n="56" d="100"/>
          <a:sy n="56" d="100"/>
        </p:scale>
        <p:origin x="1696" y="28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E0628B91-5CF5-4186-9192-27FD75E7A1AE}"/>
    <pc:docChg chg="undo redo custSel modSld">
      <pc:chgData name="Darcy Roach" userId="ba676ee9-e9b4-49e8-a515-8077106c948d" providerId="ADAL" clId="{E0628B91-5CF5-4186-9192-27FD75E7A1AE}" dt="2024-02-29T02:59:45.368" v="2255" actId="1035"/>
      <pc:docMkLst>
        <pc:docMk/>
      </pc:docMkLst>
      <pc:sldChg chg="delSp modSp mod">
        <pc:chgData name="Darcy Roach" userId="ba676ee9-e9b4-49e8-a515-8077106c948d" providerId="ADAL" clId="{E0628B91-5CF5-4186-9192-27FD75E7A1AE}" dt="2024-02-29T02:59:45.368" v="2255" actId="1035"/>
        <pc:sldMkLst>
          <pc:docMk/>
          <pc:sldMk cId="2009923557" sldId="270"/>
        </pc:sldMkLst>
        <pc:spChg chg="mod">
          <ac:chgData name="Darcy Roach" userId="ba676ee9-e9b4-49e8-a515-8077106c948d" providerId="ADAL" clId="{E0628B91-5CF5-4186-9192-27FD75E7A1AE}" dt="2024-02-29T02:58:41.998" v="2242" actId="20577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Darcy Roach" userId="ba676ee9-e9b4-49e8-a515-8077106c948d" providerId="ADAL" clId="{E0628B91-5CF5-4186-9192-27FD75E7A1AE}" dt="2024-02-29T00:26:33.964" v="823" actId="20577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Darcy Roach" userId="ba676ee9-e9b4-49e8-a515-8077106c948d" providerId="ADAL" clId="{E0628B91-5CF5-4186-9192-27FD75E7A1AE}" dt="2024-02-29T01:19:19.365" v="1777" actId="20577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E0628B91-5CF5-4186-9192-27FD75E7A1AE}" dt="2024-02-29T01:17:06.209" v="1720"/>
          <ac:spMkLst>
            <pc:docMk/>
            <pc:sldMk cId="2009923557" sldId="270"/>
            <ac:spMk id="8" creationId="{59FEB941-5146-6B10-4E4D-8A4ADE918AEF}"/>
          </ac:spMkLst>
        </pc:spChg>
        <pc:spChg chg="mod">
          <ac:chgData name="Darcy Roach" userId="ba676ee9-e9b4-49e8-a515-8077106c948d" providerId="ADAL" clId="{E0628B91-5CF5-4186-9192-27FD75E7A1AE}" dt="2024-02-29T02:59:25.413" v="2252" actId="20577"/>
          <ac:spMkLst>
            <pc:docMk/>
            <pc:sldMk cId="2009923557" sldId="270"/>
            <ac:spMk id="10" creationId="{06312B81-BCF1-2796-C112-3DBE0E02F483}"/>
          </ac:spMkLst>
        </pc:spChg>
        <pc:spChg chg="mod">
          <ac:chgData name="Darcy Roach" userId="ba676ee9-e9b4-49e8-a515-8077106c948d" providerId="ADAL" clId="{E0628B91-5CF5-4186-9192-27FD75E7A1AE}" dt="2024-02-28T23:13:36.170" v="26" actId="20577"/>
          <ac:spMkLst>
            <pc:docMk/>
            <pc:sldMk cId="2009923557" sldId="270"/>
            <ac:spMk id="13" creationId="{FD2720C9-A79F-BD7F-E179-674AD67D7892}"/>
          </ac:spMkLst>
        </pc:spChg>
        <pc:spChg chg="mod">
          <ac:chgData name="Darcy Roach" userId="ba676ee9-e9b4-49e8-a515-8077106c948d" providerId="ADAL" clId="{E0628B91-5CF5-4186-9192-27FD75E7A1AE}" dt="2024-02-29T00:26:55.997" v="837" actId="2057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arcy Roach" userId="ba676ee9-e9b4-49e8-a515-8077106c948d" providerId="ADAL" clId="{E0628B91-5CF5-4186-9192-27FD75E7A1AE}" dt="2024-02-29T01:36:17.049" v="2070" actId="20577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Darcy Roach" userId="ba676ee9-e9b4-49e8-a515-8077106c948d" providerId="ADAL" clId="{E0628B91-5CF5-4186-9192-27FD75E7A1AE}" dt="2024-02-28T23:26:02.540" v="35" actId="1036"/>
          <ac:spMkLst>
            <pc:docMk/>
            <pc:sldMk cId="2009923557" sldId="270"/>
            <ac:spMk id="22" creationId="{9D4E289E-1D52-CBDD-E381-40963429D7F1}"/>
          </ac:spMkLst>
        </pc:spChg>
        <pc:spChg chg="del mod">
          <ac:chgData name="Darcy Roach" userId="ba676ee9-e9b4-49e8-a515-8077106c948d" providerId="ADAL" clId="{E0628B91-5CF5-4186-9192-27FD75E7A1AE}" dt="2024-02-29T00:26:45.265" v="824" actId="478"/>
          <ac:spMkLst>
            <pc:docMk/>
            <pc:sldMk cId="2009923557" sldId="270"/>
            <ac:spMk id="24" creationId="{DA7DC68F-A139-2CA6-E246-41CFE6165B5B}"/>
          </ac:spMkLst>
        </pc:spChg>
        <pc:spChg chg="mod">
          <ac:chgData name="Darcy Roach" userId="ba676ee9-e9b4-49e8-a515-8077106c948d" providerId="ADAL" clId="{E0628B91-5CF5-4186-9192-27FD75E7A1AE}" dt="2024-02-29T00:13:48.708" v="676" actId="20577"/>
          <ac:spMkLst>
            <pc:docMk/>
            <pc:sldMk cId="2009923557" sldId="270"/>
            <ac:spMk id="26" creationId="{1A3D666D-00C8-D106-73C3-9FF300F8618C}"/>
          </ac:spMkLst>
        </pc:spChg>
        <pc:spChg chg="mod">
          <ac:chgData name="Darcy Roach" userId="ba676ee9-e9b4-49e8-a515-8077106c948d" providerId="ADAL" clId="{E0628B91-5CF5-4186-9192-27FD75E7A1AE}" dt="2024-02-29T01:21:53.894" v="1853" actId="20577"/>
          <ac:spMkLst>
            <pc:docMk/>
            <pc:sldMk cId="2009923557" sldId="270"/>
            <ac:spMk id="28" creationId="{6059F888-3BDF-A1C0-65E5-CB6FDD43D97C}"/>
          </ac:spMkLst>
        </pc:spChg>
        <pc:spChg chg="mod">
          <ac:chgData name="Darcy Roach" userId="ba676ee9-e9b4-49e8-a515-8077106c948d" providerId="ADAL" clId="{E0628B91-5CF5-4186-9192-27FD75E7A1AE}" dt="2024-02-29T00:41:32.649" v="1361" actId="20577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E0628B91-5CF5-4186-9192-27FD75E7A1AE}" dt="2024-02-29T00:45:11.582" v="1417" actId="1076"/>
          <ac:spMkLst>
            <pc:docMk/>
            <pc:sldMk cId="2009923557" sldId="270"/>
            <ac:spMk id="39" creationId="{3EA81938-6A76-B850-B0E8-A5F905AEBA98}"/>
          </ac:spMkLst>
        </pc:spChg>
        <pc:spChg chg="mod">
          <ac:chgData name="Darcy Roach" userId="ba676ee9-e9b4-49e8-a515-8077106c948d" providerId="ADAL" clId="{E0628B91-5CF5-4186-9192-27FD75E7A1AE}" dt="2024-02-29T00:44:55.400" v="1416" actId="20577"/>
          <ac:spMkLst>
            <pc:docMk/>
            <pc:sldMk cId="2009923557" sldId="270"/>
            <ac:spMk id="175" creationId="{B9775FC7-7124-8CCA-9B1C-7CCD7D3DF384}"/>
          </ac:spMkLst>
        </pc:spChg>
        <pc:grpChg chg="mod">
          <ac:chgData name="Darcy Roach" userId="ba676ee9-e9b4-49e8-a515-8077106c948d" providerId="ADAL" clId="{E0628B91-5CF5-4186-9192-27FD75E7A1AE}" dt="2024-02-29T00:45:11.582" v="1417" actId="1076"/>
          <ac:grpSpMkLst>
            <pc:docMk/>
            <pc:sldMk cId="2009923557" sldId="270"/>
            <ac:grpSpMk id="5" creationId="{980A06B1-0A2F-7DF6-91DB-0F6DFA896A23}"/>
          </ac:grpSpMkLst>
        </pc:grpChg>
        <pc:grpChg chg="mod">
          <ac:chgData name="Darcy Roach" userId="ba676ee9-e9b4-49e8-a515-8077106c948d" providerId="ADAL" clId="{E0628B91-5CF5-4186-9192-27FD75E7A1AE}" dt="2024-02-29T02:59:41.668" v="2253" actId="1035"/>
          <ac:grpSpMkLst>
            <pc:docMk/>
            <pc:sldMk cId="2009923557" sldId="270"/>
            <ac:grpSpMk id="9" creationId="{E7DD910D-15D0-5CBC-B70B-D2480ECA3DCA}"/>
          </ac:grpSpMkLst>
        </pc:grpChg>
        <pc:grpChg chg="mod">
          <ac:chgData name="Darcy Roach" userId="ba676ee9-e9b4-49e8-a515-8077106c948d" providerId="ADAL" clId="{E0628B91-5CF5-4186-9192-27FD75E7A1AE}" dt="2024-02-29T02:59:45.368" v="2255" actId="1035"/>
          <ac:grpSpMkLst>
            <pc:docMk/>
            <pc:sldMk cId="2009923557" sldId="270"/>
            <ac:grpSpMk id="12" creationId="{C465E181-1D5D-D878-8A71-F5848AAF858F}"/>
          </ac:grpSpMkLst>
        </pc:grpChg>
        <pc:cxnChg chg="mod">
          <ac:chgData name="Darcy Roach" userId="ba676ee9-e9b4-49e8-a515-8077106c948d" providerId="ADAL" clId="{E0628B91-5CF5-4186-9192-27FD75E7A1AE}" dt="2024-02-29T01:19:38.525" v="1779" actId="14100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E0628B91-5CF5-4186-9192-27FD75E7A1AE}" dt="2024-02-29T02:58:04.576" v="2196" actId="14100"/>
          <ac:cxnSpMkLst>
            <pc:docMk/>
            <pc:sldMk cId="2009923557" sldId="270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E0628B91-5CF5-4186-9192-27FD75E7A1AE}" dt="2024-02-29T00:45:21.916" v="1418" actId="14100"/>
          <ac:cxnSpMkLst>
            <pc:docMk/>
            <pc:sldMk cId="2009923557" sldId="270"/>
            <ac:cxnSpMk id="170" creationId="{0D51728F-48BB-14BB-256E-5F0C0284BCDF}"/>
          </ac:cxnSpMkLst>
        </pc:cxnChg>
      </pc:sldChg>
    </pc:docChg>
  </pc:docChgLst>
  <pc:docChgLst>
    <pc:chgData name="Darcy Roach" userId="S::darcy.roach@intelia.com.au::ba676ee9-e9b4-49e8-a515-8077106c948d" providerId="AD" clId="Web-{2DF2E455-78A7-4FA9-A101-C0F8E20EE47A}"/>
    <pc:docChg chg="modSld">
      <pc:chgData name="Darcy Roach" userId="S::darcy.roach@intelia.com.au::ba676ee9-e9b4-49e8-a515-8077106c948d" providerId="AD" clId="Web-{2DF2E455-78A7-4FA9-A101-C0F8E20EE47A}" dt="2024-08-04T23:32:01.234" v="0" actId="1076"/>
      <pc:docMkLst>
        <pc:docMk/>
      </pc:docMkLst>
      <pc:sldChg chg="modSp">
        <pc:chgData name="Darcy Roach" userId="S::darcy.roach@intelia.com.au::ba676ee9-e9b4-49e8-a515-8077106c948d" providerId="AD" clId="Web-{2DF2E455-78A7-4FA9-A101-C0F8E20EE47A}" dt="2024-08-04T23:32:01.234" v="0" actId="1076"/>
        <pc:sldMkLst>
          <pc:docMk/>
          <pc:sldMk cId="2009923557" sldId="270"/>
        </pc:sldMkLst>
        <pc:grpChg chg="mod">
          <ac:chgData name="Darcy Roach" userId="S::darcy.roach@intelia.com.au::ba676ee9-e9b4-49e8-a515-8077106c948d" providerId="AD" clId="Web-{2DF2E455-78A7-4FA9-A101-C0F8E20EE47A}" dt="2024-08-04T23:32:01.234" v="0" actId="1076"/>
          <ac:grpSpMkLst>
            <pc:docMk/>
            <pc:sldMk cId="2009923557" sldId="270"/>
            <ac:grpSpMk id="9" creationId="{E7DD910D-15D0-5CBC-B70B-D2480ECA3DCA}"/>
          </ac:grpSpMkLst>
        </pc:grpChg>
      </pc:sldChg>
    </pc:docChg>
  </pc:docChgLst>
  <pc:docChgLst>
    <pc:chgData name="Darcy Roach" userId="ba676ee9-e9b4-49e8-a515-8077106c948d" providerId="ADAL" clId="{FA38C7BF-1985-4373-80BE-F46637819CD7}"/>
    <pc:docChg chg="custSel modSld">
      <pc:chgData name="Darcy Roach" userId="ba676ee9-e9b4-49e8-a515-8077106c948d" providerId="ADAL" clId="{FA38C7BF-1985-4373-80BE-F46637819CD7}" dt="2024-04-18T03:38:41.432" v="131" actId="1076"/>
      <pc:docMkLst>
        <pc:docMk/>
      </pc:docMkLst>
      <pc:sldChg chg="modSp mod">
        <pc:chgData name="Darcy Roach" userId="ba676ee9-e9b4-49e8-a515-8077106c948d" providerId="ADAL" clId="{FA38C7BF-1985-4373-80BE-F46637819CD7}" dt="2024-04-18T03:38:41.432" v="131" actId="1076"/>
        <pc:sldMkLst>
          <pc:docMk/>
          <pc:sldMk cId="2009923557" sldId="270"/>
        </pc:sldMkLst>
        <pc:spChg chg="mod">
          <ac:chgData name="Darcy Roach" userId="ba676ee9-e9b4-49e8-a515-8077106c948d" providerId="ADAL" clId="{FA38C7BF-1985-4373-80BE-F46637819CD7}" dt="2024-04-18T03:36:08.090" v="95" actId="14100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FA38C7BF-1985-4373-80BE-F46637819CD7}" dt="2024-04-18T03:38:16.927" v="129" actId="20577"/>
          <ac:spMkLst>
            <pc:docMk/>
            <pc:sldMk cId="2009923557" sldId="270"/>
            <ac:spMk id="8" creationId="{59FEB941-5146-6B10-4E4D-8A4ADE918AEF}"/>
          </ac:spMkLst>
        </pc:spChg>
        <pc:grpChg chg="mod">
          <ac:chgData name="Darcy Roach" userId="ba676ee9-e9b4-49e8-a515-8077106c948d" providerId="ADAL" clId="{FA38C7BF-1985-4373-80BE-F46637819CD7}" dt="2024-04-18T03:38:41.432" v="131" actId="1076"/>
          <ac:grpSpMkLst>
            <pc:docMk/>
            <pc:sldMk cId="2009923557" sldId="270"/>
            <ac:grpSpMk id="9" creationId="{E7DD910D-15D0-5CBC-B70B-D2480ECA3DCA}"/>
          </ac:grpSpMkLst>
        </pc:grpChg>
        <pc:cxnChg chg="mod">
          <ac:chgData name="Darcy Roach" userId="ba676ee9-e9b4-49e8-a515-8077106c948d" providerId="ADAL" clId="{FA38C7BF-1985-4373-80BE-F46637819CD7}" dt="2024-04-18T03:38:35.514" v="130" actId="14100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FA38C7BF-1985-4373-80BE-F46637819CD7}" dt="2024-04-18T03:24:59.254" v="0" actId="14100"/>
          <ac:cxnSpMkLst>
            <pc:docMk/>
            <pc:sldMk cId="2009923557" sldId="270"/>
            <ac:cxnSpMk id="21" creationId="{B0913DE4-461D-CE43-AABC-C4B3D7D22F4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7603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Janie </a:t>
            </a: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Zhan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25585" y="1578840"/>
            <a:ext cx="2955459" cy="36388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Janie is a Data Engineer with over 5 years of experience, specialising in Data Analytics and</a:t>
            </a: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Business Intelligence solutions she prides herself on being creative and self-driven. </a:t>
            </a:r>
          </a:p>
          <a:p>
            <a:pPr>
              <a:lnSpc>
                <a:spcPts val="1500"/>
              </a:lnSpc>
            </a:pP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Janie is an AWS Certified Cloud Practitioner, and hands on experience with, Azure, Snowflake and DBT technologies, she also has a deep understanding of Data Engineering through her experiences in the Australian retail and energy verticals. Holding a Master’s degree in Business Information systems Janie has a strong background in Enterprise Systems and Business modelling. This has enabled her to quickly understand business logic/processes and effectively generate data solutions to liaise with stakeholder requirements. A great team</a:t>
            </a: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player, Janie also has a pleasant personality and strong communication skills.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 dirty="0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 dirty="0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40984" y="1000480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747849"/>
            <a:ext cx="1510046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AWS 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Microsoft 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DBT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Snowflake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Databricks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Fivetran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JSON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ETL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Matillion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Power BI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Tableau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2795458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601996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9775FC7-7124-8CCA-9B1C-7CCD7D3DF384}"/>
              </a:ext>
            </a:extLst>
          </p:cNvPr>
          <p:cNvSpPr txBox="1"/>
          <p:nvPr/>
        </p:nvSpPr>
        <p:spPr>
          <a:xfrm>
            <a:off x="8118489" y="1456630"/>
            <a:ext cx="1951941" cy="144655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Energy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Logistics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IT Consulting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200" dirty="0">
              <a:solidFill>
                <a:srgbClr val="00AB80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010902"/>
            <a:ext cx="1963972" cy="4178067"/>
            <a:chOff x="8106458" y="2681447"/>
            <a:chExt cx="1963972" cy="417806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63972" cy="41780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AWS</a:t>
              </a: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Certified | </a:t>
              </a: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Cloud Practitioner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M</a:t>
              </a: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icrosoft</a:t>
              </a: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Certified | Azure Fundamentals &amp; Power BI Analyst</a:t>
              </a: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Snowf</a:t>
              </a: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lake | </a:t>
              </a:r>
              <a:r>
                <a:rPr lang="en-GB" sz="1150" dirty="0" err="1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SnowPro</a:t>
              </a: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Core </a:t>
              </a:r>
              <a:endParaRPr lang="en-GB" sz="115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 err="1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dbt</a:t>
              </a: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Labs | </a:t>
              </a:r>
              <a:r>
                <a:rPr lang="en-GB" sz="1150" dirty="0" err="1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dbt</a:t>
              </a: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Developer</a:t>
              </a:r>
              <a:endParaRPr lang="en-GB" sz="115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 err="1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dbt</a:t>
              </a: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Labs | </a:t>
              </a:r>
              <a:r>
                <a:rPr lang="en-GB" sz="1150" dirty="0" err="1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dbt</a:t>
              </a: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Fundamentals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Master -</a:t>
              </a:r>
              <a:r>
                <a:rPr lang="en-AU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Business Information Systems, Business Intelligence</a:t>
              </a: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Monash University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-  International Economics &amp; Trade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65E181-1D5D-D878-8A71-F5848AAF858F}"/>
              </a:ext>
            </a:extLst>
          </p:cNvPr>
          <p:cNvGrpSpPr/>
          <p:nvPr/>
        </p:nvGrpSpPr>
        <p:grpSpPr>
          <a:xfrm>
            <a:off x="3361806" y="5942346"/>
            <a:ext cx="4673655" cy="1735277"/>
            <a:chOff x="3335753" y="5068700"/>
            <a:chExt cx="4673655" cy="1735277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E52FDF9F-B084-9074-7DB9-539AD5456487}"/>
                </a:ext>
              </a:extLst>
            </p:cNvPr>
            <p:cNvGrpSpPr/>
            <p:nvPr/>
          </p:nvGrpSpPr>
          <p:grpSpPr>
            <a:xfrm>
              <a:off x="3428144" y="5326649"/>
              <a:ext cx="4581264" cy="1477328"/>
              <a:chOff x="5030740" y="2225627"/>
              <a:chExt cx="4893498" cy="1477328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312B81-BCF1-2796-C112-3DBE0E02F483}"/>
                  </a:ext>
                </a:extLst>
              </p:cNvPr>
              <p:cNvSpPr txBox="1"/>
              <p:nvPr/>
            </p:nvSpPr>
            <p:spPr>
              <a:xfrm>
                <a:off x="5059474" y="2225627"/>
                <a:ext cx="4864764" cy="1477328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Built BI tools for custom applications, data migrations, managed several regulatory changes and created data reporting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Governed the optimisation as part of the Scrum team within the Agile environment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Scoped and Gathered requirements from stakeholders, created data, transformed objects on Snowflake, connecting with data visualisations on SSRS and Tableau.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Helped maintain ETL pipelines, designed and implemented incremental and snapshot data models to be used on ETL’s SCD tasks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87F05F2-DA4C-4F55-A5D0-1887110DF1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0740" y="2294036"/>
                <a:ext cx="0" cy="1361093"/>
              </a:xfrm>
              <a:prstGeom prst="line">
                <a:avLst/>
              </a:prstGeom>
              <a:ln w="19050">
                <a:solidFill>
                  <a:srgbClr val="A935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5068700"/>
              <a:ext cx="46512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Australian Energy Organisation – Data Analyst 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31066" y="5747849"/>
            <a:ext cx="1502582" cy="23083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Warehousing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Transformation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Cloud Architecture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Cloud Computing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Intelligence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Web Development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BEF8AB-50F3-A0AA-9946-9CFF5A8CFABB}"/>
              </a:ext>
            </a:extLst>
          </p:cNvPr>
          <p:cNvGrpSpPr/>
          <p:nvPr/>
        </p:nvGrpSpPr>
        <p:grpSpPr>
          <a:xfrm>
            <a:off x="3359463" y="982605"/>
            <a:ext cx="4618775" cy="2322796"/>
            <a:chOff x="3321267" y="1094557"/>
            <a:chExt cx="4618775" cy="23227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7C34E10-2CF8-9BCA-1CC6-D78A3FF9CA80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3" y="1405555"/>
              <a:ext cx="0" cy="1895367"/>
            </a:xfrm>
            <a:prstGeom prst="line">
              <a:avLst/>
            </a:prstGeom>
            <a:ln w="19050">
              <a:solidFill>
                <a:srgbClr val="005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1E125D-B356-8A2A-B86B-AB6567CEABE1}"/>
                </a:ext>
              </a:extLst>
            </p:cNvPr>
            <p:cNvSpPr txBox="1"/>
            <p:nvPr/>
          </p:nvSpPr>
          <p:spPr>
            <a:xfrm>
              <a:off x="3321267" y="1094557"/>
              <a:ext cx="39338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Australian Government </a:t>
              </a:r>
              <a:r>
                <a:rPr lang="en-US" sz="1200" b="1" dirty="0" err="1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Organisation</a:t>
              </a:r>
              <a:r>
                <a:rPr lang="en-US" sz="1200" b="1" dirty="0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– Data Engineer</a:t>
              </a:r>
            </a:p>
            <a:p>
              <a:endPara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FEB941-5146-6B10-4E4D-8A4ADE918AEF}"/>
                </a:ext>
              </a:extLst>
            </p:cNvPr>
            <p:cNvSpPr txBox="1"/>
            <p:nvPr/>
          </p:nvSpPr>
          <p:spPr>
            <a:xfrm>
              <a:off x="3463961" y="1324472"/>
              <a:ext cx="4476081" cy="2092881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Analysed the existing on-premises data architecture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Identified data sources, formats, and quality issues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Designed and implemented data models optimised for </a:t>
              </a:r>
              <a:r>
                <a:rPr lang="en-AU" sz="1000" dirty="0" err="1">
                  <a:solidFill>
                    <a:schemeClr val="bg1"/>
                  </a:solidFill>
                </a:rPr>
                <a:t>PowerBI</a:t>
              </a:r>
              <a:r>
                <a:rPr lang="en-AU" sz="1000" dirty="0">
                  <a:solidFill>
                    <a:schemeClr val="bg1"/>
                  </a:solidFill>
                </a:rPr>
                <a:t> reporting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Built interactive and visually appealing reports using </a:t>
              </a:r>
              <a:r>
                <a:rPr lang="en-AU" sz="1000" dirty="0" err="1">
                  <a:solidFill>
                    <a:schemeClr val="bg1"/>
                  </a:solidFill>
                </a:rPr>
                <a:t>PowerBI</a:t>
              </a:r>
              <a:r>
                <a:rPr lang="en-AU" sz="1000" dirty="0">
                  <a:solidFill>
                    <a:schemeClr val="bg1"/>
                  </a:solidFill>
                </a:rPr>
                <a:t> tools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Incorporated user feedback to refine report layouts and functionalities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Collaborated with the business teams to integrate </a:t>
              </a:r>
              <a:r>
                <a:rPr lang="en-AU" sz="1000" dirty="0" err="1">
                  <a:solidFill>
                    <a:schemeClr val="bg1"/>
                  </a:solidFill>
                </a:rPr>
                <a:t>PowerBI</a:t>
              </a:r>
              <a:r>
                <a:rPr lang="en-AU" sz="1000" dirty="0">
                  <a:solidFill>
                    <a:schemeClr val="bg1"/>
                  </a:solidFill>
                </a:rPr>
                <a:t> with existing systems and processes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Supported integration testings on performance, functionality, usability, etc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Documented the process, data models, and report specifications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Facilitated knowledge transfer sessions to empower internal teams in managing the </a:t>
              </a:r>
              <a:r>
                <a:rPr lang="en-AU" sz="1000" dirty="0" err="1">
                  <a:solidFill>
                    <a:schemeClr val="bg1"/>
                  </a:solidFill>
                </a:rPr>
                <a:t>PowerBI</a:t>
              </a:r>
              <a:r>
                <a:rPr lang="en-AU" sz="1000" dirty="0">
                  <a:solidFill>
                    <a:schemeClr val="bg1"/>
                  </a:solidFill>
                </a:rPr>
                <a:t> environment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Established best practices and guidelines for ongoing maintenance and future enhancements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7DD910D-15D0-5CBC-B70B-D2480ECA3DCA}"/>
              </a:ext>
            </a:extLst>
          </p:cNvPr>
          <p:cNvGrpSpPr/>
          <p:nvPr/>
        </p:nvGrpSpPr>
        <p:grpSpPr>
          <a:xfrm>
            <a:off x="3329099" y="3388860"/>
            <a:ext cx="4683934" cy="2479463"/>
            <a:chOff x="3303046" y="6194352"/>
            <a:chExt cx="4709988" cy="263263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59F888-3BDF-A1C0-65E5-CB6FDD43D97C}"/>
                </a:ext>
              </a:extLst>
            </p:cNvPr>
            <p:cNvSpPr txBox="1"/>
            <p:nvPr/>
          </p:nvSpPr>
          <p:spPr>
            <a:xfrm>
              <a:off x="3303046" y="6194352"/>
              <a:ext cx="4427756" cy="490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Major Australian Supermarket – Platform Data Engineer</a:t>
              </a:r>
            </a:p>
            <a:p>
              <a:endPara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B3FDFC-4A78-346F-E1D4-E183BEB90A60}"/>
                </a:ext>
              </a:extLst>
            </p:cNvPr>
            <p:cNvGrpSpPr/>
            <p:nvPr/>
          </p:nvGrpSpPr>
          <p:grpSpPr>
            <a:xfrm>
              <a:off x="3428144" y="6441420"/>
              <a:ext cx="4584890" cy="2385562"/>
              <a:chOff x="5023753" y="4494578"/>
              <a:chExt cx="4757437" cy="238556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13C49A-2DF2-8111-FED4-FC07A8EAD258}"/>
                  </a:ext>
                </a:extLst>
              </p:cNvPr>
              <p:cNvSpPr txBox="1"/>
              <p:nvPr/>
            </p:nvSpPr>
            <p:spPr>
              <a:xfrm>
                <a:off x="5059474" y="4494578"/>
                <a:ext cx="4721716" cy="2385562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 dirty="0"/>
                  <a:t>Worked with the Tech Innovation team, to lead projects to create and implement data solutions for several use-cases on Microsoft on-premise &amp; cloud technologies. These facilitated containerised software development, ML modelling, as well as multi-cluster deployments</a:t>
                </a:r>
              </a:p>
              <a:p>
                <a:r>
                  <a:rPr lang="en-AU" sz="1000" dirty="0"/>
                  <a:t>Established data management plans and strategies within the team, created data flows from the ground up and provided solutions analysis and recommendations based on the team’s data environment</a:t>
                </a:r>
              </a:p>
              <a:p>
                <a:r>
                  <a:rPr lang="en-AU" sz="1000" dirty="0"/>
                  <a:t>Designed and maintained Azure Monitor stack, ingesting and transforming data to Azure Log Analytics, Workspace using KQL queries, applying </a:t>
                </a:r>
                <a:r>
                  <a:rPr lang="en-AU" sz="1000" dirty="0" err="1"/>
                  <a:t>DataOps</a:t>
                </a:r>
                <a:r>
                  <a:rPr lang="en-AU" sz="1000" dirty="0"/>
                  <a:t> tools and practices in the data workflow</a:t>
                </a:r>
              </a:p>
              <a:p>
                <a:r>
                  <a:rPr lang="en-AU" sz="1000" dirty="0"/>
                  <a:t>Organised workshops to gather requirements from stakeholders and demoed/showcased dashboards</a:t>
                </a:r>
              </a:p>
              <a:p>
                <a:r>
                  <a:rPr lang="en-AU" sz="1000" dirty="0"/>
                  <a:t>Proposed tactical and strategic approaches to mitigate risks identified in cost and performance, in alignment with team’s priorities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0913DE4-461D-CE43-AABC-C4B3D7D22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3753" y="4579160"/>
                <a:ext cx="0" cy="2082910"/>
              </a:xfrm>
              <a:prstGeom prst="line">
                <a:avLst/>
              </a:prstGeom>
              <a:ln w="1905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Joel Collins</DisplayName>
        <AccountId>13</AccountId>
        <AccountType/>
      </UserInfo>
      <UserInfo>
        <DisplayName>Darcy Roach</DisplayName>
        <AccountId>14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090AB415-6E59-4D12-8947-2EB135D6AA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93972-1964-4522-aa34-640805a01c3a"/>
    <ds:schemaRef ds:uri="e52cd9e7-35e5-4bd3-9cab-ca6a63c31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604DA7-C5E1-49DD-8C41-CCB4499946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ED3751-8046-450E-BBF0-0C652FE3CD2B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e52cd9e7-35e5-4bd3-9cab-ca6a63c31e52"/>
    <ds:schemaRef ds:uri="daf93972-1964-4522-aa34-640805a01c3a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11529</TotalTime>
  <Words>556</Words>
  <Application>Microsoft Office PowerPoint</Application>
  <PresentationFormat>Custom</PresentationFormat>
  <Paragraphs>81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97</cp:revision>
  <dcterms:created xsi:type="dcterms:W3CDTF">2019-12-03T01:50:37Z</dcterms:created>
  <dcterms:modified xsi:type="dcterms:W3CDTF">2024-08-04T23:32:01Z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