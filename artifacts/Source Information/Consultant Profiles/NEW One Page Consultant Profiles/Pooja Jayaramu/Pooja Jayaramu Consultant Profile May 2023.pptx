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1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A93584"/>
    <a:srgbClr val="0F2B3F"/>
    <a:srgbClr val="0059FF"/>
    <a:srgbClr val="00A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5BBDA7-8CF5-4119-9693-5B05A223F807}" v="4" dt="2023-06-27T06:13:42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1552" y="24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2D5BBDA7-8CF5-4119-9693-5B05A223F807}"/>
    <pc:docChg chg="undo custSel modSld">
      <pc:chgData name="Darcy Roach" userId="ba676ee9-e9b4-49e8-a515-8077106c948d" providerId="ADAL" clId="{2D5BBDA7-8CF5-4119-9693-5B05A223F807}" dt="2023-06-27T06:45:19.750" v="1706" actId="20577"/>
      <pc:docMkLst>
        <pc:docMk/>
      </pc:docMkLst>
      <pc:sldChg chg="addSp delSp modSp mod">
        <pc:chgData name="Darcy Roach" userId="ba676ee9-e9b4-49e8-a515-8077106c948d" providerId="ADAL" clId="{2D5BBDA7-8CF5-4119-9693-5B05A223F807}" dt="2023-06-27T06:45:19.750" v="1706" actId="20577"/>
        <pc:sldMkLst>
          <pc:docMk/>
          <pc:sldMk cId="3618352684" sldId="271"/>
        </pc:sldMkLst>
        <pc:spChg chg="mod">
          <ac:chgData name="Darcy Roach" userId="ba676ee9-e9b4-49e8-a515-8077106c948d" providerId="ADAL" clId="{2D5BBDA7-8CF5-4119-9693-5B05A223F807}" dt="2023-06-27T06:33:12.106" v="1610" actId="1076"/>
          <ac:spMkLst>
            <pc:docMk/>
            <pc:sldMk cId="3618352684" sldId="271"/>
            <ac:spMk id="2" creationId="{2FA774CA-3857-9308-4D38-9414B0CC2B95}"/>
          </ac:spMkLst>
        </pc:spChg>
        <pc:spChg chg="mod">
          <ac:chgData name="Darcy Roach" userId="ba676ee9-e9b4-49e8-a515-8077106c948d" providerId="ADAL" clId="{2D5BBDA7-8CF5-4119-9693-5B05A223F807}" dt="2023-06-27T05:54:29.300" v="642" actId="20577"/>
          <ac:spMkLst>
            <pc:docMk/>
            <pc:sldMk cId="3618352684" sldId="271"/>
            <ac:spMk id="4" creationId="{80F49B2F-21D4-F9EB-049F-717A10CB7D84}"/>
          </ac:spMkLst>
        </pc:spChg>
        <pc:spChg chg="mod">
          <ac:chgData name="Darcy Roach" userId="ba676ee9-e9b4-49e8-a515-8077106c948d" providerId="ADAL" clId="{2D5BBDA7-8CF5-4119-9693-5B05A223F807}" dt="2023-06-27T06:44:02.737" v="1691" actId="1076"/>
          <ac:spMkLst>
            <pc:docMk/>
            <pc:sldMk cId="3618352684" sldId="271"/>
            <ac:spMk id="6" creationId="{701E125D-B356-8A2A-B86B-AB6567CEABE1}"/>
          </ac:spMkLst>
        </pc:spChg>
        <pc:spChg chg="mod">
          <ac:chgData name="Darcy Roach" userId="ba676ee9-e9b4-49e8-a515-8077106c948d" providerId="ADAL" clId="{2D5BBDA7-8CF5-4119-9693-5B05A223F807}" dt="2023-06-27T06:44:02.737" v="1691" actId="1076"/>
          <ac:spMkLst>
            <pc:docMk/>
            <pc:sldMk cId="3618352684" sldId="271"/>
            <ac:spMk id="9" creationId="{FC1E3E96-4B11-5242-E07F-7D9FDDBB0190}"/>
          </ac:spMkLst>
        </pc:spChg>
        <pc:spChg chg="mod">
          <ac:chgData name="Darcy Roach" userId="ba676ee9-e9b4-49e8-a515-8077106c948d" providerId="ADAL" clId="{2D5BBDA7-8CF5-4119-9693-5B05A223F807}" dt="2023-06-27T06:12:01.056" v="1086" actId="20577"/>
          <ac:spMkLst>
            <pc:docMk/>
            <pc:sldMk cId="3618352684" sldId="271"/>
            <ac:spMk id="10" creationId="{06312B81-BCF1-2796-C112-3DBE0E02F483}"/>
          </ac:spMkLst>
        </pc:spChg>
        <pc:spChg chg="mod">
          <ac:chgData name="Darcy Roach" userId="ba676ee9-e9b4-49e8-a515-8077106c948d" providerId="ADAL" clId="{2D5BBDA7-8CF5-4119-9693-5B05A223F807}" dt="2023-06-27T05:24:36.076" v="7" actId="1035"/>
          <ac:spMkLst>
            <pc:docMk/>
            <pc:sldMk cId="3618352684" sldId="271"/>
            <ac:spMk id="13" creationId="{FD2720C9-A79F-BD7F-E179-674AD67D7892}"/>
          </ac:spMkLst>
        </pc:spChg>
        <pc:spChg chg="mod">
          <ac:chgData name="Darcy Roach" userId="ba676ee9-e9b4-49e8-a515-8077106c948d" providerId="ADAL" clId="{2D5BBDA7-8CF5-4119-9693-5B05A223F807}" dt="2023-06-27T06:45:19.750" v="1706" actId="20577"/>
          <ac:spMkLst>
            <pc:docMk/>
            <pc:sldMk cId="3618352684" sldId="271"/>
            <ac:spMk id="16" creationId="{7A53ACAB-BBC9-A3AA-740D-EB947374392F}"/>
          </ac:spMkLst>
        </pc:spChg>
        <pc:spChg chg="mod">
          <ac:chgData name="Darcy Roach" userId="ba676ee9-e9b4-49e8-a515-8077106c948d" providerId="ADAL" clId="{2D5BBDA7-8CF5-4119-9693-5B05A223F807}" dt="2023-06-27T06:07:01.672" v="931" actId="20577"/>
          <ac:spMkLst>
            <pc:docMk/>
            <pc:sldMk cId="3618352684" sldId="271"/>
            <ac:spMk id="17" creationId="{1BDE5051-9F34-F139-742D-4450E5D6591E}"/>
          </ac:spMkLst>
        </pc:spChg>
        <pc:spChg chg="mod">
          <ac:chgData name="Darcy Roach" userId="ba676ee9-e9b4-49e8-a515-8077106c948d" providerId="ADAL" clId="{2D5BBDA7-8CF5-4119-9693-5B05A223F807}" dt="2023-06-27T05:56:17.675" v="666" actId="20577"/>
          <ac:spMkLst>
            <pc:docMk/>
            <pc:sldMk cId="3618352684" sldId="271"/>
            <ac:spMk id="26" creationId="{1A3D666D-00C8-D106-73C3-9FF300F8618C}"/>
          </ac:spMkLst>
        </pc:spChg>
        <pc:spChg chg="del mod">
          <ac:chgData name="Darcy Roach" userId="ba676ee9-e9b4-49e8-a515-8077106c948d" providerId="ADAL" clId="{2D5BBDA7-8CF5-4119-9693-5B05A223F807}" dt="2023-06-27T06:13:34.175" v="1093" actId="21"/>
          <ac:spMkLst>
            <pc:docMk/>
            <pc:sldMk cId="3618352684" sldId="271"/>
            <ac:spMk id="28" creationId="{6059F888-3BDF-A1C0-65E5-CB6FDD43D97C}"/>
          </ac:spMkLst>
        </pc:spChg>
        <pc:spChg chg="add del mod">
          <ac:chgData name="Darcy Roach" userId="ba676ee9-e9b4-49e8-a515-8077106c948d" providerId="ADAL" clId="{2D5BBDA7-8CF5-4119-9693-5B05A223F807}" dt="2023-06-27T05:41:16.414" v="458" actId="478"/>
          <ac:spMkLst>
            <pc:docMk/>
            <pc:sldMk cId="3618352684" sldId="271"/>
            <ac:spMk id="31" creationId="{F030B4D1-1766-5327-C682-0FC5BDC0923A}"/>
          </ac:spMkLst>
        </pc:spChg>
        <pc:spChg chg="add del mod">
          <ac:chgData name="Darcy Roach" userId="ba676ee9-e9b4-49e8-a515-8077106c948d" providerId="ADAL" clId="{2D5BBDA7-8CF5-4119-9693-5B05A223F807}" dt="2023-06-27T05:27:43.585" v="22"/>
          <ac:spMkLst>
            <pc:docMk/>
            <pc:sldMk cId="3618352684" sldId="271"/>
            <ac:spMk id="32" creationId="{3A959C9C-65FA-83E0-599F-60D2D1A21F54}"/>
          </ac:spMkLst>
        </pc:spChg>
        <pc:spChg chg="mod">
          <ac:chgData name="Darcy Roach" userId="ba676ee9-e9b4-49e8-a515-8077106c948d" providerId="ADAL" clId="{2D5BBDA7-8CF5-4119-9693-5B05A223F807}" dt="2023-06-27T06:19:32.366" v="1258" actId="20577"/>
          <ac:spMkLst>
            <pc:docMk/>
            <pc:sldMk cId="3618352684" sldId="271"/>
            <ac:spMk id="37" creationId="{A90FD929-5415-DA83-F8AE-F19DBDCAFCB9}"/>
          </ac:spMkLst>
        </pc:spChg>
        <pc:spChg chg="mod">
          <ac:chgData name="Darcy Roach" userId="ba676ee9-e9b4-49e8-a515-8077106c948d" providerId="ADAL" clId="{2D5BBDA7-8CF5-4119-9693-5B05A223F807}" dt="2023-06-27T06:36:58.812" v="1689" actId="20577"/>
          <ac:spMkLst>
            <pc:docMk/>
            <pc:sldMk cId="3618352684" sldId="271"/>
            <ac:spMk id="38" creationId="{AB47A2EE-BF0B-DB05-8B7C-DB6594B2B3D5}"/>
          </ac:spMkLst>
        </pc:spChg>
        <pc:spChg chg="add mod">
          <ac:chgData name="Darcy Roach" userId="ba676ee9-e9b4-49e8-a515-8077106c948d" providerId="ADAL" clId="{2D5BBDA7-8CF5-4119-9693-5B05A223F807}" dt="2023-06-27T06:44:18.792" v="1695" actId="1076"/>
          <ac:spMkLst>
            <pc:docMk/>
            <pc:sldMk cId="3618352684" sldId="271"/>
            <ac:spMk id="42" creationId="{C08E38AA-AB1C-5E53-4728-E3FDEFAEF906}"/>
          </ac:spMkLst>
        </pc:spChg>
        <pc:grpChg chg="del mod">
          <ac:chgData name="Darcy Roach" userId="ba676ee9-e9b4-49e8-a515-8077106c948d" providerId="ADAL" clId="{2D5BBDA7-8CF5-4119-9693-5B05A223F807}" dt="2023-06-27T06:13:34.175" v="1093" actId="21"/>
          <ac:grpSpMkLst>
            <pc:docMk/>
            <pc:sldMk cId="3618352684" sldId="271"/>
            <ac:grpSpMk id="18" creationId="{E0B3FDFC-4A78-346F-E1D4-E183BEB90A60}"/>
          </ac:grpSpMkLst>
        </pc:grpChg>
        <pc:grpChg chg="add mod">
          <ac:chgData name="Darcy Roach" userId="ba676ee9-e9b4-49e8-a515-8077106c948d" providerId="ADAL" clId="{2D5BBDA7-8CF5-4119-9693-5B05A223F807}" dt="2023-06-27T06:44:18.792" v="1695" actId="1076"/>
          <ac:grpSpMkLst>
            <pc:docMk/>
            <pc:sldMk cId="3618352684" sldId="271"/>
            <ac:grpSpMk id="36" creationId="{1C7CA0EF-5888-ABE0-6697-7704C17D0CB7}"/>
          </ac:grpSpMkLst>
        </pc:grpChg>
        <pc:grpChg chg="mod">
          <ac:chgData name="Darcy Roach" userId="ba676ee9-e9b4-49e8-a515-8077106c948d" providerId="ADAL" clId="{2D5BBDA7-8CF5-4119-9693-5B05A223F807}" dt="2023-06-27T06:33:12.106" v="1610" actId="1076"/>
          <ac:grpSpMkLst>
            <pc:docMk/>
            <pc:sldMk cId="3618352684" sldId="271"/>
            <ac:grpSpMk id="163" creationId="{E52FDF9F-B084-9074-7DB9-539AD5456487}"/>
          </ac:grpSpMkLst>
        </pc:grpChg>
        <pc:cxnChg chg="mod">
          <ac:chgData name="Darcy Roach" userId="ba676ee9-e9b4-49e8-a515-8077106c948d" providerId="ADAL" clId="{2D5BBDA7-8CF5-4119-9693-5B05A223F807}" dt="2023-06-27T06:44:13.079" v="1694" actId="1036"/>
          <ac:cxnSpMkLst>
            <pc:docMk/>
            <pc:sldMk cId="3618352684" sldId="271"/>
            <ac:cxnSpMk id="3" creationId="{67C34E10-2CF8-9BCA-1CC6-D78A3FF9CA80}"/>
          </ac:cxnSpMkLst>
        </pc:cxnChg>
        <pc:cxnChg chg="mod">
          <ac:chgData name="Darcy Roach" userId="ba676ee9-e9b4-49e8-a515-8077106c948d" providerId="ADAL" clId="{2D5BBDA7-8CF5-4119-9693-5B05A223F807}" dt="2023-06-27T06:12:55.541" v="1089" actId="208"/>
          <ac:cxnSpMkLst>
            <pc:docMk/>
            <pc:sldMk cId="3618352684" sldId="271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2D5BBDA7-8CF5-4119-9693-5B05A223F807}" dt="2023-06-27T06:13:11.919" v="1091" actId="208"/>
          <ac:cxnSpMkLst>
            <pc:docMk/>
            <pc:sldMk cId="3618352684" sldId="271"/>
            <ac:cxnSpMk id="21" creationId="{B0913DE4-461D-CE43-AABC-C4B3D7D22F45}"/>
          </ac:cxnSpMkLst>
        </pc:cxnChg>
        <pc:cxnChg chg="mod">
          <ac:chgData name="Darcy Roach" userId="ba676ee9-e9b4-49e8-a515-8077106c948d" providerId="ADAL" clId="{2D5BBDA7-8CF5-4119-9693-5B05A223F807}" dt="2023-06-27T06:19:40.977" v="1259" actId="14100"/>
          <ac:cxnSpMkLst>
            <pc:docMk/>
            <pc:sldMk cId="3618352684" sldId="271"/>
            <ac:cxnSpMk id="41" creationId="{82926108-0D3E-93E2-7199-763F440A522F}"/>
          </ac:cxnSpMkLst>
        </pc:cxnChg>
        <pc:cxnChg chg="mod">
          <ac:chgData name="Darcy Roach" userId="ba676ee9-e9b4-49e8-a515-8077106c948d" providerId="ADAL" clId="{2D5BBDA7-8CF5-4119-9693-5B05A223F807}" dt="2023-06-27T06:26:09.182" v="1440" actId="14100"/>
          <ac:cxnSpMkLst>
            <pc:docMk/>
            <pc:sldMk cId="3618352684" sldId="271"/>
            <ac:cxnSpMk id="170" creationId="{0D51728F-48BB-14BB-256E-5F0C0284BCD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6" y="1054064"/>
            <a:ext cx="4894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Australian Digital Advertising </a:t>
            </a:r>
            <a:r>
              <a:rPr lang="en-US" sz="1200" b="1" dirty="0" err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Organisation</a:t>
            </a:r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– Senior Agile BA</a:t>
            </a:r>
          </a:p>
          <a:p>
            <a:endParaRPr lang="en-AU" sz="1200" b="1" dirty="0">
              <a:solidFill>
                <a:srgbClr val="0059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1E3E96-4B11-5242-E07F-7D9FDDBB0190}"/>
              </a:ext>
            </a:extLst>
          </p:cNvPr>
          <p:cNvSpPr txBox="1"/>
          <p:nvPr/>
        </p:nvSpPr>
        <p:spPr>
          <a:xfrm>
            <a:off x="3463961" y="1321998"/>
            <a:ext cx="4583495" cy="178510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r>
              <a:rPr lang="en-AU" sz="1000" dirty="0">
                <a:solidFill>
                  <a:schemeClr val="bg1"/>
                </a:solidFill>
              </a:rPr>
              <a:t>Defined the scope of delivery, prioritised, the “WHY” and the “WHAT”. Incepted with the team &amp; translated business scope into ready-to-go user stories with the delivery team. Responsibilities of this role included:</a:t>
            </a:r>
          </a:p>
          <a:p>
            <a:r>
              <a:rPr lang="en-AU" sz="1000" dirty="0">
                <a:solidFill>
                  <a:schemeClr val="bg1"/>
                </a:solidFill>
              </a:rPr>
              <a:t>Set team goals &amp; delivered product features of the agreed roadmap</a:t>
            </a:r>
          </a:p>
          <a:p>
            <a:r>
              <a:rPr lang="en-AU" sz="1000" dirty="0">
                <a:solidFill>
                  <a:schemeClr val="bg1"/>
                </a:solidFill>
              </a:rPr>
              <a:t>Defined, planned &amp; facilitated design sprints and scope workshops with internal stakeholders, product teams and tech teams to derive business outcomes.</a:t>
            </a:r>
          </a:p>
          <a:p>
            <a:r>
              <a:rPr lang="en-AU" sz="1000" dirty="0">
                <a:solidFill>
                  <a:schemeClr val="bg1"/>
                </a:solidFill>
              </a:rPr>
              <a:t>Conducted program-level initiative kick-offs and collaborative workshops</a:t>
            </a:r>
          </a:p>
          <a:p>
            <a:r>
              <a:rPr lang="en-AU" sz="1000" dirty="0">
                <a:solidFill>
                  <a:schemeClr val="bg1"/>
                </a:solidFill>
              </a:rPr>
              <a:t>Worked with agile teams to deliver the solution/product efficiently &amp; effectively</a:t>
            </a:r>
          </a:p>
          <a:p>
            <a:endParaRPr lang="en-AU" sz="1000" dirty="0">
              <a:solidFill>
                <a:schemeClr val="bg1"/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158595" y="110783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Pooja </a:t>
            </a:r>
            <a:r>
              <a:rPr lang="en-US" sz="2800" b="1" dirty="0" err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Jayaramu</a:t>
            </a:r>
            <a:endParaRPr lang="en-US" sz="2800" b="1" dirty="0">
              <a:solidFill>
                <a:srgbClr val="00AB8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192375" y="1589600"/>
            <a:ext cx="2944517" cy="3446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Pooja is an experienced Business Analyst </a:t>
            </a: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 over 10 years of experience across the insurance, financial services, Travel &amp; Retail sectors. </a:t>
            </a:r>
          </a:p>
          <a:p>
            <a:pPr>
              <a:lnSpc>
                <a:spcPts val="1500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Wearing multiple hats, including Associate Product Manager, Product Owner &amp; Business Analyst, Pooja has become an expert in resolving customer-centric issues. With keen listening and influencing skills, Pooja builds effective working relationships with stakeholders, which assists her in successfully navigating complex problems and solving them in collaboration with engineering / IT teams.</a:t>
            </a:r>
          </a:p>
          <a:p>
            <a:pPr>
              <a:lnSpc>
                <a:spcPts val="1500"/>
              </a:lnSpc>
            </a:pPr>
            <a:endParaRPr lang="en-US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 accomplished and fluent communicator Pooja has robust investigation, analytic problem-solving, and decision-making skills, combined with a pragmatic, data &amp; customer-oriented approach and sound business acumen.</a:t>
            </a:r>
            <a:endParaRPr lang="en-US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84993" y="1239722"/>
            <a:ext cx="3162388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 dirty="0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13113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642327" y="5711189"/>
            <a:ext cx="1510046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AWS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Jira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Confluence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Salesforce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Atlassian Suite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UX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UI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Adobe XD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Invision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Draw.io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IOS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380908"/>
            <a:ext cx="0" cy="1631662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52FDF9F-B084-9074-7DB9-539AD5456487}"/>
              </a:ext>
            </a:extLst>
          </p:cNvPr>
          <p:cNvGrpSpPr/>
          <p:nvPr/>
        </p:nvGrpSpPr>
        <p:grpSpPr>
          <a:xfrm>
            <a:off x="3428144" y="5823636"/>
            <a:ext cx="4536321" cy="1938992"/>
            <a:chOff x="5030740" y="1885572"/>
            <a:chExt cx="4845492" cy="193899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312B81-BCF1-2796-C112-3DBE0E02F483}"/>
                </a:ext>
              </a:extLst>
            </p:cNvPr>
            <p:cNvSpPr txBox="1"/>
            <p:nvPr/>
          </p:nvSpPr>
          <p:spPr>
            <a:xfrm>
              <a:off x="5059475" y="1885572"/>
              <a:ext cx="4816757" cy="1938992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r>
                <a:rPr lang="en-AU" sz="1000" dirty="0"/>
                <a:t>W</a:t>
              </a:r>
              <a:r>
                <a:rPr lang="en-AU" sz="1000" dirty="0">
                  <a:solidFill>
                    <a:schemeClr val="bg1"/>
                  </a:solidFill>
                </a:rPr>
                <a:t>orked with product teams, designers, and tech teams to achieve the best outcome for the users on the company website. Responsibilities of this role included:</a:t>
              </a:r>
            </a:p>
            <a:p>
              <a:r>
                <a:rPr lang="en-AU" sz="1000" dirty="0"/>
                <a:t>Defined process models to help understand the current architecture</a:t>
              </a:r>
            </a:p>
            <a:p>
              <a:r>
                <a:rPr lang="en-AU" sz="1000" dirty="0"/>
                <a:t>Worked with design teams to define personas and user behaviour metrics</a:t>
              </a:r>
            </a:p>
            <a:p>
              <a:r>
                <a:rPr lang="en-AU" sz="1000" dirty="0"/>
                <a:t>Worked with the product team to determine success measures and KPIs for the website</a:t>
              </a:r>
            </a:p>
            <a:p>
              <a:r>
                <a:rPr lang="en-AU" sz="1000" dirty="0"/>
                <a:t>Incepted with delivery teams, designers, and product teams based on user feedback and user interview outcomes. </a:t>
              </a:r>
            </a:p>
            <a:p>
              <a:r>
                <a:rPr lang="en-AU" sz="1000" dirty="0"/>
                <a:t>Delivered outcomes using an agile delivery process. (Experiment, Inspect, Build &amp; learn &amp; adapt)</a:t>
              </a:r>
            </a:p>
            <a:p>
              <a:endParaRPr lang="en-AU" sz="1000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5030740" y="1983710"/>
              <a:ext cx="0" cy="1594027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277534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6"/>
            <a:ext cx="0" cy="44283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492978"/>
            <a:ext cx="1982087" cy="1938992"/>
            <a:chOff x="8106458" y="2681447"/>
            <a:chExt cx="1982087" cy="1938992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82087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Certified </a:t>
              </a:r>
              <a:r>
                <a:rPr lang="en-GB" sz="1200" dirty="0" err="1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SAFe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Agilist | Scaled Agile Academy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US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Bachelor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– Engineering, Electronics &amp; Communications Engineering | </a:t>
              </a:r>
              <a:r>
                <a:rPr lang="en-AU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Vidya Vikas Institute of Engineering &amp; Technology</a:t>
              </a: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A774CA-3857-9308-4D38-9414B0CC2B95}"/>
              </a:ext>
            </a:extLst>
          </p:cNvPr>
          <p:cNvSpPr txBox="1"/>
          <p:nvPr/>
        </p:nvSpPr>
        <p:spPr>
          <a:xfrm>
            <a:off x="3335753" y="5548746"/>
            <a:ext cx="4574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Australian Travel Organisation – Senior Agile Business Analyst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1" y="5711189"/>
            <a:ext cx="1510046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Problem-Solving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Agile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SCRUM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Market Research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UX Research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Product Strategy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Product Design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Requirements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Coaching / Mentoring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53ACAB-BBC9-A3AA-740D-EB947374392F}"/>
              </a:ext>
            </a:extLst>
          </p:cNvPr>
          <p:cNvSpPr txBox="1"/>
          <p:nvPr/>
        </p:nvSpPr>
        <p:spPr>
          <a:xfrm>
            <a:off x="8118489" y="1456630"/>
            <a:ext cx="1951941" cy="172354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Insurance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Travel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Digital Advertising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Consulting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C7CA0EF-5888-ABE0-6697-7704C17D0CB7}"/>
              </a:ext>
            </a:extLst>
          </p:cNvPr>
          <p:cNvGrpSpPr/>
          <p:nvPr/>
        </p:nvGrpSpPr>
        <p:grpSpPr>
          <a:xfrm>
            <a:off x="3428143" y="3288507"/>
            <a:ext cx="4584890" cy="2400657"/>
            <a:chOff x="5023753" y="4036349"/>
            <a:chExt cx="4757437" cy="240065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90FD929-5415-DA83-F8AE-F19DBDCAFCB9}"/>
                </a:ext>
              </a:extLst>
            </p:cNvPr>
            <p:cNvSpPr txBox="1"/>
            <p:nvPr/>
          </p:nvSpPr>
          <p:spPr>
            <a:xfrm>
              <a:off x="5059474" y="4036349"/>
              <a:ext cx="4721716" cy="2400657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r>
                <a:rPr lang="en-AU" sz="1000" dirty="0"/>
                <a:t>C</a:t>
              </a:r>
              <a:r>
                <a:rPr lang="en-AU" sz="1000" dirty="0">
                  <a:solidFill>
                    <a:schemeClr val="bg1"/>
                  </a:solidFill>
                </a:rPr>
                <a:t>onducted customer &amp; market research to develop a Product Roadmap to transform the existing online </a:t>
              </a:r>
              <a:r>
                <a:rPr lang="en-AU" sz="1000" dirty="0"/>
                <a:t>p</a:t>
              </a:r>
              <a:r>
                <a:rPr lang="en-AU" sz="1000" dirty="0">
                  <a:solidFill>
                    <a:schemeClr val="bg1"/>
                  </a:solidFill>
                </a:rPr>
                <a:t>latforms for financial </a:t>
              </a:r>
              <a:r>
                <a:rPr lang="en-AU" sz="1000" dirty="0"/>
                <a:t>a</a:t>
              </a:r>
              <a:r>
                <a:rPr lang="en-AU" sz="1000" dirty="0">
                  <a:solidFill>
                    <a:schemeClr val="bg1"/>
                  </a:solidFill>
                </a:rPr>
                <a:t>dvisers and their clients to have a smooth and efficient application processing system.  </a:t>
              </a:r>
              <a:r>
                <a:rPr lang="en-AU" sz="1000" dirty="0"/>
                <a:t>Responsibilities of this role included:</a:t>
              </a:r>
              <a:endParaRPr lang="en-AU" sz="1000" dirty="0">
                <a:solidFill>
                  <a:schemeClr val="bg1"/>
                </a:solidFill>
              </a:endParaRPr>
            </a:p>
            <a:p>
              <a:r>
                <a:rPr lang="en-AU" sz="1000" dirty="0"/>
                <a:t>Conducted customer interviews with advisers to help facilitate digitising, optimising and enhancing the existing financial online platforms to engage and address the main pain points that the customers face. </a:t>
              </a:r>
            </a:p>
            <a:p>
              <a:r>
                <a:rPr lang="en-AU" sz="1000" dirty="0"/>
                <a:t>Presented the problem succinctly to the stakeholders and product team to prioritise the issue against all competing priorities.</a:t>
              </a:r>
            </a:p>
            <a:p>
              <a:r>
                <a:rPr lang="en-AU" sz="1000" dirty="0"/>
                <a:t>Worked with senior stakeholder groups demonstrating strong negotiation skills</a:t>
              </a:r>
            </a:p>
            <a:p>
              <a:r>
                <a:rPr lang="en-AU" sz="1000" dirty="0"/>
                <a:t>Managed and supported team members, and made decisions for the team. Fostered a positive work environment, built team cohesion, and encouraged collaboration and accountability.</a:t>
              </a:r>
            </a:p>
            <a:p>
              <a:endParaRPr lang="en-AU" sz="1000" dirty="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2926108-0D3E-93E2-7199-763F440A522F}"/>
                </a:ext>
              </a:extLst>
            </p:cNvPr>
            <p:cNvCxnSpPr>
              <a:cxnSpLocks/>
            </p:cNvCxnSpPr>
            <p:nvPr/>
          </p:nvCxnSpPr>
          <p:spPr>
            <a:xfrm>
              <a:off x="5023753" y="4117776"/>
              <a:ext cx="0" cy="2083141"/>
            </a:xfrm>
            <a:prstGeom prst="line">
              <a:avLst/>
            </a:prstGeom>
            <a:ln w="1905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C08E38AA-AB1C-5E53-4728-E3FDEFAEF906}"/>
              </a:ext>
            </a:extLst>
          </p:cNvPr>
          <p:cNvSpPr txBox="1"/>
          <p:nvPr/>
        </p:nvSpPr>
        <p:spPr>
          <a:xfrm>
            <a:off x="3335751" y="3036056"/>
            <a:ext cx="5177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Australian Financial Services Company – Digital Product Manager</a:t>
            </a:r>
          </a:p>
        </p:txBody>
      </p:sp>
    </p:spTree>
    <p:extLst>
      <p:ext uri="{BB962C8B-B14F-4D97-AF65-F5344CB8AC3E}">
        <p14:creationId xmlns:p14="http://schemas.microsoft.com/office/powerpoint/2010/main" val="3618352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B57FA5-BC7A-40FC-8F11-EF2A0D18C602}"/>
</file>

<file path=customXml/itemProps2.xml><?xml version="1.0" encoding="utf-8"?>
<ds:datastoreItem xmlns:ds="http://schemas.openxmlformats.org/officeDocument/2006/customXml" ds:itemID="{7BEDE27A-5D3F-48EC-A4D1-3F35063BDC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BCFD15-CFFF-49AE-B6C5-12DE46320969}">
  <ds:schemaRefs>
    <ds:schemaRef ds:uri="daf93972-1964-4522-aa34-640805a01c3a"/>
    <ds:schemaRef ds:uri="e52cd9e7-35e5-4bd3-9cab-ca6a63c31e5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3732</TotalTime>
  <Words>546</Words>
  <Application>Microsoft Office PowerPoint</Application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11</cp:revision>
  <dcterms:created xsi:type="dcterms:W3CDTF">2019-12-03T01:50:37Z</dcterms:created>
  <dcterms:modified xsi:type="dcterms:W3CDTF">2023-06-29T00:12:32Z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