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2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3584"/>
    <a:srgbClr val="ED7D31"/>
    <a:srgbClr val="0F2B3F"/>
    <a:srgbClr val="0059FF"/>
    <a:srgbClr val="00AB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1E24A0-328D-426B-B3AD-6D0851ED0941}" v="4" dt="2025-07-01T06:42:53.2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878" y="0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C71E24A0-328D-426B-B3AD-6D0851ED0941}"/>
    <pc:docChg chg="undo redo custSel modSld">
      <pc:chgData name="Darcy Roach" userId="ba676ee9-e9b4-49e8-a515-8077106c948d" providerId="ADAL" clId="{C71E24A0-328D-426B-B3AD-6D0851ED0941}" dt="2025-07-01T06:47:55.092" v="1340" actId="20577"/>
      <pc:docMkLst>
        <pc:docMk/>
      </pc:docMkLst>
      <pc:sldChg chg="addSp delSp modSp mod">
        <pc:chgData name="Darcy Roach" userId="ba676ee9-e9b4-49e8-a515-8077106c948d" providerId="ADAL" clId="{C71E24A0-328D-426B-B3AD-6D0851ED0941}" dt="2025-07-01T06:47:55.092" v="1340" actId="20577"/>
        <pc:sldMkLst>
          <pc:docMk/>
          <pc:sldMk cId="2144306671" sldId="272"/>
        </pc:sldMkLst>
        <pc:spChg chg="mod">
          <ac:chgData name="Darcy Roach" userId="ba676ee9-e9b4-49e8-a515-8077106c948d" providerId="ADAL" clId="{C71E24A0-328D-426B-B3AD-6D0851ED0941}" dt="2025-07-01T06:39:48.613" v="1168" actId="1076"/>
          <ac:spMkLst>
            <pc:docMk/>
            <pc:sldMk cId="2144306671" sldId="272"/>
            <ac:spMk id="2" creationId="{2FA774CA-3857-9308-4D38-9414B0CC2B95}"/>
          </ac:spMkLst>
        </pc:spChg>
        <pc:spChg chg="mod">
          <ac:chgData name="Darcy Roach" userId="ba676ee9-e9b4-49e8-a515-8077106c948d" providerId="ADAL" clId="{C71E24A0-328D-426B-B3AD-6D0851ED0941}" dt="2025-07-01T06:03:26.962" v="480" actId="20577"/>
          <ac:spMkLst>
            <pc:docMk/>
            <pc:sldMk cId="2144306671" sldId="272"/>
            <ac:spMk id="4" creationId="{80F49B2F-21D4-F9EB-049F-717A10CB7D84}"/>
          </ac:spMkLst>
        </pc:spChg>
        <pc:spChg chg="mod">
          <ac:chgData name="Darcy Roach" userId="ba676ee9-e9b4-49e8-a515-8077106c948d" providerId="ADAL" clId="{C71E24A0-328D-426B-B3AD-6D0851ED0941}" dt="2025-07-01T06:39:41.646" v="1167" actId="1076"/>
          <ac:spMkLst>
            <pc:docMk/>
            <pc:sldMk cId="2144306671" sldId="272"/>
            <ac:spMk id="6" creationId="{701E125D-B356-8A2A-B86B-AB6567CEABE1}"/>
          </ac:spMkLst>
        </pc:spChg>
        <pc:spChg chg="mod">
          <ac:chgData name="Darcy Roach" userId="ba676ee9-e9b4-49e8-a515-8077106c948d" providerId="ADAL" clId="{C71E24A0-328D-426B-B3AD-6D0851ED0941}" dt="2025-07-01T06:47:55.092" v="1340" actId="20577"/>
          <ac:spMkLst>
            <pc:docMk/>
            <pc:sldMk cId="2144306671" sldId="272"/>
            <ac:spMk id="8" creationId="{59FEB941-5146-6B10-4E4D-8A4ADE918AEF}"/>
          </ac:spMkLst>
        </pc:spChg>
        <pc:spChg chg="mod">
          <ac:chgData name="Darcy Roach" userId="ba676ee9-e9b4-49e8-a515-8077106c948d" providerId="ADAL" clId="{C71E24A0-328D-426B-B3AD-6D0851ED0941}" dt="2025-07-01T06:12:52.501" v="832"/>
          <ac:spMkLst>
            <pc:docMk/>
            <pc:sldMk cId="2144306671" sldId="272"/>
            <ac:spMk id="9" creationId="{DF2E6420-466B-9D77-B09F-7F5104668CF1}"/>
          </ac:spMkLst>
        </pc:spChg>
        <pc:spChg chg="mod">
          <ac:chgData name="Darcy Roach" userId="ba676ee9-e9b4-49e8-a515-8077106c948d" providerId="ADAL" clId="{C71E24A0-328D-426B-B3AD-6D0851ED0941}" dt="2025-07-01T06:47:47.967" v="1339" actId="20577"/>
          <ac:spMkLst>
            <pc:docMk/>
            <pc:sldMk cId="2144306671" sldId="272"/>
            <ac:spMk id="10" creationId="{06312B81-BCF1-2796-C112-3DBE0E02F483}"/>
          </ac:spMkLst>
        </pc:spChg>
        <pc:spChg chg="mod">
          <ac:chgData name="Darcy Roach" userId="ba676ee9-e9b4-49e8-a515-8077106c948d" providerId="ADAL" clId="{C71E24A0-328D-426B-B3AD-6D0851ED0941}" dt="2025-07-01T05:17:59.010" v="29" actId="20577"/>
          <ac:spMkLst>
            <pc:docMk/>
            <pc:sldMk cId="2144306671" sldId="272"/>
            <ac:spMk id="13" creationId="{FD2720C9-A79F-BD7F-E179-674AD67D7892}"/>
          </ac:spMkLst>
        </pc:spChg>
        <pc:spChg chg="mod">
          <ac:chgData name="Darcy Roach" userId="ba676ee9-e9b4-49e8-a515-8077106c948d" providerId="ADAL" clId="{C71E24A0-328D-426B-B3AD-6D0851ED0941}" dt="2025-07-01T05:34:09.471" v="246" actId="14100"/>
          <ac:spMkLst>
            <pc:docMk/>
            <pc:sldMk cId="2144306671" sldId="272"/>
            <ac:spMk id="17" creationId="{1BDE5051-9F34-F139-742D-4450E5D6591E}"/>
          </ac:spMkLst>
        </pc:spChg>
        <pc:spChg chg="mod">
          <ac:chgData name="Darcy Roach" userId="ba676ee9-e9b4-49e8-a515-8077106c948d" providerId="ADAL" clId="{C71E24A0-328D-426B-B3AD-6D0851ED0941}" dt="2025-07-01T06:05:52.368" v="589" actId="20577"/>
          <ac:spMkLst>
            <pc:docMk/>
            <pc:sldMk cId="2144306671" sldId="272"/>
            <ac:spMk id="26" creationId="{1A3D666D-00C8-D106-73C3-9FF300F8618C}"/>
          </ac:spMkLst>
        </pc:spChg>
        <pc:spChg chg="add del mod">
          <ac:chgData name="Darcy Roach" userId="ba676ee9-e9b4-49e8-a515-8077106c948d" providerId="ADAL" clId="{C71E24A0-328D-426B-B3AD-6D0851ED0941}" dt="2025-07-01T06:33:32.144" v="1011" actId="21"/>
          <ac:spMkLst>
            <pc:docMk/>
            <pc:sldMk cId="2144306671" sldId="272"/>
            <ac:spMk id="28" creationId="{6059F888-3BDF-A1C0-65E5-CB6FDD43D97C}"/>
          </ac:spMkLst>
        </pc:spChg>
        <pc:spChg chg="add mod">
          <ac:chgData name="Darcy Roach" userId="ba676ee9-e9b4-49e8-a515-8077106c948d" providerId="ADAL" clId="{C71E24A0-328D-426B-B3AD-6D0851ED0941}" dt="2025-07-01T06:38:01.289" v="1141" actId="20577"/>
          <ac:spMkLst>
            <pc:docMk/>
            <pc:sldMk cId="2144306671" sldId="272"/>
            <ac:spMk id="29" creationId="{05594B5E-0BF3-300C-7AFA-3A0F63F69A84}"/>
          </ac:spMkLst>
        </pc:spChg>
        <pc:spChg chg="add mod">
          <ac:chgData name="Darcy Roach" userId="ba676ee9-e9b4-49e8-a515-8077106c948d" providerId="ADAL" clId="{C71E24A0-328D-426B-B3AD-6D0851ED0941}" dt="2025-07-01T06:47:39.918" v="1337" actId="20577"/>
          <ac:spMkLst>
            <pc:docMk/>
            <pc:sldMk cId="2144306671" sldId="272"/>
            <ac:spMk id="30" creationId="{3A45CBCB-00C0-B64C-6896-9426870892A0}"/>
          </ac:spMkLst>
        </pc:spChg>
        <pc:spChg chg="mod">
          <ac:chgData name="Darcy Roach" userId="ba676ee9-e9b4-49e8-a515-8077106c948d" providerId="ADAL" clId="{C71E24A0-328D-426B-B3AD-6D0851ED0941}" dt="2025-07-01T06:46:42.601" v="1333" actId="20577"/>
          <ac:spMkLst>
            <pc:docMk/>
            <pc:sldMk cId="2144306671" sldId="272"/>
            <ac:spMk id="38" creationId="{AB47A2EE-BF0B-DB05-8B7C-DB6594B2B3D5}"/>
          </ac:spMkLst>
        </pc:spChg>
        <pc:spChg chg="mod">
          <ac:chgData name="Darcy Roach" userId="ba676ee9-e9b4-49e8-a515-8077106c948d" providerId="ADAL" clId="{C71E24A0-328D-426B-B3AD-6D0851ED0941}" dt="2025-07-01T06:46:57.218" v="1334" actId="1076"/>
          <ac:spMkLst>
            <pc:docMk/>
            <pc:sldMk cId="2144306671" sldId="272"/>
            <ac:spMk id="39" creationId="{3EA81938-6A76-B850-B0E8-A5F905AEBA98}"/>
          </ac:spMkLst>
        </pc:spChg>
        <pc:grpChg chg="mod">
          <ac:chgData name="Darcy Roach" userId="ba676ee9-e9b4-49e8-a515-8077106c948d" providerId="ADAL" clId="{C71E24A0-328D-426B-B3AD-6D0851ED0941}" dt="2025-07-01T06:46:57.218" v="1334" actId="1076"/>
          <ac:grpSpMkLst>
            <pc:docMk/>
            <pc:sldMk cId="2144306671" sldId="272"/>
            <ac:grpSpMk id="5" creationId="{980A06B1-0A2F-7DF6-91DB-0F6DFA896A23}"/>
          </ac:grpSpMkLst>
        </pc:grpChg>
        <pc:grpChg chg="add del mod">
          <ac:chgData name="Darcy Roach" userId="ba676ee9-e9b4-49e8-a515-8077106c948d" providerId="ADAL" clId="{C71E24A0-328D-426B-B3AD-6D0851ED0941}" dt="2025-07-01T06:33:32.144" v="1011" actId="21"/>
          <ac:grpSpMkLst>
            <pc:docMk/>
            <pc:sldMk cId="2144306671" sldId="272"/>
            <ac:grpSpMk id="18" creationId="{E0B3FDFC-4A78-346F-E1D4-E183BEB90A60}"/>
          </ac:grpSpMkLst>
        </pc:grpChg>
        <pc:grpChg chg="mod">
          <ac:chgData name="Darcy Roach" userId="ba676ee9-e9b4-49e8-a515-8077106c948d" providerId="ADAL" clId="{C71E24A0-328D-426B-B3AD-6D0851ED0941}" dt="2025-07-01T06:39:48.613" v="1168" actId="1076"/>
          <ac:grpSpMkLst>
            <pc:docMk/>
            <pc:sldMk cId="2144306671" sldId="272"/>
            <ac:grpSpMk id="163" creationId="{E52FDF9F-B084-9074-7DB9-539AD5456487}"/>
          </ac:grpSpMkLst>
        </pc:grpChg>
        <pc:cxnChg chg="mod">
          <ac:chgData name="Darcy Roach" userId="ba676ee9-e9b4-49e8-a515-8077106c948d" providerId="ADAL" clId="{C71E24A0-328D-426B-B3AD-6D0851ED0941}" dt="2025-07-01T06:39:41.646" v="1167" actId="1076"/>
          <ac:cxnSpMkLst>
            <pc:docMk/>
            <pc:sldMk cId="2144306671" sldId="272"/>
            <ac:cxnSpMk id="3" creationId="{67C34E10-2CF8-9BCA-1CC6-D78A3FF9CA80}"/>
          </ac:cxnSpMkLst>
        </pc:cxnChg>
        <pc:cxnChg chg="mod">
          <ac:chgData name="Darcy Roach" userId="ba676ee9-e9b4-49e8-a515-8077106c948d" providerId="ADAL" clId="{C71E24A0-328D-426B-B3AD-6D0851ED0941}" dt="2025-07-01T06:39:14.576" v="1162" actId="208"/>
          <ac:cxnSpMkLst>
            <pc:docMk/>
            <pc:sldMk cId="2144306671" sldId="272"/>
            <ac:cxnSpMk id="15" creationId="{F87F05F2-DA4C-4F55-A5D0-1887110DF155}"/>
          </ac:cxnSpMkLst>
        </pc:cxnChg>
        <pc:cxnChg chg="add mod">
          <ac:chgData name="Darcy Roach" userId="ba676ee9-e9b4-49e8-a515-8077106c948d" providerId="ADAL" clId="{C71E24A0-328D-426B-B3AD-6D0851ED0941}" dt="2025-07-01T06:38:38.150" v="1158" actId="14100"/>
          <ac:cxnSpMkLst>
            <pc:docMk/>
            <pc:sldMk cId="2144306671" sldId="272"/>
            <ac:cxnSpMk id="24" creationId="{93662144-C752-EBCB-57D3-D4716E1F4B77}"/>
          </ac:cxnSpMkLst>
        </pc:cxnChg>
        <pc:cxnChg chg="mod">
          <ac:chgData name="Darcy Roach" userId="ba676ee9-e9b4-49e8-a515-8077106c948d" providerId="ADAL" clId="{C71E24A0-328D-426B-B3AD-6D0851ED0941}" dt="2025-07-01T06:42:53.284" v="1266"/>
          <ac:cxnSpMkLst>
            <pc:docMk/>
            <pc:sldMk cId="2144306671" sldId="272"/>
            <ac:cxnSpMk id="40" creationId="{872A9DC1-BA60-5A54-0907-130AE22B314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388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29" b="0" i="0" u="none" strike="noStrike" kern="1200" cap="none" spc="0" normalizeH="0" baseline="0" noProof="0">
              <a:ln>
                <a:noFill/>
              </a:ln>
              <a:solidFill>
                <a:srgbClr val="4472C4">
                  <a:lumMod val="20000"/>
                  <a:lumOff val="8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158595" y="120831"/>
            <a:ext cx="216886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David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Povey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162231" y="1659475"/>
            <a:ext cx="2990142" cy="28693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000" spc="13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David is a highly effective and experienced Data Architect, known for his strategic thinking, technical depth, and ability to engage and align with stakeholders across all levels. With a strong focus on delivering business value through data, David brings a blend of architectural vision, consultancy experience, and hands-on technical capability to every engagement. </a:t>
            </a:r>
          </a:p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sz="1000" spc="13" dirty="0">
              <a:solidFill>
                <a:prstClr val="black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000" spc="13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He has led data initiatives across complex organisations in the Government, Financial Services, Technology, Real Estate &amp; Telecommunications Sectors. David is equally comfortable in the weeds of technical delivery or working at the strategic level - always with a clear eye on outcomes.</a:t>
            </a:r>
            <a:endParaRPr kumimoji="0" lang="en-AU" sz="1000" b="0" i="0" u="none" strike="noStrike" kern="1200" cap="none" spc="13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84993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13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kumimoji="0" lang="en-US" sz="400" b="1" i="0" u="none" strike="noStrike" kern="1200" cap="none" spc="13" normalizeH="0" baseline="0" noProof="0">
              <a:ln>
                <a:noFill/>
              </a:ln>
              <a:solidFill>
                <a:srgbClr val="00AB80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158595" y="1007347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13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642327" y="5747849"/>
            <a:ext cx="1510046" cy="258532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Google Cloud Platform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Microsoft Azure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Amazon Web Services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Snowflake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Power BI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Spark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SQL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Postgres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Mongo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Terraform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Python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Kafka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Java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2459727"/>
            <a:ext cx="0" cy="2152394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E52FDF9F-B084-9074-7DB9-539AD5456487}"/>
              </a:ext>
            </a:extLst>
          </p:cNvPr>
          <p:cNvGrpSpPr/>
          <p:nvPr/>
        </p:nvGrpSpPr>
        <p:grpSpPr>
          <a:xfrm>
            <a:off x="3428144" y="5108491"/>
            <a:ext cx="4607316" cy="2708434"/>
            <a:chOff x="5030740" y="2268038"/>
            <a:chExt cx="4921326" cy="270843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312B81-BCF1-2796-C112-3DBE0E02F483}"/>
                </a:ext>
              </a:extLst>
            </p:cNvPr>
            <p:cNvSpPr txBox="1"/>
            <p:nvPr/>
          </p:nvSpPr>
          <p:spPr>
            <a:xfrm>
              <a:off x="5059473" y="2268038"/>
              <a:ext cx="4892593" cy="2708434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Centre of excellence for digital services/data in the UK government. Worked as a Data Architect in the Data and Insights division for the main UK government website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Heavily promoted a data-driven culture change amongst senior leaders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Conducted data architectural review, collaborating with other senior professionals, and planned roadmap to integrate across data silos, converge on technologies, and enhance data governance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AU" sz="1000" dirty="0">
                  <a:solidFill>
                    <a:prstClr val="white"/>
                  </a:solidFill>
                </a:rPr>
                <a:t>S</a:t>
              </a:r>
              <a:r>
                <a:rPr kumimoji="0" lang="en-AU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et up a new data warehouse, serving data analysts with high-quality data for reporting and insights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Instigated and designed a federated, mesh data architecture, including data governance and management, which supported a decentralised, domain-oriented ownership/management of data across varied storage technologies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AU" sz="1000" dirty="0">
                  <a:solidFill>
                    <a:prstClr val="white"/>
                  </a:solidFill>
                </a:rPr>
                <a:t>S</a:t>
              </a:r>
              <a:r>
                <a:rPr kumimoji="0" lang="en-AU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et up domain-based data models, advised data engineers and data scientists on coding patterns/best practice for data pipelines, and set up a data asset register. Used Azure, AWS storage technologies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7F05F2-DA4C-4F55-A5D0-1887110DF155}"/>
                </a:ext>
              </a:extLst>
            </p:cNvPr>
            <p:cNvCxnSpPr>
              <a:cxnSpLocks/>
            </p:cNvCxnSpPr>
            <p:nvPr/>
          </p:nvCxnSpPr>
          <p:spPr>
            <a:xfrm>
              <a:off x="5030740" y="2356080"/>
              <a:ext cx="0" cy="2306344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3812263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38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568418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388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Industry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388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4027707"/>
            <a:ext cx="1951941" cy="1754326"/>
            <a:chOff x="8106458" y="2681447"/>
            <a:chExt cx="1951941" cy="175432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  <a:defRPr/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  <a:defRPr/>
              </a:pPr>
              <a:r>
                <a:rPr lang="en-US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Doctorate 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– Philosophy, Geophysics/Geology, University of Oxford (UK)</a:t>
              </a:r>
            </a:p>
            <a:p>
              <a:pPr>
                <a:tabLst>
                  <a:tab pos="3819525" algn="l"/>
                  <a:tab pos="3895725" algn="l"/>
                </a:tabLst>
                <a:defRPr/>
              </a:pPr>
              <a:endParaRPr lang="en-US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r>
                <a:rPr lang="en-US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Bachelors Degree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Roboto Light" panose="02000000000000000000" pitchFamily="2" charset="0"/>
                  <a:ea typeface="Calibri" panose="020F0502020204030204" pitchFamily="34" charset="0"/>
                  <a:cs typeface="+mn-cs"/>
                </a:rPr>
                <a:t>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Roboto Light" panose="02000000000000000000" pitchFamily="2" charset="0"/>
                  <a:ea typeface="Calibri" panose="020F0502020204030204" pitchFamily="34" charset="0"/>
                  <a:cs typeface="+mn-cs"/>
                </a:rPr>
                <a:t>– Earth Sciences, Geology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, University of Oxford (UK)</a:t>
              </a: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Calibri" panose="020F0502020204030204" pitchFamily="34" charset="0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endPara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FA774CA-3857-9308-4D38-9414B0CC2B95}"/>
              </a:ext>
            </a:extLst>
          </p:cNvPr>
          <p:cNvSpPr txBox="1"/>
          <p:nvPr/>
        </p:nvSpPr>
        <p:spPr>
          <a:xfrm>
            <a:off x="3335753" y="4831492"/>
            <a:ext cx="3526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UK Government</a:t>
            </a:r>
            <a:r>
              <a: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Organisation – Data Architect</a:t>
            </a:r>
            <a:endParaRPr kumimoji="0" lang="en-AU" sz="1200" b="1" i="0" u="none" strike="noStrike" kern="1200" cap="none" spc="0" normalizeH="0" baseline="0" noProof="0" dirty="0">
              <a:ln>
                <a:noFill/>
              </a:ln>
              <a:solidFill>
                <a:srgbClr val="A93584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46652" y="5747849"/>
            <a:ext cx="1510046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Architecture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</a:t>
            </a:r>
            <a:r>
              <a:rPr lang="en-US" sz="900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Strategy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</a:t>
            </a:r>
            <a:r>
              <a:rPr lang="en-US" sz="900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Compliance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Integration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Migration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Data Visualisation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Data Governance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Data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Warehousing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Business Intelligence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AI/M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6" y="2109558"/>
            <a:ext cx="4705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Australian Financial Services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Organisation</a:t>
            </a:r>
            <a:r>
              <a:rPr kumimoji="0" lang="en-AU" sz="12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– Data Architect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FEB941-5146-6B10-4E4D-8A4ADE918AEF}"/>
              </a:ext>
            </a:extLst>
          </p:cNvPr>
          <p:cNvSpPr txBox="1"/>
          <p:nvPr/>
        </p:nvSpPr>
        <p:spPr>
          <a:xfrm>
            <a:off x="3463961" y="2386284"/>
            <a:ext cx="4571499" cy="240065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Reviewed existing architecture and planned roadmap for uplift - enhanced data governance, met outlined obligations, prevented data silos</a:t>
            </a:r>
          </a:p>
          <a:p>
            <a:pPr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Designed and oversaw data platform architecture to meet new AI initiatives, working heavily with the data science team</a:t>
            </a:r>
          </a:p>
          <a:p>
            <a:pPr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Enhanced data governance architecture to improve data quality, minimisation, lineage, discoverability, ownership/stewardship. Wrote data governance policy</a:t>
            </a:r>
          </a:p>
          <a:p>
            <a:pPr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Enhanced data management controls, covering areas of security, retention, data taxonomies, and integrated this with the wider organisation</a:t>
            </a:r>
          </a:p>
          <a:p>
            <a:pPr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Set up data asset register and data asset audits</a:t>
            </a:r>
          </a:p>
          <a:p>
            <a:pPr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Provided data consultancy across organisation, including data insights and AI/ML, working across diverse group of technology, business, and legal/risk stakeholders</a:t>
            </a:r>
          </a:p>
          <a:p>
            <a:pPr>
              <a:defRPr/>
            </a:pPr>
            <a:r>
              <a:rPr lang="en-AU" sz="1000" dirty="0">
                <a:solidFill>
                  <a:prstClr val="white"/>
                </a:solidFill>
              </a:rPr>
              <a:t>T</a:t>
            </a:r>
            <a:r>
              <a:rPr kumimoji="0" lang="en-AU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ailored</a:t>
            </a: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 communications to diverse audiences, including communicating technical/data concepts to non-technical stakeholders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2E6420-466B-9D77-B09F-7F5104668CF1}"/>
              </a:ext>
            </a:extLst>
          </p:cNvPr>
          <p:cNvSpPr txBox="1"/>
          <p:nvPr/>
        </p:nvSpPr>
        <p:spPr>
          <a:xfrm>
            <a:off x="8118489" y="1456630"/>
            <a:ext cx="1951941" cy="144655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Government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Financial Services Technology</a:t>
            </a:r>
          </a:p>
          <a:p>
            <a:pPr marL="0" lvl="0" indent="0">
              <a:lnSpc>
                <a:spcPct val="150000"/>
              </a:lnSpc>
              <a:buNone/>
              <a:defRPr/>
            </a:pPr>
            <a:r>
              <a:rPr lang="en-AU" sz="1200" dirty="0">
                <a:solidFill>
                  <a:srgbClr val="00AB80"/>
                </a:solidFill>
              </a:rPr>
              <a:t>Telecommunications</a:t>
            </a:r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srgbClr val="00AB80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Real Estate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AB80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3662144-C752-EBCB-57D3-D4716E1F4B77}"/>
              </a:ext>
            </a:extLst>
          </p:cNvPr>
          <p:cNvCxnSpPr>
            <a:cxnSpLocks/>
          </p:cNvCxnSpPr>
          <p:nvPr/>
        </p:nvCxnSpPr>
        <p:spPr>
          <a:xfrm>
            <a:off x="3434874" y="1430291"/>
            <a:ext cx="0" cy="557997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5594B5E-0BF3-300C-7AFA-3A0F63F69A84}"/>
              </a:ext>
            </a:extLst>
          </p:cNvPr>
          <p:cNvSpPr txBox="1"/>
          <p:nvPr/>
        </p:nvSpPr>
        <p:spPr>
          <a:xfrm>
            <a:off x="3327997" y="1080122"/>
            <a:ext cx="4705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59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Australian </a:t>
            </a:r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Government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59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59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Organisation</a:t>
            </a:r>
            <a:r>
              <a:rPr kumimoji="0" lang="en-AU" sz="1200" b="1" i="0" u="none" strike="noStrike" kern="1200" cap="none" spc="0" normalizeH="0" baseline="0" noProof="0" dirty="0">
                <a:ln>
                  <a:noFill/>
                </a:ln>
                <a:solidFill>
                  <a:srgbClr val="0059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– Data Architect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45CBCB-00C0-B64C-6896-9426870892A0}"/>
              </a:ext>
            </a:extLst>
          </p:cNvPr>
          <p:cNvSpPr txBox="1"/>
          <p:nvPr/>
        </p:nvSpPr>
        <p:spPr>
          <a:xfrm>
            <a:off x="3470692" y="1356848"/>
            <a:ext cx="4571499" cy="70788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Reviewed existing data platform architecture and designed improvements to meet current and future business needs, including data roadmap</a:t>
            </a:r>
          </a:p>
          <a:p>
            <a:pPr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Enhanced data architecture to improve data quality, lineage</a:t>
            </a:r>
          </a:p>
          <a:p>
            <a:pPr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Worked on data </a:t>
            </a:r>
            <a:r>
              <a:rPr kumimoji="0" lang="en-AU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lakehouse</a:t>
            </a: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 (Azure Synapse, </a:t>
            </a:r>
            <a:r>
              <a:rPr kumimoji="0" lang="en-AU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PySpark</a:t>
            </a: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, Purview)</a:t>
            </a:r>
          </a:p>
        </p:txBody>
      </p:sp>
    </p:spTree>
    <p:extLst>
      <p:ext uri="{BB962C8B-B14F-4D97-AF65-F5344CB8AC3E}">
        <p14:creationId xmlns:p14="http://schemas.microsoft.com/office/powerpoint/2010/main" val="2144306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EDE27A-5D3F-48EC-A4D1-3F35063BDC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BCFD15-CFFF-49AE-B6C5-12DE46320969}">
  <ds:schemaRefs>
    <ds:schemaRef ds:uri="http://schemas.microsoft.com/office/infopath/2007/PartnerControls"/>
    <ds:schemaRef ds:uri="daf93972-1964-4522-aa34-640805a01c3a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e52cd9e7-35e5-4bd3-9cab-ca6a63c31e52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4202322-7895-4F4E-BDC3-9E5B84FEE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f93972-1964-4522-aa34-640805a01c3a"/>
    <ds:schemaRef ds:uri="e52cd9e7-35e5-4bd3-9cab-ca6a63c31e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1472</TotalTime>
  <Words>551</Words>
  <Application>Microsoft Office PowerPoint</Application>
  <PresentationFormat>Custom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Libre Caslon Text</vt:lpstr>
      <vt:lpstr>Roboto</vt:lpstr>
      <vt:lpstr>Roboto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3</cp:revision>
  <dcterms:created xsi:type="dcterms:W3CDTF">2019-12-03T01:50:37Z</dcterms:created>
  <dcterms:modified xsi:type="dcterms:W3CDTF">2025-07-01T06:47:58Z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