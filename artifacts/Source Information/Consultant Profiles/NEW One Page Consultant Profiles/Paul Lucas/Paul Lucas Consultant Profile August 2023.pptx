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1104E5-980B-0CC2-673D-AAE5E2397F05}" v="15" dt="2024-10-28T01:37:55.3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878" y="6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CD70FA04-6D0B-4BE5-B943-FE862926E388}"/>
    <pc:docChg chg="modSld">
      <pc:chgData name="Darcy Roach" userId="ba676ee9-e9b4-49e8-a515-8077106c948d" providerId="ADAL" clId="{CD70FA04-6D0B-4BE5-B943-FE862926E388}" dt="2023-08-03T00:40:16.539" v="67" actId="20577"/>
      <pc:docMkLst>
        <pc:docMk/>
      </pc:docMkLst>
      <pc:sldChg chg="modSp mod">
        <pc:chgData name="Darcy Roach" userId="ba676ee9-e9b4-49e8-a515-8077106c948d" providerId="ADAL" clId="{CD70FA04-6D0B-4BE5-B943-FE862926E388}" dt="2023-08-03T00:40:16.539" v="67" actId="20577"/>
        <pc:sldMkLst>
          <pc:docMk/>
          <pc:sldMk cId="2009923557" sldId="270"/>
        </pc:sldMkLst>
        <pc:spChg chg="mod">
          <ac:chgData name="Darcy Roach" userId="ba676ee9-e9b4-49e8-a515-8077106c948d" providerId="ADAL" clId="{CD70FA04-6D0B-4BE5-B943-FE862926E388}" dt="2023-08-03T00:38:17.570" v="24" actId="20577"/>
          <ac:spMkLst>
            <pc:docMk/>
            <pc:sldMk cId="2009923557" sldId="270"/>
            <ac:spMk id="13" creationId="{FD2720C9-A79F-BD7F-E179-674AD67D7892}"/>
          </ac:spMkLst>
        </pc:spChg>
        <pc:spChg chg="mod">
          <ac:chgData name="Darcy Roach" userId="ba676ee9-e9b4-49e8-a515-8077106c948d" providerId="ADAL" clId="{CD70FA04-6D0B-4BE5-B943-FE862926E388}" dt="2023-08-03T00:40:16.539" v="67" actId="20577"/>
          <ac:spMkLst>
            <pc:docMk/>
            <pc:sldMk cId="2009923557" sldId="270"/>
            <ac:spMk id="17" creationId="{1BDE5051-9F34-F139-742D-4450E5D6591E}"/>
          </ac:spMkLst>
        </pc:spChg>
        <pc:spChg chg="mod">
          <ac:chgData name="Darcy Roach" userId="ba676ee9-e9b4-49e8-a515-8077106c948d" providerId="ADAL" clId="{CD70FA04-6D0B-4BE5-B943-FE862926E388}" dt="2023-08-03T00:38:36.114" v="56" actId="20577"/>
          <ac:spMkLst>
            <pc:docMk/>
            <pc:sldMk cId="2009923557" sldId="270"/>
            <ac:spMk id="22" creationId="{9D4E289E-1D52-CBDD-E381-40963429D7F1}"/>
          </ac:spMkLst>
        </pc:spChg>
      </pc:sldChg>
    </pc:docChg>
  </pc:docChgLst>
  <pc:docChgLst>
    <pc:chgData name="Hugo Bates" userId="S::hugo.bates@intelia.com.au::ba74953f-2fdb-4aeb-90e3-56b78010c38c" providerId="AD" clId="Web-{191104E5-980B-0CC2-673D-AAE5E2397F05}"/>
    <pc:docChg chg="modSld">
      <pc:chgData name="Hugo Bates" userId="S::hugo.bates@intelia.com.au::ba74953f-2fdb-4aeb-90e3-56b78010c38c" providerId="AD" clId="Web-{191104E5-980B-0CC2-673D-AAE5E2397F05}" dt="2024-10-28T01:37:55.323" v="11" actId="1076"/>
      <pc:docMkLst>
        <pc:docMk/>
      </pc:docMkLst>
      <pc:sldChg chg="modSp">
        <pc:chgData name="Hugo Bates" userId="S::hugo.bates@intelia.com.au::ba74953f-2fdb-4aeb-90e3-56b78010c38c" providerId="AD" clId="Web-{191104E5-980B-0CC2-673D-AAE5E2397F05}" dt="2024-10-28T01:37:55.323" v="11" actId="1076"/>
        <pc:sldMkLst>
          <pc:docMk/>
          <pc:sldMk cId="2009923557" sldId="270"/>
        </pc:sldMkLst>
        <pc:spChg chg="mod">
          <ac:chgData name="Hugo Bates" userId="S::hugo.bates@intelia.com.au::ba74953f-2fdb-4aeb-90e3-56b78010c38c" providerId="AD" clId="Web-{191104E5-980B-0CC2-673D-AAE5E2397F05}" dt="2024-10-28T01:37:50.589" v="10" actId="1076"/>
          <ac:spMkLst>
            <pc:docMk/>
            <pc:sldMk cId="2009923557" sldId="270"/>
            <ac:spMk id="38" creationId="{AB47A2EE-BF0B-DB05-8B7C-DB6594B2B3D5}"/>
          </ac:spMkLst>
        </pc:spChg>
        <pc:spChg chg="mod">
          <ac:chgData name="Hugo Bates" userId="S::hugo.bates@intelia.com.au::ba74953f-2fdb-4aeb-90e3-56b78010c38c" providerId="AD" clId="Web-{191104E5-980B-0CC2-673D-AAE5E2397F05}" dt="2024-10-28T01:37:55.323" v="11" actId="1076"/>
          <ac:spMkLst>
            <pc:docMk/>
            <pc:sldMk cId="2009923557" sldId="270"/>
            <ac:spMk id="48" creationId="{2E936835-C132-4204-2E91-FE9D8E6EC671}"/>
          </ac:spMkLst>
        </pc:spChg>
        <pc:grpChg chg="mod">
          <ac:chgData name="Hugo Bates" userId="S::hugo.bates@intelia.com.au::ba74953f-2fdb-4aeb-90e3-56b78010c38c" providerId="AD" clId="Web-{191104E5-980B-0CC2-673D-AAE5E2397F05}" dt="2024-10-28T01:37:37.964" v="8" actId="1076"/>
          <ac:grpSpMkLst>
            <pc:docMk/>
            <pc:sldMk cId="2009923557" sldId="270"/>
            <ac:grpSpMk id="5" creationId="{980A06B1-0A2F-7DF6-91DB-0F6DFA896A23}"/>
          </ac:grpSpMkLst>
        </pc:grpChg>
      </pc:sldChg>
    </pc:docChg>
  </pc:docChgLst>
  <pc:docChgLst>
    <pc:chgData name="Darcy Roach" userId="ba676ee9-e9b4-49e8-a515-8077106c948d" providerId="ADAL" clId="{0122BD0D-EAE4-47C7-A9C0-212E23699483}"/>
    <pc:docChg chg="modSld">
      <pc:chgData name="Darcy Roach" userId="ba676ee9-e9b4-49e8-a515-8077106c948d" providerId="ADAL" clId="{0122BD0D-EAE4-47C7-A9C0-212E23699483}" dt="2024-09-13T00:19:47.985" v="4" actId="20577"/>
      <pc:docMkLst>
        <pc:docMk/>
      </pc:docMkLst>
      <pc:sldChg chg="modSp mod">
        <pc:chgData name="Darcy Roach" userId="ba676ee9-e9b4-49e8-a515-8077106c948d" providerId="ADAL" clId="{0122BD0D-EAE4-47C7-A9C0-212E23699483}" dt="2024-09-13T00:19:47.985" v="4" actId="20577"/>
        <pc:sldMkLst>
          <pc:docMk/>
          <pc:sldMk cId="2009923557" sldId="270"/>
        </pc:sldMkLst>
        <pc:spChg chg="mod">
          <ac:chgData name="Darcy Roach" userId="ba676ee9-e9b4-49e8-a515-8077106c948d" providerId="ADAL" clId="{0122BD0D-EAE4-47C7-A9C0-212E23699483}" dt="2024-09-13T00:19:47.985" v="4" actId="20577"/>
          <ac:spMkLst>
            <pc:docMk/>
            <pc:sldMk cId="2009923557" sldId="270"/>
            <ac:spMk id="17" creationId="{1BDE5051-9F34-F139-742D-4450E5D6591E}"/>
          </ac:spMkLst>
        </pc:spChg>
      </pc:sldChg>
    </pc:docChg>
  </pc:docChgLst>
  <pc:docChgLst>
    <pc:chgData name="Darcy Roach" userId="ba676ee9-e9b4-49e8-a515-8077106c948d" providerId="ADAL" clId="{5157AEAD-D033-4B28-A19B-3536EF943858}"/>
    <pc:docChg chg="modSld">
      <pc:chgData name="Darcy Roach" userId="ba676ee9-e9b4-49e8-a515-8077106c948d" providerId="ADAL" clId="{5157AEAD-D033-4B28-A19B-3536EF943858}" dt="2024-02-27T06:03:39.817" v="16" actId="20577"/>
      <pc:docMkLst>
        <pc:docMk/>
      </pc:docMkLst>
      <pc:sldChg chg="modSp mod">
        <pc:chgData name="Darcy Roach" userId="ba676ee9-e9b4-49e8-a515-8077106c948d" providerId="ADAL" clId="{5157AEAD-D033-4B28-A19B-3536EF943858}" dt="2024-02-27T06:03:39.817" v="16" actId="20577"/>
        <pc:sldMkLst>
          <pc:docMk/>
          <pc:sldMk cId="2009923557" sldId="270"/>
        </pc:sldMkLst>
        <pc:spChg chg="mod">
          <ac:chgData name="Darcy Roach" userId="ba676ee9-e9b4-49e8-a515-8077106c948d" providerId="ADAL" clId="{5157AEAD-D033-4B28-A19B-3536EF943858}" dt="2024-02-27T06:03:39.817" v="16" actId="20577"/>
          <ac:spMkLst>
            <pc:docMk/>
            <pc:sldMk cId="2009923557" sldId="270"/>
            <ac:spMk id="22" creationId="{9D4E289E-1D52-CBDD-E381-40963429D7F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10/27/2024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10/27/2024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10/27/2024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10/27/2024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Paul </a:t>
            </a:r>
          </a:p>
          <a:p>
            <a:r>
              <a:rPr lang="en-US" sz="2800" b="1" dirty="0">
                <a:solidFill>
                  <a:srgbClr val="00AB80"/>
                </a:solidFill>
                <a:latin typeface="Roboto" panose="02000000000000000000" pitchFamily="2" charset="0"/>
                <a:ea typeface="Roboto" panose="02000000000000000000" pitchFamily="2" charset="0"/>
              </a:rPr>
              <a:t>Lucas</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8" y="1634583"/>
            <a:ext cx="2904483" cy="3077766"/>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Paul has over 25 years’ experience in helping large companies to plan and implement programs that enable new operating models through the adoption of innovative technology.</a:t>
            </a:r>
          </a:p>
          <a:p>
            <a:pPr algn="l"/>
            <a:endParaRPr lang="en-AU" sz="1000" spc="13" dirty="0">
              <a:latin typeface="Roboto Light"/>
              <a:ea typeface="Roboto Light"/>
              <a:cs typeface="Lato"/>
            </a:endParaRPr>
          </a:p>
          <a:p>
            <a:pPr algn="l"/>
            <a:r>
              <a:rPr lang="en-AU" sz="1000" spc="13" dirty="0">
                <a:latin typeface="Roboto Light"/>
                <a:ea typeface="Roboto Light"/>
                <a:cs typeface="Lato"/>
              </a:rPr>
              <a:t>Paul has a wealth of experience across the full SDLC with specialist skills in the areas of solution design and data architecture, cloud application development, digital consulting, emerging technology implementation and project management. With a diverse background working in primarily financial services, utilities and government sectors.  </a:t>
            </a:r>
          </a:p>
          <a:p>
            <a:pPr algn="l"/>
            <a:endParaRPr lang="en-AU" sz="1000" spc="13" dirty="0">
              <a:latin typeface="Roboto Light"/>
              <a:ea typeface="Roboto Light"/>
              <a:cs typeface="Lato"/>
            </a:endParaRPr>
          </a:p>
          <a:p>
            <a:pPr algn="l"/>
            <a:r>
              <a:rPr lang="en-AU" sz="1000" spc="13" dirty="0">
                <a:latin typeface="Roboto Light"/>
                <a:ea typeface="Roboto Light"/>
                <a:cs typeface="Lato"/>
              </a:rPr>
              <a:t>Paul has a proven track record of success in delivering complex projects that deliver business results within an agreed budget and schedule. He is experienced in managing stakeholder engagement, producing high-quality solution designs &amp; leading development teams.</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93950"/>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Google Data Studio</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err="1">
                <a:latin typeface="Roboto Light" panose="02000000000000000000" pitchFamily="2" charset="0"/>
                <a:ea typeface="Roboto Light" panose="02000000000000000000" pitchFamily="2" charset="0"/>
              </a:rPr>
              <a:t>Linx</a:t>
            </a:r>
            <a:r>
              <a:rPr lang="en-US" sz="900">
                <a:latin typeface="Roboto Light" panose="02000000000000000000" pitchFamily="2" charset="0"/>
                <a:ea typeface="Roboto Light" panose="02000000000000000000" pitchFamily="2" charset="0"/>
              </a:rPr>
              <a:t>/Unix Scripting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Confluence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.NET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a:buClr>
                <a:srgbClr val="00AB80"/>
              </a:buCl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19232"/>
            <a:ext cx="0" cy="174781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048197"/>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1954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37069"/>
            <a:ext cx="1951941" cy="3970318"/>
            <a:chOff x="8106458" y="2615016"/>
            <a:chExt cx="1951941" cy="397031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15016"/>
              <a:ext cx="1951941" cy="3970318"/>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Cloud Architect</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Amazon Webservices</a:t>
              </a:r>
              <a:r>
                <a:rPr lang="en-GB" sz="1200" dirty="0">
                  <a:solidFill>
                    <a:srgbClr val="00AB80"/>
                  </a:solidFill>
                  <a:effectLst/>
                  <a:latin typeface="Roboto Light" panose="02000000000000000000" pitchFamily="2" charset="0"/>
                  <a:ea typeface="Calibri" panose="020F0502020204030204" pitchFamily="34" charset="0"/>
                </a:rPr>
                <a:t> Certified | </a:t>
              </a:r>
              <a:r>
                <a:rPr lang="en-GB" sz="1200" dirty="0">
                  <a:solidFill>
                    <a:srgbClr val="00AB80"/>
                  </a:solidFill>
                  <a:latin typeface="Roboto Light" panose="02000000000000000000" pitchFamily="2" charset="0"/>
                  <a:ea typeface="Calibri" panose="020F0502020204030204" pitchFamily="34" charset="0"/>
                </a:rPr>
                <a:t>Solution Architect</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Snowflake | </a:t>
              </a:r>
              <a:r>
                <a:rPr lang="en-GB" sz="1200" dirty="0" err="1">
                  <a:solidFill>
                    <a:srgbClr val="00AB80"/>
                  </a:solidFill>
                  <a:latin typeface="Roboto Light" panose="02000000000000000000" pitchFamily="2" charset="0"/>
                  <a:ea typeface="Calibri" panose="020F0502020204030204" pitchFamily="34" charset="0"/>
                </a:rPr>
                <a:t>SnowPro</a:t>
              </a:r>
              <a:r>
                <a:rPr lang="en-GB" sz="1200" dirty="0">
                  <a:solidFill>
                    <a:srgbClr val="00AB80"/>
                  </a:solidFill>
                  <a:latin typeface="Roboto Light" panose="02000000000000000000" pitchFamily="2" charset="0"/>
                  <a:ea typeface="Calibri" panose="020F0502020204030204" pitchFamily="34" charset="0"/>
                </a:rPr>
                <a:t> Core Certified</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Master’s</a:t>
              </a:r>
              <a:r>
                <a:rPr lang="en-GB" sz="1200" dirty="0">
                  <a:solidFill>
                    <a:srgbClr val="00AB80"/>
                  </a:solidFill>
                  <a:effectLst/>
                  <a:latin typeface="Roboto Light" panose="02000000000000000000" pitchFamily="2" charset="0"/>
                  <a:ea typeface="Calibri" panose="020F0502020204030204" pitchFamily="34" charset="0"/>
                </a:rPr>
                <a:t> Degree </a:t>
              </a:r>
              <a:r>
                <a:rPr lang="en-GB" sz="1200" dirty="0">
                  <a:solidFill>
                    <a:srgbClr val="00AB80"/>
                  </a:solidFill>
                  <a:latin typeface="Roboto Light" panose="02000000000000000000" pitchFamily="2" charset="0"/>
                  <a:ea typeface="Calibri" panose="020F0502020204030204" pitchFamily="34" charset="0"/>
                </a:rPr>
                <a:t>| Computer Application</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Bachelor's Degree | Computer Science</a:t>
              </a:r>
              <a:endParaRPr lang="en-GB" sz="1200" dirty="0">
                <a:solidFill>
                  <a:srgbClr val="00AB80"/>
                </a:solidFill>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27339" y="5698493"/>
            <a:ext cx="1557991"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AWS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Cloud Computing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6883"/>
            <a:ext cx="4631164" cy="461665"/>
          </a:xfrm>
          <a:prstGeom prst="rect">
            <a:avLst/>
          </a:prstGeom>
          <a:noFill/>
        </p:spPr>
        <p:txBody>
          <a:bodyPr wrap="square" rtlCol="0">
            <a:spAutoFit/>
          </a:bodyPr>
          <a:lstStyle/>
          <a:p>
            <a:r>
              <a:rPr lang="en-AU" sz="1200" b="1">
                <a:solidFill>
                  <a:srgbClr val="0059FF"/>
                </a:solidFill>
                <a:latin typeface="Roboto" panose="02000000000000000000" pitchFamily="2" charset="0"/>
                <a:ea typeface="Roboto" panose="02000000000000000000" pitchFamily="2" charset="0"/>
              </a:rPr>
              <a:t>Financial Services Organisation – Senior Data Engineer</a:t>
            </a:r>
          </a:p>
          <a:p>
            <a:endParaRPr lang="en-AU" sz="1200" b="1">
              <a:solidFill>
                <a:srgbClr val="0059FF"/>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232965"/>
            <a:ext cx="4533549" cy="196977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a:solidFill>
                <a:schemeClr val="bg1"/>
              </a:solidFill>
            </a:endParaRPr>
          </a:p>
          <a:p>
            <a:r>
              <a:rPr lang="en-AU" sz="1000">
                <a:solidFill>
                  <a:schemeClr val="bg1"/>
                </a:solidFill>
              </a:rPr>
              <a:t>Owned engineering process by providing technical leadership and people management skills to build, plan and guide the data engineers across various micro UDP teams</a:t>
            </a:r>
          </a:p>
          <a:p>
            <a:r>
              <a:rPr lang="en-AU" sz="1000">
                <a:solidFill>
                  <a:schemeClr val="bg1"/>
                </a:solidFill>
              </a:rPr>
              <a:t>Writing data platform technical design in way that it gives clear direction to developers/data engineers to build, test their data pipelines</a:t>
            </a:r>
          </a:p>
          <a:p>
            <a:r>
              <a:rPr lang="en-AU" sz="1000">
                <a:solidFill>
                  <a:schemeClr val="bg1"/>
                </a:solidFill>
              </a:rPr>
              <a:t>Working with platform engineers, security and architects across the enterprise seeking endorsements, unblock issues impacting the delivery</a:t>
            </a:r>
          </a:p>
          <a:p>
            <a:r>
              <a:rPr lang="en-AU" sz="1000">
                <a:solidFill>
                  <a:schemeClr val="bg1"/>
                </a:solidFill>
              </a:rPr>
              <a:t>Worked closely with UDP delivery managers, product managers to plan out future build and release use cases</a:t>
            </a:r>
          </a:p>
          <a:p>
            <a:r>
              <a:rPr lang="en-AU" sz="1000">
                <a:solidFill>
                  <a:schemeClr val="bg1"/>
                </a:solidFill>
              </a:rPr>
              <a:t>Provided common best practices that guides the developers/data engineers to build/develop and deploy data pipelines leveraging Google Cloud Dataflow, Google Cloud Composer, </a:t>
            </a:r>
            <a:r>
              <a:rPr lang="en-AU" sz="1000" err="1">
                <a:solidFill>
                  <a:schemeClr val="bg1"/>
                </a:solidFill>
              </a:rPr>
              <a:t>BigQuery</a:t>
            </a:r>
            <a:endParaRPr lang="en-AU" sz="1000">
              <a:solidFill>
                <a:schemeClr val="bg1"/>
              </a:solidFill>
            </a:endParaRP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3262580"/>
            <a:ext cx="5029198" cy="2159241"/>
            <a:chOff x="3335753" y="2997642"/>
            <a:chExt cx="5029198" cy="2293521"/>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336592"/>
              <a:ext cx="0" cy="187102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90375"/>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Financial Services Organisation – Senior Data Engineer</a:t>
              </a:r>
            </a:p>
            <a:p>
              <a:endParaRPr lang="en-AU" sz="1200" b="1">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5" y="3198896"/>
              <a:ext cx="4542461" cy="209226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a:p>
            <a:p>
              <a:r>
                <a:rPr lang="en-AU" sz="1000"/>
                <a:t>Lead a team of Data Analysts, to migrate legacy data from various sources into Google Cloud SQL for Record Keeping and into </a:t>
              </a:r>
              <a:r>
                <a:rPr lang="en-AU" sz="1000" err="1"/>
                <a:t>BigQuery</a:t>
              </a:r>
              <a:r>
                <a:rPr lang="en-AU" sz="1000"/>
                <a:t> to build an Analytics Dataset for analysis and reporting using Google Data Studio</a:t>
              </a:r>
            </a:p>
            <a:p>
              <a:r>
                <a:rPr lang="en-AU" sz="1000"/>
                <a:t>Deployed the solution in UAT and PROD environments, created run-sheets to document the progress of deployment and a create deployment guides</a:t>
              </a:r>
            </a:p>
            <a:p>
              <a:r>
                <a:rPr lang="en-AU" sz="1000"/>
                <a:t>Performed reverse engineering tasks to understand the business and functional requirements of legacy systems and create technical documentations, to understand and build the analytical dataset in </a:t>
              </a:r>
              <a:r>
                <a:rPr lang="en-AU" sz="1000" err="1"/>
                <a:t>BigQuery</a:t>
              </a:r>
              <a:r>
                <a:rPr lang="en-AU" sz="1000"/>
                <a:t>.</a:t>
              </a:r>
            </a:p>
            <a:p>
              <a:r>
                <a:rPr lang="en-AU" sz="1000" err="1"/>
                <a:t>Strategised</a:t>
              </a:r>
              <a:r>
                <a:rPr lang="en-AU" sz="1000"/>
                <a:t> and designed the data migration solution and involved in deployment of scalable solutions on GCP</a:t>
              </a:r>
            </a:p>
            <a:p>
              <a:r>
                <a:rPr lang="en-AU" sz="1000"/>
                <a:t>Setup GCP’s cloud identity and access management (IAM) to manage users, roles, and privileges for Dev team and Business Analysts</a:t>
              </a:r>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363627"/>
            <a:ext cx="1951941" cy="172354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latin typeface="Roboto Light"/>
                <a:ea typeface="Roboto Light"/>
                <a:cs typeface="Roboto Light"/>
              </a:rPr>
              <a:t>Financial Services</a:t>
            </a:r>
          </a:p>
          <a:p>
            <a:pPr marL="0" indent="0">
              <a:lnSpc>
                <a:spcPct val="150000"/>
              </a:lnSpc>
              <a:buNone/>
            </a:pPr>
            <a:r>
              <a:rPr lang="en-GB" sz="1200" dirty="0">
                <a:solidFill>
                  <a:srgbClr val="00AB80"/>
                </a:solidFill>
                <a:latin typeface="Roboto Light"/>
                <a:ea typeface="Roboto Light"/>
                <a:cs typeface="Roboto Light"/>
              </a:rPr>
              <a:t>Insurance</a:t>
            </a:r>
          </a:p>
          <a:p>
            <a:pPr marL="0" indent="0">
              <a:lnSpc>
                <a:spcPct val="150000"/>
              </a:lnSpc>
              <a:buNone/>
            </a:pPr>
            <a:r>
              <a:rPr lang="en-GB" sz="1200" dirty="0">
                <a:solidFill>
                  <a:srgbClr val="00AB80"/>
                </a:solidFill>
                <a:latin typeface="Roboto Light"/>
                <a:ea typeface="Roboto Light"/>
                <a:cs typeface="Roboto Light"/>
              </a:rPr>
              <a:t>Big 4 Banks</a:t>
            </a:r>
          </a:p>
          <a:p>
            <a:pPr marL="0" indent="0">
              <a:lnSpc>
                <a:spcPct val="150000"/>
              </a:lnSpc>
              <a:buNone/>
            </a:pPr>
            <a:r>
              <a:rPr lang="en-GB" sz="1200" dirty="0">
                <a:solidFill>
                  <a:srgbClr val="00AB80"/>
                </a:solidFill>
                <a:latin typeface="Roboto Light"/>
                <a:ea typeface="Roboto Light"/>
                <a:cs typeface="Roboto Light"/>
              </a:rPr>
              <a:t>Government</a:t>
            </a:r>
          </a:p>
          <a:p>
            <a:pPr marL="0" indent="0">
              <a:lnSpc>
                <a:spcPct val="150000"/>
              </a:lnSpc>
              <a:buNone/>
            </a:pPr>
            <a:r>
              <a:rPr lang="en-GB" sz="1200" dirty="0">
                <a:solidFill>
                  <a:srgbClr val="00AB80"/>
                </a:solidFill>
                <a:latin typeface="Roboto Light"/>
                <a:ea typeface="Roboto Light"/>
                <a:cs typeface="Roboto Light"/>
              </a:rPr>
              <a:t>Retail</a:t>
            </a:r>
          </a:p>
          <a:p>
            <a:pPr marL="0" indent="0">
              <a:lnSpc>
                <a:spcPct val="150000"/>
              </a:lnSpc>
              <a:buNone/>
            </a:pPr>
            <a:r>
              <a:rPr lang="en-GB" sz="1200" dirty="0">
                <a:solidFill>
                  <a:srgbClr val="00AB80"/>
                </a:solidFill>
                <a:latin typeface="Roboto Light"/>
                <a:ea typeface="Roboto Light"/>
                <a:cs typeface="Roboto Light"/>
              </a:rPr>
              <a:t>Education</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35752" y="5482638"/>
            <a:ext cx="4782734" cy="2167884"/>
            <a:chOff x="3335752" y="5766857"/>
            <a:chExt cx="4782734" cy="2167884"/>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766857"/>
              <a:ext cx="4782734" cy="461665"/>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Government Organisation – Senior Data Engineer</a:t>
              </a:r>
            </a:p>
            <a:p>
              <a:endParaRPr lang="en-AU" sz="1200" b="1">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1" y="5995749"/>
              <a:ext cx="4527866"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a:t>Collaborated with stakeholders in formulating the architectural solution roadmap in migrating data from on-premise databases to cloud data warehouse</a:t>
              </a:r>
            </a:p>
            <a:p>
              <a:r>
                <a:rPr lang="en-AU"/>
                <a:t>Put together architecture documentation for data engineering and advanced analytics requirements by producing Conceptual, Solution architecture</a:t>
              </a:r>
            </a:p>
            <a:p>
              <a:r>
                <a:rPr lang="en-AU"/>
                <a:t>Worked with implementation partners through the elaboration, design, and build phases for operationalising key solution components like AWS EMR, AWS </a:t>
              </a:r>
              <a:r>
                <a:rPr lang="en-AU" err="1"/>
                <a:t>SageMake</a:t>
              </a:r>
              <a:r>
                <a:rPr lang="en-AU"/>
                <a:t>, AWS S3 as data lake and Snowflake</a:t>
              </a:r>
            </a:p>
            <a:p>
              <a:r>
                <a:rPr lang="en-AU"/>
                <a:t>Produced solution design documents in response to non-functional requirements articulating usage of solution components in all aspects of data governance and security</a:t>
              </a:r>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077707"/>
              <a:ext cx="0" cy="137591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6F2585-3D0C-47D9-8729-7B1F51889E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9DDFC6-124A-4859-BB62-4C7039BA48C0}">
  <ds:schemaRefs>
    <ds:schemaRef ds:uri="http://schemas.microsoft.com/office/2006/documentManagement/types"/>
    <ds:schemaRef ds:uri="http://purl.org/dc/dcmitype/"/>
    <ds:schemaRef ds:uri="e52cd9e7-35e5-4bd3-9cab-ca6a63c31e52"/>
    <ds:schemaRef ds:uri="http://purl.org/dc/elements/1.1/"/>
    <ds:schemaRef ds:uri="http://schemas.microsoft.com/office/infopath/2007/PartnerControls"/>
    <ds:schemaRef ds:uri="http://purl.org/dc/terms/"/>
    <ds:schemaRef ds:uri="http://www.w3.org/XML/1998/namespace"/>
    <ds:schemaRef ds:uri="http://schemas.openxmlformats.org/package/2006/metadata/core-properties"/>
    <ds:schemaRef ds:uri="daf93972-1964-4522-aa34-640805a01c3a"/>
    <ds:schemaRef ds:uri="http://schemas.microsoft.com/office/2006/metadata/properties"/>
  </ds:schemaRefs>
</ds:datastoreItem>
</file>

<file path=customXml/itemProps3.xml><?xml version="1.0" encoding="utf-8"?>
<ds:datastoreItem xmlns:ds="http://schemas.openxmlformats.org/officeDocument/2006/customXml" ds:itemID="{3EAAB431-6FA9-4678-BFEA-63CD1CAD6FC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5</TotalTime>
  <Words>578</Words>
  <Application>Microsoft Office PowerPoint</Application>
  <PresentationFormat>Custom</PresentationFormat>
  <Paragraphs>78</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8</cp:revision>
  <dcterms:created xsi:type="dcterms:W3CDTF">2019-12-03T01:50:37Z</dcterms:created>
  <dcterms:modified xsi:type="dcterms:W3CDTF">2024-10-28T01:37:58Z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