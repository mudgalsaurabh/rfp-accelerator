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p:restoredTop sz="95595"/>
  </p:normalViewPr>
  <p:slideViewPr>
    <p:cSldViewPr snapToGrid="0" snapToObjects="1">
      <p:cViewPr varScale="1">
        <p:scale>
          <a:sx n="96" d="100"/>
          <a:sy n="96" d="100"/>
        </p:scale>
        <p:origin x="2196" y="72"/>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B5F9828E-491B-451A-A2E4-8160594AB16E}"/>
    <pc:docChg chg="undo custSel modSld">
      <pc:chgData name="Darcy Roach" userId="ba676ee9-e9b4-49e8-a515-8077106c948d" providerId="ADAL" clId="{B5F9828E-491B-451A-A2E4-8160594AB16E}" dt="2023-09-25T00:29:46.731" v="67" actId="20577"/>
      <pc:docMkLst>
        <pc:docMk/>
      </pc:docMkLst>
      <pc:sldChg chg="modSp mod">
        <pc:chgData name="Darcy Roach" userId="ba676ee9-e9b4-49e8-a515-8077106c948d" providerId="ADAL" clId="{B5F9828E-491B-451A-A2E4-8160594AB16E}" dt="2023-09-25T00:29:46.731" v="67" actId="20577"/>
        <pc:sldMkLst>
          <pc:docMk/>
          <pc:sldMk cId="2009923557" sldId="270"/>
        </pc:sldMkLst>
        <pc:spChg chg="mod">
          <ac:chgData name="Darcy Roach" userId="ba676ee9-e9b4-49e8-a515-8077106c948d" providerId="ADAL" clId="{B5F9828E-491B-451A-A2E4-8160594AB16E}" dt="2023-09-24T23:09:38.716" v="0" actId="20577"/>
          <ac:spMkLst>
            <pc:docMk/>
            <pc:sldMk cId="2009923557" sldId="270"/>
            <ac:spMk id="13" creationId="{FD2720C9-A79F-BD7F-E179-674AD67D7892}"/>
          </ac:spMkLst>
        </pc:spChg>
        <pc:spChg chg="mod">
          <ac:chgData name="Darcy Roach" userId="ba676ee9-e9b4-49e8-a515-8077106c948d" providerId="ADAL" clId="{B5F9828E-491B-451A-A2E4-8160594AB16E}" dt="2023-09-24T23:09:47.717" v="1" actId="1076"/>
          <ac:spMkLst>
            <pc:docMk/>
            <pc:sldMk cId="2009923557" sldId="270"/>
            <ac:spMk id="22" creationId="{9D4E289E-1D52-CBDD-E381-40963429D7F1}"/>
          </ac:spMkLst>
        </pc:spChg>
        <pc:spChg chg="mod">
          <ac:chgData name="Darcy Roach" userId="ba676ee9-e9b4-49e8-a515-8077106c948d" providerId="ADAL" clId="{B5F9828E-491B-451A-A2E4-8160594AB16E}" dt="2023-09-25T00:29:46.731" v="67" actId="20577"/>
          <ac:spMkLst>
            <pc:docMk/>
            <pc:sldMk cId="2009923557" sldId="270"/>
            <ac:spMk id="38" creationId="{AB47A2EE-BF0B-DB05-8B7C-DB6594B2B3D5}"/>
          </ac:spMkLst>
        </pc:spChg>
        <pc:spChg chg="mod">
          <ac:chgData name="Darcy Roach" userId="ba676ee9-e9b4-49e8-a515-8077106c948d" providerId="ADAL" clId="{B5F9828E-491B-451A-A2E4-8160594AB16E}" dt="2023-09-24T23:12:57.515" v="26" actId="1076"/>
          <ac:spMkLst>
            <pc:docMk/>
            <pc:sldMk cId="2009923557" sldId="270"/>
            <ac:spMk id="39" creationId="{3EA81938-6A76-B850-B0E8-A5F905AEBA98}"/>
          </ac:spMkLst>
        </pc:spChg>
        <pc:spChg chg="mod">
          <ac:chgData name="Darcy Roach" userId="ba676ee9-e9b4-49e8-a515-8077106c948d" providerId="ADAL" clId="{B5F9828E-491B-451A-A2E4-8160594AB16E}" dt="2023-09-24T23:12:57.515" v="26" actId="1076"/>
          <ac:spMkLst>
            <pc:docMk/>
            <pc:sldMk cId="2009923557" sldId="270"/>
            <ac:spMk id="173" creationId="{994303C8-DFEA-5175-3E9D-3727861435B6}"/>
          </ac:spMkLst>
        </pc:spChg>
        <pc:spChg chg="mod">
          <ac:chgData name="Darcy Roach" userId="ba676ee9-e9b4-49e8-a515-8077106c948d" providerId="ADAL" clId="{B5F9828E-491B-451A-A2E4-8160594AB16E}" dt="2023-09-24T23:12:57.515" v="26" actId="1076"/>
          <ac:spMkLst>
            <pc:docMk/>
            <pc:sldMk cId="2009923557" sldId="270"/>
            <ac:spMk id="175" creationId="{B9775FC7-7124-8CCA-9B1C-7CCD7D3DF384}"/>
          </ac:spMkLst>
        </pc:spChg>
        <pc:grpChg chg="mod">
          <ac:chgData name="Darcy Roach" userId="ba676ee9-e9b4-49e8-a515-8077106c948d" providerId="ADAL" clId="{B5F9828E-491B-451A-A2E4-8160594AB16E}" dt="2023-09-24T23:12:57.515" v="26" actId="1076"/>
          <ac:grpSpMkLst>
            <pc:docMk/>
            <pc:sldMk cId="2009923557" sldId="270"/>
            <ac:grpSpMk id="5" creationId="{980A06B1-0A2F-7DF6-91DB-0F6DFA896A23}"/>
          </ac:grpSpMkLst>
        </pc:grpChg>
        <pc:picChg chg="mod">
          <ac:chgData name="Darcy Roach" userId="ba676ee9-e9b4-49e8-a515-8077106c948d" providerId="ADAL" clId="{B5F9828E-491B-451A-A2E4-8160594AB16E}" dt="2023-09-24T23:12:31.590" v="25" actId="1076"/>
          <ac:picMkLst>
            <pc:docMk/>
            <pc:sldMk cId="2009923557" sldId="270"/>
            <ac:picMk id="33" creationId="{20B94328-DB79-FB55-B636-C97F5174B4C4}"/>
          </ac:picMkLst>
        </pc:picChg>
        <pc:cxnChg chg="mod">
          <ac:chgData name="Darcy Roach" userId="ba676ee9-e9b4-49e8-a515-8077106c948d" providerId="ADAL" clId="{B5F9828E-491B-451A-A2E4-8160594AB16E}" dt="2023-09-24T23:11:58.279" v="23" actId="14100"/>
          <ac:cxnSpMkLst>
            <pc:docMk/>
            <pc:sldMk cId="2009923557" sldId="270"/>
            <ac:cxnSpMk id="15" creationId="{F87F05F2-DA4C-4F55-A5D0-1887110DF155}"/>
          </ac:cxnSpMkLst>
        </pc:cxnChg>
        <pc:cxnChg chg="mod">
          <ac:chgData name="Darcy Roach" userId="ba676ee9-e9b4-49e8-a515-8077106c948d" providerId="ADAL" clId="{B5F9828E-491B-451A-A2E4-8160594AB16E}" dt="2023-09-24T23:12:57.515" v="26" actId="1076"/>
          <ac:cxnSpMkLst>
            <pc:docMk/>
            <pc:sldMk cId="2009923557" sldId="270"/>
            <ac:cxnSpMk id="25" creationId="{F7D64658-1F62-2EE9-AB01-2FD4F7E2D84D}"/>
          </ac:cxnSpMkLst>
        </pc:cxnChg>
        <pc:cxnChg chg="mod">
          <ac:chgData name="Darcy Roach" userId="ba676ee9-e9b4-49e8-a515-8077106c948d" providerId="ADAL" clId="{B5F9828E-491B-451A-A2E4-8160594AB16E}" dt="2023-09-24T23:44:46.151" v="54" actId="14100"/>
          <ac:cxnSpMkLst>
            <pc:docMk/>
            <pc:sldMk cId="2009923557" sldId="270"/>
            <ac:cxnSpMk id="170" creationId="{0D51728F-48BB-14BB-256E-5F0C0284BCDF}"/>
          </ac:cxnSpMkLst>
        </pc:cxnChg>
      </pc:sldChg>
    </pc:docChg>
  </pc:docChgLst>
  <pc:docChgLst>
    <pc:chgData name="Darcy Roach" userId="ba676ee9-e9b4-49e8-a515-8077106c948d" providerId="ADAL" clId="{2C58B390-8C53-4907-9D72-0823BE5A42BF}"/>
    <pc:docChg chg="undo custSel modSld">
      <pc:chgData name="Darcy Roach" userId="ba676ee9-e9b4-49e8-a515-8077106c948d" providerId="ADAL" clId="{2C58B390-8C53-4907-9D72-0823BE5A42BF}" dt="2024-06-05T05:54:54.164" v="145" actId="1037"/>
      <pc:docMkLst>
        <pc:docMk/>
      </pc:docMkLst>
      <pc:sldChg chg="addSp delSp modSp mod">
        <pc:chgData name="Darcy Roach" userId="ba676ee9-e9b4-49e8-a515-8077106c948d" providerId="ADAL" clId="{2C58B390-8C53-4907-9D72-0823BE5A42BF}" dt="2024-06-05T05:54:54.164" v="145" actId="1037"/>
        <pc:sldMkLst>
          <pc:docMk/>
          <pc:sldMk cId="2009923557" sldId="270"/>
        </pc:sldMkLst>
        <pc:spChg chg="mod">
          <ac:chgData name="Darcy Roach" userId="ba676ee9-e9b4-49e8-a515-8077106c948d" providerId="ADAL" clId="{2C58B390-8C53-4907-9D72-0823BE5A42BF}" dt="2024-06-05T05:48:27.047" v="136" actId="1076"/>
          <ac:spMkLst>
            <pc:docMk/>
            <pc:sldMk cId="2009923557" sldId="270"/>
            <ac:spMk id="2" creationId="{2FA774CA-3857-9308-4D38-9414B0CC2B95}"/>
          </ac:spMkLst>
        </pc:spChg>
        <pc:spChg chg="add mod">
          <ac:chgData name="Darcy Roach" userId="ba676ee9-e9b4-49e8-a515-8077106c948d" providerId="ADAL" clId="{2C58B390-8C53-4907-9D72-0823BE5A42BF}" dt="2024-06-05T05:49:33.273" v="142" actId="20577"/>
          <ac:spMkLst>
            <pc:docMk/>
            <pc:sldMk cId="2009923557" sldId="270"/>
            <ac:spMk id="12" creationId="{00BFB9EC-C6FC-9CD6-25D9-30AE5857C83C}"/>
          </ac:spMkLst>
        </pc:spChg>
        <pc:spChg chg="mod">
          <ac:chgData name="Darcy Roach" userId="ba676ee9-e9b4-49e8-a515-8077106c948d" providerId="ADAL" clId="{2C58B390-8C53-4907-9D72-0823BE5A42BF}" dt="2024-06-05T05:48:27.047" v="136" actId="1076"/>
          <ac:spMkLst>
            <pc:docMk/>
            <pc:sldMk cId="2009923557" sldId="270"/>
            <ac:spMk id="19" creationId="{7513C49A-2DF2-8111-FED4-FC07A8EAD258}"/>
          </ac:spMkLst>
        </pc:spChg>
        <pc:spChg chg="del mod">
          <ac:chgData name="Darcy Roach" userId="ba676ee9-e9b4-49e8-a515-8077106c948d" providerId="ADAL" clId="{2C58B390-8C53-4907-9D72-0823BE5A42BF}" dt="2024-06-05T05:36:10.385" v="28" actId="478"/>
          <ac:spMkLst>
            <pc:docMk/>
            <pc:sldMk cId="2009923557" sldId="270"/>
            <ac:spMk id="32" creationId="{0B703521-F331-D24D-2144-A609A273150D}"/>
          </ac:spMkLst>
        </pc:spChg>
        <pc:spChg chg="mod">
          <ac:chgData name="Darcy Roach" userId="ba676ee9-e9b4-49e8-a515-8077106c948d" providerId="ADAL" clId="{2C58B390-8C53-4907-9D72-0823BE5A42BF}" dt="2024-06-05T05:54:54.164" v="145" actId="1037"/>
          <ac:spMkLst>
            <pc:docMk/>
            <pc:sldMk cId="2009923557" sldId="270"/>
            <ac:spMk id="38" creationId="{AB47A2EE-BF0B-DB05-8B7C-DB6594B2B3D5}"/>
          </ac:spMkLst>
        </pc:spChg>
        <pc:cxnChg chg="mod">
          <ac:chgData name="Darcy Roach" userId="ba676ee9-e9b4-49e8-a515-8077106c948d" providerId="ADAL" clId="{2C58B390-8C53-4907-9D72-0823BE5A42BF}" dt="2024-06-05T05:49:42.301" v="143" actId="14100"/>
          <ac:cxnSpMkLst>
            <pc:docMk/>
            <pc:sldMk cId="2009923557" sldId="270"/>
            <ac:cxnSpMk id="3" creationId="{67C34E10-2CF8-9BCA-1CC6-D78A3FF9CA80}"/>
          </ac:cxnSpMkLst>
        </pc:cxnChg>
        <pc:cxnChg chg="mod">
          <ac:chgData name="Darcy Roach" userId="ba676ee9-e9b4-49e8-a515-8077106c948d" providerId="ADAL" clId="{2C58B390-8C53-4907-9D72-0823BE5A42BF}" dt="2024-06-05T05:48:37.909" v="137" actId="14100"/>
          <ac:cxnSpMkLst>
            <pc:docMk/>
            <pc:sldMk cId="2009923557" sldId="270"/>
            <ac:cxnSpMk id="15" creationId="{F87F05F2-DA4C-4F55-A5D0-1887110DF155}"/>
          </ac:cxnSpMkLst>
        </pc:cxnChg>
      </pc:sldChg>
    </pc:docChg>
  </pc:docChgLst>
  <pc:docChgLst>
    <pc:chgData name="Emilio Parente" userId="S::emilio.parente@intelia.com.au::01da3a18-a8c9-4a65-a55b-c6794ec7dcc4" providerId="AD" clId="Web-{8BB80688-C8BC-4B00-A7A8-3319A0829BDA}"/>
    <pc:docChg chg="modSld">
      <pc:chgData name="Emilio Parente" userId="S::emilio.parente@intelia.com.au::01da3a18-a8c9-4a65-a55b-c6794ec7dcc4" providerId="AD" clId="Web-{8BB80688-C8BC-4B00-A7A8-3319A0829BDA}" dt="2023-09-24T00:16:02.264" v="48" actId="1076"/>
      <pc:docMkLst>
        <pc:docMk/>
      </pc:docMkLst>
      <pc:sldChg chg="modSp">
        <pc:chgData name="Emilio Parente" userId="S::emilio.parente@intelia.com.au::01da3a18-a8c9-4a65-a55b-c6794ec7dcc4" providerId="AD" clId="Web-{8BB80688-C8BC-4B00-A7A8-3319A0829BDA}" dt="2023-09-24T00:16:02.264" v="48" actId="1076"/>
        <pc:sldMkLst>
          <pc:docMk/>
          <pc:sldMk cId="2009923557" sldId="270"/>
        </pc:sldMkLst>
        <pc:spChg chg="mod">
          <ac:chgData name="Emilio Parente" userId="S::emilio.parente@intelia.com.au::01da3a18-a8c9-4a65-a55b-c6794ec7dcc4" providerId="AD" clId="Web-{8BB80688-C8BC-4B00-A7A8-3319A0829BDA}" dt="2023-09-24T00:15:46.686" v="45" actId="1076"/>
          <ac:spMkLst>
            <pc:docMk/>
            <pc:sldMk cId="2009923557" sldId="270"/>
            <ac:spMk id="6" creationId="{701E125D-B356-8A2A-B86B-AB6567CEABE1}"/>
          </ac:spMkLst>
        </pc:spChg>
        <pc:spChg chg="mod">
          <ac:chgData name="Emilio Parente" userId="S::emilio.parente@intelia.com.au::01da3a18-a8c9-4a65-a55b-c6794ec7dcc4" providerId="AD" clId="Web-{8BB80688-C8BC-4B00-A7A8-3319A0829BDA}" dt="2023-09-24T00:15:52.139" v="46" actId="14100"/>
          <ac:spMkLst>
            <pc:docMk/>
            <pc:sldMk cId="2009923557" sldId="270"/>
            <ac:spMk id="13" creationId="{FD2720C9-A79F-BD7F-E179-674AD67D7892}"/>
          </ac:spMkLst>
        </pc:spChg>
        <pc:spChg chg="mod">
          <ac:chgData name="Emilio Parente" userId="S::emilio.parente@intelia.com.au::01da3a18-a8c9-4a65-a55b-c6794ec7dcc4" providerId="AD" clId="Web-{8BB80688-C8BC-4B00-A7A8-3319A0829BDA}" dt="2023-09-24T00:15:14.591" v="36" actId="14100"/>
          <ac:spMkLst>
            <pc:docMk/>
            <pc:sldMk cId="2009923557" sldId="270"/>
            <ac:spMk id="20" creationId="{716A87E2-F657-C1C6-3715-B7C8A7F1E050}"/>
          </ac:spMkLst>
        </pc:spChg>
        <pc:spChg chg="mod">
          <ac:chgData name="Emilio Parente" userId="S::emilio.parente@intelia.com.au::01da3a18-a8c9-4a65-a55b-c6794ec7dcc4" providerId="AD" clId="Web-{8BB80688-C8BC-4B00-A7A8-3319A0829BDA}" dt="2023-09-24T00:16:02.264" v="48" actId="1076"/>
          <ac:spMkLst>
            <pc:docMk/>
            <pc:sldMk cId="2009923557" sldId="270"/>
            <ac:spMk id="22" creationId="{9D4E289E-1D52-CBDD-E381-40963429D7F1}"/>
          </ac:spMkLst>
        </pc:spChg>
        <pc:spChg chg="mod">
          <ac:chgData name="Emilio Parente" userId="S::emilio.parente@intelia.com.au::01da3a18-a8c9-4a65-a55b-c6794ec7dcc4" providerId="AD" clId="Web-{8BB80688-C8BC-4B00-A7A8-3319A0829BDA}" dt="2023-09-24T00:15:37.514" v="44" actId="20577"/>
          <ac:spMkLst>
            <pc:docMk/>
            <pc:sldMk cId="2009923557" sldId="270"/>
            <ac:spMk id="32" creationId="{0B703521-F331-D24D-2144-A609A273150D}"/>
          </ac:spMkLst>
        </pc:spChg>
        <pc:spChg chg="mod">
          <ac:chgData name="Emilio Parente" userId="S::emilio.parente@intelia.com.au::01da3a18-a8c9-4a65-a55b-c6794ec7dcc4" providerId="AD" clId="Web-{8BB80688-C8BC-4B00-A7A8-3319A0829BDA}" dt="2023-09-24T00:10:45.642" v="22" actId="20577"/>
          <ac:spMkLst>
            <pc:docMk/>
            <pc:sldMk cId="2009923557" sldId="270"/>
            <ac:spMk id="175" creationId="{B9775FC7-7124-8CCA-9B1C-7CCD7D3DF384}"/>
          </ac:spMkLst>
        </pc:spChg>
      </pc:sldChg>
    </pc:docChg>
  </pc:docChgLst>
  <pc:docChgLst>
    <pc:chgData clId="Web-{8BB80688-C8BC-4B00-A7A8-3319A0829BDA}"/>
    <pc:docChg chg="modSld">
      <pc:chgData name="" userId="" providerId="" clId="Web-{8BB80688-C8BC-4B00-A7A8-3319A0829BDA}" dt="2023-09-24T00:06:04.632" v="3" actId="20577"/>
      <pc:docMkLst>
        <pc:docMk/>
      </pc:docMkLst>
      <pc:sldChg chg="modSp">
        <pc:chgData name="" userId="" providerId="" clId="Web-{8BB80688-C8BC-4B00-A7A8-3319A0829BDA}" dt="2023-09-24T00:06:04.632" v="3" actId="20577"/>
        <pc:sldMkLst>
          <pc:docMk/>
          <pc:sldMk cId="2009923557" sldId="270"/>
        </pc:sldMkLst>
        <pc:spChg chg="mod">
          <ac:chgData name="" userId="" providerId="" clId="Web-{8BB80688-C8BC-4B00-A7A8-3319A0829BDA}" dt="2023-09-24T00:06:04.632" v="3" actId="20577"/>
          <ac:spMkLst>
            <pc:docMk/>
            <pc:sldMk cId="2009923557" sldId="270"/>
            <ac:spMk id="22" creationId="{9D4E289E-1D52-CBDD-E381-40963429D7F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6/5/2024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6/5/2024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6/5/2024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6/5/2024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40585" y="113351"/>
            <a:ext cx="2684870"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Simon </a:t>
            </a:r>
          </a:p>
          <a:p>
            <a:r>
              <a:rPr lang="en-US" sz="2800" b="1" dirty="0">
                <a:solidFill>
                  <a:srgbClr val="00AB80"/>
                </a:solidFill>
                <a:latin typeface="Roboto" panose="02000000000000000000" pitchFamily="2" charset="0"/>
                <a:ea typeface="Roboto" panose="02000000000000000000" pitchFamily="2" charset="0"/>
              </a:rPr>
              <a:t>Masters</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44549" y="1247202"/>
            <a:ext cx="2972650" cy="310341"/>
          </a:xfrm>
          <a:prstGeom prst="rect">
            <a:avLst/>
          </a:prstGeom>
          <a:noFill/>
        </p:spPr>
        <p:txBody>
          <a:bodyPr wrap="square" lIns="91440" tIns="45720" rIns="91440" bIns="45720" anchor="t">
            <a:spAutoFit/>
          </a:bodyPr>
          <a:lstStyle/>
          <a:p>
            <a:pPr>
              <a:lnSpc>
                <a:spcPts val="1812"/>
              </a:lnSpc>
            </a:pPr>
            <a:r>
              <a:rPr lang="en-US" sz="1400" b="1" spc="13" dirty="0">
                <a:solidFill>
                  <a:srgbClr val="00AB80"/>
                </a:solidFill>
                <a:latin typeface="Roboto Light"/>
                <a:ea typeface="Roboto Light"/>
                <a:cs typeface="Lato"/>
              </a:rPr>
              <a:t>Profile</a:t>
            </a:r>
          </a:p>
        </p:txBody>
      </p:sp>
      <p:sp>
        <p:nvSpPr>
          <p:cNvPr id="22" name="TextBox 21">
            <a:extLst>
              <a:ext uri="{FF2B5EF4-FFF2-40B4-BE49-F238E27FC236}">
                <a16:creationId xmlns:a16="http://schemas.microsoft.com/office/drawing/2014/main" id="{9D4E289E-1D52-CBDD-E381-40963429D7F1}"/>
              </a:ext>
            </a:extLst>
          </p:cNvPr>
          <p:cNvSpPr txBox="1"/>
          <p:nvPr/>
        </p:nvSpPr>
        <p:spPr>
          <a:xfrm>
            <a:off x="244292" y="1025116"/>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a:ea typeface="Roboto Light"/>
                <a:cs typeface="Lato"/>
              </a:rPr>
              <a:t>Principal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28799"/>
            <a:ext cx="1510046" cy="20313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Change Management</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IT Service Management</a:t>
            </a:r>
          </a:p>
          <a:p>
            <a:pPr marL="171450" indent="-171450">
              <a:buClr>
                <a:srgbClr val="00AB80"/>
              </a:buClr>
              <a:buFont typeface="Arial" panose="020B0604020202020204" pitchFamily="34" charset="0"/>
              <a:buChar cha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Analysis</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SDLC</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Process Analysis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Integration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ITIL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Scrum</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Problem Solver</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Team Leadership</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Mentoring</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297940"/>
            <a:ext cx="0" cy="2240390"/>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219897" y="3096475"/>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784490"/>
            <a:ext cx="0" cy="651166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707439"/>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283343"/>
            <a:ext cx="1951941" cy="1723549"/>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latin typeface="Roboto Light"/>
                <a:ea typeface="Roboto Light"/>
                <a:cs typeface="Roboto Light"/>
              </a:rPr>
              <a:t>Logistics</a:t>
            </a:r>
            <a:endParaRPr lang="en-GB" sz="1200" dirty="0">
              <a:solidFill>
                <a:srgbClr val="00AB80"/>
              </a:solidFill>
              <a:cs typeface="Roboto Light"/>
            </a:endParaRPr>
          </a:p>
          <a:p>
            <a:pPr marL="0" indent="0">
              <a:lnSpc>
                <a:spcPct val="150000"/>
              </a:lnSpc>
              <a:buNone/>
            </a:pPr>
            <a:r>
              <a:rPr lang="en-GB" sz="1200" dirty="0">
                <a:solidFill>
                  <a:srgbClr val="00AB80"/>
                </a:solidFill>
              </a:rPr>
              <a:t>Energy</a:t>
            </a:r>
          </a:p>
          <a:p>
            <a:pPr marL="0" indent="0">
              <a:lnSpc>
                <a:spcPct val="150000"/>
              </a:lnSpc>
              <a:buNone/>
            </a:pPr>
            <a:r>
              <a:rPr lang="en-GB" sz="1200" dirty="0">
                <a:solidFill>
                  <a:srgbClr val="00AB80"/>
                </a:solidFill>
              </a:rPr>
              <a:t>Telecommunications</a:t>
            </a:r>
          </a:p>
          <a:p>
            <a:pPr marL="0" indent="0">
              <a:lnSpc>
                <a:spcPct val="150000"/>
              </a:lnSpc>
              <a:buNone/>
            </a:pPr>
            <a:r>
              <a:rPr lang="en-GB" sz="1200" dirty="0">
                <a:solidFill>
                  <a:srgbClr val="00AB80"/>
                </a:solidFill>
              </a:rPr>
              <a:t>Government</a:t>
            </a:r>
          </a:p>
          <a:p>
            <a:pPr marL="0" indent="0">
              <a:lnSpc>
                <a:spcPct val="150000"/>
              </a:lnSpc>
              <a:buNone/>
            </a:pPr>
            <a:r>
              <a:rPr lang="en-GB" sz="1200" dirty="0">
                <a:solidFill>
                  <a:srgbClr val="00AB80"/>
                </a:solidFill>
              </a:rPr>
              <a:t>Entertainment &amp; Gaming</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280411"/>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13772" y="3311919"/>
            <a:ext cx="1963972" cy="2862322"/>
            <a:chOff x="8086580" y="2681447"/>
            <a:chExt cx="1963972" cy="2862322"/>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086580" y="2681447"/>
              <a:ext cx="1963972" cy="2862322"/>
            </a:xfrm>
            <a:prstGeom prst="rect">
              <a:avLst/>
            </a:prstGeom>
            <a:noFill/>
          </p:spPr>
          <p:txBody>
            <a:bodyPr wrap="square">
              <a:spAutoFit/>
            </a:bodyPr>
            <a:lstStyle/>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IIBA – Certified Business Analyst Professional </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PMI </a:t>
              </a:r>
              <a:r>
                <a:rPr lang="en-GB" sz="1200" dirty="0">
                  <a:solidFill>
                    <a:srgbClr val="00AB80"/>
                  </a:solidFill>
                  <a:latin typeface="Roboto Light" panose="02000000000000000000" pitchFamily="2" charset="0"/>
                  <a:ea typeface="Calibri" panose="020F0502020204030204" pitchFamily="34" charset="0"/>
                </a:rPr>
                <a:t>–</a:t>
              </a:r>
              <a:r>
                <a:rPr lang="en-GB" sz="1200" dirty="0">
                  <a:solidFill>
                    <a:srgbClr val="00AB80"/>
                  </a:solidFill>
                  <a:effectLst/>
                  <a:latin typeface="Roboto Light" panose="02000000000000000000" pitchFamily="2" charset="0"/>
                  <a:ea typeface="Calibri" panose="020F0502020204030204" pitchFamily="34" charset="0"/>
                </a:rPr>
                <a:t> Certified Project Management Professional</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err="1">
                  <a:solidFill>
                    <a:srgbClr val="00AB80"/>
                  </a:solidFill>
                  <a:effectLst/>
                  <a:latin typeface="Roboto Light" panose="02000000000000000000" pitchFamily="2" charset="0"/>
                  <a:ea typeface="Calibri" panose="020F0502020204030204" pitchFamily="34" charset="0"/>
                </a:rPr>
                <a:t>SAFe</a:t>
              </a:r>
              <a:r>
                <a:rPr lang="en-GB" sz="1200" dirty="0">
                  <a:solidFill>
                    <a:srgbClr val="00AB80"/>
                  </a:solidFill>
                  <a:effectLst/>
                  <a:latin typeface="Roboto Light" panose="02000000000000000000" pitchFamily="2" charset="0"/>
                  <a:ea typeface="Calibri" panose="020F0502020204030204" pitchFamily="34" charset="0"/>
                </a:rPr>
                <a:t> 4 </a:t>
              </a:r>
              <a:r>
                <a:rPr lang="en-GB" sz="1200" dirty="0">
                  <a:solidFill>
                    <a:srgbClr val="00AB80"/>
                  </a:solidFill>
                  <a:latin typeface="Roboto Light" panose="02000000000000000000" pitchFamily="2" charset="0"/>
                  <a:ea typeface="Calibri" panose="020F0502020204030204" pitchFamily="34" charset="0"/>
                </a:rPr>
                <a:t>– </a:t>
              </a:r>
              <a:r>
                <a:rPr lang="en-GB" sz="1200" dirty="0">
                  <a:solidFill>
                    <a:srgbClr val="00AB80"/>
                  </a:solidFill>
                  <a:effectLst/>
                  <a:latin typeface="Roboto Light" panose="02000000000000000000" pitchFamily="2" charset="0"/>
                  <a:ea typeface="Calibri" panose="020F0502020204030204" pitchFamily="34" charset="0"/>
                </a:rPr>
                <a:t>Certified Scrum Master</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Commerce, Marketing, Management &amp; Economics | Deakin University</a:t>
              </a: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728799"/>
            <a:ext cx="1510046"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Project Delivery</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Business Analysis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Process Improvement</a:t>
            </a: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Application Support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Vendor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Requirements Analysis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Requirements Gathering </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36219" y="1020941"/>
            <a:ext cx="4192693" cy="276999"/>
          </a:xfrm>
          <a:prstGeom prst="rect">
            <a:avLst/>
          </a:prstGeom>
          <a:noFill/>
        </p:spPr>
        <p:txBody>
          <a:bodyPr wrap="square" lIns="91440" tIns="45720" rIns="91440" bIns="45720" rtlCol="0" anchor="t">
            <a:spAutoFit/>
          </a:bodyPr>
          <a:lstStyle/>
          <a:p>
            <a:r>
              <a:rPr lang="en-AU" sz="1200" b="1" dirty="0">
                <a:solidFill>
                  <a:srgbClr val="0059FF"/>
                </a:solidFill>
                <a:latin typeface="Roboto"/>
                <a:ea typeface="Roboto"/>
                <a:cs typeface="Roboto"/>
              </a:rPr>
              <a:t>Financial Services Organisation – Senior Project Lead</a:t>
            </a:r>
            <a:endParaRPr lang="en-US" dirty="0"/>
          </a:p>
        </p:txBody>
      </p:sp>
      <p:sp>
        <p:nvSpPr>
          <p:cNvPr id="2" name="TextBox 1">
            <a:extLst>
              <a:ext uri="{FF2B5EF4-FFF2-40B4-BE49-F238E27FC236}">
                <a16:creationId xmlns:a16="http://schemas.microsoft.com/office/drawing/2014/main" id="{2FA774CA-3857-9308-4D38-9414B0CC2B95}"/>
              </a:ext>
            </a:extLst>
          </p:cNvPr>
          <p:cNvSpPr txBox="1"/>
          <p:nvPr/>
        </p:nvSpPr>
        <p:spPr>
          <a:xfrm>
            <a:off x="3335753" y="3624804"/>
            <a:ext cx="4542465" cy="646331"/>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Major Logistics Organisation  – Senior Business Analyst</a:t>
            </a:r>
          </a:p>
          <a:p>
            <a:endParaRPr lang="en-AU" sz="1200" b="1" dirty="0">
              <a:solidFill>
                <a:srgbClr val="ED7D31"/>
              </a:solidFill>
              <a:latin typeface="Roboto" panose="02000000000000000000" pitchFamily="2" charset="0"/>
              <a:ea typeface="Roboto" panose="02000000000000000000" pitchFamily="2" charset="0"/>
            </a:endParaRPr>
          </a:p>
          <a:p>
            <a:endParaRPr lang="en-AU" sz="1200" b="1" dirty="0">
              <a:solidFill>
                <a:srgbClr val="ED7D31"/>
              </a:solidFill>
              <a:latin typeface="Roboto" panose="02000000000000000000" pitchFamily="2" charset="0"/>
              <a:ea typeface="Roboto" panose="02000000000000000000" pitchFamily="2" charset="0"/>
            </a:endParaRP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55043" y="3963005"/>
            <a:ext cx="0" cy="1730945"/>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513C49A-2DF2-8111-FED4-FC07A8EAD258}"/>
              </a:ext>
            </a:extLst>
          </p:cNvPr>
          <p:cNvSpPr txBox="1"/>
          <p:nvPr/>
        </p:nvSpPr>
        <p:spPr>
          <a:xfrm>
            <a:off x="3500533" y="3881621"/>
            <a:ext cx="4550464" cy="224676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Developed business analysis approach for EDPC project </a:t>
            </a:r>
          </a:p>
          <a:p>
            <a:r>
              <a:rPr lang="en-AU" sz="1000" dirty="0"/>
              <a:t>Undertook analysis of environment to provide inputs into the project scope </a:t>
            </a:r>
          </a:p>
          <a:p>
            <a:r>
              <a:rPr lang="en-AU" sz="1000" dirty="0"/>
              <a:t>Analysis to prioritise project initiative based on business return and value  </a:t>
            </a:r>
          </a:p>
          <a:p>
            <a:r>
              <a:rPr lang="en-AU" sz="1000" dirty="0"/>
              <a:t>Led and directed the project’s BA teams analysis of 9000+ data objects  </a:t>
            </a:r>
          </a:p>
          <a:p>
            <a:r>
              <a:rPr lang="en-AU" sz="1000" dirty="0"/>
              <a:t>Maintenance and management of Jira tickets  </a:t>
            </a:r>
          </a:p>
          <a:p>
            <a:r>
              <a:rPr lang="en-AU" sz="1000" dirty="0"/>
              <a:t>Provided governance and direction to off-shore team on analysis approach</a:t>
            </a:r>
          </a:p>
          <a:p>
            <a:r>
              <a:rPr lang="en-AU" sz="1000" dirty="0"/>
              <a:t>Established business requirements and NFR's for ETL environment to allow for evaluation of ETL solution candidates to be performed </a:t>
            </a:r>
          </a:p>
          <a:p>
            <a:r>
              <a:rPr lang="en-AU" sz="1000" dirty="0"/>
              <a:t>Undertook data migration requirements analysis and defined data seeding approach for the transition between as-is and to-be environments </a:t>
            </a:r>
          </a:p>
          <a:p>
            <a:r>
              <a:rPr lang="en-AU" sz="1000" dirty="0"/>
              <a:t>Provided governance and direction to off-shore team on ETL design and solution elements </a:t>
            </a:r>
          </a:p>
          <a:p>
            <a:pPr marL="0" indent="0">
              <a:buNone/>
            </a:pPr>
            <a:endParaRPr lang="en-AU" sz="1000" dirty="0"/>
          </a:p>
          <a:p>
            <a:endParaRPr lang="en-AU" sz="1000" dirty="0"/>
          </a:p>
        </p:txBody>
      </p:sp>
      <p:grpSp>
        <p:nvGrpSpPr>
          <p:cNvPr id="16" name="Group 15">
            <a:extLst>
              <a:ext uri="{FF2B5EF4-FFF2-40B4-BE49-F238E27FC236}">
                <a16:creationId xmlns:a16="http://schemas.microsoft.com/office/drawing/2014/main" id="{A1F14AC0-7E81-3290-BFBD-9B334F5C0EFB}"/>
              </a:ext>
            </a:extLst>
          </p:cNvPr>
          <p:cNvGrpSpPr/>
          <p:nvPr/>
        </p:nvGrpSpPr>
        <p:grpSpPr>
          <a:xfrm>
            <a:off x="3411970" y="5845557"/>
            <a:ext cx="4564437" cy="2185272"/>
            <a:chOff x="3411970" y="5451800"/>
            <a:chExt cx="4564437" cy="2185272"/>
          </a:xfrm>
        </p:grpSpPr>
        <p:sp>
          <p:nvSpPr>
            <p:cNvPr id="10" name="TextBox 9">
              <a:extLst>
                <a:ext uri="{FF2B5EF4-FFF2-40B4-BE49-F238E27FC236}">
                  <a16:creationId xmlns:a16="http://schemas.microsoft.com/office/drawing/2014/main" id="{06312B81-BCF1-2796-C112-3DBE0E02F483}"/>
                </a:ext>
              </a:extLst>
            </p:cNvPr>
            <p:cNvSpPr txBox="1"/>
            <p:nvPr/>
          </p:nvSpPr>
          <p:spPr>
            <a:xfrm>
              <a:off x="3576751" y="5544191"/>
              <a:ext cx="4399656" cy="209288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AU" sz="1000" dirty="0"/>
            </a:p>
            <a:p>
              <a:r>
                <a:rPr lang="en-AU" sz="1000" dirty="0"/>
                <a:t>Project Manager for the project initiation, analysis, and design phases</a:t>
              </a:r>
            </a:p>
            <a:p>
              <a:r>
                <a:rPr lang="en-AU" sz="1000" dirty="0"/>
                <a:t>Worked closely with technical teams to support the design, development, and deployment activities to ensure that work was in line with project objectives and business requirements </a:t>
              </a:r>
            </a:p>
            <a:p>
              <a:r>
                <a:rPr lang="en-AU" sz="1000" dirty="0"/>
                <a:t>Established data requirements and </a:t>
              </a:r>
              <a:r>
                <a:rPr lang="en-AU" sz="1000" dirty="0" err="1"/>
                <a:t>modeling</a:t>
              </a:r>
              <a:r>
                <a:rPr lang="en-AU" sz="1000" dirty="0"/>
                <a:t> approach for the DPL team</a:t>
              </a:r>
            </a:p>
            <a:p>
              <a:r>
                <a:rPr lang="en-AU" sz="1000" dirty="0"/>
                <a:t>Coached BA team in analysis techniques and processes relating to data and </a:t>
              </a:r>
              <a:r>
                <a:rPr lang="en-AU" sz="1000" dirty="0" err="1"/>
                <a:t>modeling</a:t>
              </a:r>
              <a:r>
                <a:rPr lang="en-AU" sz="1000" dirty="0"/>
                <a:t> </a:t>
              </a:r>
            </a:p>
            <a:p>
              <a:r>
                <a:rPr lang="en-AU" sz="1000" dirty="0"/>
                <a:t>Provided subject matter expertise in AEMO’s data platform environment </a:t>
              </a:r>
            </a:p>
            <a:p>
              <a:r>
                <a:rPr lang="en-AU" sz="1000" dirty="0"/>
                <a:t>Captured requirements via facilitating workshops with key stakeholders</a:t>
              </a:r>
            </a:p>
            <a:p>
              <a:r>
                <a:rPr lang="en-AU" sz="1000" dirty="0"/>
                <a:t>Lead the analysis of 50+ schemas requiring migration </a:t>
              </a:r>
            </a:p>
            <a:p>
              <a:endParaRPr lang="en-AU" sz="1000" dirty="0"/>
            </a:p>
            <a:p>
              <a:pPr marL="0" indent="0">
                <a:buNone/>
              </a:pPr>
              <a:endParaRPr lang="en-AU"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3463961" y="5785504"/>
              <a:ext cx="0" cy="1367107"/>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059F888-3BDF-A1C0-65E5-CB6FDD43D97C}"/>
                </a:ext>
              </a:extLst>
            </p:cNvPr>
            <p:cNvSpPr txBox="1"/>
            <p:nvPr/>
          </p:nvSpPr>
          <p:spPr>
            <a:xfrm>
              <a:off x="3411970" y="5451800"/>
              <a:ext cx="3526969" cy="276999"/>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Big 4 Australian Bank – Data Engineer</a:t>
              </a:r>
            </a:p>
          </p:txBody>
        </p:sp>
      </p:grpSp>
      <p:sp>
        <p:nvSpPr>
          <p:cNvPr id="9" name="TextBox 8">
            <a:extLst>
              <a:ext uri="{FF2B5EF4-FFF2-40B4-BE49-F238E27FC236}">
                <a16:creationId xmlns:a16="http://schemas.microsoft.com/office/drawing/2014/main" id="{73AF90DA-A8BA-A38E-D7B5-20B62F60DBA2}"/>
              </a:ext>
            </a:extLst>
          </p:cNvPr>
          <p:cNvSpPr txBox="1"/>
          <p:nvPr/>
        </p:nvSpPr>
        <p:spPr>
          <a:xfrm>
            <a:off x="244292" y="1593954"/>
            <a:ext cx="2910700" cy="3254096"/>
          </a:xfrm>
          <a:prstGeom prst="rect">
            <a:avLst/>
          </a:prstGeom>
          <a:noFill/>
        </p:spPr>
        <p:txBody>
          <a:bodyPr wrap="square" lIns="0" tIns="0" rIns="0" bIns="0" rtlCol="0" anchor="t">
            <a:spAutoFit/>
          </a:bodyPr>
          <a:lstStyle>
            <a:defPPr>
              <a:defRPr lang="en-US"/>
            </a:defPPr>
            <a:lvl1pPr>
              <a:lnSpc>
                <a:spcPts val="1500"/>
              </a:lnSpc>
              <a:defRPr sz="1000" spc="13">
                <a:solidFill>
                  <a:schemeClr val="bg1"/>
                </a:solidFill>
                <a:latin typeface="Roboto Light" panose="02000000000000000000" pitchFamily="2" charset="0"/>
                <a:ea typeface="Roboto Light" panose="02000000000000000000" pitchFamily="2" charset="0"/>
                <a:cs typeface="Lato" panose="020F0502020204030203" pitchFamily="34" charset="0"/>
              </a:defRPr>
            </a:lvl1pPr>
          </a:lstStyle>
          <a:p>
            <a:r>
              <a:rPr lang="en-GB" dirty="0">
                <a:solidFill>
                  <a:schemeClr val="tx1"/>
                </a:solidFill>
              </a:rPr>
              <a:t>Simon is a Business orientated IT Professional with an experienced focus on business analysis, project management, software development and application support in a range of industries.</a:t>
            </a:r>
            <a:r>
              <a:rPr lang="en-AU" dirty="0">
                <a:solidFill>
                  <a:schemeClr val="tx1"/>
                </a:solidFill>
              </a:rPr>
              <a:t> With strong</a:t>
            </a:r>
            <a:r>
              <a:rPr lang="en-GB" dirty="0">
                <a:solidFill>
                  <a:schemeClr val="tx1"/>
                </a:solidFill>
              </a:rPr>
              <a:t> business acumen, Simon possesses a genuine desire to resolve not only “how” but “why”. </a:t>
            </a:r>
          </a:p>
          <a:p>
            <a:endParaRPr lang="en-GB" sz="400" dirty="0">
              <a:solidFill>
                <a:schemeClr val="tx1"/>
              </a:solidFill>
            </a:endParaRPr>
          </a:p>
          <a:p>
            <a:r>
              <a:rPr lang="en-GB" dirty="0">
                <a:solidFill>
                  <a:schemeClr val="tx1"/>
                </a:solidFill>
              </a:rPr>
              <a:t>Simon is effective in building meaningful stakeholder partnerships and achieving alignment between business and IT stakeholders that allow problems to be solved and business needs to be met. Simon is calm in times of crisis and comfortable in high-paced, demanding and complicated environments. Able to communicate with confidence and respect at all levels within an organisation, Simon is enthusiastic about building empowered and successful teams. </a:t>
            </a:r>
            <a:endParaRPr lang="en-AU" dirty="0">
              <a:solidFill>
                <a:schemeClr val="tx1"/>
              </a:solidFill>
            </a:endParaRPr>
          </a:p>
        </p:txBody>
      </p:sp>
      <p:sp>
        <p:nvSpPr>
          <p:cNvPr id="12" name="TextBox 11">
            <a:extLst>
              <a:ext uri="{FF2B5EF4-FFF2-40B4-BE49-F238E27FC236}">
                <a16:creationId xmlns:a16="http://schemas.microsoft.com/office/drawing/2014/main" id="{00BFB9EC-C6FC-9CD6-25D9-30AE5857C83C}"/>
              </a:ext>
            </a:extLst>
          </p:cNvPr>
          <p:cNvSpPr txBox="1"/>
          <p:nvPr/>
        </p:nvSpPr>
        <p:spPr>
          <a:xfrm>
            <a:off x="3497847" y="1243124"/>
            <a:ext cx="4472295" cy="240065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t>Identified business use cases and stakeholders for engagement</a:t>
            </a:r>
          </a:p>
          <a:p>
            <a:r>
              <a:rPr lang="en-AU" dirty="0"/>
              <a:t>Identified platform capability requirements and design, including reference and target architectures</a:t>
            </a:r>
          </a:p>
          <a:p>
            <a:r>
              <a:rPr lang="en-AU" dirty="0"/>
              <a:t>Capability-based platform and use case delivery planning and execution</a:t>
            </a:r>
          </a:p>
          <a:p>
            <a:r>
              <a:rPr lang="en-AU" dirty="0"/>
              <a:t>Lead and mentored data governance teams and developed policies and procedures to maintain data integrity and compliance</a:t>
            </a:r>
          </a:p>
          <a:p>
            <a:r>
              <a:rPr lang="en-AU" dirty="0"/>
              <a:t>Implemented data quality frameworks to ensure accuracy and reliability</a:t>
            </a:r>
          </a:p>
          <a:p>
            <a:r>
              <a:rPr lang="en-AU" dirty="0"/>
              <a:t>Resource profiling aligning team skills with project requirements, ensuring optimal utilisation</a:t>
            </a:r>
          </a:p>
          <a:p>
            <a:r>
              <a:rPr lang="en-AU" dirty="0"/>
              <a:t>Scheduled and maintained project timelines, ensuring alignment with stakeholder expectations</a:t>
            </a:r>
          </a:p>
          <a:p>
            <a:r>
              <a:rPr lang="en-AU" dirty="0"/>
              <a:t>Facilitated problem-solving sessions to address and resolve project challenges effectively</a:t>
            </a:r>
          </a:p>
          <a:p>
            <a:r>
              <a:rPr lang="en-AU" dirty="0"/>
              <a:t>Managed stakeholder communications and reporting to keep all parties informed of progress and issues</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Darcy Roach</DisplayName>
        <AccountId>14</AccountId>
        <AccountType/>
      </UserInfo>
      <UserInfo>
        <DisplayName>Joel Collins</DisplayName>
        <AccountId>13</AccountId>
        <AccountType/>
      </UserInfo>
    </SharedWithUsers>
  </documentManagement>
</p:properties>
</file>

<file path=customXml/itemProps1.xml><?xml version="1.0" encoding="utf-8"?>
<ds:datastoreItem xmlns:ds="http://schemas.openxmlformats.org/officeDocument/2006/customXml" ds:itemID="{BBC6410C-B420-4127-9D32-DC600766FC34}">
  <ds:schemaRefs>
    <ds:schemaRef ds:uri="http://schemas.microsoft.com/sharepoint/v3/contenttype/forms"/>
  </ds:schemaRefs>
</ds:datastoreItem>
</file>

<file path=customXml/itemProps2.xml><?xml version="1.0" encoding="utf-8"?>
<ds:datastoreItem xmlns:ds="http://schemas.openxmlformats.org/officeDocument/2006/customXml" ds:itemID="{E36342BA-B801-4BF7-9391-F7E98E6290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5D78DE8-CA0B-4723-AF37-2B344746F8D2}">
  <ds:schemaRefs>
    <ds:schemaRef ds:uri="daf93972-1964-4522-aa34-640805a01c3a"/>
    <ds:schemaRef ds:uri="http://schemas.microsoft.com/office/2006/documentManagement/types"/>
    <ds:schemaRef ds:uri="http://schemas.microsoft.com/office/infopath/2007/PartnerControls"/>
    <ds:schemaRef ds:uri="http://purl.org/dc/dcmitype/"/>
    <ds:schemaRef ds:uri="e52cd9e7-35e5-4bd3-9cab-ca6a63c31e52"/>
    <ds:schemaRef ds:uri="http://schemas.microsoft.com/office/2006/metadata/properties"/>
    <ds:schemaRef ds:uri="http://purl.org/dc/elements/1.1/"/>
    <ds:schemaRef ds:uri="http://schemas.openxmlformats.org/package/2006/metadata/core-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20222</TotalTime>
  <Words>534</Words>
  <Application>Microsoft Office PowerPoint</Application>
  <PresentationFormat>Custom</PresentationFormat>
  <Paragraphs>79</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114</cp:revision>
  <dcterms:created xsi:type="dcterms:W3CDTF">2019-12-03T01:50:37Z</dcterms:created>
  <dcterms:modified xsi:type="dcterms:W3CDTF">2024-06-05T05:55:02Z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