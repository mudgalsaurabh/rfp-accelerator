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sldIdLst>
    <p:sldId id="256" r:id="rId5"/>
  </p:sldIdLst>
  <p:sldSz cx="18288000" cy="10287000"/>
  <p:notesSz cx="6858000" cy="9144000"/>
  <p:embeddedFontLst>
    <p:embeddedFont>
      <p:font typeface="Roboto" panose="02000000000000000000" pitchFamily="2" charset="0"/>
      <p:regular r:id="rId6"/>
      <p:bold r:id="rId7"/>
      <p:italic r:id="rId8"/>
      <p:boldItalic r:id="rId9"/>
    </p:embeddedFont>
    <p:embeddedFont>
      <p:font typeface="Roboto Bold" panose="02000000000000000000" charset="0"/>
      <p:regular r:id="rId10"/>
      <p:bold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A7F"/>
    <a:srgbClr val="0F2B3F"/>
    <a:srgbClr val="D77432"/>
    <a:srgbClr val="92337A"/>
    <a:srgbClr val="0059FF"/>
    <a:srgbClr val="EF9B6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66" d="100"/>
          <a:sy n="66" d="100"/>
        </p:scale>
        <p:origin x="84"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3.fntdata"/><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font" Target="fonts/font2.fntdata"/><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font" Target="fonts/font1.fntdata"/><Relationship Id="rId11" Type="http://schemas.openxmlformats.org/officeDocument/2006/relationships/font" Target="fonts/font6.fntdata"/><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font" Target="fonts/font5.fntdata"/><Relationship Id="rId4" Type="http://schemas.openxmlformats.org/officeDocument/2006/relationships/slideMaster" Target="slideMasters/slideMaster1.xml"/><Relationship Id="rId9" Type="http://schemas.openxmlformats.org/officeDocument/2006/relationships/font" Target="fonts/font4.fntdata"/><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cy Roach" userId="ba676ee9-e9b4-49e8-a515-8077106c948d" providerId="ADAL" clId="{491076AF-459F-4660-98D1-05D43B79D51A}"/>
    <pc:docChg chg="undo custSel modSld">
      <pc:chgData name="Darcy Roach" userId="ba676ee9-e9b4-49e8-a515-8077106c948d" providerId="ADAL" clId="{491076AF-459F-4660-98D1-05D43B79D51A}" dt="2025-10-19T22:40:35.133" v="219" actId="20577"/>
      <pc:docMkLst>
        <pc:docMk/>
      </pc:docMkLst>
      <pc:sldChg chg="modSp mod">
        <pc:chgData name="Darcy Roach" userId="ba676ee9-e9b4-49e8-a515-8077106c948d" providerId="ADAL" clId="{491076AF-459F-4660-98D1-05D43B79D51A}" dt="2025-10-19T22:40:35.133" v="219" actId="20577"/>
        <pc:sldMkLst>
          <pc:docMk/>
          <pc:sldMk cId="0" sldId="256"/>
        </pc:sldMkLst>
        <pc:spChg chg="mod">
          <ac:chgData name="Darcy Roach" userId="ba676ee9-e9b4-49e8-a515-8077106c948d" providerId="ADAL" clId="{491076AF-459F-4660-98D1-05D43B79D51A}" dt="2025-10-14T22:53:18.140" v="151" actId="20577"/>
          <ac:spMkLst>
            <pc:docMk/>
            <pc:sldMk cId="0" sldId="256"/>
            <ac:spMk id="13" creationId="{00000000-0000-0000-0000-000000000000}"/>
          </ac:spMkLst>
        </pc:spChg>
        <pc:spChg chg="mod">
          <ac:chgData name="Darcy Roach" userId="ba676ee9-e9b4-49e8-a515-8077106c948d" providerId="ADAL" clId="{491076AF-459F-4660-98D1-05D43B79D51A}" dt="2025-10-14T22:54:33.433" v="203" actId="20577"/>
          <ac:spMkLst>
            <pc:docMk/>
            <pc:sldMk cId="0" sldId="256"/>
            <ac:spMk id="19" creationId="{00000000-0000-0000-0000-000000000000}"/>
          </ac:spMkLst>
        </pc:spChg>
        <pc:spChg chg="mod">
          <ac:chgData name="Darcy Roach" userId="ba676ee9-e9b4-49e8-a515-8077106c948d" providerId="ADAL" clId="{491076AF-459F-4660-98D1-05D43B79D51A}" dt="2025-10-14T22:48:19.102" v="38" actId="20577"/>
          <ac:spMkLst>
            <pc:docMk/>
            <pc:sldMk cId="0" sldId="256"/>
            <ac:spMk id="27" creationId="{00000000-0000-0000-0000-000000000000}"/>
          </ac:spMkLst>
        </pc:spChg>
        <pc:spChg chg="mod">
          <ac:chgData name="Darcy Roach" userId="ba676ee9-e9b4-49e8-a515-8077106c948d" providerId="ADAL" clId="{491076AF-459F-4660-98D1-05D43B79D51A}" dt="2025-10-19T22:40:35.133" v="219" actId="20577"/>
          <ac:spMkLst>
            <pc:docMk/>
            <pc:sldMk cId="0" sldId="256"/>
            <ac:spMk id="28"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sv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
        <p:nvSpPr>
          <p:cNvPr id="7" name="Freeform 2"/>
          <p:cNvSpPr/>
          <p:nvPr userDrawn="1"/>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3"/>
            <a:stretch>
              <a:fillRect t="-9675" b="-9675"/>
            </a:stretch>
          </a:blipFill>
        </p:spPr>
        <p:txBody>
          <a:bodyPr/>
          <a:lstStyle/>
          <a:p>
            <a:endParaRPr lang="en-AU"/>
          </a:p>
        </p:txBody>
      </p:sp>
      <p:sp>
        <p:nvSpPr>
          <p:cNvPr id="8" name="Freeform 7"/>
          <p:cNvSpPr/>
          <p:nvPr userDrawn="1"/>
        </p:nvSpPr>
        <p:spPr>
          <a:xfrm>
            <a:off x="16137869" y="7528219"/>
            <a:ext cx="2145775" cy="2770530"/>
          </a:xfrm>
          <a:custGeom>
            <a:avLst/>
            <a:gdLst/>
            <a:ahLst/>
            <a:cxnLst/>
            <a:rect l="l" t="t" r="r" b="b"/>
            <a:pathLst>
              <a:path w="2150131" h="2776154">
                <a:moveTo>
                  <a:pt x="0" y="0"/>
                </a:moveTo>
                <a:lnTo>
                  <a:pt x="2150131" y="0"/>
                </a:lnTo>
                <a:lnTo>
                  <a:pt x="2150131" y="2776154"/>
                </a:lnTo>
                <a:lnTo>
                  <a:pt x="0" y="2776154"/>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A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flipV="1">
            <a:off x="200025" y="2552960"/>
            <a:ext cx="6493375" cy="0"/>
          </a:xfrm>
          <a:prstGeom prst="line">
            <a:avLst/>
          </a:prstGeom>
          <a:ln w="19050" cap="flat">
            <a:solidFill>
              <a:srgbClr val="0F2B3F"/>
            </a:solidFill>
            <a:prstDash val="sysDot"/>
            <a:headEnd type="none" w="sm" len="sm"/>
            <a:tailEnd type="none" w="sm" len="sm"/>
          </a:ln>
        </p:spPr>
        <p:txBody>
          <a:bodyPr/>
          <a:lstStyle/>
          <a:p>
            <a:endParaRPr lang="en-AU"/>
          </a:p>
        </p:txBody>
      </p:sp>
      <p:sp>
        <p:nvSpPr>
          <p:cNvPr id="4" name="AutoShape 4"/>
          <p:cNvSpPr/>
          <p:nvPr/>
        </p:nvSpPr>
        <p:spPr>
          <a:xfrm flipV="1">
            <a:off x="7231789" y="778751"/>
            <a:ext cx="7629610" cy="0"/>
          </a:xfrm>
          <a:prstGeom prst="line">
            <a:avLst/>
          </a:prstGeom>
          <a:ln w="19050" cap="flat">
            <a:solidFill>
              <a:srgbClr val="0F2B3F"/>
            </a:solidFill>
            <a:prstDash val="sysDot"/>
            <a:headEnd type="none" w="sm" len="sm"/>
            <a:tailEnd type="none" w="sm" len="sm"/>
          </a:ln>
        </p:spPr>
        <p:txBody>
          <a:bodyPr/>
          <a:lstStyle/>
          <a:p>
            <a:endParaRPr lang="en-AU"/>
          </a:p>
        </p:txBody>
      </p:sp>
      <p:sp>
        <p:nvSpPr>
          <p:cNvPr id="5" name="AutoShape 5"/>
          <p:cNvSpPr/>
          <p:nvPr/>
        </p:nvSpPr>
        <p:spPr>
          <a:xfrm flipV="1">
            <a:off x="6934200" y="345438"/>
            <a:ext cx="0" cy="9566935"/>
          </a:xfrm>
          <a:prstGeom prst="line">
            <a:avLst/>
          </a:prstGeom>
          <a:ln w="19050" cap="flat">
            <a:solidFill>
              <a:srgbClr val="00AA7F"/>
            </a:solidFill>
            <a:prstDash val="sysDot"/>
            <a:headEnd type="none" w="sm" len="sm"/>
            <a:tailEnd type="none" w="sm" len="sm"/>
          </a:ln>
        </p:spPr>
        <p:txBody>
          <a:bodyPr/>
          <a:lstStyle/>
          <a:p>
            <a:endParaRPr lang="en-AU"/>
          </a:p>
        </p:txBody>
      </p:sp>
      <p:sp>
        <p:nvSpPr>
          <p:cNvPr id="6" name="AutoShape 6"/>
          <p:cNvSpPr/>
          <p:nvPr/>
        </p:nvSpPr>
        <p:spPr>
          <a:xfrm flipV="1">
            <a:off x="15329903" y="899862"/>
            <a:ext cx="0" cy="9041700"/>
          </a:xfrm>
          <a:prstGeom prst="line">
            <a:avLst/>
          </a:prstGeom>
          <a:ln w="19050" cap="flat">
            <a:solidFill>
              <a:srgbClr val="00AA7F"/>
            </a:solidFill>
            <a:prstDash val="sysDot"/>
            <a:headEnd type="none" w="sm" len="sm"/>
            <a:tailEnd type="none" w="sm" len="sm"/>
          </a:ln>
        </p:spPr>
        <p:txBody>
          <a:bodyPr/>
          <a:lstStyle/>
          <a:p>
            <a:endParaRPr lang="en-AU"/>
          </a:p>
        </p:txBody>
      </p:sp>
      <p:sp>
        <p:nvSpPr>
          <p:cNvPr id="8" name="Freeform 8"/>
          <p:cNvSpPr/>
          <p:nvPr/>
        </p:nvSpPr>
        <p:spPr>
          <a:xfrm>
            <a:off x="15588910" y="204425"/>
            <a:ext cx="2048952" cy="474651"/>
          </a:xfrm>
          <a:custGeom>
            <a:avLst/>
            <a:gdLst/>
            <a:ahLst/>
            <a:cxnLst/>
            <a:rect l="l" t="t" r="r" b="b"/>
            <a:pathLst>
              <a:path w="2048952" h="474651">
                <a:moveTo>
                  <a:pt x="0" y="0"/>
                </a:moveTo>
                <a:lnTo>
                  <a:pt x="2048952" y="0"/>
                </a:lnTo>
                <a:lnTo>
                  <a:pt x="2048952" y="474651"/>
                </a:lnTo>
                <a:lnTo>
                  <a:pt x="0" y="474651"/>
                </a:lnTo>
                <a:lnTo>
                  <a:pt x="0" y="0"/>
                </a:lnTo>
                <a:close/>
              </a:path>
            </a:pathLst>
          </a:custGeom>
          <a:blipFill>
            <a:blip r:embed="rId2"/>
            <a:stretch>
              <a:fillRect/>
            </a:stretch>
          </a:blipFill>
        </p:spPr>
        <p:txBody>
          <a:bodyPr/>
          <a:lstStyle/>
          <a:p>
            <a:endParaRPr lang="en-AU"/>
          </a:p>
        </p:txBody>
      </p:sp>
      <p:sp>
        <p:nvSpPr>
          <p:cNvPr id="9" name="TextBox 9"/>
          <p:cNvSpPr txBox="1"/>
          <p:nvPr/>
        </p:nvSpPr>
        <p:spPr>
          <a:xfrm>
            <a:off x="15568937" y="4435474"/>
            <a:ext cx="2657545" cy="3058530"/>
          </a:xfrm>
          <a:prstGeom prst="rect">
            <a:avLst/>
          </a:prstGeom>
        </p:spPr>
        <p:txBody>
          <a:bodyPr wrap="square" lIns="0" tIns="0" rIns="0" bIns="0" rtlCol="0" anchor="t">
            <a:spAutoFit/>
          </a:bodyPr>
          <a:lstStyle/>
          <a:p>
            <a:pPr algn="l">
              <a:lnSpc>
                <a:spcPts val="1959"/>
              </a:lnSpc>
            </a:pPr>
            <a:r>
              <a:rPr lang="en-US" sz="1399" b="1" dirty="0">
                <a:solidFill>
                  <a:srgbClr val="00AA7F"/>
                </a:solidFill>
                <a:latin typeface="Roboto"/>
                <a:ea typeface="Roboto"/>
                <a:cs typeface="Roboto"/>
                <a:sym typeface="Roboto"/>
              </a:rPr>
              <a:t>Microsoft | Certified Azure Data Engineer Associate </a:t>
            </a:r>
          </a:p>
          <a:p>
            <a:pPr algn="l">
              <a:lnSpc>
                <a:spcPts val="1959"/>
              </a:lnSpc>
            </a:pPr>
            <a:endParaRPr lang="en-US" sz="1399" b="1" dirty="0">
              <a:solidFill>
                <a:srgbClr val="00AA7F"/>
              </a:solidFill>
              <a:latin typeface="Roboto"/>
              <a:ea typeface="Roboto"/>
              <a:cs typeface="Roboto"/>
              <a:sym typeface="Roboto"/>
            </a:endParaRPr>
          </a:p>
          <a:p>
            <a:pPr>
              <a:lnSpc>
                <a:spcPts val="1959"/>
              </a:lnSpc>
            </a:pPr>
            <a:r>
              <a:rPr lang="en-US" sz="1399" b="1" dirty="0">
                <a:solidFill>
                  <a:srgbClr val="00AA7F"/>
                </a:solidFill>
                <a:latin typeface="Roboto"/>
                <a:ea typeface="Roboto"/>
                <a:cs typeface="Roboto"/>
                <a:sym typeface="Roboto"/>
              </a:rPr>
              <a:t>Microsoft | Certified Azure Enterprise Data Analyst Associate  </a:t>
            </a:r>
          </a:p>
          <a:p>
            <a:pPr>
              <a:lnSpc>
                <a:spcPts val="1959"/>
              </a:lnSpc>
            </a:pPr>
            <a:endParaRPr lang="en-US" sz="1399" b="1" dirty="0">
              <a:solidFill>
                <a:srgbClr val="00AA7F"/>
              </a:solidFill>
              <a:latin typeface="Roboto"/>
              <a:ea typeface="Roboto"/>
              <a:cs typeface="Roboto"/>
              <a:sym typeface="Roboto"/>
            </a:endParaRPr>
          </a:p>
          <a:p>
            <a:pPr>
              <a:lnSpc>
                <a:spcPts val="1959"/>
              </a:lnSpc>
            </a:pPr>
            <a:r>
              <a:rPr lang="en-US" sz="1399" b="1" dirty="0">
                <a:solidFill>
                  <a:srgbClr val="00AA7F"/>
                </a:solidFill>
                <a:latin typeface="Roboto"/>
                <a:ea typeface="Roboto"/>
                <a:cs typeface="Roboto"/>
                <a:sym typeface="Roboto"/>
              </a:rPr>
              <a:t>Microsoft | Certified Data Analyst Associate </a:t>
            </a:r>
          </a:p>
          <a:p>
            <a:pPr>
              <a:lnSpc>
                <a:spcPts val="1959"/>
              </a:lnSpc>
            </a:pPr>
            <a:endParaRPr lang="en-US" sz="1399" b="1" dirty="0">
              <a:solidFill>
                <a:srgbClr val="00AA7F"/>
              </a:solidFill>
              <a:latin typeface="Roboto"/>
              <a:ea typeface="Roboto"/>
              <a:cs typeface="Roboto"/>
              <a:sym typeface="Roboto"/>
            </a:endParaRPr>
          </a:p>
          <a:p>
            <a:pPr algn="l">
              <a:lnSpc>
                <a:spcPts val="1959"/>
              </a:lnSpc>
              <a:spcBef>
                <a:spcPct val="0"/>
              </a:spcBef>
            </a:pPr>
            <a:r>
              <a:rPr lang="en-US" sz="1399" b="1" dirty="0">
                <a:solidFill>
                  <a:srgbClr val="00AA7F"/>
                </a:solidFill>
                <a:latin typeface="Roboto"/>
                <a:ea typeface="Roboto"/>
                <a:cs typeface="Roboto"/>
                <a:sym typeface="Roboto"/>
              </a:rPr>
              <a:t>Certified Scrum Master</a:t>
            </a:r>
          </a:p>
          <a:p>
            <a:pPr algn="l">
              <a:lnSpc>
                <a:spcPts val="1959"/>
              </a:lnSpc>
              <a:spcBef>
                <a:spcPct val="0"/>
              </a:spcBef>
            </a:pPr>
            <a:endParaRPr lang="en-US" sz="1399" b="1" dirty="0">
              <a:solidFill>
                <a:srgbClr val="00AA7F"/>
              </a:solidFill>
              <a:latin typeface="Roboto"/>
              <a:ea typeface="Roboto"/>
              <a:cs typeface="Roboto"/>
              <a:sym typeface="Roboto"/>
            </a:endParaRPr>
          </a:p>
        </p:txBody>
      </p:sp>
      <p:sp>
        <p:nvSpPr>
          <p:cNvPr id="10" name="AutoShape 10"/>
          <p:cNvSpPr/>
          <p:nvPr/>
        </p:nvSpPr>
        <p:spPr>
          <a:xfrm>
            <a:off x="15568938" y="4329679"/>
            <a:ext cx="2273295" cy="0"/>
          </a:xfrm>
          <a:prstGeom prst="line">
            <a:avLst/>
          </a:prstGeom>
          <a:ln w="19050" cap="flat">
            <a:solidFill>
              <a:srgbClr val="0F2B3F"/>
            </a:solidFill>
            <a:prstDash val="sysDot"/>
            <a:headEnd type="none" w="sm" len="sm"/>
            <a:tailEnd type="none" w="sm" len="sm"/>
          </a:ln>
        </p:spPr>
        <p:txBody>
          <a:bodyPr/>
          <a:lstStyle/>
          <a:p>
            <a:endParaRPr lang="en-AU"/>
          </a:p>
        </p:txBody>
      </p:sp>
      <p:sp>
        <p:nvSpPr>
          <p:cNvPr id="11" name="AutoShape 11"/>
          <p:cNvSpPr/>
          <p:nvPr/>
        </p:nvSpPr>
        <p:spPr>
          <a:xfrm>
            <a:off x="15559425" y="1729786"/>
            <a:ext cx="2273295" cy="0"/>
          </a:xfrm>
          <a:prstGeom prst="line">
            <a:avLst/>
          </a:prstGeom>
          <a:ln w="19050" cap="flat">
            <a:solidFill>
              <a:srgbClr val="0F2B3F"/>
            </a:solidFill>
            <a:prstDash val="sysDot"/>
            <a:headEnd type="none" w="sm" len="sm"/>
            <a:tailEnd type="none" w="sm" len="sm"/>
          </a:ln>
        </p:spPr>
        <p:txBody>
          <a:bodyPr/>
          <a:lstStyle/>
          <a:p>
            <a:endParaRPr lang="en-AU"/>
          </a:p>
        </p:txBody>
      </p:sp>
      <p:sp>
        <p:nvSpPr>
          <p:cNvPr id="12" name="TextBox 12"/>
          <p:cNvSpPr txBox="1"/>
          <p:nvPr/>
        </p:nvSpPr>
        <p:spPr>
          <a:xfrm>
            <a:off x="15539453" y="1235074"/>
            <a:ext cx="7840469" cy="358774"/>
          </a:xfrm>
          <a:prstGeom prst="rect">
            <a:avLst/>
          </a:prstGeom>
        </p:spPr>
        <p:txBody>
          <a:bodyPr lIns="0" tIns="0" rIns="0" bIns="0" rtlCol="0" anchor="t">
            <a:spAutoFit/>
          </a:bodyPr>
          <a:lstStyle/>
          <a:p>
            <a:pPr algn="l">
              <a:lnSpc>
                <a:spcPts val="2800"/>
              </a:lnSpc>
              <a:spcBef>
                <a:spcPct val="0"/>
              </a:spcBef>
            </a:pPr>
            <a:r>
              <a:rPr lang="en-US" sz="2000" b="1">
                <a:solidFill>
                  <a:srgbClr val="0F2B3F"/>
                </a:solidFill>
                <a:latin typeface="Roboto Bold"/>
                <a:ea typeface="Roboto Bold"/>
                <a:cs typeface="Roboto Bold"/>
                <a:sym typeface="Roboto Bold"/>
              </a:rPr>
              <a:t>Industry Experience</a:t>
            </a:r>
          </a:p>
        </p:txBody>
      </p:sp>
      <p:sp>
        <p:nvSpPr>
          <p:cNvPr id="13" name="TextBox 13"/>
          <p:cNvSpPr txBox="1"/>
          <p:nvPr/>
        </p:nvSpPr>
        <p:spPr>
          <a:xfrm>
            <a:off x="15539453" y="1796461"/>
            <a:ext cx="2293267" cy="2109552"/>
          </a:xfrm>
          <a:prstGeom prst="rect">
            <a:avLst/>
          </a:prstGeom>
        </p:spPr>
        <p:txBody>
          <a:bodyPr lIns="0" tIns="0" rIns="0" bIns="0" rtlCol="0" anchor="t">
            <a:spAutoFit/>
          </a:bodyPr>
          <a:lstStyle/>
          <a:p>
            <a:pPr>
              <a:lnSpc>
                <a:spcPts val="2800"/>
              </a:lnSpc>
            </a:pPr>
            <a:r>
              <a:rPr lang="en-AU" sz="1400" b="1" dirty="0">
                <a:solidFill>
                  <a:srgbClr val="00AA7F"/>
                </a:solidFill>
                <a:latin typeface="Roboto Bold"/>
                <a:ea typeface="Roboto Bold"/>
                <a:cs typeface="Roboto Bold"/>
                <a:sym typeface="Roboto Bold"/>
              </a:rPr>
              <a:t>Government</a:t>
            </a:r>
          </a:p>
          <a:p>
            <a:pPr>
              <a:lnSpc>
                <a:spcPts val="2800"/>
              </a:lnSpc>
            </a:pPr>
            <a:r>
              <a:rPr lang="en-AU" sz="1400" b="1" dirty="0">
                <a:solidFill>
                  <a:srgbClr val="00AA7F"/>
                </a:solidFill>
                <a:latin typeface="Roboto Bold"/>
                <a:ea typeface="Roboto Bold"/>
                <a:cs typeface="Roboto Bold"/>
                <a:sym typeface="Roboto Bold"/>
              </a:rPr>
              <a:t>Financial Services</a:t>
            </a:r>
          </a:p>
          <a:p>
            <a:pPr>
              <a:lnSpc>
                <a:spcPts val="2800"/>
              </a:lnSpc>
            </a:pPr>
            <a:r>
              <a:rPr lang="en-AU" sz="1400" b="1" dirty="0">
                <a:solidFill>
                  <a:srgbClr val="00AA7F"/>
                </a:solidFill>
                <a:latin typeface="Roboto Bold"/>
                <a:ea typeface="Roboto Bold"/>
                <a:cs typeface="Roboto Bold"/>
                <a:sym typeface="Roboto Bold"/>
              </a:rPr>
              <a:t>Energy</a:t>
            </a:r>
          </a:p>
          <a:p>
            <a:pPr>
              <a:lnSpc>
                <a:spcPts val="2800"/>
              </a:lnSpc>
            </a:pPr>
            <a:r>
              <a:rPr lang="en-AU" sz="1400" b="1" dirty="0">
                <a:solidFill>
                  <a:srgbClr val="00AA7F"/>
                </a:solidFill>
                <a:latin typeface="Roboto Bold"/>
                <a:ea typeface="Roboto Bold"/>
                <a:cs typeface="Roboto Bold"/>
                <a:sym typeface="Roboto Bold"/>
              </a:rPr>
              <a:t>Retail</a:t>
            </a:r>
          </a:p>
          <a:p>
            <a:pPr>
              <a:lnSpc>
                <a:spcPts val="2800"/>
              </a:lnSpc>
            </a:pPr>
            <a:r>
              <a:rPr lang="en-AU" sz="1400" b="1" dirty="0">
                <a:solidFill>
                  <a:srgbClr val="00AA7F"/>
                </a:solidFill>
                <a:latin typeface="Roboto Bold"/>
                <a:ea typeface="Roboto Bold"/>
                <a:cs typeface="Roboto Bold"/>
                <a:sym typeface="Roboto Bold"/>
              </a:rPr>
              <a:t>Supply Chain Logistics</a:t>
            </a:r>
          </a:p>
          <a:p>
            <a:pPr>
              <a:lnSpc>
                <a:spcPts val="2800"/>
              </a:lnSpc>
            </a:pPr>
            <a:endParaRPr lang="en-US" sz="1400" b="1" dirty="0">
              <a:solidFill>
                <a:srgbClr val="00AA7F"/>
              </a:solidFill>
              <a:latin typeface="Roboto Bold"/>
              <a:ea typeface="Roboto Bold"/>
              <a:cs typeface="Roboto Bold"/>
              <a:sym typeface="Roboto Bold"/>
            </a:endParaRPr>
          </a:p>
        </p:txBody>
      </p:sp>
      <p:sp>
        <p:nvSpPr>
          <p:cNvPr id="14" name="TextBox 14"/>
          <p:cNvSpPr txBox="1"/>
          <p:nvPr/>
        </p:nvSpPr>
        <p:spPr>
          <a:xfrm>
            <a:off x="15539453" y="3844970"/>
            <a:ext cx="2687031" cy="333425"/>
          </a:xfrm>
          <a:prstGeom prst="rect">
            <a:avLst/>
          </a:prstGeom>
        </p:spPr>
        <p:txBody>
          <a:bodyPr lIns="0" tIns="0" rIns="0" bIns="0" rtlCol="0" anchor="t">
            <a:spAutoFit/>
          </a:bodyPr>
          <a:lstStyle/>
          <a:p>
            <a:pPr algn="l">
              <a:lnSpc>
                <a:spcPts val="2800"/>
              </a:lnSpc>
              <a:spcBef>
                <a:spcPct val="0"/>
              </a:spcBef>
            </a:pPr>
            <a:r>
              <a:rPr lang="en-US" sz="2000" b="1" dirty="0">
                <a:solidFill>
                  <a:srgbClr val="0F2B3F"/>
                </a:solidFill>
                <a:latin typeface="Roboto Bold"/>
                <a:ea typeface="Roboto Bold"/>
                <a:cs typeface="Roboto Bold"/>
                <a:sym typeface="Roboto Bold"/>
              </a:rPr>
              <a:t>Certification</a:t>
            </a:r>
          </a:p>
        </p:txBody>
      </p:sp>
      <p:sp>
        <p:nvSpPr>
          <p:cNvPr id="15" name="TextBox 15"/>
          <p:cNvSpPr txBox="1"/>
          <p:nvPr/>
        </p:nvSpPr>
        <p:spPr>
          <a:xfrm>
            <a:off x="7211817" y="171689"/>
            <a:ext cx="7840469" cy="500137"/>
          </a:xfrm>
          <a:prstGeom prst="rect">
            <a:avLst/>
          </a:prstGeom>
        </p:spPr>
        <p:txBody>
          <a:bodyPr lIns="0" tIns="0" rIns="0" bIns="0" rtlCol="0" anchor="t">
            <a:spAutoFit/>
          </a:bodyPr>
          <a:lstStyle/>
          <a:p>
            <a:pPr algn="l">
              <a:lnSpc>
                <a:spcPts val="4200"/>
              </a:lnSpc>
              <a:spcBef>
                <a:spcPct val="0"/>
              </a:spcBef>
            </a:pPr>
            <a:r>
              <a:rPr lang="en-US" sz="3000" b="1" dirty="0">
                <a:solidFill>
                  <a:srgbClr val="0F2B3F"/>
                </a:solidFill>
                <a:latin typeface="Roboto Bold"/>
                <a:ea typeface="Roboto Bold"/>
                <a:cs typeface="Roboto Bold"/>
                <a:sym typeface="Roboto Bold"/>
              </a:rPr>
              <a:t>Selected Project Experience</a:t>
            </a:r>
          </a:p>
        </p:txBody>
      </p:sp>
      <p:sp>
        <p:nvSpPr>
          <p:cNvPr id="16" name="TextBox 16"/>
          <p:cNvSpPr txBox="1"/>
          <p:nvPr/>
        </p:nvSpPr>
        <p:spPr>
          <a:xfrm>
            <a:off x="222666" y="765476"/>
            <a:ext cx="6593800" cy="1384995"/>
          </a:xfrm>
          <a:prstGeom prst="rect">
            <a:avLst/>
          </a:prstGeom>
        </p:spPr>
        <p:txBody>
          <a:bodyPr wrap="square" lIns="0" tIns="0" rIns="0" bIns="0" rtlCol="0" anchor="t">
            <a:spAutoFit/>
          </a:bodyPr>
          <a:lstStyle/>
          <a:p>
            <a:pPr algn="l">
              <a:lnSpc>
                <a:spcPts val="5599"/>
              </a:lnSpc>
              <a:spcBef>
                <a:spcPct val="0"/>
              </a:spcBef>
            </a:pPr>
            <a:r>
              <a:rPr lang="en-US" sz="3999" b="1" dirty="0">
                <a:solidFill>
                  <a:srgbClr val="00AA7F"/>
                </a:solidFill>
                <a:latin typeface="Roboto Bold"/>
                <a:ea typeface="Roboto Bold"/>
                <a:cs typeface="Roboto Bold"/>
                <a:sym typeface="Roboto Bold"/>
              </a:rPr>
              <a:t>Hila Galapo</a:t>
            </a:r>
          </a:p>
          <a:p>
            <a:pPr algn="l">
              <a:lnSpc>
                <a:spcPts val="5599"/>
              </a:lnSpc>
              <a:spcBef>
                <a:spcPct val="0"/>
              </a:spcBef>
            </a:pPr>
            <a:endParaRPr lang="en-US" sz="3999" b="1" dirty="0">
              <a:solidFill>
                <a:srgbClr val="00AA7F"/>
              </a:solidFill>
              <a:latin typeface="Roboto Bold"/>
              <a:ea typeface="Roboto Bold"/>
              <a:cs typeface="Roboto Bold"/>
              <a:sym typeface="Roboto Bold"/>
            </a:endParaRPr>
          </a:p>
        </p:txBody>
      </p:sp>
      <p:sp>
        <p:nvSpPr>
          <p:cNvPr id="17" name="TextBox 17"/>
          <p:cNvSpPr txBox="1"/>
          <p:nvPr/>
        </p:nvSpPr>
        <p:spPr>
          <a:xfrm>
            <a:off x="222207" y="1427714"/>
            <a:ext cx="4631684" cy="533400"/>
          </a:xfrm>
          <a:prstGeom prst="rect">
            <a:avLst/>
          </a:prstGeom>
        </p:spPr>
        <p:txBody>
          <a:bodyPr lIns="0" tIns="0" rIns="0" bIns="0" rtlCol="0" anchor="t">
            <a:spAutoFit/>
          </a:bodyPr>
          <a:lstStyle/>
          <a:p>
            <a:pPr algn="l">
              <a:lnSpc>
                <a:spcPts val="4200"/>
              </a:lnSpc>
              <a:spcBef>
                <a:spcPct val="0"/>
              </a:spcBef>
            </a:pPr>
            <a:r>
              <a:rPr lang="en-US" sz="3000" dirty="0">
                <a:solidFill>
                  <a:srgbClr val="0F2B3F"/>
                </a:solidFill>
                <a:latin typeface="Roboto"/>
                <a:ea typeface="Roboto"/>
                <a:cs typeface="Roboto"/>
                <a:sym typeface="Roboto"/>
              </a:rPr>
              <a:t>Senior Consultant</a:t>
            </a:r>
          </a:p>
        </p:txBody>
      </p:sp>
      <p:sp>
        <p:nvSpPr>
          <p:cNvPr id="18" name="TextBox 18"/>
          <p:cNvSpPr txBox="1"/>
          <p:nvPr/>
        </p:nvSpPr>
        <p:spPr>
          <a:xfrm>
            <a:off x="222207" y="2020005"/>
            <a:ext cx="3072317" cy="533400"/>
          </a:xfrm>
          <a:prstGeom prst="rect">
            <a:avLst/>
          </a:prstGeom>
        </p:spPr>
        <p:txBody>
          <a:bodyPr lIns="0" tIns="0" rIns="0" bIns="0" rtlCol="0" anchor="t">
            <a:spAutoFit/>
          </a:bodyPr>
          <a:lstStyle/>
          <a:p>
            <a:pPr algn="l">
              <a:lnSpc>
                <a:spcPts val="4200"/>
              </a:lnSpc>
              <a:spcBef>
                <a:spcPct val="0"/>
              </a:spcBef>
            </a:pPr>
            <a:r>
              <a:rPr lang="en-US" sz="3000" b="1" dirty="0">
                <a:solidFill>
                  <a:srgbClr val="00AA7F"/>
                </a:solidFill>
                <a:latin typeface="Roboto Bold"/>
                <a:ea typeface="Roboto Bold"/>
                <a:cs typeface="Roboto Bold"/>
                <a:sym typeface="Roboto Bold"/>
              </a:rPr>
              <a:t>Summary</a:t>
            </a:r>
          </a:p>
        </p:txBody>
      </p:sp>
      <p:sp>
        <p:nvSpPr>
          <p:cNvPr id="19" name="TextBox 19"/>
          <p:cNvSpPr txBox="1"/>
          <p:nvPr/>
        </p:nvSpPr>
        <p:spPr>
          <a:xfrm>
            <a:off x="222208" y="2642704"/>
            <a:ext cx="6471192" cy="2795637"/>
          </a:xfrm>
          <a:prstGeom prst="rect">
            <a:avLst/>
          </a:prstGeom>
        </p:spPr>
        <p:txBody>
          <a:bodyPr wrap="square" lIns="0" tIns="0" rIns="0" bIns="0" rtlCol="0" anchor="t">
            <a:spAutoFit/>
          </a:bodyPr>
          <a:lstStyle/>
          <a:p>
            <a:pPr algn="l">
              <a:lnSpc>
                <a:spcPts val="2239"/>
              </a:lnSpc>
            </a:pPr>
            <a:r>
              <a:rPr lang="en-AU" sz="1400" dirty="0">
                <a:solidFill>
                  <a:srgbClr val="0F2B3F"/>
                </a:solidFill>
                <a:latin typeface="Roboto"/>
                <a:ea typeface="Roboto"/>
                <a:cs typeface="Roboto"/>
                <a:sym typeface="Roboto"/>
              </a:rPr>
              <a:t>Hila is a Senior Data Engineer with over 15 years of experience in delivering scalable data solutions across Finance, Government, Energy, Supply Chain, and Consulting. Hila is highly skilled in, Data Engineering, Data Warehousing, Data Modelling, Data Analysis and Data Governance. As a Microsoft certified Data Engineer and </a:t>
            </a:r>
            <a:r>
              <a:rPr lang="en-AU" sz="1400">
                <a:solidFill>
                  <a:srgbClr val="0F2B3F"/>
                </a:solidFill>
                <a:latin typeface="Roboto"/>
                <a:ea typeface="Roboto"/>
                <a:cs typeface="Roboto"/>
                <a:sym typeface="Roboto"/>
              </a:rPr>
              <a:t>Analyst, Hila </a:t>
            </a:r>
            <a:r>
              <a:rPr lang="en-AU" sz="1400" dirty="0">
                <a:solidFill>
                  <a:srgbClr val="0F2B3F"/>
                </a:solidFill>
                <a:latin typeface="Roboto"/>
                <a:ea typeface="Roboto"/>
                <a:cs typeface="Roboto"/>
                <a:sym typeface="Roboto"/>
              </a:rPr>
              <a:t>is known for her ability to  independently own end-to-end data workflows, from ingestion and modelling to business reporting. </a:t>
            </a:r>
          </a:p>
          <a:p>
            <a:pPr algn="l">
              <a:lnSpc>
                <a:spcPts val="2239"/>
              </a:lnSpc>
            </a:pPr>
            <a:endParaRPr lang="en-AU" sz="1400" dirty="0">
              <a:solidFill>
                <a:srgbClr val="0F2B3F"/>
              </a:solidFill>
              <a:latin typeface="Roboto"/>
              <a:ea typeface="Roboto"/>
              <a:cs typeface="Roboto"/>
              <a:sym typeface="Roboto"/>
            </a:endParaRPr>
          </a:p>
          <a:p>
            <a:pPr algn="l">
              <a:lnSpc>
                <a:spcPts val="2239"/>
              </a:lnSpc>
            </a:pPr>
            <a:r>
              <a:rPr lang="en-AU" sz="1400" dirty="0">
                <a:solidFill>
                  <a:srgbClr val="0F2B3F"/>
                </a:solidFill>
                <a:latin typeface="Roboto"/>
                <a:ea typeface="Roboto"/>
                <a:cs typeface="Roboto"/>
                <a:sym typeface="Roboto"/>
              </a:rPr>
              <a:t>Adept in stakeholder engagement, workshop facilitation, and translating business needs into technical delivery, Hila is technically proficient across Azure, Databricks, SQL, Power BI, and Snowflake. </a:t>
            </a:r>
            <a:endParaRPr lang="en-US" sz="1400" dirty="0">
              <a:solidFill>
                <a:srgbClr val="0F2B3F"/>
              </a:solidFill>
              <a:latin typeface="Roboto"/>
              <a:ea typeface="Roboto"/>
              <a:cs typeface="Roboto"/>
              <a:sym typeface="Roboto"/>
            </a:endParaRPr>
          </a:p>
        </p:txBody>
      </p:sp>
      <p:sp>
        <p:nvSpPr>
          <p:cNvPr id="20" name="TextBox 20"/>
          <p:cNvSpPr txBox="1"/>
          <p:nvPr/>
        </p:nvSpPr>
        <p:spPr>
          <a:xfrm>
            <a:off x="7381790" y="6319277"/>
            <a:ext cx="7629610" cy="1776127"/>
          </a:xfrm>
          <a:prstGeom prst="rect">
            <a:avLst/>
          </a:prstGeom>
        </p:spPr>
        <p:txBody>
          <a:bodyPr lIns="0" tIns="0" rIns="0" bIns="0" rtlCol="0" anchor="t">
            <a:spAutoFit/>
          </a:bodyPr>
          <a:lstStyle/>
          <a:p>
            <a:pPr algn="just">
              <a:lnSpc>
                <a:spcPts val="1960"/>
              </a:lnSpc>
            </a:pPr>
            <a:r>
              <a:rPr lang="en-US" sz="1400" b="1" dirty="0">
                <a:solidFill>
                  <a:srgbClr val="92337A"/>
                </a:solidFill>
                <a:latin typeface="Roboto Bold"/>
                <a:ea typeface="Roboto Bold"/>
                <a:cs typeface="Roboto Bold"/>
                <a:sym typeface="Roboto Bold"/>
              </a:rPr>
              <a:t>Retail </a:t>
            </a:r>
            <a:r>
              <a:rPr lang="en-US" sz="1400" b="1" dirty="0" err="1">
                <a:solidFill>
                  <a:srgbClr val="92337A"/>
                </a:solidFill>
                <a:latin typeface="Roboto Bold"/>
                <a:ea typeface="Roboto Bold"/>
                <a:cs typeface="Roboto Bold"/>
                <a:sym typeface="Roboto Bold"/>
              </a:rPr>
              <a:t>Organisation</a:t>
            </a:r>
            <a:r>
              <a:rPr lang="en-US" sz="1400" b="1" dirty="0">
                <a:solidFill>
                  <a:srgbClr val="92337A"/>
                </a:solidFill>
                <a:latin typeface="Roboto Bold"/>
                <a:ea typeface="Roboto Bold"/>
                <a:cs typeface="Roboto Bold"/>
                <a:sym typeface="Roboto Bold"/>
              </a:rPr>
              <a:t> – Data Analyst</a:t>
            </a:r>
          </a:p>
          <a:p>
            <a:pPr marL="302261" lvl="1" indent="-151130">
              <a:lnSpc>
                <a:spcPts val="1960"/>
              </a:lnSpc>
              <a:buFont typeface="Arial"/>
              <a:buChar char="•"/>
            </a:pPr>
            <a:r>
              <a:rPr lang="en-AU" sz="1400" dirty="0">
                <a:solidFill>
                  <a:srgbClr val="0F2B3F"/>
                </a:solidFill>
                <a:latin typeface="Roboto"/>
                <a:ea typeface="Roboto"/>
                <a:cs typeface="Roboto"/>
                <a:sym typeface="Roboto"/>
              </a:rPr>
              <a:t>Delivered reporting and analytics support and managed weekly data ingestion, enhanced cube logic, and created custom Tableau and Excel outputs</a:t>
            </a:r>
          </a:p>
          <a:p>
            <a:pPr marL="302261" lvl="1" indent="-151130">
              <a:lnSpc>
                <a:spcPts val="1960"/>
              </a:lnSpc>
              <a:buFont typeface="Arial"/>
              <a:buChar char="•"/>
            </a:pPr>
            <a:r>
              <a:rPr lang="en-AU" sz="1400" dirty="0">
                <a:solidFill>
                  <a:srgbClr val="0F2B3F"/>
                </a:solidFill>
                <a:latin typeface="Roboto"/>
                <a:ea typeface="Roboto"/>
                <a:cs typeface="Roboto"/>
                <a:sym typeface="Roboto"/>
              </a:rPr>
              <a:t>Supported Azure data uploads.</a:t>
            </a:r>
          </a:p>
          <a:p>
            <a:pPr marL="302261" lvl="1" indent="-151130">
              <a:lnSpc>
                <a:spcPts val="1960"/>
              </a:lnSpc>
              <a:buFont typeface="Arial"/>
              <a:buChar char="•"/>
            </a:pPr>
            <a:r>
              <a:rPr lang="en-AU" sz="1400" dirty="0">
                <a:solidFill>
                  <a:srgbClr val="0F2B3F"/>
                </a:solidFill>
                <a:latin typeface="Roboto"/>
                <a:ea typeface="Roboto"/>
                <a:cs typeface="Roboto"/>
                <a:sym typeface="Roboto"/>
              </a:rPr>
              <a:t>Developed ELT scripts and SSIS packages for data uploads to Azure SQL</a:t>
            </a:r>
          </a:p>
          <a:p>
            <a:pPr marL="302261" lvl="1" indent="-151130">
              <a:lnSpc>
                <a:spcPts val="1960"/>
              </a:lnSpc>
              <a:buFont typeface="Arial"/>
              <a:buChar char="•"/>
            </a:pPr>
            <a:r>
              <a:rPr lang="en-AU" sz="1400" dirty="0">
                <a:solidFill>
                  <a:srgbClr val="0F2B3F"/>
                </a:solidFill>
                <a:latin typeface="Roboto"/>
                <a:ea typeface="Roboto"/>
                <a:cs typeface="Roboto"/>
                <a:sym typeface="Roboto"/>
              </a:rPr>
              <a:t>Enhanced SSAS cubes using SQL and DAX, delivered custom Tableau datasets</a:t>
            </a:r>
          </a:p>
          <a:p>
            <a:pPr marL="302261" lvl="1" indent="-151130">
              <a:lnSpc>
                <a:spcPts val="1960"/>
              </a:lnSpc>
              <a:buFont typeface="Arial"/>
              <a:buChar char="•"/>
            </a:pPr>
            <a:endParaRPr lang="en-US" sz="1400" dirty="0">
              <a:solidFill>
                <a:srgbClr val="0F2B3F"/>
              </a:solidFill>
              <a:latin typeface="Roboto"/>
              <a:ea typeface="Roboto"/>
              <a:cs typeface="Roboto"/>
              <a:sym typeface="Roboto"/>
            </a:endParaRPr>
          </a:p>
        </p:txBody>
      </p:sp>
      <p:sp>
        <p:nvSpPr>
          <p:cNvPr id="22" name="TextBox 22"/>
          <p:cNvSpPr txBox="1"/>
          <p:nvPr/>
        </p:nvSpPr>
        <p:spPr>
          <a:xfrm>
            <a:off x="7367528" y="3970905"/>
            <a:ext cx="7752823" cy="2032608"/>
          </a:xfrm>
          <a:prstGeom prst="rect">
            <a:avLst/>
          </a:prstGeom>
        </p:spPr>
        <p:txBody>
          <a:bodyPr wrap="square" lIns="0" tIns="0" rIns="0" bIns="0" rtlCol="0" anchor="t">
            <a:spAutoFit/>
          </a:bodyPr>
          <a:lstStyle/>
          <a:p>
            <a:pPr>
              <a:lnSpc>
                <a:spcPts val="1960"/>
              </a:lnSpc>
              <a:spcBef>
                <a:spcPct val="0"/>
              </a:spcBef>
            </a:pPr>
            <a:r>
              <a:rPr lang="en-AU" sz="1400" b="1" dirty="0">
                <a:solidFill>
                  <a:srgbClr val="D77432"/>
                </a:solidFill>
                <a:latin typeface="Roboto Bold"/>
                <a:ea typeface="Roboto Bold"/>
                <a:cs typeface="Roboto Bold"/>
                <a:sym typeface="Roboto Bold"/>
              </a:rPr>
              <a:t>Financial Services</a:t>
            </a:r>
            <a:r>
              <a:rPr lang="en-AU" sz="1400" b="1" u="none" strike="noStrike" dirty="0">
                <a:solidFill>
                  <a:srgbClr val="D77432"/>
                </a:solidFill>
                <a:latin typeface="Roboto Bold"/>
                <a:ea typeface="Roboto Bold"/>
                <a:cs typeface="Roboto Bold"/>
                <a:sym typeface="Roboto Bold"/>
              </a:rPr>
              <a:t> Organisation – Data Engineer</a:t>
            </a:r>
            <a:endParaRPr lang="en-US" sz="1400" b="1" u="none" strike="noStrike" dirty="0">
              <a:solidFill>
                <a:srgbClr val="D77432"/>
              </a:solidFill>
              <a:latin typeface="Roboto Bold"/>
              <a:ea typeface="Roboto Bold"/>
              <a:cs typeface="Roboto Bold"/>
              <a:sym typeface="Roboto Bold"/>
            </a:endParaRPr>
          </a:p>
          <a:p>
            <a:pPr marL="302261" lvl="1" indent="-151130">
              <a:lnSpc>
                <a:spcPts val="1960"/>
              </a:lnSpc>
              <a:spcBef>
                <a:spcPct val="0"/>
              </a:spcBef>
              <a:buFont typeface="Arial"/>
              <a:buChar char="•"/>
            </a:pPr>
            <a:r>
              <a:rPr lang="en-AU" sz="1400" u="none" strike="noStrike" dirty="0">
                <a:solidFill>
                  <a:srgbClr val="0F2B3F"/>
                </a:solidFill>
                <a:latin typeface="Roboto"/>
                <a:ea typeface="Roboto"/>
                <a:cs typeface="Roboto"/>
                <a:sym typeface="Roboto"/>
              </a:rPr>
              <a:t>Acted as the team lead in an enterprise-level data migration project, which involved uploading structured and unstructured financial data into Azure Databricks</a:t>
            </a:r>
          </a:p>
          <a:p>
            <a:pPr marL="302261" lvl="1" indent="-151130">
              <a:lnSpc>
                <a:spcPts val="1960"/>
              </a:lnSpc>
              <a:spcBef>
                <a:spcPct val="0"/>
              </a:spcBef>
              <a:buFont typeface="Arial"/>
              <a:buChar char="•"/>
            </a:pPr>
            <a:r>
              <a:rPr lang="en-AU" sz="1400" u="none" strike="noStrike" dirty="0">
                <a:solidFill>
                  <a:srgbClr val="0F2B3F"/>
                </a:solidFill>
                <a:latin typeface="Roboto"/>
                <a:ea typeface="Roboto"/>
                <a:cs typeface="Roboto"/>
                <a:sym typeface="Roboto"/>
              </a:rPr>
              <a:t>Developed, scheduled &amp; deployed scalable data ingestion pipelines using Azure Data Factory and Databricks’ Notebooks (SQL, </a:t>
            </a:r>
            <a:r>
              <a:rPr lang="en-AU" sz="1400" u="none" strike="noStrike" dirty="0" err="1">
                <a:solidFill>
                  <a:srgbClr val="0F2B3F"/>
                </a:solidFill>
                <a:latin typeface="Roboto"/>
                <a:ea typeface="Roboto"/>
                <a:cs typeface="Roboto"/>
                <a:sym typeface="Roboto"/>
              </a:rPr>
              <a:t>PySpark</a:t>
            </a:r>
            <a:r>
              <a:rPr lang="en-AU" sz="1400" u="none" strike="noStrike" dirty="0">
                <a:solidFill>
                  <a:srgbClr val="0F2B3F"/>
                </a:solidFill>
                <a:latin typeface="Roboto"/>
                <a:ea typeface="Roboto"/>
                <a:cs typeface="Roboto"/>
                <a:sym typeface="Roboto"/>
              </a:rPr>
              <a:t> and Git for version control), ensuring traceability, auditability, and alignment to regulatory requirements</a:t>
            </a:r>
          </a:p>
          <a:p>
            <a:pPr marL="302261" lvl="1" indent="-151130">
              <a:lnSpc>
                <a:spcPts val="1960"/>
              </a:lnSpc>
              <a:spcBef>
                <a:spcPct val="0"/>
              </a:spcBef>
              <a:buFont typeface="Arial"/>
              <a:buChar char="•"/>
            </a:pPr>
            <a:r>
              <a:rPr lang="en-AU" sz="1400" dirty="0">
                <a:solidFill>
                  <a:srgbClr val="0F2B3F"/>
                </a:solidFill>
                <a:latin typeface="Roboto"/>
                <a:ea typeface="Roboto"/>
                <a:cs typeface="Roboto"/>
                <a:sym typeface="Roboto"/>
              </a:rPr>
              <a:t>C</a:t>
            </a:r>
            <a:r>
              <a:rPr lang="en-AU" sz="1400" u="none" strike="noStrike" dirty="0">
                <a:solidFill>
                  <a:srgbClr val="0F2B3F"/>
                </a:solidFill>
                <a:latin typeface="Roboto"/>
                <a:ea typeface="Roboto"/>
                <a:cs typeface="Roboto"/>
                <a:sym typeface="Roboto"/>
              </a:rPr>
              <a:t>oordinated delivery milestones across multiple business units</a:t>
            </a:r>
          </a:p>
          <a:p>
            <a:pPr marL="302261" lvl="1" indent="-151130">
              <a:lnSpc>
                <a:spcPts val="1960"/>
              </a:lnSpc>
              <a:spcBef>
                <a:spcPct val="0"/>
              </a:spcBef>
              <a:buFont typeface="Arial"/>
              <a:buChar char="•"/>
            </a:pPr>
            <a:r>
              <a:rPr lang="en-AU" sz="1400" u="none" strike="noStrike" dirty="0">
                <a:solidFill>
                  <a:srgbClr val="0F2B3F"/>
                </a:solidFill>
                <a:latin typeface="Roboto"/>
                <a:ea typeface="Roboto"/>
                <a:cs typeface="Roboto"/>
                <a:sym typeface="Roboto"/>
              </a:rPr>
              <a:t>Developed and maintained architectural documentation and design specifications</a:t>
            </a:r>
            <a:endParaRPr lang="en-US" sz="1400" u="none" strike="noStrike" dirty="0">
              <a:solidFill>
                <a:srgbClr val="0F2B3F"/>
              </a:solidFill>
              <a:latin typeface="Roboto"/>
              <a:ea typeface="Roboto"/>
              <a:cs typeface="Roboto"/>
              <a:sym typeface="Roboto"/>
            </a:endParaRPr>
          </a:p>
        </p:txBody>
      </p:sp>
      <p:sp>
        <p:nvSpPr>
          <p:cNvPr id="23" name="AutoShape 23"/>
          <p:cNvSpPr/>
          <p:nvPr/>
        </p:nvSpPr>
        <p:spPr>
          <a:xfrm>
            <a:off x="460616" y="7080882"/>
            <a:ext cx="3944578" cy="0"/>
          </a:xfrm>
          <a:prstGeom prst="line">
            <a:avLst/>
          </a:prstGeom>
          <a:ln w="19050" cap="flat">
            <a:solidFill>
              <a:srgbClr val="0F2B3F"/>
            </a:solidFill>
            <a:prstDash val="sysDot"/>
            <a:headEnd type="none" w="sm" len="sm"/>
            <a:tailEnd type="none" w="sm" len="sm"/>
          </a:ln>
        </p:spPr>
        <p:txBody>
          <a:bodyPr/>
          <a:lstStyle/>
          <a:p>
            <a:endParaRPr lang="en-AU"/>
          </a:p>
        </p:txBody>
      </p:sp>
      <p:grpSp>
        <p:nvGrpSpPr>
          <p:cNvPr id="24" name="Group 24"/>
          <p:cNvGrpSpPr/>
          <p:nvPr/>
        </p:nvGrpSpPr>
        <p:grpSpPr>
          <a:xfrm>
            <a:off x="200025" y="6502345"/>
            <a:ext cx="6493375" cy="3410028"/>
            <a:chOff x="0" y="0"/>
            <a:chExt cx="1710189" cy="898114"/>
          </a:xfrm>
        </p:grpSpPr>
        <p:sp>
          <p:nvSpPr>
            <p:cNvPr id="25" name="Freeform 25"/>
            <p:cNvSpPr/>
            <p:nvPr/>
          </p:nvSpPr>
          <p:spPr>
            <a:xfrm>
              <a:off x="0" y="0"/>
              <a:ext cx="1710189" cy="898114"/>
            </a:xfrm>
            <a:custGeom>
              <a:avLst/>
              <a:gdLst/>
              <a:ahLst/>
              <a:cxnLst/>
              <a:rect l="l" t="t" r="r" b="b"/>
              <a:pathLst>
                <a:path w="1710189" h="898114">
                  <a:moveTo>
                    <a:pt x="0" y="0"/>
                  </a:moveTo>
                  <a:lnTo>
                    <a:pt x="1710189" y="0"/>
                  </a:lnTo>
                  <a:lnTo>
                    <a:pt x="1710189" y="898114"/>
                  </a:lnTo>
                  <a:lnTo>
                    <a:pt x="0" y="898114"/>
                  </a:lnTo>
                  <a:close/>
                </a:path>
              </a:pathLst>
            </a:custGeom>
            <a:solidFill>
              <a:srgbClr val="0F2B3F"/>
            </a:solidFill>
          </p:spPr>
          <p:txBody>
            <a:bodyPr/>
            <a:lstStyle/>
            <a:p>
              <a:endParaRPr lang="en-AU"/>
            </a:p>
          </p:txBody>
        </p:sp>
        <p:sp>
          <p:nvSpPr>
            <p:cNvPr id="26" name="TextBox 26"/>
            <p:cNvSpPr txBox="1"/>
            <p:nvPr/>
          </p:nvSpPr>
          <p:spPr>
            <a:xfrm>
              <a:off x="0" y="-38100"/>
              <a:ext cx="1710189" cy="936214"/>
            </a:xfrm>
            <a:prstGeom prst="rect">
              <a:avLst/>
            </a:prstGeom>
          </p:spPr>
          <p:txBody>
            <a:bodyPr lIns="50800" tIns="50800" rIns="50800" bIns="50800" rtlCol="0" anchor="ctr"/>
            <a:lstStyle/>
            <a:p>
              <a:pPr algn="ctr">
                <a:lnSpc>
                  <a:spcPts val="2693"/>
                </a:lnSpc>
              </a:pPr>
              <a:endParaRPr/>
            </a:p>
          </p:txBody>
        </p:sp>
      </p:grpSp>
      <p:sp>
        <p:nvSpPr>
          <p:cNvPr id="27" name="TextBox 27"/>
          <p:cNvSpPr txBox="1"/>
          <p:nvPr/>
        </p:nvSpPr>
        <p:spPr>
          <a:xfrm>
            <a:off x="301927" y="7042716"/>
            <a:ext cx="2543313" cy="2818079"/>
          </a:xfrm>
          <a:prstGeom prst="rect">
            <a:avLst/>
          </a:prstGeom>
        </p:spPr>
        <p:txBody>
          <a:bodyPr lIns="0" tIns="0" rIns="0" bIns="0" rtlCol="0" anchor="t">
            <a:spAutoFit/>
          </a:bodyPr>
          <a:lstStyle/>
          <a:p>
            <a:pPr marL="259078" lvl="1" indent="-129539">
              <a:lnSpc>
                <a:spcPts val="1679"/>
              </a:lnSpc>
              <a:buFont typeface="Arial"/>
              <a:buChar char="•"/>
            </a:pPr>
            <a:r>
              <a:rPr lang="en-US" sz="1199" dirty="0">
                <a:solidFill>
                  <a:srgbClr val="FFFFFF"/>
                </a:solidFill>
                <a:latin typeface="Roboto"/>
                <a:ea typeface="Roboto"/>
                <a:cs typeface="Roboto"/>
                <a:sym typeface="Roboto"/>
              </a:rPr>
              <a:t>SSAS</a:t>
            </a:r>
          </a:p>
          <a:p>
            <a:pPr marL="259078" lvl="1" indent="-129539">
              <a:lnSpc>
                <a:spcPts val="1679"/>
              </a:lnSpc>
              <a:buFont typeface="Arial"/>
              <a:buChar char="•"/>
            </a:pPr>
            <a:r>
              <a:rPr lang="en-US" sz="1199" dirty="0">
                <a:solidFill>
                  <a:srgbClr val="FFFFFF"/>
                </a:solidFill>
                <a:latin typeface="Roboto"/>
                <a:ea typeface="Roboto"/>
                <a:cs typeface="Roboto"/>
                <a:sym typeface="Roboto"/>
              </a:rPr>
              <a:t>Data Warehousing</a:t>
            </a:r>
          </a:p>
          <a:p>
            <a:pPr marL="259078" lvl="1" indent="-129539">
              <a:lnSpc>
                <a:spcPts val="1679"/>
              </a:lnSpc>
              <a:buFont typeface="Arial"/>
              <a:buChar char="•"/>
            </a:pPr>
            <a:r>
              <a:rPr lang="en-US" sz="1199" dirty="0">
                <a:solidFill>
                  <a:srgbClr val="FFFFFF"/>
                </a:solidFill>
                <a:latin typeface="Roboto"/>
                <a:ea typeface="Roboto"/>
                <a:cs typeface="Roboto"/>
                <a:sym typeface="Roboto"/>
              </a:rPr>
              <a:t>ETL</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Data Engineering</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Data Architecture</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Data Governance</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Data Visualisation</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Data Migration</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Data Analytics</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Cloud Computing</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Business Intelligence</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SSRS</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SSIS</a:t>
            </a:r>
          </a:p>
        </p:txBody>
      </p:sp>
      <p:sp>
        <p:nvSpPr>
          <p:cNvPr id="28" name="TextBox 28"/>
          <p:cNvSpPr txBox="1"/>
          <p:nvPr/>
        </p:nvSpPr>
        <p:spPr>
          <a:xfrm>
            <a:off x="2945632" y="6991139"/>
            <a:ext cx="1957414" cy="2382062"/>
          </a:xfrm>
          <a:prstGeom prst="rect">
            <a:avLst/>
          </a:prstGeom>
        </p:spPr>
        <p:txBody>
          <a:bodyPr wrap="square" lIns="0" tIns="0" rIns="0" bIns="0" rtlCol="0" anchor="t">
            <a:spAutoFit/>
          </a:bodyPr>
          <a:lstStyle/>
          <a:p>
            <a:pPr algn="l">
              <a:lnSpc>
                <a:spcPts val="1679"/>
              </a:lnSpc>
            </a:pPr>
            <a:r>
              <a:rPr lang="en-US" sz="1199" b="1" dirty="0">
                <a:solidFill>
                  <a:srgbClr val="00AA7F"/>
                </a:solidFill>
                <a:latin typeface="Roboto Bold"/>
                <a:ea typeface="Roboto Bold"/>
                <a:cs typeface="Roboto Bold"/>
                <a:sym typeface="Roboto Bold"/>
              </a:rPr>
              <a:t>Platforms​</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Microsoft Azure​</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AWS​</a:t>
            </a:r>
          </a:p>
          <a:p>
            <a:pPr marL="259078" lvl="1" indent="-129539">
              <a:lnSpc>
                <a:spcPts val="1679"/>
              </a:lnSpc>
              <a:buFont typeface="Arial"/>
              <a:buChar char="•"/>
            </a:pPr>
            <a:r>
              <a:rPr lang="en-US" sz="1199" dirty="0">
                <a:solidFill>
                  <a:srgbClr val="FFFFFF"/>
                </a:solidFill>
                <a:latin typeface="Roboto"/>
                <a:ea typeface="Roboto"/>
                <a:sym typeface="Roboto Bold"/>
              </a:rPr>
              <a:t>Databricks</a:t>
            </a:r>
          </a:p>
          <a:p>
            <a:pPr marL="259078" lvl="1" indent="-129539">
              <a:lnSpc>
                <a:spcPts val="1679"/>
              </a:lnSpc>
              <a:buFont typeface="Arial"/>
              <a:buChar char="•"/>
            </a:pPr>
            <a:r>
              <a:rPr lang="en-US" sz="1199" dirty="0">
                <a:solidFill>
                  <a:srgbClr val="FFFFFF"/>
                </a:solidFill>
                <a:latin typeface="Roboto"/>
                <a:ea typeface="Roboto"/>
                <a:sym typeface="Roboto Bold"/>
              </a:rPr>
              <a:t>Snowflake</a:t>
            </a:r>
          </a:p>
          <a:p>
            <a:pPr>
              <a:lnSpc>
                <a:spcPts val="1679"/>
              </a:lnSpc>
            </a:pPr>
            <a:r>
              <a:rPr lang="en-AU" sz="1199" b="1" dirty="0">
                <a:solidFill>
                  <a:srgbClr val="00AA7F"/>
                </a:solidFill>
                <a:latin typeface="Roboto Bold"/>
                <a:ea typeface="Roboto Bold"/>
              </a:rPr>
              <a:t>Programming</a:t>
            </a:r>
            <a:endParaRPr lang="en-US" sz="1199" b="1" dirty="0">
              <a:solidFill>
                <a:srgbClr val="00AA7F"/>
              </a:solidFill>
              <a:latin typeface="Roboto Bold"/>
              <a:ea typeface="Roboto Bold"/>
              <a:sym typeface="Roboto Bold"/>
            </a:endParaRPr>
          </a:p>
          <a:p>
            <a:pPr marL="259078" lvl="1" indent="-129539">
              <a:lnSpc>
                <a:spcPts val="1679"/>
              </a:lnSpc>
              <a:buFont typeface="Arial"/>
              <a:buChar char="•"/>
            </a:pPr>
            <a:r>
              <a:rPr lang="en-US" sz="1199" dirty="0">
                <a:solidFill>
                  <a:srgbClr val="FFFFFF"/>
                </a:solidFill>
                <a:latin typeface="Roboto"/>
                <a:ea typeface="Roboto"/>
                <a:cs typeface="Roboto"/>
                <a:sym typeface="Roboto"/>
              </a:rPr>
              <a:t>SQL</a:t>
            </a:r>
          </a:p>
          <a:p>
            <a:pPr marL="259078" lvl="1" indent="-129539">
              <a:lnSpc>
                <a:spcPts val="1679"/>
              </a:lnSpc>
              <a:buFont typeface="Arial"/>
              <a:buChar char="•"/>
            </a:pPr>
            <a:r>
              <a:rPr lang="en-US" sz="1199" dirty="0">
                <a:solidFill>
                  <a:srgbClr val="FFFFFF"/>
                </a:solidFill>
                <a:latin typeface="Roboto"/>
                <a:ea typeface="Roboto"/>
                <a:cs typeface="Roboto"/>
                <a:sym typeface="Roboto"/>
              </a:rPr>
              <a:t>Python</a:t>
            </a:r>
          </a:p>
          <a:p>
            <a:pPr marL="259078" lvl="1" indent="-129539">
              <a:lnSpc>
                <a:spcPts val="1679"/>
              </a:lnSpc>
              <a:buFont typeface="Arial"/>
              <a:buChar char="•"/>
            </a:pPr>
            <a:r>
              <a:rPr lang="en-US" sz="1199" dirty="0">
                <a:solidFill>
                  <a:srgbClr val="FFFFFF"/>
                </a:solidFill>
                <a:latin typeface="Roboto"/>
                <a:ea typeface="Roboto"/>
                <a:cs typeface="Roboto"/>
                <a:sym typeface="Roboto"/>
              </a:rPr>
              <a:t>R</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C#</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VB/VBA</a:t>
            </a:r>
          </a:p>
        </p:txBody>
      </p:sp>
      <p:sp>
        <p:nvSpPr>
          <p:cNvPr id="29" name="TextBox 29"/>
          <p:cNvSpPr txBox="1"/>
          <p:nvPr/>
        </p:nvSpPr>
        <p:spPr>
          <a:xfrm>
            <a:off x="387699" y="6632364"/>
            <a:ext cx="3823490" cy="358775"/>
          </a:xfrm>
          <a:prstGeom prst="rect">
            <a:avLst/>
          </a:prstGeom>
        </p:spPr>
        <p:txBody>
          <a:bodyPr lIns="0" tIns="0" rIns="0" bIns="0" rtlCol="0" anchor="t">
            <a:spAutoFit/>
          </a:bodyPr>
          <a:lstStyle/>
          <a:p>
            <a:pPr algn="l">
              <a:lnSpc>
                <a:spcPts val="2800"/>
              </a:lnSpc>
              <a:spcBef>
                <a:spcPct val="0"/>
              </a:spcBef>
            </a:pPr>
            <a:r>
              <a:rPr lang="en-US" sz="2000" b="1" dirty="0">
                <a:solidFill>
                  <a:srgbClr val="F18018"/>
                </a:solidFill>
                <a:latin typeface="Roboto Bold"/>
                <a:ea typeface="Roboto Bold"/>
                <a:cs typeface="Roboto Bold"/>
                <a:sym typeface="Roboto Bold"/>
              </a:rPr>
              <a:t>Key Skills &amp; Tech</a:t>
            </a:r>
          </a:p>
        </p:txBody>
      </p:sp>
      <p:sp>
        <p:nvSpPr>
          <p:cNvPr id="30" name="TextBox 30"/>
          <p:cNvSpPr txBox="1"/>
          <p:nvPr/>
        </p:nvSpPr>
        <p:spPr>
          <a:xfrm>
            <a:off x="4752033" y="6991139"/>
            <a:ext cx="1752557" cy="2818079"/>
          </a:xfrm>
          <a:prstGeom prst="rect">
            <a:avLst/>
          </a:prstGeom>
        </p:spPr>
        <p:txBody>
          <a:bodyPr lIns="0" tIns="0" rIns="0" bIns="0" rtlCol="0" anchor="t">
            <a:spAutoFit/>
          </a:bodyPr>
          <a:lstStyle/>
          <a:p>
            <a:pPr indent="-327661">
              <a:lnSpc>
                <a:spcPts val="1679"/>
              </a:lnSpc>
            </a:pPr>
            <a:r>
              <a:rPr lang="en-US" sz="1199" b="1" dirty="0">
                <a:solidFill>
                  <a:srgbClr val="00AA7F"/>
                </a:solidFill>
                <a:latin typeface="Roboto Bold"/>
                <a:ea typeface="Roboto Bold"/>
                <a:cs typeface="Roboto Bold"/>
                <a:sym typeface="Roboto Bold"/>
              </a:rPr>
              <a:t>Tools</a:t>
            </a:r>
            <a:r>
              <a:rPr lang="en-US" sz="1199" b="1" dirty="0">
                <a:solidFill>
                  <a:srgbClr val="0F2B3F"/>
                </a:solidFill>
                <a:latin typeface="Roboto Bold"/>
                <a:ea typeface="Roboto Bold"/>
                <a:cs typeface="Roboto Bold"/>
                <a:sym typeface="Roboto Bold"/>
              </a:rPr>
              <a:t>​</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Power BI</a:t>
            </a:r>
          </a:p>
          <a:p>
            <a:pPr marL="259078" lvl="1" indent="-129539">
              <a:lnSpc>
                <a:spcPts val="1679"/>
              </a:lnSpc>
              <a:buFont typeface="Arial"/>
              <a:buChar char="•"/>
            </a:pPr>
            <a:r>
              <a:rPr lang="en-US" sz="1199" dirty="0">
                <a:solidFill>
                  <a:srgbClr val="FFFFFF"/>
                </a:solidFill>
                <a:latin typeface="Roboto"/>
                <a:ea typeface="Roboto"/>
                <a:cs typeface="Roboto"/>
                <a:sym typeface="Roboto"/>
              </a:rPr>
              <a:t>Tableau</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Data Factory</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Synapse</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Data Lake</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Excel</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Google Data Studio</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Google Analytics</a:t>
            </a:r>
          </a:p>
          <a:p>
            <a:pPr marL="259078" lvl="1" indent="-129539" algn="l">
              <a:lnSpc>
                <a:spcPts val="1679"/>
              </a:lnSpc>
              <a:buFont typeface="Arial"/>
              <a:buChar char="•"/>
            </a:pPr>
            <a:r>
              <a:rPr lang="en-US" sz="1199" dirty="0" err="1">
                <a:solidFill>
                  <a:srgbClr val="FFFFFF"/>
                </a:solidFill>
                <a:latin typeface="Roboto"/>
                <a:ea typeface="Roboto"/>
                <a:cs typeface="Roboto"/>
                <a:sym typeface="Roboto"/>
              </a:rPr>
              <a:t>Pyspark</a:t>
            </a:r>
            <a:endParaRPr lang="en-US" sz="1199" dirty="0">
              <a:solidFill>
                <a:srgbClr val="FFFFFF"/>
              </a:solidFill>
              <a:latin typeface="Roboto"/>
              <a:ea typeface="Roboto"/>
              <a:cs typeface="Roboto"/>
              <a:sym typeface="Roboto"/>
            </a:endParaRPr>
          </a:p>
          <a:p>
            <a:pPr marL="259078" lvl="1" indent="-129539" algn="l">
              <a:lnSpc>
                <a:spcPts val="1679"/>
              </a:lnSpc>
              <a:buFont typeface="Arial"/>
              <a:buChar char="•"/>
            </a:pPr>
            <a:r>
              <a:rPr lang="en-US" sz="1199" dirty="0">
                <a:solidFill>
                  <a:srgbClr val="FFFFFF"/>
                </a:solidFill>
                <a:latin typeface="Roboto"/>
                <a:ea typeface="Roboto"/>
                <a:cs typeface="Roboto"/>
                <a:sym typeface="Roboto"/>
              </a:rPr>
              <a:t>Git</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Teradata</a:t>
            </a:r>
          </a:p>
          <a:p>
            <a:pPr marL="259078" lvl="1" indent="-129539" algn="l">
              <a:lnSpc>
                <a:spcPts val="1679"/>
              </a:lnSpc>
              <a:buFont typeface="Arial"/>
              <a:buChar char="•"/>
            </a:pPr>
            <a:endParaRPr lang="en-US" sz="1199" dirty="0">
              <a:solidFill>
                <a:srgbClr val="FFFFFF"/>
              </a:solidFill>
              <a:latin typeface="Roboto"/>
              <a:ea typeface="Roboto"/>
              <a:cs typeface="Roboto"/>
              <a:sym typeface="Roboto"/>
            </a:endParaRPr>
          </a:p>
        </p:txBody>
      </p:sp>
      <p:sp>
        <p:nvSpPr>
          <p:cNvPr id="31" name="Freeform 31"/>
          <p:cNvSpPr/>
          <p:nvPr/>
        </p:nvSpPr>
        <p:spPr>
          <a:xfrm>
            <a:off x="140042" y="-24175"/>
            <a:ext cx="774435" cy="824275"/>
          </a:xfrm>
          <a:custGeom>
            <a:avLst/>
            <a:gdLst/>
            <a:ahLst/>
            <a:cxnLst/>
            <a:rect l="l" t="t" r="r" b="b"/>
            <a:pathLst>
              <a:path w="774435" h="824275">
                <a:moveTo>
                  <a:pt x="0" y="0"/>
                </a:moveTo>
                <a:lnTo>
                  <a:pt x="774435" y="0"/>
                </a:lnTo>
                <a:lnTo>
                  <a:pt x="774435" y="824275"/>
                </a:lnTo>
                <a:lnTo>
                  <a:pt x="0" y="824275"/>
                </a:lnTo>
                <a:lnTo>
                  <a:pt x="0" y="0"/>
                </a:lnTo>
                <a:close/>
              </a:path>
            </a:pathLst>
          </a:custGeom>
          <a:blipFill>
            <a:blip r:embed="rId3"/>
            <a:stretch>
              <a:fillRect/>
            </a:stretch>
          </a:blipFill>
        </p:spPr>
        <p:txBody>
          <a:bodyPr/>
          <a:lstStyle/>
          <a:p>
            <a:endParaRPr lang="en-AU"/>
          </a:p>
        </p:txBody>
      </p:sp>
      <p:sp>
        <p:nvSpPr>
          <p:cNvPr id="32" name="TextBox 32"/>
          <p:cNvSpPr txBox="1"/>
          <p:nvPr/>
        </p:nvSpPr>
        <p:spPr>
          <a:xfrm>
            <a:off x="1001693" y="103852"/>
            <a:ext cx="3570307" cy="556895"/>
          </a:xfrm>
          <a:prstGeom prst="rect">
            <a:avLst/>
          </a:prstGeom>
        </p:spPr>
        <p:txBody>
          <a:bodyPr lIns="0" tIns="0" rIns="0" bIns="0" rtlCol="0" anchor="t">
            <a:spAutoFit/>
          </a:bodyPr>
          <a:lstStyle/>
          <a:p>
            <a:pPr algn="l">
              <a:lnSpc>
                <a:spcPts val="4479"/>
              </a:lnSpc>
              <a:spcBef>
                <a:spcPct val="0"/>
              </a:spcBef>
            </a:pPr>
            <a:r>
              <a:rPr lang="en-US" sz="3199" b="1" dirty="0">
                <a:solidFill>
                  <a:srgbClr val="0F2B3F"/>
                </a:solidFill>
                <a:latin typeface="Roboto Bold"/>
                <a:ea typeface="Roboto Bold"/>
                <a:cs typeface="Roboto Bold"/>
                <a:sym typeface="Roboto Bold"/>
              </a:rPr>
              <a:t>Consultant Profile</a:t>
            </a:r>
          </a:p>
        </p:txBody>
      </p:sp>
      <p:sp>
        <p:nvSpPr>
          <p:cNvPr id="33" name="TextBox 21"/>
          <p:cNvSpPr txBox="1"/>
          <p:nvPr/>
        </p:nvSpPr>
        <p:spPr>
          <a:xfrm>
            <a:off x="7367528" y="898697"/>
            <a:ext cx="7962369" cy="3315010"/>
          </a:xfrm>
          <a:prstGeom prst="rect">
            <a:avLst/>
          </a:prstGeom>
        </p:spPr>
        <p:txBody>
          <a:bodyPr wrap="square" lIns="0" tIns="0" rIns="0" bIns="0" rtlCol="0" anchor="t">
            <a:spAutoFit/>
          </a:bodyPr>
          <a:lstStyle/>
          <a:p>
            <a:pPr>
              <a:lnSpc>
                <a:spcPts val="1960"/>
              </a:lnSpc>
              <a:spcBef>
                <a:spcPct val="0"/>
              </a:spcBef>
            </a:pPr>
            <a:r>
              <a:rPr lang="en-US" sz="1400" b="1" u="none" strike="noStrike" dirty="0">
                <a:solidFill>
                  <a:srgbClr val="0059FF"/>
                </a:solidFill>
                <a:latin typeface="Roboto Bold"/>
                <a:ea typeface="Roboto Bold"/>
                <a:cs typeface="Roboto Bold"/>
                <a:sym typeface="Roboto Bold"/>
              </a:rPr>
              <a:t>Financial Services </a:t>
            </a:r>
            <a:r>
              <a:rPr lang="en-US" sz="1400" b="1" u="none" strike="noStrike" dirty="0" err="1">
                <a:solidFill>
                  <a:srgbClr val="0059FF"/>
                </a:solidFill>
                <a:latin typeface="Roboto Bold"/>
                <a:ea typeface="Roboto Bold"/>
                <a:cs typeface="Roboto Bold"/>
                <a:sym typeface="Roboto Bold"/>
              </a:rPr>
              <a:t>Organisation</a:t>
            </a:r>
            <a:r>
              <a:rPr lang="en-US" sz="1400" b="1" u="none" strike="noStrike" dirty="0">
                <a:solidFill>
                  <a:srgbClr val="0059FF"/>
                </a:solidFill>
                <a:latin typeface="Roboto Bold"/>
                <a:ea typeface="Roboto Bold"/>
                <a:cs typeface="Roboto Bold"/>
                <a:sym typeface="Roboto Bold"/>
              </a:rPr>
              <a:t> – </a:t>
            </a:r>
            <a:r>
              <a:rPr lang="en-US" sz="1400" b="1" dirty="0">
                <a:solidFill>
                  <a:srgbClr val="0059FF"/>
                </a:solidFill>
                <a:latin typeface="Roboto Bold"/>
                <a:ea typeface="Roboto Bold"/>
                <a:cs typeface="Roboto Bold"/>
                <a:sym typeface="Roboto Bold"/>
              </a:rPr>
              <a:t>Senior</a:t>
            </a:r>
            <a:r>
              <a:rPr lang="en-US" sz="1400" b="1" u="none" strike="noStrike" dirty="0">
                <a:solidFill>
                  <a:srgbClr val="0059FF"/>
                </a:solidFill>
                <a:latin typeface="Roboto Bold"/>
                <a:ea typeface="Roboto Bold"/>
                <a:cs typeface="Roboto Bold"/>
                <a:sym typeface="Roboto Bold"/>
              </a:rPr>
              <a:t> Data Engineer</a:t>
            </a:r>
          </a:p>
          <a:p>
            <a:pPr marL="302261" lvl="1" indent="-151130">
              <a:lnSpc>
                <a:spcPts val="1960"/>
              </a:lnSpc>
              <a:spcBef>
                <a:spcPct val="0"/>
              </a:spcBef>
              <a:buFont typeface="Arial"/>
              <a:buChar char="•"/>
            </a:pPr>
            <a:r>
              <a:rPr lang="en-AU" sz="1400" u="none" strike="noStrike" dirty="0">
                <a:solidFill>
                  <a:srgbClr val="0F2B3F"/>
                </a:solidFill>
                <a:latin typeface="Roboto"/>
                <a:ea typeface="Roboto"/>
                <a:cs typeface="Roboto"/>
                <a:sym typeface="Roboto"/>
              </a:rPr>
              <a:t>Acted as technical delivery lead and as an administrator for Azure Platform and Power BI service</a:t>
            </a:r>
          </a:p>
          <a:p>
            <a:pPr marL="302261" lvl="1" indent="-151130">
              <a:lnSpc>
                <a:spcPts val="1960"/>
              </a:lnSpc>
              <a:spcBef>
                <a:spcPct val="0"/>
              </a:spcBef>
              <a:buFont typeface="Arial"/>
              <a:buChar char="•"/>
            </a:pPr>
            <a:r>
              <a:rPr lang="en-AU" sz="1400" u="none" strike="noStrike" dirty="0">
                <a:solidFill>
                  <a:srgbClr val="0F2B3F"/>
                </a:solidFill>
                <a:latin typeface="Roboto"/>
                <a:ea typeface="Roboto"/>
                <a:cs typeface="Roboto"/>
                <a:sym typeface="Roboto"/>
              </a:rPr>
              <a:t>Set the standard for the Data Request Template by liaising with different department leads</a:t>
            </a:r>
          </a:p>
          <a:p>
            <a:pPr marL="302261" lvl="1" indent="-151130">
              <a:lnSpc>
                <a:spcPts val="1960"/>
              </a:lnSpc>
              <a:spcBef>
                <a:spcPct val="0"/>
              </a:spcBef>
              <a:buFont typeface="Arial"/>
              <a:buChar char="•"/>
            </a:pPr>
            <a:r>
              <a:rPr lang="en-AU" sz="1400" u="none" strike="noStrike" dirty="0">
                <a:solidFill>
                  <a:srgbClr val="0F2B3F"/>
                </a:solidFill>
                <a:latin typeface="Roboto"/>
                <a:ea typeface="Roboto"/>
                <a:cs typeface="Roboto"/>
                <a:sym typeface="Roboto"/>
              </a:rPr>
              <a:t>Implemented data governance practices to ensure data quality (Python)</a:t>
            </a:r>
          </a:p>
          <a:p>
            <a:pPr marL="302261" lvl="1" indent="-151130">
              <a:lnSpc>
                <a:spcPts val="1960"/>
              </a:lnSpc>
              <a:spcBef>
                <a:spcPct val="0"/>
              </a:spcBef>
              <a:buFont typeface="Arial"/>
              <a:buChar char="•"/>
            </a:pPr>
            <a:r>
              <a:rPr lang="en-AU" sz="1400" u="none" strike="noStrike" dirty="0">
                <a:solidFill>
                  <a:srgbClr val="0F2B3F"/>
                </a:solidFill>
                <a:latin typeface="Roboto"/>
                <a:ea typeface="Roboto"/>
                <a:cs typeface="Roboto"/>
                <a:sym typeface="Roboto"/>
              </a:rPr>
              <a:t>Designed and implemented scalable architecture solutions using Azure SQL databases required to hold client data, ensuring security, data governance and cost requirements were met</a:t>
            </a:r>
          </a:p>
          <a:p>
            <a:pPr marL="302261" lvl="1" indent="-151130">
              <a:lnSpc>
                <a:spcPts val="1960"/>
              </a:lnSpc>
              <a:spcBef>
                <a:spcPct val="0"/>
              </a:spcBef>
              <a:buFont typeface="Arial"/>
              <a:buChar char="•"/>
            </a:pPr>
            <a:r>
              <a:rPr lang="en-AU" sz="1400" dirty="0">
                <a:solidFill>
                  <a:srgbClr val="0F2B3F"/>
                </a:solidFill>
                <a:latin typeface="Roboto"/>
                <a:ea typeface="Roboto"/>
                <a:cs typeface="Roboto"/>
                <a:sym typeface="Roboto"/>
              </a:rPr>
              <a:t>C</a:t>
            </a:r>
            <a:r>
              <a:rPr lang="en-AU" sz="1400" u="none" strike="noStrike" dirty="0">
                <a:solidFill>
                  <a:srgbClr val="0F2B3F"/>
                </a:solidFill>
                <a:latin typeface="Roboto"/>
                <a:ea typeface="Roboto"/>
                <a:cs typeface="Roboto"/>
                <a:sym typeface="Roboto"/>
              </a:rPr>
              <a:t>ut costs for cloud database from 5K a month to $15 a month</a:t>
            </a:r>
          </a:p>
          <a:p>
            <a:pPr marL="302261" lvl="1" indent="-151130">
              <a:lnSpc>
                <a:spcPts val="1960"/>
              </a:lnSpc>
              <a:spcBef>
                <a:spcPct val="0"/>
              </a:spcBef>
              <a:buFont typeface="Arial"/>
              <a:buChar char="•"/>
            </a:pPr>
            <a:r>
              <a:rPr lang="en-AU" sz="1400" u="none" strike="noStrike" dirty="0">
                <a:solidFill>
                  <a:srgbClr val="0F2B3F"/>
                </a:solidFill>
                <a:latin typeface="Roboto"/>
                <a:ea typeface="Roboto"/>
                <a:cs typeface="Roboto"/>
                <a:sym typeface="Roboto"/>
              </a:rPr>
              <a:t>Created Azure Data Factory pipelines to upload the data to the databases</a:t>
            </a:r>
          </a:p>
          <a:p>
            <a:pPr marL="302261" lvl="1" indent="-151130">
              <a:lnSpc>
                <a:spcPts val="1960"/>
              </a:lnSpc>
              <a:spcBef>
                <a:spcPct val="0"/>
              </a:spcBef>
              <a:buFont typeface="Arial"/>
              <a:buChar char="•"/>
            </a:pPr>
            <a:r>
              <a:rPr lang="en-AU" sz="1400" u="none" strike="noStrike" dirty="0">
                <a:solidFill>
                  <a:srgbClr val="0F2B3F"/>
                </a:solidFill>
                <a:latin typeface="Roboto"/>
                <a:ea typeface="Roboto"/>
                <a:cs typeface="Roboto"/>
                <a:sym typeface="Roboto"/>
              </a:rPr>
              <a:t>Enabled &amp; educated internal users about the best-use practices of Power BI, SQL and data usage</a:t>
            </a:r>
          </a:p>
          <a:p>
            <a:pPr marL="302261" lvl="1" indent="-151130">
              <a:lnSpc>
                <a:spcPts val="1960"/>
              </a:lnSpc>
              <a:spcBef>
                <a:spcPct val="0"/>
              </a:spcBef>
              <a:buFont typeface="Arial"/>
              <a:buChar char="•"/>
            </a:pPr>
            <a:r>
              <a:rPr lang="en-AU" sz="1400" u="none" strike="noStrike" dirty="0">
                <a:solidFill>
                  <a:srgbClr val="0F2B3F"/>
                </a:solidFill>
                <a:latin typeface="Roboto"/>
                <a:ea typeface="Roboto"/>
                <a:cs typeface="Roboto"/>
                <a:sym typeface="Roboto"/>
              </a:rPr>
              <a:t>Provided technical guidance and mentorship to team members</a:t>
            </a:r>
          </a:p>
          <a:p>
            <a:pPr marL="302261" lvl="1" indent="-151130">
              <a:lnSpc>
                <a:spcPts val="1960"/>
              </a:lnSpc>
              <a:spcBef>
                <a:spcPct val="0"/>
              </a:spcBef>
              <a:buFont typeface="Arial"/>
              <a:buChar char="•"/>
            </a:pPr>
            <a:r>
              <a:rPr lang="en-AU" sz="1400" u="none" strike="noStrike" dirty="0">
                <a:solidFill>
                  <a:srgbClr val="0F2B3F"/>
                </a:solidFill>
                <a:latin typeface="Roboto"/>
                <a:ea typeface="Roboto"/>
                <a:cs typeface="Roboto"/>
                <a:sym typeface="Roboto"/>
              </a:rPr>
              <a:t>Delivered a consolidated Power BI data model integrating Xero, Salesforce, and Project Works</a:t>
            </a:r>
          </a:p>
          <a:p>
            <a:pPr marL="302261" lvl="1" indent="-151130">
              <a:lnSpc>
                <a:spcPts val="1960"/>
              </a:lnSpc>
              <a:spcBef>
                <a:spcPct val="0"/>
              </a:spcBef>
              <a:buFont typeface="Arial"/>
              <a:buChar char="•"/>
            </a:pPr>
            <a:endParaRPr lang="en-AU" sz="1400" u="none" strike="noStrike" dirty="0">
              <a:solidFill>
                <a:srgbClr val="0F2B3F"/>
              </a:solidFill>
              <a:latin typeface="Roboto"/>
              <a:ea typeface="Roboto"/>
              <a:cs typeface="Roboto"/>
              <a:sym typeface="Roboto"/>
            </a:endParaRPr>
          </a:p>
          <a:p>
            <a:pPr marL="302261" lvl="1" indent="-151130">
              <a:lnSpc>
                <a:spcPts val="1960"/>
              </a:lnSpc>
              <a:spcBef>
                <a:spcPct val="0"/>
              </a:spcBef>
              <a:buFont typeface="Arial"/>
              <a:buChar char="•"/>
            </a:pPr>
            <a:endParaRPr lang="en-US" sz="1400" u="none" strike="noStrike" dirty="0">
              <a:solidFill>
                <a:srgbClr val="0F2B3F"/>
              </a:solidFill>
              <a:latin typeface="Roboto"/>
              <a:ea typeface="Roboto"/>
              <a:cs typeface="Roboto"/>
              <a:sym typeface="Roboto"/>
            </a:endParaRPr>
          </a:p>
        </p:txBody>
      </p:sp>
      <p:cxnSp>
        <p:nvCxnSpPr>
          <p:cNvPr id="49" name="Straight Connector 48">
            <a:extLst>
              <a:ext uri="{FF2B5EF4-FFF2-40B4-BE49-F238E27FC236}">
                <a16:creationId xmlns:a16="http://schemas.microsoft.com/office/drawing/2014/main" id="{AB2A0672-5AF0-5438-8D24-87E280881A20}"/>
              </a:ext>
            </a:extLst>
          </p:cNvPr>
          <p:cNvCxnSpPr>
            <a:cxnSpLocks/>
          </p:cNvCxnSpPr>
          <p:nvPr/>
        </p:nvCxnSpPr>
        <p:spPr>
          <a:xfrm>
            <a:off x="7239000" y="1235074"/>
            <a:ext cx="0" cy="2384426"/>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65ABFD3B-85BE-9F1D-EBDE-61B80D7CD5F7}"/>
              </a:ext>
            </a:extLst>
          </p:cNvPr>
          <p:cNvCxnSpPr>
            <a:cxnSpLocks/>
          </p:cNvCxnSpPr>
          <p:nvPr/>
        </p:nvCxnSpPr>
        <p:spPr>
          <a:xfrm>
            <a:off x="7239000" y="4229100"/>
            <a:ext cx="0" cy="1774413"/>
          </a:xfrm>
          <a:prstGeom prst="line">
            <a:avLst/>
          </a:prstGeom>
          <a:ln w="19050">
            <a:solidFill>
              <a:srgbClr val="D77432"/>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06FA25F3-F5B1-ADB7-8671-CA98D693BF24}"/>
              </a:ext>
            </a:extLst>
          </p:cNvPr>
          <p:cNvCxnSpPr>
            <a:cxnSpLocks/>
          </p:cNvCxnSpPr>
          <p:nvPr/>
        </p:nvCxnSpPr>
        <p:spPr>
          <a:xfrm>
            <a:off x="7239000" y="6632364"/>
            <a:ext cx="0" cy="1139729"/>
          </a:xfrm>
          <a:prstGeom prst="line">
            <a:avLst/>
          </a:prstGeom>
          <a:ln w="19050">
            <a:solidFill>
              <a:srgbClr val="92337A"/>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48B01805-54E9-989D-20BE-6FAD84D57352}"/>
              </a:ext>
            </a:extLst>
          </p:cNvPr>
          <p:cNvSpPr txBox="1"/>
          <p:nvPr/>
        </p:nvSpPr>
        <p:spPr>
          <a:xfrm>
            <a:off x="7381790" y="8136246"/>
            <a:ext cx="7629610" cy="1776127"/>
          </a:xfrm>
          <a:prstGeom prst="rect">
            <a:avLst/>
          </a:prstGeom>
        </p:spPr>
        <p:txBody>
          <a:bodyPr lIns="0" tIns="0" rIns="0" bIns="0" rtlCol="0" anchor="t">
            <a:spAutoFit/>
          </a:bodyPr>
          <a:lstStyle/>
          <a:p>
            <a:pPr algn="just">
              <a:lnSpc>
                <a:spcPts val="1960"/>
              </a:lnSpc>
            </a:pPr>
            <a:r>
              <a:rPr lang="en-US" sz="1400" b="1" dirty="0">
                <a:solidFill>
                  <a:srgbClr val="00AA7F"/>
                </a:solidFill>
                <a:latin typeface="Roboto Bold"/>
                <a:ea typeface="Roboto Bold"/>
                <a:cs typeface="Roboto Bold"/>
                <a:sym typeface="Roboto Bold"/>
              </a:rPr>
              <a:t>Financial Services </a:t>
            </a:r>
            <a:r>
              <a:rPr lang="en-US" sz="1400" b="1" dirty="0" err="1">
                <a:solidFill>
                  <a:srgbClr val="00AA7F"/>
                </a:solidFill>
                <a:latin typeface="Roboto Bold"/>
                <a:ea typeface="Roboto Bold"/>
                <a:cs typeface="Roboto Bold"/>
                <a:sym typeface="Roboto Bold"/>
              </a:rPr>
              <a:t>Organisation</a:t>
            </a:r>
            <a:r>
              <a:rPr lang="en-US" sz="1400" b="1" dirty="0">
                <a:solidFill>
                  <a:srgbClr val="00AA7F"/>
                </a:solidFill>
                <a:latin typeface="Roboto Bold"/>
                <a:ea typeface="Roboto Bold"/>
                <a:cs typeface="Roboto Bold"/>
                <a:sym typeface="Roboto Bold"/>
              </a:rPr>
              <a:t> – Data Analyst</a:t>
            </a:r>
          </a:p>
          <a:p>
            <a:pPr marL="302261" lvl="1" indent="-151130">
              <a:lnSpc>
                <a:spcPts val="1960"/>
              </a:lnSpc>
              <a:buFont typeface="Arial"/>
              <a:buChar char="•"/>
            </a:pPr>
            <a:r>
              <a:rPr lang="en-AU" sz="1400" dirty="0">
                <a:solidFill>
                  <a:srgbClr val="0F2B3F"/>
                </a:solidFill>
                <a:latin typeface="Roboto"/>
                <a:ea typeface="Roboto"/>
                <a:cs typeface="Roboto"/>
                <a:sym typeface="Roboto"/>
              </a:rPr>
              <a:t>Worked alongside the customer marketing team to build, QA, and analyse customer campaign datasets, using their Enterprise Data Warehouse (SQL Teradata)</a:t>
            </a:r>
          </a:p>
          <a:p>
            <a:pPr marL="302261" lvl="1" indent="-151130">
              <a:lnSpc>
                <a:spcPts val="1960"/>
              </a:lnSpc>
              <a:buFont typeface="Arial"/>
              <a:buChar char="•"/>
            </a:pPr>
            <a:r>
              <a:rPr lang="en-AU" sz="1400" dirty="0">
                <a:solidFill>
                  <a:srgbClr val="0F2B3F"/>
                </a:solidFill>
                <a:latin typeface="Roboto"/>
                <a:ea typeface="Roboto"/>
                <a:cs typeface="Roboto"/>
                <a:sym typeface="Roboto"/>
              </a:rPr>
              <a:t>The Business areas included: Credit Card Marketing, Digital Statements and Personal Loans</a:t>
            </a:r>
          </a:p>
          <a:p>
            <a:pPr marL="302261" lvl="1" indent="-151130">
              <a:lnSpc>
                <a:spcPts val="1960"/>
              </a:lnSpc>
              <a:buFont typeface="Arial"/>
              <a:buChar char="•"/>
            </a:pPr>
            <a:r>
              <a:rPr lang="en-AU" sz="1400" dirty="0">
                <a:solidFill>
                  <a:srgbClr val="0F2B3F"/>
                </a:solidFill>
                <a:latin typeface="Roboto"/>
                <a:ea typeface="Roboto"/>
                <a:cs typeface="Roboto"/>
                <a:sym typeface="Roboto"/>
              </a:rPr>
              <a:t>Produced SQL extracts from the enterprise data warehouse, analysed the campaign performance and provided recommendations. </a:t>
            </a:r>
          </a:p>
          <a:p>
            <a:pPr marL="302261" lvl="1" indent="-151130">
              <a:lnSpc>
                <a:spcPts val="1960"/>
              </a:lnSpc>
              <a:buFont typeface="Arial"/>
              <a:buChar char="•"/>
            </a:pPr>
            <a:r>
              <a:rPr lang="en-AU" sz="1400" dirty="0">
                <a:solidFill>
                  <a:srgbClr val="0F2B3F"/>
                </a:solidFill>
                <a:latin typeface="Roboto"/>
                <a:ea typeface="Roboto"/>
                <a:cs typeface="Roboto"/>
                <a:sym typeface="Roboto"/>
              </a:rPr>
              <a:t>Improved existing codes and processes to ensure they followed best practices</a:t>
            </a:r>
            <a:endParaRPr lang="en-US" sz="1400" dirty="0">
              <a:solidFill>
                <a:srgbClr val="0F2B3F"/>
              </a:solidFill>
              <a:latin typeface="Roboto"/>
              <a:ea typeface="Roboto"/>
              <a:cs typeface="Roboto"/>
              <a:sym typeface="Roboto"/>
            </a:endParaRPr>
          </a:p>
        </p:txBody>
      </p:sp>
      <p:cxnSp>
        <p:nvCxnSpPr>
          <p:cNvPr id="34" name="Straight Connector 33">
            <a:extLst>
              <a:ext uri="{FF2B5EF4-FFF2-40B4-BE49-F238E27FC236}">
                <a16:creationId xmlns:a16="http://schemas.microsoft.com/office/drawing/2014/main" id="{E9CC32E2-1597-9C68-02C2-CCA6F0BE21AA}"/>
              </a:ext>
            </a:extLst>
          </p:cNvPr>
          <p:cNvCxnSpPr>
            <a:cxnSpLocks/>
          </p:cNvCxnSpPr>
          <p:nvPr/>
        </p:nvCxnSpPr>
        <p:spPr>
          <a:xfrm>
            <a:off x="7239000" y="8449333"/>
            <a:ext cx="0" cy="1463040"/>
          </a:xfrm>
          <a:prstGeom prst="line">
            <a:avLst/>
          </a:prstGeom>
          <a:ln w="19050">
            <a:solidFill>
              <a:srgbClr val="00AA7F"/>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C8984A6-6377-4589-ACA7-843696861A37}">
  <ds:schemaRefs>
    <ds:schemaRef ds:uri="http://schemas.microsoft.com/sharepoint/v3/contenttype/forms"/>
  </ds:schemaRefs>
</ds:datastoreItem>
</file>

<file path=customXml/itemProps2.xml><?xml version="1.0" encoding="utf-8"?>
<ds:datastoreItem xmlns:ds="http://schemas.openxmlformats.org/officeDocument/2006/customXml" ds:itemID="{C0AA3AAF-B680-4CDA-BA00-FE9ACF5C2E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af93972-1964-4522-aa34-640805a01c3a"/>
    <ds:schemaRef ds:uri="e52cd9e7-35e5-4bd3-9cab-ca6a63c31e5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CC0DA35-133B-4F55-A0A2-5489650CF0BE}">
  <ds:schemaRefs>
    <ds:schemaRef ds:uri="http://purl.org/dc/elements/1.1/"/>
    <ds:schemaRef ds:uri="http://purl.org/dc/dcmitype/"/>
    <ds:schemaRef ds:uri="http://purl.org/dc/terms/"/>
    <ds:schemaRef ds:uri="daf93972-1964-4522-aa34-640805a01c3a"/>
    <ds:schemaRef ds:uri="http://schemas.microsoft.com/office/2006/documentManagement/types"/>
    <ds:schemaRef ds:uri="http://www.w3.org/XML/1998/namespace"/>
    <ds:schemaRef ds:uri="http://schemas.microsoft.com/office/infopath/2007/PartnerControls"/>
    <ds:schemaRef ds:uri="e52cd9e7-35e5-4bd3-9cab-ca6a63c31e52"/>
    <ds:schemaRef ds:uri="http://schemas.openxmlformats.org/package/2006/metadata/core-properties"/>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otalTime>2971</TotalTime>
  <Words>573</Words>
  <Application>Microsoft Office PowerPoint</Application>
  <PresentationFormat>Custom</PresentationFormat>
  <Paragraphs>84</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Roboto</vt:lpstr>
      <vt:lpstr>Calibri</vt:lpstr>
      <vt:lpstr>Arial</vt:lpstr>
      <vt:lpstr>Roboto Bold</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Consultant profile templates (Presentation)</dc:title>
  <dc:creator>Darcy Roach</dc:creator>
  <cp:lastModifiedBy>Darcy Roach</cp:lastModifiedBy>
  <cp:revision>6</cp:revision>
  <dcterms:created xsi:type="dcterms:W3CDTF">2006-08-16T00:00:00Z</dcterms:created>
  <dcterms:modified xsi:type="dcterms:W3CDTF">2025-10-19T22:40:44Z</dcterms:modified>
  <dc:identifier>DAGrzN_SXAE</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