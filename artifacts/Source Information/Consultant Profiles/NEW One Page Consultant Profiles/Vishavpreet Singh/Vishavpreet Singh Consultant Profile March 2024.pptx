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4"/>
  </p:sldMasterIdLst>
  <p:notesMasterIdLst>
    <p:notesMasterId r:id="rId6"/>
  </p:notesMasterIdLst>
  <p:sldIdLst>
    <p:sldId id="270" r:id="rId5"/>
  </p:sldIdLst>
  <p:sldSz cx="10058400" cy="77724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8" userDrawn="1">
          <p15:clr>
            <a:srgbClr val="A4A3A4"/>
          </p15:clr>
        </p15:guide>
        <p15:guide id="2" pos="3168" userDrawn="1">
          <p15:clr>
            <a:srgbClr val="A4A3A4"/>
          </p15:clr>
        </p15:guide>
        <p15:guide id="3" pos="311" userDrawn="1">
          <p15:clr>
            <a:srgbClr val="A4A3A4"/>
          </p15:clr>
        </p15:guide>
        <p15:guide id="4" pos="5994" userDrawn="1">
          <p15:clr>
            <a:srgbClr val="A4A3A4"/>
          </p15:clr>
        </p15:guide>
        <p15:guide id="5" orient="horz" pos="148" userDrawn="1">
          <p15:clr>
            <a:srgbClr val="A4A3A4"/>
          </p15:clr>
        </p15:guide>
        <p15:guide id="6" orient="horz" pos="4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B3F"/>
    <a:srgbClr val="0059FF"/>
    <a:srgbClr val="00AB80"/>
    <a:srgbClr val="A93584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785E58-BCC3-4CC3-AB19-8E943305FF32}" v="1" dt="2025-04-02T23:14:00.3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/>
    <p:restoredTop sz="95595"/>
  </p:normalViewPr>
  <p:slideViewPr>
    <p:cSldViewPr snapToGrid="0" snapToObjects="1">
      <p:cViewPr varScale="1">
        <p:scale>
          <a:sx n="50" d="100"/>
          <a:sy n="50" d="100"/>
        </p:scale>
        <p:origin x="1872" y="20"/>
      </p:cViewPr>
      <p:guideLst>
        <p:guide orient="horz" pos="2448"/>
        <p:guide pos="3168"/>
        <p:guide pos="311"/>
        <p:guide pos="5994"/>
        <p:guide orient="horz" pos="148"/>
        <p:guide orient="horz" pos="4748"/>
      </p:guideLst>
    </p:cSldViewPr>
  </p:slideViewPr>
  <p:notesTextViewPr>
    <p:cViewPr>
      <p:scale>
        <a:sx n="3" d="2"/>
        <a:sy n="3" d="2"/>
      </p:scale>
      <p:origin x="0" y="-1136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cy Roach" userId="ba676ee9-e9b4-49e8-a515-8077106c948d" providerId="ADAL" clId="{B6785E58-BCC3-4CC3-AB19-8E943305FF32}"/>
    <pc:docChg chg="undo custSel modSld">
      <pc:chgData name="Darcy Roach" userId="ba676ee9-e9b4-49e8-a515-8077106c948d" providerId="ADAL" clId="{B6785E58-BCC3-4CC3-AB19-8E943305FF32}" dt="2025-04-02T23:20:37.063" v="130" actId="1037"/>
      <pc:docMkLst>
        <pc:docMk/>
      </pc:docMkLst>
      <pc:sldChg chg="addSp delSp modSp mod modNotesTx">
        <pc:chgData name="Darcy Roach" userId="ba676ee9-e9b4-49e8-a515-8077106c948d" providerId="ADAL" clId="{B6785E58-BCC3-4CC3-AB19-8E943305FF32}" dt="2025-04-02T23:20:37.063" v="130" actId="1037"/>
        <pc:sldMkLst>
          <pc:docMk/>
          <pc:sldMk cId="2009923557" sldId="270"/>
        </pc:sldMkLst>
        <pc:spChg chg="mod">
          <ac:chgData name="Darcy Roach" userId="ba676ee9-e9b4-49e8-a515-8077106c948d" providerId="ADAL" clId="{B6785E58-BCC3-4CC3-AB19-8E943305FF32}" dt="2025-04-02T23:18:32.478" v="118" actId="1076"/>
          <ac:spMkLst>
            <pc:docMk/>
            <pc:sldMk cId="2009923557" sldId="270"/>
            <ac:spMk id="2" creationId="{2FA774CA-3857-9308-4D38-9414B0CC2B95}"/>
          </ac:spMkLst>
        </pc:spChg>
        <pc:spChg chg="mod">
          <ac:chgData name="Darcy Roach" userId="ba676ee9-e9b4-49e8-a515-8077106c948d" providerId="ADAL" clId="{B6785E58-BCC3-4CC3-AB19-8E943305FF32}" dt="2025-04-02T23:19:48.363" v="123" actId="1076"/>
          <ac:spMkLst>
            <pc:docMk/>
            <pc:sldMk cId="2009923557" sldId="270"/>
            <ac:spMk id="6" creationId="{701E125D-B356-8A2A-B86B-AB6567CEABE1}"/>
          </ac:spMkLst>
        </pc:spChg>
        <pc:spChg chg="add mod ord">
          <ac:chgData name="Darcy Roach" userId="ba676ee9-e9b4-49e8-a515-8077106c948d" providerId="ADAL" clId="{B6785E58-BCC3-4CC3-AB19-8E943305FF32}" dt="2025-04-02T23:20:37.063" v="130" actId="1037"/>
          <ac:spMkLst>
            <pc:docMk/>
            <pc:sldMk cId="2009923557" sldId="270"/>
            <ac:spMk id="8" creationId="{06312B81-BCF1-2796-C112-3DBE0E02F483}"/>
          </ac:spMkLst>
        </pc:spChg>
        <pc:spChg chg="add del mod ord topLvl">
          <ac:chgData name="Darcy Roach" userId="ba676ee9-e9b4-49e8-a515-8077106c948d" providerId="ADAL" clId="{B6785E58-BCC3-4CC3-AB19-8E943305FF32}" dt="2025-04-02T23:13:13.218" v="14" actId="21"/>
          <ac:spMkLst>
            <pc:docMk/>
            <pc:sldMk cId="2009923557" sldId="270"/>
            <ac:spMk id="10" creationId="{06312B81-BCF1-2796-C112-3DBE0E02F483}"/>
          </ac:spMkLst>
        </pc:spChg>
        <pc:spChg chg="add mod ord">
          <ac:chgData name="Darcy Roach" userId="ba676ee9-e9b4-49e8-a515-8077106c948d" providerId="ADAL" clId="{B6785E58-BCC3-4CC3-AB19-8E943305FF32}" dt="2025-04-02T23:20:37.063" v="130" actId="1037"/>
          <ac:spMkLst>
            <pc:docMk/>
            <pc:sldMk cId="2009923557" sldId="270"/>
            <ac:spMk id="12" creationId="{6059F888-3BDF-A1C0-65E5-CB6FDD43D97C}"/>
          </ac:spMkLst>
        </pc:spChg>
        <pc:spChg chg="mod">
          <ac:chgData name="Darcy Roach" userId="ba676ee9-e9b4-49e8-a515-8077106c948d" providerId="ADAL" clId="{B6785E58-BCC3-4CC3-AB19-8E943305FF32}" dt="2025-04-02T23:18:32.478" v="118" actId="1076"/>
          <ac:spMkLst>
            <pc:docMk/>
            <pc:sldMk cId="2009923557" sldId="270"/>
            <ac:spMk id="19" creationId="{7513C49A-2DF2-8111-FED4-FC07A8EAD258}"/>
          </ac:spMkLst>
        </pc:spChg>
        <pc:spChg chg="add del mod">
          <ac:chgData name="Darcy Roach" userId="ba676ee9-e9b4-49e8-a515-8077106c948d" providerId="ADAL" clId="{B6785E58-BCC3-4CC3-AB19-8E943305FF32}" dt="2025-04-02T23:13:13.218" v="14" actId="21"/>
          <ac:spMkLst>
            <pc:docMk/>
            <pc:sldMk cId="2009923557" sldId="270"/>
            <ac:spMk id="28" creationId="{6059F888-3BDF-A1C0-65E5-CB6FDD43D97C}"/>
          </ac:spMkLst>
        </pc:spChg>
        <pc:spChg chg="mod">
          <ac:chgData name="Darcy Roach" userId="ba676ee9-e9b4-49e8-a515-8077106c948d" providerId="ADAL" clId="{B6785E58-BCC3-4CC3-AB19-8E943305FF32}" dt="2025-04-02T23:19:48.363" v="123" actId="1076"/>
          <ac:spMkLst>
            <pc:docMk/>
            <pc:sldMk cId="2009923557" sldId="270"/>
            <ac:spMk id="32" creationId="{0B703521-F331-D24D-2144-A609A273150D}"/>
          </ac:spMkLst>
        </pc:spChg>
        <pc:spChg chg="mod">
          <ac:chgData name="Darcy Roach" userId="ba676ee9-e9b4-49e8-a515-8077106c948d" providerId="ADAL" clId="{B6785E58-BCC3-4CC3-AB19-8E943305FF32}" dt="2025-04-02T23:20:01.455" v="127" actId="20577"/>
          <ac:spMkLst>
            <pc:docMk/>
            <pc:sldMk cId="2009923557" sldId="270"/>
            <ac:spMk id="175" creationId="{B9775FC7-7124-8CCA-9B1C-7CCD7D3DF384}"/>
          </ac:spMkLst>
        </pc:spChg>
        <pc:grpChg chg="add del">
          <ac:chgData name="Darcy Roach" userId="ba676ee9-e9b4-49e8-a515-8077106c948d" providerId="ADAL" clId="{B6785E58-BCC3-4CC3-AB19-8E943305FF32}" dt="2025-04-02T23:13:13.218" v="14" actId="21"/>
          <ac:grpSpMkLst>
            <pc:docMk/>
            <pc:sldMk cId="2009923557" sldId="270"/>
            <ac:grpSpMk id="16" creationId="{A1F14AC0-7E81-3290-BFBD-9B334F5C0EFB}"/>
          </ac:grpSpMkLst>
        </pc:grpChg>
        <pc:cxnChg chg="mod">
          <ac:chgData name="Darcy Roach" userId="ba676ee9-e9b4-49e8-a515-8077106c948d" providerId="ADAL" clId="{B6785E58-BCC3-4CC3-AB19-8E943305FF32}" dt="2025-04-02T23:18:41.243" v="119" actId="1076"/>
          <ac:cxnSpMkLst>
            <pc:docMk/>
            <pc:sldMk cId="2009923557" sldId="270"/>
            <ac:cxnSpMk id="3" creationId="{67C34E10-2CF8-9BCA-1CC6-D78A3FF9CA80}"/>
          </ac:cxnSpMkLst>
        </pc:cxnChg>
        <pc:cxnChg chg="mod">
          <ac:chgData name="Darcy Roach" userId="ba676ee9-e9b4-49e8-a515-8077106c948d" providerId="ADAL" clId="{B6785E58-BCC3-4CC3-AB19-8E943305FF32}" dt="2025-04-02T23:18:32.478" v="118" actId="1076"/>
          <ac:cxnSpMkLst>
            <pc:docMk/>
            <pc:sldMk cId="2009923557" sldId="270"/>
            <ac:cxnSpMk id="15" creationId="{F87F05F2-DA4C-4F55-A5D0-1887110DF155}"/>
          </ac:cxnSpMkLst>
        </pc:cxnChg>
        <pc:cxnChg chg="add mod">
          <ac:chgData name="Darcy Roach" userId="ba676ee9-e9b4-49e8-a515-8077106c948d" providerId="ADAL" clId="{B6785E58-BCC3-4CC3-AB19-8E943305FF32}" dt="2025-04-02T23:20:37.063" v="130" actId="1037"/>
          <ac:cxnSpMkLst>
            <pc:docMk/>
            <pc:sldMk cId="2009923557" sldId="270"/>
            <ac:cxnSpMk id="17" creationId="{B0913DE4-461D-CE43-AABC-C4B3D7D22F45}"/>
          </ac:cxnSpMkLst>
        </pc:cxnChg>
        <pc:cxnChg chg="del mod topLvl">
          <ac:chgData name="Darcy Roach" userId="ba676ee9-e9b4-49e8-a515-8077106c948d" providerId="ADAL" clId="{B6785E58-BCC3-4CC3-AB19-8E943305FF32}" dt="2025-04-02T23:13:13.218" v="14" actId="21"/>
          <ac:cxnSpMkLst>
            <pc:docMk/>
            <pc:sldMk cId="2009923557" sldId="270"/>
            <ac:cxnSpMk id="21" creationId="{B0913DE4-461D-CE43-AABC-C4B3D7D22F45}"/>
          </ac:cxnSpMkLst>
        </pc:cxnChg>
        <pc:cxnChg chg="mod">
          <ac:chgData name="Darcy Roach" userId="ba676ee9-e9b4-49e8-a515-8077106c948d" providerId="ADAL" clId="{B6785E58-BCC3-4CC3-AB19-8E943305FF32}" dt="2025-04-02T23:13:27.564" v="18" actId="1076"/>
          <ac:cxnSpMkLst>
            <pc:docMk/>
            <pc:sldMk cId="2009923557" sldId="270"/>
            <ac:cxnSpMk id="190" creationId="{31DCAD75-9302-C642-9C74-B164C43329B0}"/>
          </ac:cxnSpMkLst>
        </pc:cxnChg>
      </pc:sldChg>
    </pc:docChg>
  </pc:docChgLst>
  <pc:docChgLst>
    <pc:chgData name="Darcy Roach" userId="ba676ee9-e9b4-49e8-a515-8077106c948d" providerId="ADAL" clId="{00FC9EA7-83A2-41CD-A802-A86137FD6717}"/>
    <pc:docChg chg="custSel modSld">
      <pc:chgData name="Darcy Roach" userId="ba676ee9-e9b4-49e8-a515-8077106c948d" providerId="ADAL" clId="{00FC9EA7-83A2-41CD-A802-A86137FD6717}" dt="2024-03-26T03:54:07.390" v="1827" actId="20577"/>
      <pc:docMkLst>
        <pc:docMk/>
      </pc:docMkLst>
      <pc:sldChg chg="modSp mod">
        <pc:chgData name="Darcy Roach" userId="ba676ee9-e9b4-49e8-a515-8077106c948d" providerId="ADAL" clId="{00FC9EA7-83A2-41CD-A802-A86137FD6717}" dt="2024-03-26T03:54:07.390" v="1827" actId="20577"/>
        <pc:sldMkLst>
          <pc:docMk/>
          <pc:sldMk cId="2009923557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36A49-21D0-4039-8317-3CE62D4359FD}" type="datetimeFigureOut">
              <a:rPr lang="en-AU" smtClean="0"/>
              <a:t>3/04/2025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74988" y="857250"/>
            <a:ext cx="29940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2F73C-0CA1-4ED5-BCC0-54A4D14712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8877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Big 4 Bank – Senior Data Engineer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Provision, configuration and management of AWS cloud-based resources to manage complex application environments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Ingested multiple sources to AWS platform and transformed data in a standardised format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Wrote complicated SQL queries to load data to AWS cloud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Designed, created and updated Jenkins jobs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Deployment, configuration, and management of AWS resources using Terraform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1200" b="1" dirty="0">
              <a:solidFill>
                <a:srgbClr val="A9358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2F73C-0CA1-4ED5-BCC0-54A4D147124A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65954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3"/>
            <a:ext cx="8549640" cy="2705947"/>
          </a:xfrm>
        </p:spPr>
        <p:txBody>
          <a:bodyPr anchor="b"/>
          <a:lstStyle>
            <a:lvl1pPr algn="ctr"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878" indent="0" algn="ctr">
              <a:buNone/>
              <a:defRPr sz="2200"/>
            </a:lvl2pPr>
            <a:lvl3pPr marL="1005755" indent="0" algn="ctr">
              <a:buNone/>
              <a:defRPr sz="1980"/>
            </a:lvl3pPr>
            <a:lvl4pPr marL="1508634" indent="0" algn="ctr">
              <a:buNone/>
              <a:defRPr sz="1760"/>
            </a:lvl4pPr>
            <a:lvl5pPr marL="2011512" indent="0" algn="ctr">
              <a:buNone/>
              <a:defRPr sz="1760"/>
            </a:lvl5pPr>
            <a:lvl6pPr marL="2514389" indent="0" algn="ctr">
              <a:buNone/>
              <a:defRPr sz="1760"/>
            </a:lvl6pPr>
            <a:lvl7pPr marL="3017267" indent="0" algn="ctr">
              <a:buNone/>
              <a:defRPr sz="1760"/>
            </a:lvl7pPr>
            <a:lvl8pPr marL="3520145" indent="0" algn="ctr">
              <a:buNone/>
              <a:defRPr sz="1760"/>
            </a:lvl8pPr>
            <a:lvl9pPr marL="4023023" indent="0" algn="ctr">
              <a:buNone/>
              <a:defRPr sz="1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61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2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87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755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634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512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389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267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145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023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6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90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2"/>
            <a:ext cx="8675370" cy="1502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20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20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878" indent="0">
              <a:buNone/>
              <a:defRPr sz="2200" b="1"/>
            </a:lvl2pPr>
            <a:lvl3pPr marL="1005755" indent="0">
              <a:buNone/>
              <a:defRPr sz="1980" b="1"/>
            </a:lvl3pPr>
            <a:lvl4pPr marL="1508634" indent="0">
              <a:buNone/>
              <a:defRPr sz="1760" b="1"/>
            </a:lvl4pPr>
            <a:lvl5pPr marL="2011512" indent="0">
              <a:buNone/>
              <a:defRPr sz="1760" b="1"/>
            </a:lvl5pPr>
            <a:lvl6pPr marL="2514389" indent="0">
              <a:buNone/>
              <a:defRPr sz="1760" b="1"/>
            </a:lvl6pPr>
            <a:lvl7pPr marL="3017267" indent="0">
              <a:buNone/>
              <a:defRPr sz="1760" b="1"/>
            </a:lvl7pPr>
            <a:lvl8pPr marL="3520145" indent="0">
              <a:buNone/>
              <a:defRPr sz="1760" b="1"/>
            </a:lvl8pPr>
            <a:lvl9pPr marL="4023023" indent="0">
              <a:buNone/>
              <a:defRPr sz="1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76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56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19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486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19"/>
            </a:lvl1pPr>
            <a:lvl2pPr marL="502878" indent="0">
              <a:buNone/>
              <a:defRPr sz="3080"/>
            </a:lvl2pPr>
            <a:lvl3pPr marL="1005755" indent="0">
              <a:buNone/>
              <a:defRPr sz="2640"/>
            </a:lvl3pPr>
            <a:lvl4pPr marL="1508634" indent="0">
              <a:buNone/>
              <a:defRPr sz="2200"/>
            </a:lvl4pPr>
            <a:lvl5pPr marL="2011512" indent="0">
              <a:buNone/>
              <a:defRPr sz="2200"/>
            </a:lvl5pPr>
            <a:lvl6pPr marL="2514389" indent="0">
              <a:buNone/>
              <a:defRPr sz="2200"/>
            </a:lvl6pPr>
            <a:lvl7pPr marL="3017267" indent="0">
              <a:buNone/>
              <a:defRPr sz="2200"/>
            </a:lvl7pPr>
            <a:lvl8pPr marL="3520145" indent="0">
              <a:buNone/>
              <a:defRPr sz="2200"/>
            </a:lvl8pPr>
            <a:lvl9pPr marL="4023023" indent="0">
              <a:buNone/>
              <a:defRPr sz="2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878" indent="0">
              <a:buNone/>
              <a:defRPr sz="1540"/>
            </a:lvl2pPr>
            <a:lvl3pPr marL="1005755" indent="0">
              <a:buNone/>
              <a:defRPr sz="1320"/>
            </a:lvl3pPr>
            <a:lvl4pPr marL="1508634" indent="0">
              <a:buNone/>
              <a:defRPr sz="1100"/>
            </a:lvl4pPr>
            <a:lvl5pPr marL="2011512" indent="0">
              <a:buNone/>
              <a:defRPr sz="1100"/>
            </a:lvl5pPr>
            <a:lvl6pPr marL="2514389" indent="0">
              <a:buNone/>
              <a:defRPr sz="1100"/>
            </a:lvl6pPr>
            <a:lvl7pPr marL="3017267" indent="0">
              <a:buNone/>
              <a:defRPr sz="1100"/>
            </a:lvl7pPr>
            <a:lvl8pPr marL="3520145" indent="0">
              <a:buNone/>
              <a:defRPr sz="1100"/>
            </a:lvl8pPr>
            <a:lvl9pPr marL="402302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69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32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4" y="413808"/>
            <a:ext cx="2168843" cy="65867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835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95B98B-9858-C440-9948-61EB8C1DD8B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49682" y="264259"/>
            <a:ext cx="2362366" cy="1413164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accent1">
                <a:lumMod val="75000"/>
              </a:schemeClr>
            </a:solidFill>
            <a:miter lim="800000"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2071" b="1" i="0">
                <a:latin typeface="Libre Caslon Text" panose="02020602060300000004" pitchFamily="18" charset="77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45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2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057BF-143F-654A-BE61-7BF52D905453}" type="datetimeFigureOut">
              <a:rPr lang="en-US" smtClean="0"/>
              <a:t>4/3/2025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9039BF-E0FB-D843-8F6D-3060C51D69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2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</p:sldLayoutIdLst>
  <p:txStyles>
    <p:titleStyle>
      <a:lvl1pPr algn="l" defTabSz="1005755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39" indent="-251439" algn="l" defTabSz="1005755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17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195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07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2950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5829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706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584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462" indent="-251439" algn="l" defTabSz="1005755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878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75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634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512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89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267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145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023" algn="l" defTabSz="1005755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6312B81-BCF1-2796-C112-3DBE0E02F483}"/>
              </a:ext>
            </a:extLst>
          </p:cNvPr>
          <p:cNvSpPr txBox="1"/>
          <p:nvPr/>
        </p:nvSpPr>
        <p:spPr>
          <a:xfrm>
            <a:off x="3527378" y="1132317"/>
            <a:ext cx="4399656" cy="193899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buNone/>
            </a:pPr>
            <a:endParaRPr lang="en-AU" sz="1000" dirty="0"/>
          </a:p>
          <a:p>
            <a:r>
              <a:rPr lang="en-AU" sz="1000" dirty="0"/>
              <a:t>Successfully migrated data across multiple SQL databases, ensuring data integrity, consistency, and minimal downtime by utilising optimised ETL processes and custom SQL scripts.</a:t>
            </a:r>
          </a:p>
          <a:p>
            <a:r>
              <a:rPr lang="en-AU" sz="1000" dirty="0"/>
              <a:t>Developed and maintained dynamic SQL code leveraging T-SQL scripts.</a:t>
            </a:r>
          </a:p>
          <a:p>
            <a:r>
              <a:rPr lang="en-AU" sz="1000" dirty="0"/>
              <a:t>Created and managed SQL views to present aggregated and filtered data, enabling easy access to critical data for reporting </a:t>
            </a:r>
            <a:r>
              <a:rPr lang="en-AU" sz="1000" dirty="0" err="1"/>
              <a:t>andanalysis</a:t>
            </a:r>
            <a:r>
              <a:rPr lang="en-AU" sz="1000" dirty="0"/>
              <a:t>.</a:t>
            </a:r>
          </a:p>
          <a:p>
            <a:r>
              <a:rPr lang="en-AU" sz="1000" dirty="0"/>
              <a:t>Developed stored procedures for automated data migration tasks, encapsulating business logic for data validation, transformation, and migration between systems.</a:t>
            </a:r>
          </a:p>
          <a:p>
            <a:r>
              <a:rPr lang="en-AU" sz="1000" dirty="0"/>
              <a:t>Set up and maintained external tables to facilitate seamless access and data transfer between different databases using </a:t>
            </a:r>
            <a:r>
              <a:rPr lang="en-AU" sz="1000" dirty="0" err="1"/>
              <a:t>PolyBase</a:t>
            </a:r>
            <a:endParaRPr lang="en-AU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59F888-3BDF-A1C0-65E5-CB6FDD43D97C}"/>
              </a:ext>
            </a:extLst>
          </p:cNvPr>
          <p:cNvSpPr txBox="1"/>
          <p:nvPr/>
        </p:nvSpPr>
        <p:spPr>
          <a:xfrm>
            <a:off x="3362597" y="1039926"/>
            <a:ext cx="4247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A9358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Australian Big 4 Bank – Senior Data Engineer</a:t>
            </a:r>
          </a:p>
          <a:p>
            <a:endParaRPr lang="en-AU" sz="1200" b="1" dirty="0">
              <a:solidFill>
                <a:srgbClr val="A9358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AU" sz="1200" b="1" dirty="0">
              <a:solidFill>
                <a:srgbClr val="A93584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B703521-F331-D24D-2144-A609A273150D}"/>
              </a:ext>
            </a:extLst>
          </p:cNvPr>
          <p:cNvSpPr txBox="1"/>
          <p:nvPr/>
        </p:nvSpPr>
        <p:spPr>
          <a:xfrm>
            <a:off x="3500533" y="3386947"/>
            <a:ext cx="4377684" cy="2246769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10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dirty="0">
                <a:latin typeface="Roboto Light"/>
                <a:ea typeface="Roboto Light"/>
                <a:cs typeface="Roboto Light"/>
              </a:rPr>
              <a:t>Streamlined data ingestion process by implementing automated ETL workflows using Apache Airflow and leveraging AWS Glue into a scalable AWS environment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Ingested data to AWS platform and transformed data in usable formats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Wrote SQL scripts to load data to target tables in AWS Redshift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Designed created and updated Data Pipelines using Apache Airflow and Jenkins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Used AWS Glue for data transformation, validation and data cleansing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Performed data transformation and enrichment tasks using </a:t>
            </a:r>
            <a:r>
              <a:rPr lang="en-AU" dirty="0" err="1">
                <a:latin typeface="Roboto Light"/>
                <a:ea typeface="Roboto Light"/>
                <a:cs typeface="Roboto Light"/>
              </a:rPr>
              <a:t>PySpark</a:t>
            </a:r>
            <a:r>
              <a:rPr lang="en-AU" dirty="0">
                <a:latin typeface="Roboto Light"/>
                <a:ea typeface="Roboto Light"/>
                <a:cs typeface="Roboto Light"/>
              </a:rPr>
              <a:t> and other data processing tools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Built configuration-based and parameter-driven data ingestion, curation, conformance pipelines</a:t>
            </a:r>
          </a:p>
          <a:p>
            <a:r>
              <a:rPr lang="en-AU" dirty="0">
                <a:latin typeface="Roboto Light"/>
                <a:ea typeface="Roboto Light"/>
                <a:cs typeface="Roboto Light"/>
              </a:rPr>
              <a:t>Wrote Airflow DAGs to automate the end-to-end data pipelines using Python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4A1CC9E5-C555-4A42-BD2F-52D83986D1E1}"/>
              </a:ext>
            </a:extLst>
          </p:cNvPr>
          <p:cNvSpPr txBox="1"/>
          <p:nvPr/>
        </p:nvSpPr>
        <p:spPr>
          <a:xfrm>
            <a:off x="3411163" y="615950"/>
            <a:ext cx="393389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6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Selected Project Experience</a:t>
            </a: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1DCAD75-9302-C642-9C74-B164C43329B0}"/>
              </a:ext>
            </a:extLst>
          </p:cNvPr>
          <p:cNvCxnSpPr>
            <a:cxnSpLocks/>
          </p:cNvCxnSpPr>
          <p:nvPr/>
        </p:nvCxnSpPr>
        <p:spPr>
          <a:xfrm>
            <a:off x="3414648" y="973546"/>
            <a:ext cx="4285563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B2F289A-52B4-2A27-52EA-B05DE2DA93CE}"/>
              </a:ext>
            </a:extLst>
          </p:cNvPr>
          <p:cNvSpPr/>
          <p:nvPr/>
        </p:nvSpPr>
        <p:spPr>
          <a:xfrm>
            <a:off x="0" y="0"/>
            <a:ext cx="3261728" cy="7780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329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1" name="Picture 10" descr="A picture containing text, clipart, vector graphics&#10;&#10;Description automatically generated">
            <a:extLst>
              <a:ext uri="{FF2B5EF4-FFF2-40B4-BE49-F238E27FC236}">
                <a16:creationId xmlns:a16="http://schemas.microsoft.com/office/drawing/2014/main" id="{450DD9D7-80A5-A592-F4F7-7A26F0024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126" y="209337"/>
            <a:ext cx="1319645" cy="3060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D2720C9-A79F-BD7F-E179-674AD67D7892}"/>
              </a:ext>
            </a:extLst>
          </p:cNvPr>
          <p:cNvSpPr txBox="1"/>
          <p:nvPr/>
        </p:nvSpPr>
        <p:spPr>
          <a:xfrm>
            <a:off x="275170" y="113351"/>
            <a:ext cx="2684870" cy="861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Vishavpreet</a:t>
            </a:r>
          </a:p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Singh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6A87E2-F657-C1C6-3715-B7C8A7F1E050}"/>
              </a:ext>
            </a:extLst>
          </p:cNvPr>
          <p:cNvSpPr txBox="1"/>
          <p:nvPr/>
        </p:nvSpPr>
        <p:spPr>
          <a:xfrm>
            <a:off x="179134" y="1247202"/>
            <a:ext cx="2972650" cy="3103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b="1" spc="13" dirty="0">
                <a:solidFill>
                  <a:srgbClr val="00AB80"/>
                </a:solidFill>
                <a:latin typeface="Roboto Light"/>
                <a:ea typeface="Roboto Light"/>
                <a:cs typeface="Lato"/>
              </a:rPr>
              <a:t>Profile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4E289E-1D52-CBDD-E381-40963429D7F1}"/>
              </a:ext>
            </a:extLst>
          </p:cNvPr>
          <p:cNvSpPr txBox="1"/>
          <p:nvPr/>
        </p:nvSpPr>
        <p:spPr>
          <a:xfrm>
            <a:off x="278877" y="1025116"/>
            <a:ext cx="2489720" cy="2180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12"/>
              </a:lnSpc>
            </a:pPr>
            <a:r>
              <a:rPr lang="en-US" sz="1400" spc="13" dirty="0">
                <a:solidFill>
                  <a:schemeClr val="bg1">
                    <a:lumMod val="50000"/>
                  </a:schemeClr>
                </a:solidFill>
                <a:latin typeface="Roboto Light"/>
                <a:ea typeface="Roboto Light"/>
                <a:cs typeface="Lato"/>
              </a:rPr>
              <a:t>Senior Consultant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D7A612B-9DC7-1D9B-3085-CDB0F937FDB8}"/>
              </a:ext>
            </a:extLst>
          </p:cNvPr>
          <p:cNvSpPr/>
          <p:nvPr/>
        </p:nvSpPr>
        <p:spPr>
          <a:xfrm>
            <a:off x="132977" y="5343166"/>
            <a:ext cx="2991223" cy="230840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A3D666D-00C8-D106-73C3-9FF300F8618C}"/>
              </a:ext>
            </a:extLst>
          </p:cNvPr>
          <p:cNvSpPr txBox="1"/>
          <p:nvPr/>
        </p:nvSpPr>
        <p:spPr>
          <a:xfrm>
            <a:off x="1716674" y="5728799"/>
            <a:ext cx="1510046" cy="18928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AWS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Microsoft Azure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GCP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SQL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Python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Redshift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Jenkins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Apache Airflow 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GitHub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 err="1">
                <a:latin typeface="Roboto Light" panose="02000000000000000000" pitchFamily="2" charset="0"/>
                <a:ea typeface="Roboto Light" panose="02000000000000000000" pitchFamily="2" charset="0"/>
              </a:rPr>
              <a:t>BitBucket</a:t>
            </a: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Terraform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Confluence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Linux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56C067-11D9-4FE3-B97E-743BDA13E1D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12796" y="6641662"/>
            <a:ext cx="1809412" cy="0"/>
          </a:xfrm>
          <a:prstGeom prst="line">
            <a:avLst/>
          </a:prstGeom>
          <a:ln w="1270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7C34E10-2CF8-9BCA-1CC6-D78A3FF9CA80}"/>
              </a:ext>
            </a:extLst>
          </p:cNvPr>
          <p:cNvCxnSpPr>
            <a:cxnSpLocks/>
          </p:cNvCxnSpPr>
          <p:nvPr/>
        </p:nvCxnSpPr>
        <p:spPr>
          <a:xfrm>
            <a:off x="3428143" y="3548990"/>
            <a:ext cx="0" cy="2024965"/>
          </a:xfrm>
          <a:prstGeom prst="line">
            <a:avLst/>
          </a:prstGeom>
          <a:ln w="19050">
            <a:solidFill>
              <a:srgbClr val="0059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 descr="A picture containing icon&#10;&#10;Description automatically generated">
            <a:extLst>
              <a:ext uri="{FF2B5EF4-FFF2-40B4-BE49-F238E27FC236}">
                <a16:creationId xmlns:a16="http://schemas.microsoft.com/office/drawing/2014/main" id="{20B94328-DB79-FB55-B636-C97F5174B4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252" y="7221015"/>
            <a:ext cx="1187809" cy="479883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3EA81938-6A76-B850-B0E8-A5F905AEBA98}"/>
              </a:ext>
            </a:extLst>
          </p:cNvPr>
          <p:cNvSpPr txBox="1"/>
          <p:nvPr/>
        </p:nvSpPr>
        <p:spPr>
          <a:xfrm>
            <a:off x="8219897" y="2928278"/>
            <a:ext cx="164872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Certification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EB3CB7-14B5-2B9E-400D-049800DFED74}"/>
              </a:ext>
            </a:extLst>
          </p:cNvPr>
          <p:cNvSpPr txBox="1"/>
          <p:nvPr/>
        </p:nvSpPr>
        <p:spPr>
          <a:xfrm>
            <a:off x="3414648" y="116660"/>
            <a:ext cx="5463194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Consultant Profile</a:t>
            </a:r>
          </a:p>
        </p:txBody>
      </p: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0D51728F-48BB-14BB-256E-5F0C0284BCDF}"/>
              </a:ext>
            </a:extLst>
          </p:cNvPr>
          <p:cNvCxnSpPr>
            <a:cxnSpLocks/>
          </p:cNvCxnSpPr>
          <p:nvPr/>
        </p:nvCxnSpPr>
        <p:spPr>
          <a:xfrm flipV="1">
            <a:off x="8035461" y="784490"/>
            <a:ext cx="0" cy="651166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994303C8-DFEA-5175-3E9D-3727861435B6}"/>
              </a:ext>
            </a:extLst>
          </p:cNvPr>
          <p:cNvSpPr txBox="1"/>
          <p:nvPr/>
        </p:nvSpPr>
        <p:spPr>
          <a:xfrm>
            <a:off x="8216224" y="707439"/>
            <a:ext cx="139204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Industry</a:t>
            </a:r>
          </a:p>
          <a:p>
            <a:r>
              <a:rPr lang="en-US" sz="1400" b="1" spc="388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Experience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B9775FC7-7124-8CCA-9B1C-7CCD7D3DF384}"/>
              </a:ext>
            </a:extLst>
          </p:cNvPr>
          <p:cNvSpPr txBox="1"/>
          <p:nvPr/>
        </p:nvSpPr>
        <p:spPr>
          <a:xfrm>
            <a:off x="8118489" y="1283343"/>
            <a:ext cx="1951941" cy="1446550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Government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Financial Services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Logistics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Retail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sz="1200" dirty="0">
                <a:solidFill>
                  <a:srgbClr val="00AB80"/>
                </a:solidFill>
              </a:rPr>
              <a:t>Healthcare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D64658-1F62-2EE9-AB01-2FD4F7E2D84D}"/>
              </a:ext>
            </a:extLst>
          </p:cNvPr>
          <p:cNvCxnSpPr>
            <a:cxnSpLocks/>
          </p:cNvCxnSpPr>
          <p:nvPr/>
        </p:nvCxnSpPr>
        <p:spPr>
          <a:xfrm>
            <a:off x="8216224" y="1280411"/>
            <a:ext cx="1558988" cy="0"/>
          </a:xfrm>
          <a:prstGeom prst="line">
            <a:avLst/>
          </a:prstGeom>
          <a:ln w="19050">
            <a:solidFill>
              <a:srgbClr val="00AB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980A06B1-0A2F-7DF6-91DB-0F6DFA896A23}"/>
              </a:ext>
            </a:extLst>
          </p:cNvPr>
          <p:cNvGrpSpPr/>
          <p:nvPr/>
        </p:nvGrpSpPr>
        <p:grpSpPr>
          <a:xfrm>
            <a:off x="8133650" y="2973365"/>
            <a:ext cx="1963972" cy="2492990"/>
            <a:chOff x="8106458" y="2511090"/>
            <a:chExt cx="1963972" cy="249299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72A9DC1-BA60-5A54-0907-130AE22B314D}"/>
                </a:ext>
              </a:extLst>
            </p:cNvPr>
            <p:cNvCxnSpPr>
              <a:cxnSpLocks/>
            </p:cNvCxnSpPr>
            <p:nvPr/>
          </p:nvCxnSpPr>
          <p:spPr>
            <a:xfrm>
              <a:off x="8192160" y="2773308"/>
              <a:ext cx="1734788" cy="0"/>
            </a:xfrm>
            <a:prstGeom prst="line">
              <a:avLst/>
            </a:prstGeom>
            <a:ln w="19050">
              <a:solidFill>
                <a:srgbClr val="00AB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B47A2EE-BF0B-DB05-8B7C-DB6594B2B3D5}"/>
                </a:ext>
              </a:extLst>
            </p:cNvPr>
            <p:cNvSpPr txBox="1"/>
            <p:nvPr/>
          </p:nvSpPr>
          <p:spPr>
            <a:xfrm>
              <a:off x="8106458" y="2511090"/>
              <a:ext cx="1963972" cy="249299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Amazon Web Service (AWS) Certified | Solution Architect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ITIL Certified V3 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GB" sz="1200" dirty="0">
                <a:solidFill>
                  <a:srgbClr val="00AB80"/>
                </a:solidFill>
                <a:effectLst/>
                <a:latin typeface="Roboto Light" panose="02000000000000000000" pitchFamily="2" charset="0"/>
                <a:ea typeface="Calibri" panose="020F0502020204030204" pitchFamily="34" charset="0"/>
              </a:endParaRPr>
            </a:p>
            <a:p>
              <a:pPr>
                <a:tabLst>
                  <a:tab pos="3819525" algn="l"/>
                  <a:tab pos="3895725" algn="l"/>
                </a:tabLst>
              </a:pPr>
              <a:r>
                <a:rPr lang="en-GB" sz="1200" dirty="0">
                  <a:solidFill>
                    <a:srgbClr val="00AB80"/>
                  </a:solidFill>
                  <a:effectLst/>
                  <a:latin typeface="Roboto Light" panose="02000000000000000000" pitchFamily="2" charset="0"/>
                  <a:ea typeface="Calibri" panose="020F0502020204030204" pitchFamily="34" charset="0"/>
                </a:rPr>
                <a:t>Bachelor</a:t>
              </a:r>
              <a:r>
                <a:rPr lang="en-GB" sz="1200" dirty="0">
                  <a:solidFill>
                    <a:srgbClr val="00AB80"/>
                  </a:solidFill>
                  <a:latin typeface="Roboto Light" panose="02000000000000000000" pitchFamily="2" charset="0"/>
                  <a:ea typeface="Calibri" panose="020F0502020204030204" pitchFamily="34" charset="0"/>
                </a:rPr>
                <a:t> – Technology, Computer Science | Punjab Technical University (India)</a:t>
              </a:r>
            </a:p>
            <a:p>
              <a:pPr>
                <a:tabLst>
                  <a:tab pos="3819525" algn="l"/>
                  <a:tab pos="3895725" algn="l"/>
                </a:tabLst>
              </a:pPr>
              <a:endParaRPr lang="en-AU" sz="1200" dirty="0">
                <a:solidFill>
                  <a:srgbClr val="00AB8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0F49B2F-21D4-F9EB-049F-717A10CB7D84}"/>
              </a:ext>
            </a:extLst>
          </p:cNvPr>
          <p:cNvSpPr txBox="1"/>
          <p:nvPr/>
        </p:nvSpPr>
        <p:spPr>
          <a:xfrm>
            <a:off x="146651" y="5728799"/>
            <a:ext cx="1510046" cy="216982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Engineering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Warehousing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Analytics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Virtualisation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Science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Migration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US" sz="900" dirty="0">
                <a:latin typeface="Roboto Light" panose="02000000000000000000" pitchFamily="2" charset="0"/>
                <a:ea typeface="Roboto Light" panose="02000000000000000000" pitchFamily="2" charset="0"/>
              </a:rPr>
              <a:t>Data Integration</a:t>
            </a:r>
            <a:endParaRPr lang="en-AU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Project Delivery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Architecture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Cloud Computing</a:t>
            </a: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r>
              <a:rPr lang="en-AU" sz="900" dirty="0">
                <a:latin typeface="Roboto Light" panose="02000000000000000000" pitchFamily="2" charset="0"/>
                <a:ea typeface="Roboto Light" panose="02000000000000000000" pitchFamily="2" charset="0"/>
              </a:rPr>
              <a:t>Stakeholder Management</a:t>
            </a: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marL="171450" indent="-171450">
              <a:buClr>
                <a:srgbClr val="00AB80"/>
              </a:buClr>
              <a:buFont typeface="Arial" panose="020B0604020202020204" pitchFamily="34" charset="0"/>
              <a:buChar char="•"/>
            </a:pPr>
            <a:endParaRPr lang="en-US" sz="900" dirty="0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6A2B4B-DF73-B449-C876-B221F898C872}"/>
              </a:ext>
            </a:extLst>
          </p:cNvPr>
          <p:cNvSpPr txBox="1"/>
          <p:nvPr/>
        </p:nvSpPr>
        <p:spPr>
          <a:xfrm>
            <a:off x="-19943" y="5386173"/>
            <a:ext cx="25520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>
                <a:solidFill>
                  <a:srgbClr val="00AB8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Key Skills &amp; Technologies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1E125D-B356-8A2A-B86B-AB6567CEABE1}"/>
              </a:ext>
            </a:extLst>
          </p:cNvPr>
          <p:cNvSpPr txBox="1"/>
          <p:nvPr/>
        </p:nvSpPr>
        <p:spPr>
          <a:xfrm>
            <a:off x="3336219" y="3156262"/>
            <a:ext cx="419269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 sz="1200" b="1" dirty="0">
                <a:solidFill>
                  <a:srgbClr val="0059FF"/>
                </a:solidFill>
                <a:latin typeface="Roboto"/>
                <a:ea typeface="Roboto"/>
                <a:cs typeface="Roboto"/>
              </a:rPr>
              <a:t>Australian Big 4 Bank – Senior Data Engineer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A774CA-3857-9308-4D38-9414B0CC2B95}"/>
              </a:ext>
            </a:extLst>
          </p:cNvPr>
          <p:cNvSpPr txBox="1"/>
          <p:nvPr/>
        </p:nvSpPr>
        <p:spPr>
          <a:xfrm>
            <a:off x="3335753" y="5698144"/>
            <a:ext cx="4542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b="1" dirty="0">
                <a:solidFill>
                  <a:srgbClr val="ED7D3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Major Australian Logistics Organisation – Senior Data Engineer</a:t>
            </a:r>
          </a:p>
          <a:p>
            <a:endParaRPr lang="en-AU" sz="1200" b="1" dirty="0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  <a:p>
            <a:endParaRPr lang="en-AU" sz="1200" b="1" dirty="0">
              <a:solidFill>
                <a:srgbClr val="ED7D3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7F05F2-DA4C-4F55-A5D0-1887110DF155}"/>
              </a:ext>
            </a:extLst>
          </p:cNvPr>
          <p:cNvCxnSpPr>
            <a:cxnSpLocks/>
          </p:cNvCxnSpPr>
          <p:nvPr/>
        </p:nvCxnSpPr>
        <p:spPr>
          <a:xfrm>
            <a:off x="3455043" y="6001964"/>
            <a:ext cx="0" cy="1604539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513C49A-2DF2-8111-FED4-FC07A8EAD258}"/>
              </a:ext>
            </a:extLst>
          </p:cNvPr>
          <p:cNvSpPr txBox="1"/>
          <p:nvPr/>
        </p:nvSpPr>
        <p:spPr>
          <a:xfrm>
            <a:off x="3500533" y="5921597"/>
            <a:ext cx="4550464" cy="178510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>
            <a:defPPr>
              <a:defRPr lang="en-US"/>
            </a:defPPr>
            <a:lvl1pPr marL="171450" indent="-171450">
              <a:buClr>
                <a:srgbClr val="00AB80"/>
              </a:buClr>
              <a:buFont typeface="Arial" panose="020B0604020202020204" pitchFamily="34" charset="0"/>
              <a:buChar char="•"/>
              <a:defRPr sz="90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r>
              <a:rPr lang="en-AU" sz="1000" dirty="0"/>
              <a:t>Orchestrated the successful implementation of multiple data engineering projects into the production environment, resulting in a 40% reduction in data processing time, enabling real-time analytics capabilities</a:t>
            </a:r>
          </a:p>
          <a:p>
            <a:r>
              <a:rPr lang="en-AU" sz="1000" dirty="0"/>
              <a:t>Filtered, cleansed, de-duplicated, validated, and sought gaps in data by writing complex SQL logic/queries to transform data using Azure services</a:t>
            </a:r>
          </a:p>
          <a:p>
            <a:r>
              <a:rPr lang="en-AU" sz="1000" dirty="0"/>
              <a:t>Created stored procedures based on the transformation logic given in the mapping sheets</a:t>
            </a:r>
          </a:p>
          <a:p>
            <a:r>
              <a:rPr lang="en-AU" sz="1000" dirty="0"/>
              <a:t>Designed and maintained workflows using SSIS packages in Visual Studio</a:t>
            </a:r>
          </a:p>
          <a:p>
            <a:r>
              <a:rPr lang="en-AU" sz="1000" dirty="0"/>
              <a:t>Conducted AWS cost analysis, identified cost-saving opportunities, and implemented optimisations, resulting in a 30% reduction in overall AWS infrastructure costs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AF90DA-A8BA-A38E-D7B5-20B62F60DBA2}"/>
              </a:ext>
            </a:extLst>
          </p:cNvPr>
          <p:cNvSpPr txBox="1"/>
          <p:nvPr/>
        </p:nvSpPr>
        <p:spPr>
          <a:xfrm>
            <a:off x="270450" y="1593954"/>
            <a:ext cx="2836297" cy="3446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1500"/>
              </a:lnSpc>
              <a:defRPr sz="1000" spc="13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Lato" panose="020F0502020204030203" pitchFamily="34" charset="0"/>
              </a:defRPr>
            </a:lvl1pPr>
          </a:lstStyle>
          <a:p>
            <a:r>
              <a:rPr lang="en-AU" dirty="0">
                <a:solidFill>
                  <a:schemeClr val="tx1"/>
                </a:solidFill>
              </a:rPr>
              <a:t>Vishavpreet is a Data Engineer with extensive hands-on experience using cloud technologies over 17 years of IT industry practise. Vishavpreet has worked in top-tier firms across multiple industry verticals including Financial Services, Retail and Logistics.</a:t>
            </a:r>
          </a:p>
          <a:p>
            <a:endParaRPr lang="en-AU" dirty="0">
              <a:solidFill>
                <a:schemeClr val="tx1"/>
              </a:solidFill>
            </a:endParaRPr>
          </a:p>
          <a:p>
            <a:r>
              <a:rPr lang="en-AU" dirty="0">
                <a:solidFill>
                  <a:schemeClr val="tx1"/>
                </a:solidFill>
              </a:rPr>
              <a:t>Vishavpreet is an expert in designing, creating, and updating data pipelines, writing complex SQL scripts to load data, deploying, configuring, and managing AWS resources using Terraform; and working with multi-cloud environments, including Google Cloud, AWS and Azure. </a:t>
            </a:r>
          </a:p>
          <a:p>
            <a:endParaRPr lang="en-AU" dirty="0">
              <a:solidFill>
                <a:schemeClr val="tx1"/>
              </a:solidFill>
            </a:endParaRPr>
          </a:p>
          <a:p>
            <a:r>
              <a:rPr lang="en-AU" dirty="0">
                <a:solidFill>
                  <a:schemeClr val="tx1"/>
                </a:solidFill>
              </a:rPr>
              <a:t>Passionate about data engineering and </a:t>
            </a:r>
            <a:r>
              <a:rPr lang="en-AU" dirty="0" err="1">
                <a:solidFill>
                  <a:schemeClr val="tx1"/>
                </a:solidFill>
              </a:rPr>
              <a:t>DataOps</a:t>
            </a:r>
            <a:r>
              <a:rPr lang="en-AU" dirty="0">
                <a:solidFill>
                  <a:schemeClr val="tx1"/>
                </a:solidFill>
              </a:rPr>
              <a:t>, Vishavpreet consistently delivers high-quality, scalable, and reliable data solutions to delight the customer.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913DE4-461D-CE43-AABC-C4B3D7D22F45}"/>
              </a:ext>
            </a:extLst>
          </p:cNvPr>
          <p:cNvCxnSpPr>
            <a:cxnSpLocks/>
          </p:cNvCxnSpPr>
          <p:nvPr/>
        </p:nvCxnSpPr>
        <p:spPr>
          <a:xfrm>
            <a:off x="3414588" y="1373630"/>
            <a:ext cx="0" cy="1599735"/>
          </a:xfrm>
          <a:prstGeom prst="line">
            <a:avLst/>
          </a:prstGeom>
          <a:ln w="19050">
            <a:solidFill>
              <a:srgbClr val="A935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923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F5EC79307BDF4295C10AC82BCAE190" ma:contentTypeVersion="12" ma:contentTypeDescription="Create a new document." ma:contentTypeScope="" ma:versionID="0f0308aefe13974c65752fd3353aedfb">
  <xsd:schema xmlns:xsd="http://www.w3.org/2001/XMLSchema" xmlns:xs="http://www.w3.org/2001/XMLSchema" xmlns:p="http://schemas.microsoft.com/office/2006/metadata/properties" xmlns:ns2="daf93972-1964-4522-aa34-640805a01c3a" xmlns:ns3="e52cd9e7-35e5-4bd3-9cab-ca6a63c31e52" targetNamespace="http://schemas.microsoft.com/office/2006/metadata/properties" ma:root="true" ma:fieldsID="aba3c788a807feaf6f638ceb175dbe8c" ns2:_="" ns3:_="">
    <xsd:import namespace="daf93972-1964-4522-aa34-640805a01c3a"/>
    <xsd:import namespace="e52cd9e7-35e5-4bd3-9cab-ca6a63c31e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f93972-1964-4522-aa34-640805a01c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cd9e7-35e5-4bd3-9cab-ca6a63c31e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e52cd9e7-35e5-4bd3-9cab-ca6a63c31e52">
      <UserInfo>
        <DisplayName>Darcy Roach</DisplayName>
        <AccountId>14</AccountId>
        <AccountType/>
      </UserInfo>
      <UserInfo>
        <DisplayName>Joel Collins</DisplayName>
        <AccountId>13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BBC6410C-B420-4127-9D32-DC600766FC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2917E55-0AB0-445E-ACE0-D489D95178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f93972-1964-4522-aa34-640805a01c3a"/>
    <ds:schemaRef ds:uri="e52cd9e7-35e5-4bd3-9cab-ca6a63c31e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D78DE8-CA0B-4723-AF37-2B344746F8D2}">
  <ds:schemaRefs>
    <ds:schemaRef ds:uri="e52cd9e7-35e5-4bd3-9cab-ca6a63c31e52"/>
    <ds:schemaRef ds:uri="http://schemas.microsoft.com/office/2006/documentManagement/types"/>
    <ds:schemaRef ds:uri="http://purl.org/dc/terms/"/>
    <ds:schemaRef ds:uri="http://purl.org/dc/dcmitype/"/>
    <ds:schemaRef ds:uri="daf93972-1964-4522-aa34-640805a01c3a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21296</TotalTime>
  <Words>585</Words>
  <Application>Microsoft Office PowerPoint</Application>
  <PresentationFormat>Custom</PresentationFormat>
  <Paragraphs>81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Libre Caslon Text</vt:lpstr>
      <vt:lpstr>Roboto</vt:lpstr>
      <vt:lpstr>Roboto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Johanna Jovel Hernández</dc:creator>
  <cp:lastModifiedBy>Darcy Roach</cp:lastModifiedBy>
  <cp:revision>122</cp:revision>
  <dcterms:created xsi:type="dcterms:W3CDTF">2019-12-03T01:50:37Z</dcterms:created>
  <dcterms:modified xsi:type="dcterms:W3CDTF">2025-04-02T23:20:37Z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0x01010081F5EC79307BDF4295C10AC82BCAE190</vt:lpwstr>
  </property>
</Properties>
</file>