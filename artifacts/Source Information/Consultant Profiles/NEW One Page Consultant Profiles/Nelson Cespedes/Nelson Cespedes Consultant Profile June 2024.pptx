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5B2FF-3E60-C5B6-0CF3-9536F1312224}" v="118" dt="2024-07-05T03:28:27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67E051C8-3B52-47B1-A80E-F5F8CD72F831}"/>
    <pc:docChg chg="custSel modSld">
      <pc:chgData name="Darcy Roach" userId="ba676ee9-e9b4-49e8-a515-8077106c948d" providerId="ADAL" clId="{67E051C8-3B52-47B1-A80E-F5F8CD72F831}" dt="2024-07-05T01:40:42.468" v="4" actId="20577"/>
      <pc:docMkLst>
        <pc:docMk/>
      </pc:docMkLst>
      <pc:sldChg chg="delSp modSp mod">
        <pc:chgData name="Darcy Roach" userId="ba676ee9-e9b4-49e8-a515-8077106c948d" providerId="ADAL" clId="{67E051C8-3B52-47B1-A80E-F5F8CD72F831}" dt="2024-07-05T01:40:42.468" v="4" actId="20577"/>
        <pc:sldMkLst>
          <pc:docMk/>
          <pc:sldMk cId="2009923557" sldId="270"/>
        </pc:sldMkLst>
        <pc:spChg chg="mod">
          <ac:chgData name="Darcy Roach" userId="ba676ee9-e9b4-49e8-a515-8077106c948d" providerId="ADAL" clId="{67E051C8-3B52-47B1-A80E-F5F8CD72F831}" dt="2024-07-05T01:40:38.586" v="2" actId="20577"/>
          <ac:spMkLst>
            <pc:docMk/>
            <pc:sldMk cId="2009923557" sldId="270"/>
            <ac:spMk id="16" creationId="{E706EA7F-168A-B242-C0E2-0E1A0F996B98}"/>
          </ac:spMkLst>
        </pc:spChg>
        <pc:spChg chg="del">
          <ac:chgData name="Darcy Roach" userId="ba676ee9-e9b4-49e8-a515-8077106c948d" providerId="ADAL" clId="{67E051C8-3B52-47B1-A80E-F5F8CD72F831}" dt="2024-07-05T01:40:35.434" v="0" actId="478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67E051C8-3B52-47B1-A80E-F5F8CD72F831}" dt="2024-07-05T01:40:42.468" v="4" actId="20577"/>
          <ac:spMkLst>
            <pc:docMk/>
            <pc:sldMk cId="2009923557" sldId="270"/>
            <ac:spMk id="24" creationId="{82130EF0-3F6B-1D7D-1E0B-AFC62F8D5AE7}"/>
          </ac:spMkLst>
        </pc:spChg>
        <pc:grpChg chg="del">
          <ac:chgData name="Darcy Roach" userId="ba676ee9-e9b4-49e8-a515-8077106c948d" providerId="ADAL" clId="{67E051C8-3B52-47B1-A80E-F5F8CD72F831}" dt="2024-07-05T01:40:35.434" v="0" actId="478"/>
          <ac:grpSpMkLst>
            <pc:docMk/>
            <pc:sldMk cId="2009923557" sldId="270"/>
            <ac:grpSpMk id="18" creationId="{E0B3FDFC-4A78-346F-E1D4-E183BEB90A60}"/>
          </ac:grpSpMkLst>
        </pc:grpChg>
      </pc:sldChg>
    </pc:docChg>
  </pc:docChgLst>
  <pc:docChgLst>
    <pc:chgData name="Nelson Cespedes" userId="S::nelson.cespedes@intelia.com.au::e4f28a67-888c-49e8-bfbe-485471f57437" providerId="AD" clId="Web-{0195B2FF-3E60-C5B6-0CF3-9536F1312224}"/>
    <pc:docChg chg="modSld">
      <pc:chgData name="Nelson Cespedes" userId="S::nelson.cespedes@intelia.com.au::e4f28a67-888c-49e8-bfbe-485471f57437" providerId="AD" clId="Web-{0195B2FF-3E60-C5B6-0CF3-9536F1312224}" dt="2024-07-05T03:28:27.967" v="74" actId="20577"/>
      <pc:docMkLst>
        <pc:docMk/>
      </pc:docMkLst>
      <pc:sldChg chg="modSp">
        <pc:chgData name="Nelson Cespedes" userId="S::nelson.cespedes@intelia.com.au::e4f28a67-888c-49e8-bfbe-485471f57437" providerId="AD" clId="Web-{0195B2FF-3E60-C5B6-0CF3-9536F1312224}" dt="2024-07-05T03:28:27.967" v="74" actId="20577"/>
        <pc:sldMkLst>
          <pc:docMk/>
          <pc:sldMk cId="2009923557" sldId="270"/>
        </pc:sldMkLst>
        <pc:spChg chg="mod">
          <ac:chgData name="Nelson Cespedes" userId="S::nelson.cespedes@intelia.com.au::e4f28a67-888c-49e8-bfbe-485471f57437" providerId="AD" clId="Web-{0195B2FF-3E60-C5B6-0CF3-9536F1312224}" dt="2024-07-05T03:17:57.186" v="2" actId="14100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19:27.032" v="21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19:58.048" v="24" actId="20577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18:54.437" v="16" actId="20577"/>
          <ac:spMkLst>
            <pc:docMk/>
            <pc:sldMk cId="2009923557" sldId="270"/>
            <ac:spMk id="16" creationId="{E706EA7F-168A-B242-C0E2-0E1A0F996B98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18:23.358" v="4" actId="20577"/>
          <ac:spMkLst>
            <pc:docMk/>
            <pc:sldMk cId="2009923557" sldId="270"/>
            <ac:spMk id="24" creationId="{82130EF0-3F6B-1D7D-1E0B-AFC62F8D5AE7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28:27.967" v="74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19:08" v="19" actId="107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27:50.263" v="65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Nelson Cespedes" userId="S::nelson.cespedes@intelia.com.au::e4f28a67-888c-49e8-bfbe-485471f57437" providerId="AD" clId="Web-{0195B2FF-3E60-C5B6-0CF3-9536F1312224}" dt="2024-07-05T03:20:04.064" v="28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Nelson Cespedes" userId="S::nelson.cespedes@intelia.com.au::e4f28a67-888c-49e8-bfbe-485471f57437" providerId="AD" clId="Web-{0195B2FF-3E60-C5B6-0CF3-9536F1312224}" dt="2024-07-05T03:19:03.968" v="18" actId="1076"/>
          <ac:grpSpMkLst>
            <pc:docMk/>
            <pc:sldMk cId="2009923557" sldId="270"/>
            <ac:grpSpMk id="36" creationId="{ECD76A53-4ECC-3689-CDC6-29BDE86EA319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Nelson Cespedes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34576" y="1560956"/>
            <a:ext cx="2751441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b="0" i="0">
                <a:solidFill>
                  <a:srgbClr val="37415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Nelson is an accomplished Full-Stack Developer, API Integration, and Software Engineer with over a decade of experience in Software Development and IT. He excels in dynamic development environments, specializing in application design, user experience, development, testing, deployment, and technical support.</a:t>
            </a:r>
          </a:p>
          <a:p>
            <a:pPr>
              <a:lnSpc>
                <a:spcPts val="1500"/>
              </a:lnSpc>
            </a:pPr>
            <a:endParaRPr lang="en-AU" sz="1000" b="0" i="0">
              <a:solidFill>
                <a:srgbClr val="37415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ts val="1500"/>
              </a:lnSpc>
            </a:pPr>
            <a:r>
              <a:rPr lang="en-AU" sz="1000" b="0" i="0">
                <a:solidFill>
                  <a:srgbClr val="37415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Nelson is highly skilled in both front-end and back-end development, driven by his commitment to excellence, which is reflected in his focus on improving application performance and reducing maintenance times. His expertise spans a wide range of technologies, including Web APIs, ReactJS/Redux, Angular (4+), JavaScript, TypeScript, PHP, Symfony, Doctrine, NodeJS, .NET Core, Razor, HTML, CSS, Python, and mobile development platforms like React Native and Flutter.</a:t>
            </a:r>
            <a:endParaRPr lang="en-AU" sz="1000" spc="13">
              <a:latin typeface="Roboto" panose="02000000000000000000" pitchFamily="2" charset="0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16982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Microsoft SQL Server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SQLite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MySQL, T-SQL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Doctrine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Entity Framework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Microsoft IIS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Apache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Prisma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MongoDB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Firebase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64735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48397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Business Productivity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Logistics</a:t>
            </a:r>
            <a:endParaRPr lang="en-GB">
              <a:latin typeface="Roboto Light"/>
              <a:ea typeface="Roboto Light"/>
              <a:cs typeface="Roboto Ligh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Digital Marketing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12186" y="3180179"/>
            <a:ext cx="2037861" cy="2308324"/>
            <a:chOff x="8112186" y="2681447"/>
            <a:chExt cx="2037861" cy="230832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12186" y="2681447"/>
              <a:ext cx="2037861" cy="230832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/>
                  <a:ea typeface="Calibri" panose="020F0502020204030204" pitchFamily="34" charset="0"/>
                  <a:cs typeface="Roboto Light"/>
                </a:rPr>
                <a:t>Google Professional Data 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/>
                <a:ea typeface="Calibri" panose="020F0502020204030204" pitchFamily="34" charset="0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/>
                  <a:ea typeface="Calibri" panose="020F0502020204030204" pitchFamily="34" charset="0"/>
                  <a:cs typeface="Roboto Light"/>
                </a:rPr>
                <a:t>Master – Information </a:t>
              </a:r>
              <a:r>
                <a:rPr lang="en-GB" sz="1200">
                  <a:solidFill>
                    <a:srgbClr val="00AB80"/>
                  </a:solidFill>
                  <a:effectLst/>
                  <a:latin typeface="Roboto Light"/>
                  <a:ea typeface="Calibri" panose="020F0502020204030204" pitchFamily="34" charset="0"/>
                  <a:cs typeface="Roboto Light"/>
                </a:rPr>
                <a:t>Technology, </a:t>
              </a:r>
              <a:r>
                <a:rPr lang="en-GB" sz="1200">
                  <a:solidFill>
                    <a:srgbClr val="00AB80"/>
                  </a:solidFill>
                  <a:latin typeface="Roboto Light"/>
                  <a:ea typeface="Calibri" panose="020F0502020204030204" pitchFamily="34" charset="0"/>
                  <a:cs typeface="Roboto Light"/>
                </a:rPr>
                <a:t>CQ University</a:t>
              </a:r>
              <a:endParaRPr lang="en-GB">
                <a:latin typeface="Roboto Light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Computer Science, </a:t>
              </a: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Universidad Nueva Esparta, Venezuela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78806E-1CBF-E446-85F3-B79967965794}"/>
              </a:ext>
            </a:extLst>
          </p:cNvPr>
          <p:cNvGrpSpPr/>
          <p:nvPr/>
        </p:nvGrpSpPr>
        <p:grpSpPr>
          <a:xfrm>
            <a:off x="3344622" y="5385432"/>
            <a:ext cx="4674744" cy="2043189"/>
            <a:chOff x="3344622" y="5118231"/>
            <a:chExt cx="4674744" cy="204318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130EF0-3F6B-1D7D-1E0B-AFC62F8D5AE7}"/>
                </a:ext>
              </a:extLst>
            </p:cNvPr>
            <p:cNvSpPr txBox="1"/>
            <p:nvPr/>
          </p:nvSpPr>
          <p:spPr>
            <a:xfrm>
              <a:off x="3470293" y="5222428"/>
              <a:ext cx="4549073" cy="1938992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AU" sz="1000">
                <a:solidFill>
                  <a:schemeClr val="bg1"/>
                </a:solidFill>
              </a:endParaRP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Compiled and analysed data from internal custom web solutions, informing data-driven decision-making.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Implemented industry best practices to identify architectural improvements, enhancing code quality and maintainability.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Developed robust REST APIs using PHP and Laravel for custom web applications, ensuring a solid back-end foundation.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Led the development of efficient ReactJS-based front-end solutions, improving business process efficiency by 30%.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Conducted code refactoring for clearer documentation and enhanced performance in specific business processes, promoting maintainability.</a:t>
              </a:r>
            </a:p>
            <a:p>
              <a:endParaRPr lang="en-AU" sz="1000">
                <a:solidFill>
                  <a:schemeClr val="bg1"/>
                </a:solidFill>
                <a:cs typeface="Roboto Light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465E181-1D5D-D878-8A71-F5848AAF858F}"/>
                </a:ext>
              </a:extLst>
            </p:cNvPr>
            <p:cNvGrpSpPr/>
            <p:nvPr/>
          </p:nvGrpSpPr>
          <p:grpSpPr>
            <a:xfrm>
              <a:off x="3344622" y="5118231"/>
              <a:ext cx="4512188" cy="1930060"/>
              <a:chOff x="3318569" y="5074427"/>
              <a:chExt cx="4512188" cy="193006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8144" y="5434788"/>
                <a:ext cx="0" cy="1569699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A774CA-3857-9308-4D38-9414B0CC2B95}"/>
                  </a:ext>
                </a:extLst>
              </p:cNvPr>
              <p:cNvSpPr txBox="1"/>
              <p:nvPr/>
            </p:nvSpPr>
            <p:spPr>
              <a:xfrm>
                <a:off x="3318569" y="5074427"/>
                <a:ext cx="4512188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en-AU" sz="1200" b="1">
                    <a:solidFill>
                      <a:srgbClr val="ED7D31"/>
                    </a:solidFill>
                    <a:latin typeface="Roboto"/>
                    <a:ea typeface="Roboto"/>
                    <a:cs typeface="Roboto"/>
                  </a:rPr>
                  <a:t>Financial Services Organisation -  Full-stack Developer</a:t>
                </a:r>
              </a:p>
              <a:p>
                <a:endParaRPr lang="en-AU" sz="1200" b="1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5" y="5747849"/>
            <a:ext cx="1585609" cy="272382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Web API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Nodejs.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JavaScript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Typescript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jQuery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HTML5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Angular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CSS3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React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.NET Core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ASP.NET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Razor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err="1">
                <a:latin typeface="Roboto Light" panose="02000000000000000000" pitchFamily="2" charset="0"/>
                <a:ea typeface="Roboto Light" panose="02000000000000000000" pitchFamily="2" charset="0"/>
              </a:rPr>
              <a:t>NextJS</a:t>
            </a: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30A7F3-0F86-2788-A8F9-68CC252989F1}"/>
              </a:ext>
            </a:extLst>
          </p:cNvPr>
          <p:cNvGrpSpPr/>
          <p:nvPr/>
        </p:nvGrpSpPr>
        <p:grpSpPr>
          <a:xfrm>
            <a:off x="3321267" y="1096169"/>
            <a:ext cx="4691767" cy="2215718"/>
            <a:chOff x="3321267" y="1028696"/>
            <a:chExt cx="4691767" cy="221571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381125"/>
              <a:ext cx="0" cy="1583610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28696"/>
              <a:ext cx="464319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AU" sz="1200" b="1">
                  <a:solidFill>
                    <a:srgbClr val="0059FF"/>
                  </a:solidFill>
                  <a:latin typeface="Roboto"/>
                  <a:ea typeface="Roboto"/>
                  <a:cs typeface="Roboto"/>
                </a:rPr>
                <a:t>Business Productivity Software  – Full-stack Engineer</a:t>
              </a:r>
            </a:p>
            <a:p>
              <a:endParaRPr lang="en-AU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05422"/>
              <a:ext cx="4549073" cy="1938992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Designed and implemented a visitor management system using Next.js, integrating Microsoft authentication to leverage the Microsoft Graph API for sending emails and Teams messages, enhancing visitor communication</a:t>
              </a:r>
              <a:endParaRPr lang="en-AU" sz="1000">
                <a:solidFill>
                  <a:schemeClr val="bg1"/>
                </a:solidFill>
                <a:cs typeface="Roboto Light"/>
              </a:endParaRP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Implemented Firebase for real-time database management, ensuring reliable visitor tracking and data synchronization.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Created dynamic and reusable Next.js components to enhance the user experience and streamline visitor management workflows.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Worked closely with cross-functional teams to gather requirements and deliver a user-friendly interface for employees and visitors.</a:t>
              </a:r>
            </a:p>
            <a:p>
              <a:r>
                <a:rPr lang="en-AU" sz="1000">
                  <a:solidFill>
                    <a:schemeClr val="bg1"/>
                  </a:solidFill>
                  <a:latin typeface="Roboto Light"/>
                  <a:ea typeface="Roboto Light"/>
                  <a:cs typeface="Roboto Light"/>
                </a:rPr>
                <a:t>Led the creation of a search tool that harnesses the Gemini API to generate unique content based on specified contexts from various data sources.</a:t>
              </a:r>
            </a:p>
            <a:p>
              <a:endParaRPr lang="en-AU" sz="1000">
                <a:solidFill>
                  <a:schemeClr val="bg1"/>
                </a:solidFill>
                <a:cs typeface="Roboto Light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D76A53-4ECC-3689-CDC6-29BDE86EA319}"/>
              </a:ext>
            </a:extLst>
          </p:cNvPr>
          <p:cNvGrpSpPr/>
          <p:nvPr/>
        </p:nvGrpSpPr>
        <p:grpSpPr>
          <a:xfrm>
            <a:off x="3323371" y="3208291"/>
            <a:ext cx="4689663" cy="1996372"/>
            <a:chOff x="3323371" y="2987429"/>
            <a:chExt cx="4689663" cy="199637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706EA7F-168A-B242-C0E2-0E1A0F996B98}"/>
                </a:ext>
              </a:extLst>
            </p:cNvPr>
            <p:cNvSpPr txBox="1"/>
            <p:nvPr/>
          </p:nvSpPr>
          <p:spPr>
            <a:xfrm>
              <a:off x="3463961" y="3198697"/>
              <a:ext cx="4549073" cy="1785104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>
                <a:buFont typeface="Arial"/>
                <a:buChar char="•"/>
              </a:pPr>
              <a:r>
                <a:rPr lang="en-AU" sz="1000">
                  <a:solidFill>
                    <a:schemeClr val="bg1"/>
                  </a:solidFill>
                  <a:latin typeface="Arial"/>
                  <a:ea typeface="Roboto Light"/>
                  <a:cs typeface="Arial"/>
                </a:rPr>
                <a:t>Designed and implemented user-interface features using ReactJS, enhancing application functionality.</a:t>
              </a:r>
              <a:endParaRPr lang="en-US" sz="100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>
                <a:buFont typeface="Arial"/>
              </a:pPr>
              <a:r>
                <a:rPr lang="en-AU" sz="1000">
                  <a:solidFill>
                    <a:schemeClr val="bg1"/>
                  </a:solidFill>
                  <a:latin typeface="Arial"/>
                  <a:ea typeface="Roboto Light"/>
                  <a:cs typeface="Arial"/>
                </a:rPr>
                <a:t>Established best practices and enhanced the core ReactJS application in TypeScript for improved maintainability.</a:t>
              </a:r>
              <a:endParaRPr lang="en-US" sz="100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>
                <a:buFont typeface="Arial"/>
              </a:pPr>
              <a:r>
                <a:rPr lang="en-AU" sz="1000">
                  <a:solidFill>
                    <a:schemeClr val="bg1"/>
                  </a:solidFill>
                  <a:latin typeface="Arial"/>
                  <a:ea typeface="Roboto Light"/>
                  <a:cs typeface="Arial"/>
                </a:rPr>
                <a:t>Created reusable components for efficient state management, optimizing application performance.</a:t>
              </a:r>
              <a:endParaRPr lang="en-US" sz="1000">
                <a:solidFill>
                  <a:schemeClr val="bg1"/>
                </a:solidFill>
                <a:latin typeface="Arial"/>
                <a:ea typeface="Roboto Light"/>
                <a:cs typeface="Arial"/>
              </a:endParaRPr>
            </a:p>
            <a:p>
              <a:pPr>
                <a:buFont typeface="Arial"/>
              </a:pPr>
              <a:r>
                <a:rPr lang="en-AU" sz="1000">
                  <a:solidFill>
                    <a:schemeClr val="bg1"/>
                  </a:solidFill>
                  <a:latin typeface="Arial"/>
                  <a:ea typeface="Roboto Light"/>
                  <a:cs typeface="Arial"/>
                </a:rPr>
                <a:t>Developed cross-application compatible ReactJS components, ensuring consistency in development.</a:t>
              </a:r>
              <a:endParaRPr lang="en-US" sz="1000">
                <a:solidFill>
                  <a:schemeClr val="bg1"/>
                </a:solidFill>
                <a:latin typeface="Arial"/>
                <a:cs typeface="Arial"/>
              </a:endParaRPr>
            </a:p>
            <a:p>
              <a:pPr>
                <a:buFont typeface="Arial"/>
              </a:pPr>
              <a:r>
                <a:rPr lang="en-AU" sz="1000">
                  <a:solidFill>
                    <a:schemeClr val="bg1"/>
                  </a:solidFill>
                  <a:latin typeface="Arial"/>
                  <a:ea typeface="Roboto Light"/>
                  <a:cs typeface="Arial"/>
                </a:rPr>
                <a:t>Collaborated effectively with teams and stakeholders, resolved bugs, and improved application performance through comprehensive unit tests using Jest.</a:t>
              </a:r>
              <a:endParaRPr lang="en-US" sz="1000">
                <a:solidFill>
                  <a:schemeClr val="bg1"/>
                </a:solidFill>
                <a:latin typeface="Arial"/>
                <a:ea typeface="Roboto Light"/>
                <a:cs typeface="Arial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7DD910D-15D0-5CBC-B70B-D2480ECA3DCA}"/>
                </a:ext>
              </a:extLst>
            </p:cNvPr>
            <p:cNvGrpSpPr/>
            <p:nvPr/>
          </p:nvGrpSpPr>
          <p:grpSpPr>
            <a:xfrm>
              <a:off x="3323371" y="2987429"/>
              <a:ext cx="4671139" cy="1947076"/>
              <a:chOff x="3297318" y="6091255"/>
              <a:chExt cx="4671139" cy="1947076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8144" y="6526002"/>
                <a:ext cx="0" cy="1512329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59F888-3BDF-A1C0-65E5-CB6FDD43D97C}"/>
                  </a:ext>
                </a:extLst>
              </p:cNvPr>
              <p:cNvSpPr txBox="1"/>
              <p:nvPr/>
            </p:nvSpPr>
            <p:spPr>
              <a:xfrm>
                <a:off x="3297318" y="6091255"/>
                <a:ext cx="4671139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en-US" sz="1200" b="1">
                    <a:solidFill>
                      <a:srgbClr val="A93584"/>
                    </a:solidFill>
                    <a:latin typeface="Roboto"/>
                    <a:ea typeface="Roboto"/>
                    <a:cs typeface="Roboto"/>
                  </a:rPr>
                  <a:t>Australian Leading Logistics Organisation  – Frontend Engineer</a:t>
                </a:r>
              </a:p>
              <a:p>
                <a:endParaRPr lang="en-US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ED3751-8046-450E-BBF0-0C652FE3CD2B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6D4D54C-B75A-47AE-924C-3E5CDB405C60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1</cp:revision>
  <dcterms:created xsi:type="dcterms:W3CDTF">2019-12-03T01:50:37Z</dcterms:created>
  <dcterms:modified xsi:type="dcterms:W3CDTF">2024-07-05T03:28:37Z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