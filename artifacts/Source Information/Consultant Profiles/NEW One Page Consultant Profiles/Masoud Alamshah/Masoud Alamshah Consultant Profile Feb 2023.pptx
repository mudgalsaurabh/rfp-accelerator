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A93584"/>
    <a:srgbClr val="0F2B3F"/>
    <a:srgbClr val="0059F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9C71F-E54F-4CD6-A4DD-C952118FD345}" v="4" dt="2023-02-08T05:46:52.376"/>
    <p1510:client id="{E6366FAE-8A41-A3A2-07BF-E0127E1E02F4}" v="75" dt="2023-02-08T05:58:50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176" y="-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D599C71F-E54F-4CD6-A4DD-C952118FD345}"/>
    <pc:docChg chg="undo custSel modSld">
      <pc:chgData name="Darcy Roach" userId="ba676ee9-e9b4-49e8-a515-8077106c948d" providerId="ADAL" clId="{D599C71F-E54F-4CD6-A4DD-C952118FD345}" dt="2023-02-08T05:49:09.206" v="1014" actId="14100"/>
      <pc:docMkLst>
        <pc:docMk/>
      </pc:docMkLst>
      <pc:sldChg chg="addSp delSp modSp mod">
        <pc:chgData name="Darcy Roach" userId="ba676ee9-e9b4-49e8-a515-8077106c948d" providerId="ADAL" clId="{D599C71F-E54F-4CD6-A4DD-C952118FD345}" dt="2023-02-08T05:49:09.206" v="1014" actId="14100"/>
        <pc:sldMkLst>
          <pc:docMk/>
          <pc:sldMk cId="2009923557" sldId="270"/>
        </pc:sldMkLst>
        <pc:spChg chg="mod">
          <ac:chgData name="Darcy Roach" userId="ba676ee9-e9b4-49e8-a515-8077106c948d" providerId="ADAL" clId="{D599C71F-E54F-4CD6-A4DD-C952118FD345}" dt="2023-02-08T05:41:37.836" v="927" actId="1076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D599C71F-E54F-4CD6-A4DD-C952118FD345}" dt="2023-02-08T05:36:02.702" v="889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D599C71F-E54F-4CD6-A4DD-C952118FD345}" dt="2023-02-08T05:47:39.566" v="991" actId="1076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D599C71F-E54F-4CD6-A4DD-C952118FD345}" dt="2023-02-08T05:47:39.566" v="991" actId="1076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D599C71F-E54F-4CD6-A4DD-C952118FD345}" dt="2023-02-08T04:45:46.771" v="24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D599C71F-E54F-4CD6-A4DD-C952118FD345}" dt="2023-02-08T05:39:20.451" v="900" actId="1076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D599C71F-E54F-4CD6-A4DD-C952118FD345}" dt="2023-02-08T05:48:50.257" v="1009" actId="1076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D599C71F-E54F-4CD6-A4DD-C952118FD345}" dt="2023-02-08T05:48:50.257" v="1009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D599C71F-E54F-4CD6-A4DD-C952118FD345}" dt="2023-02-08T05:41:37.836" v="927" actId="1076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D599C71F-E54F-4CD6-A4DD-C952118FD345}" dt="2023-02-08T04:53:37.749" v="197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D599C71F-E54F-4CD6-A4DD-C952118FD345}" dt="2023-02-08T05:01:44.481" v="320" actId="1076"/>
          <ac:spMkLst>
            <pc:docMk/>
            <pc:sldMk cId="2009923557" sldId="270"/>
            <ac:spMk id="39" creationId="{3EA81938-6A76-B850-B0E8-A5F905AEBA98}"/>
          </ac:spMkLst>
        </pc:spChg>
        <pc:spChg chg="del mod">
          <ac:chgData name="Darcy Roach" userId="ba676ee9-e9b4-49e8-a515-8077106c948d" providerId="ADAL" clId="{D599C71F-E54F-4CD6-A4DD-C952118FD345}" dt="2023-02-08T05:01:40.544" v="319" actId="21"/>
          <ac:spMkLst>
            <pc:docMk/>
            <pc:sldMk cId="2009923557" sldId="270"/>
            <ac:spMk id="43" creationId="{2F7F9DCD-ABFD-3411-96C4-EDE25D98CDEB}"/>
          </ac:spMkLst>
        </pc:spChg>
        <pc:spChg chg="add mod">
          <ac:chgData name="Darcy Roach" userId="ba676ee9-e9b4-49e8-a515-8077106c948d" providerId="ADAL" clId="{D599C71F-E54F-4CD6-A4DD-C952118FD345}" dt="2023-02-08T05:02:16.633" v="325" actId="20577"/>
          <ac:spMkLst>
            <pc:docMk/>
            <pc:sldMk cId="2009923557" sldId="270"/>
            <ac:spMk id="48" creationId="{2E936835-C132-4204-2E91-FE9D8E6EC671}"/>
          </ac:spMkLst>
        </pc:spChg>
        <pc:spChg chg="add mod">
          <ac:chgData name="Darcy Roach" userId="ba676ee9-e9b4-49e8-a515-8077106c948d" providerId="ADAL" clId="{D599C71F-E54F-4CD6-A4DD-C952118FD345}" dt="2023-02-08T05:48:56.502" v="1013" actId="1036"/>
          <ac:spMkLst>
            <pc:docMk/>
            <pc:sldMk cId="2009923557" sldId="270"/>
            <ac:spMk id="54" creationId="{4F1DF6EC-2D10-1310-483C-35027A70DDA1}"/>
          </ac:spMkLst>
        </pc:spChg>
        <pc:spChg chg="add mod">
          <ac:chgData name="Darcy Roach" userId="ba676ee9-e9b4-49e8-a515-8077106c948d" providerId="ADAL" clId="{D599C71F-E54F-4CD6-A4DD-C952118FD345}" dt="2023-02-08T05:48:56.502" v="1013" actId="1036"/>
          <ac:spMkLst>
            <pc:docMk/>
            <pc:sldMk cId="2009923557" sldId="270"/>
            <ac:spMk id="55" creationId="{20D856C0-6C6C-30D2-8947-79D3F4B5FE07}"/>
          </ac:spMkLst>
        </pc:spChg>
        <pc:grpChg chg="mod">
          <ac:chgData name="Darcy Roach" userId="ba676ee9-e9b4-49e8-a515-8077106c948d" providerId="ADAL" clId="{D599C71F-E54F-4CD6-A4DD-C952118FD345}" dt="2023-02-08T05:01:44.481" v="320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D599C71F-E54F-4CD6-A4DD-C952118FD345}" dt="2023-02-08T05:47:44.212" v="992" actId="1076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D599C71F-E54F-4CD6-A4DD-C952118FD345}" dt="2023-02-08T05:47:39.566" v="991" actId="1076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D599C71F-E54F-4CD6-A4DD-C952118FD345}" dt="2023-02-08T05:41:37.836" v="927" actId="1076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D599C71F-E54F-4CD6-A4DD-C952118FD345}" dt="2023-02-08T05:49:09.206" v="1014" actId="14100"/>
          <ac:cxnSpMkLst>
            <pc:docMk/>
            <pc:sldMk cId="2009923557" sldId="270"/>
            <ac:cxnSpMk id="21" creationId="{B0913DE4-461D-CE43-AABC-C4B3D7D22F45}"/>
          </ac:cxnSpMkLst>
        </pc:cxnChg>
        <pc:cxnChg chg="add mod">
          <ac:chgData name="Darcy Roach" userId="ba676ee9-e9b4-49e8-a515-8077106c948d" providerId="ADAL" clId="{D599C71F-E54F-4CD6-A4DD-C952118FD345}" dt="2023-02-08T05:48:56.502" v="1013" actId="1036"/>
          <ac:cxnSpMkLst>
            <pc:docMk/>
            <pc:sldMk cId="2009923557" sldId="270"/>
            <ac:cxnSpMk id="56" creationId="{C0271841-9AD2-76A9-36A3-77AD3CD1ED17}"/>
          </ac:cxnSpMkLst>
        </pc:cxnChg>
      </pc:sldChg>
    </pc:docChg>
  </pc:docChgLst>
  <pc:docChgLst>
    <pc:chgData name="Jonathan Adams" userId="S::jonathan.adams@intelia.com.au::46cab82c-f106-449b-886b-d644abe3a731" providerId="AD" clId="Web-{E6366FAE-8A41-A3A2-07BF-E0127E1E02F4}"/>
    <pc:docChg chg="modSld">
      <pc:chgData name="Jonathan Adams" userId="S::jonathan.adams@intelia.com.au::46cab82c-f106-449b-886b-d644abe3a731" providerId="AD" clId="Web-{E6366FAE-8A41-A3A2-07BF-E0127E1E02F4}" dt="2023-02-08T05:58:47.782" v="39" actId="20577"/>
      <pc:docMkLst>
        <pc:docMk/>
      </pc:docMkLst>
      <pc:sldChg chg="modSp">
        <pc:chgData name="Jonathan Adams" userId="S::jonathan.adams@intelia.com.au::46cab82c-f106-449b-886b-d644abe3a731" providerId="AD" clId="Web-{E6366FAE-8A41-A3A2-07BF-E0127E1E02F4}" dt="2023-02-08T05:58:47.782" v="39" actId="20577"/>
        <pc:sldMkLst>
          <pc:docMk/>
          <pc:sldMk cId="2009923557" sldId="270"/>
        </pc:sldMkLst>
        <pc:spChg chg="mod">
          <ac:chgData name="Jonathan Adams" userId="S::jonathan.adams@intelia.com.au::46cab82c-f106-449b-886b-d644abe3a731" providerId="AD" clId="Web-{E6366FAE-8A41-A3A2-07BF-E0127E1E02F4}" dt="2023-02-08T05:58:39.438" v="37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Jonathan Adams" userId="S::jonathan.adams@intelia.com.au::46cab82c-f106-449b-886b-d644abe3a731" providerId="AD" clId="Web-{E6366FAE-8A41-A3A2-07BF-E0127E1E02F4}" dt="2023-02-08T05:57:49.405" v="28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Jonathan Adams" userId="S::jonathan.adams@intelia.com.au::46cab82c-f106-449b-886b-d644abe3a731" providerId="AD" clId="Web-{E6366FAE-8A41-A3A2-07BF-E0127E1E02F4}" dt="2023-02-08T05:58:47.782" v="39" actId="20577"/>
          <ac:spMkLst>
            <pc:docMk/>
            <pc:sldMk cId="2009923557" sldId="270"/>
            <ac:spMk id="19" creationId="{7513C49A-2DF2-8111-FED4-FC07A8EAD2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Masoud Alamshah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634583"/>
            <a:ext cx="2928002" cy="31771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Masoud has over 13 years of rich experience as a technical consultant, and has a wide range of experience in SQL, GCP, specifically Cloud Composer, </a:t>
            </a:r>
            <a:r>
              <a:rPr lang="en-AU" sz="1000" spc="13" dirty="0" err="1">
                <a:latin typeface="Roboto Light"/>
                <a:ea typeface="Roboto Light"/>
                <a:cs typeface="Lato"/>
              </a:rPr>
              <a:t>BigQuery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 and Dataflow. </a:t>
            </a:r>
          </a:p>
          <a:p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A GCP Certified Google Cloud Professional Data Engineer, Masoud has experience across a broad range of industries including Retail, Financial Services, Energy, Government and Education. Masoud has proven expertise in Data Engineering, Data Migration and Solution Design.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>
              <a:lnSpc>
                <a:spcPts val="1500"/>
              </a:lnSpc>
            </a:pPr>
            <a:r>
              <a:rPr lang="en-US" sz="1000" spc="13" dirty="0">
                <a:latin typeface="Roboto Light"/>
                <a:ea typeface="Roboto Light"/>
                <a:cs typeface="Lato"/>
              </a:rPr>
              <a:t>Adaptive, flexible and well versed in managing expectations by motivating teams to focus on a common vision to achieve shared outcomes, Masoud is zealous about developing and implementing improvements in software methodologies and technologies to achieve and deliver value to delight the customer.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93950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Composer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Kubernetes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Pubsub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Hadoop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19232"/>
            <a:ext cx="0" cy="1481287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35484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9287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570292"/>
            <a:ext cx="1951941" cy="2123658"/>
            <a:chOff x="8106458" y="2681447"/>
            <a:chExt cx="1951941" cy="212365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Azure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Azure Data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Science, Computer Software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Azad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 University,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 Iran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698493"/>
            <a:ext cx="1570024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Strategic Planning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System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Big 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Powershell</a:t>
            </a: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26883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Company 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GCP Data Engineer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462567" y="6810190"/>
            <a:ext cx="4560861" cy="1015663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indent="0">
              <a:buClr>
                <a:srgbClr val="00AB80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Built solution using Pub/Sub to automate ingestion of incorrect declaration data and enabled the business to perform analytics, understand and track potential revenue recovery.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>
                <a:latin typeface="Roboto Light"/>
                <a:ea typeface="Roboto Light"/>
                <a:cs typeface="Roboto Light"/>
              </a:rPr>
              <a:t>Implemented data streaming pipelines using Dataflow, Pub/Sub, </a:t>
            </a:r>
            <a:r>
              <a:rPr lang="en-AU" dirty="0" err="1">
                <a:latin typeface="Roboto Light"/>
                <a:ea typeface="Roboto Light"/>
                <a:cs typeface="Roboto Light"/>
              </a:rPr>
              <a:t>BigQuery</a:t>
            </a:r>
            <a:r>
              <a:rPr lang="en-AU" dirty="0">
                <a:latin typeface="Roboto Light"/>
                <a:ea typeface="Roboto Light"/>
                <a:cs typeface="Roboto Light"/>
              </a:rPr>
              <a:t> and DBT.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28144" y="6886575"/>
            <a:ext cx="0" cy="747487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6555215"/>
            <a:ext cx="478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Government Enterprise Client – Data Engineer</a:t>
            </a:r>
          </a:p>
          <a:p>
            <a:endParaRPr lang="en-AU" sz="12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232965"/>
            <a:ext cx="4533549" cy="1661993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Implementation of pipelines in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VertexAI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using Python and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to process payment files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Implementation of data processing workflows using </a:t>
            </a:r>
            <a:r>
              <a:rPr lang="en-AU" sz="1000" dirty="0" err="1">
                <a:solidFill>
                  <a:schemeClr val="bg1"/>
                </a:solidFill>
              </a:rPr>
              <a:t>DataProc</a:t>
            </a:r>
            <a:r>
              <a:rPr lang="en-AU" sz="1000" dirty="0">
                <a:solidFill>
                  <a:schemeClr val="bg1"/>
                </a:solidFill>
              </a:rPr>
              <a:t> and </a:t>
            </a:r>
            <a:r>
              <a:rPr lang="en-AU" sz="1000" dirty="0" err="1">
                <a:solidFill>
                  <a:schemeClr val="bg1"/>
                </a:solidFill>
              </a:rPr>
              <a:t>BigQuery</a:t>
            </a:r>
            <a:endParaRPr lang="en-AU" sz="10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Implementation of automated jobs using Cloud Composer and </a:t>
            </a:r>
            <a:r>
              <a:rPr lang="en-AU" sz="1000" dirty="0" err="1">
                <a:solidFill>
                  <a:schemeClr val="bg1"/>
                </a:solidFill>
              </a:rPr>
              <a:t>DataProc</a:t>
            </a:r>
            <a:endParaRPr lang="en-AU" sz="10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Design and implementation of test cases using Vertex AI</a:t>
            </a:r>
          </a:p>
          <a:p>
            <a:r>
              <a:rPr lang="en-AU" sz="1000" dirty="0">
                <a:solidFill>
                  <a:schemeClr val="bg1"/>
                </a:solidFill>
              </a:rPr>
              <a:t>Execution of test cases and test scenarios using Vertex AI</a:t>
            </a: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Performance tuning of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views and scripts</a:t>
            </a:r>
          </a:p>
          <a:p>
            <a:r>
              <a:rPr lang="en-AU" sz="1000" dirty="0">
                <a:solidFill>
                  <a:schemeClr val="bg1"/>
                </a:solidFill>
              </a:rPr>
              <a:t>Implementation of payment validation clauses using </a:t>
            </a:r>
            <a:r>
              <a:rPr lang="en-AU" sz="1000" dirty="0" err="1">
                <a:solidFill>
                  <a:schemeClr val="bg1"/>
                </a:solidFill>
              </a:rPr>
              <a:t>PySpark</a:t>
            </a:r>
            <a:endParaRPr lang="en-AU" sz="10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Building payment health check report using Tableau and </a:t>
            </a:r>
            <a:r>
              <a:rPr lang="en-AU" sz="1000" dirty="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endParaRPr lang="en-AU" sz="1000" dirty="0" err="1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3" y="2897373"/>
            <a:ext cx="5029198" cy="2017136"/>
            <a:chOff x="3335753" y="2997642"/>
            <a:chExt cx="5029198" cy="201713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336592"/>
              <a:ext cx="0" cy="142906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299764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Large Australian Energy Operator – Data Engineer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6" y="3198896"/>
              <a:ext cx="4423172" cy="181588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r>
                <a:rPr lang="en-AU" sz="1000" dirty="0"/>
                <a:t>Implementation of Databricks jobs using Python, Scala and SQL syntax.</a:t>
              </a:r>
            </a:p>
            <a:p>
              <a:r>
                <a:rPr lang="en-AU" sz="1000" dirty="0"/>
                <a:t>Implementation of JAMS scheduled job using Shell script.</a:t>
              </a:r>
            </a:p>
            <a:p>
              <a:r>
                <a:rPr lang="en-AU" sz="1000" dirty="0"/>
                <a:t>Implementation of Talend ETLs.</a:t>
              </a:r>
            </a:p>
            <a:p>
              <a:r>
                <a:rPr lang="en-AU" sz="1000" dirty="0"/>
                <a:t>Execution of test cases and test scenarios.</a:t>
              </a:r>
            </a:p>
            <a:p>
              <a:r>
                <a:rPr lang="en-AU" sz="1000" dirty="0"/>
                <a:t>Documentation of release notes.</a:t>
              </a:r>
            </a:p>
            <a:p>
              <a:r>
                <a:rPr lang="en-AU" sz="1000" dirty="0"/>
                <a:t>Documentation of test results.</a:t>
              </a:r>
            </a:p>
            <a:p>
              <a:r>
                <a:rPr lang="en-AU" sz="1000" dirty="0"/>
                <a:t>Documentation of release plans.</a:t>
              </a:r>
            </a:p>
            <a:p>
              <a:r>
                <a:rPr lang="en-AU" sz="1000" dirty="0"/>
                <a:t>Deployment of Databricks, Talend, Hive and SQL DW codes.</a:t>
              </a:r>
            </a:p>
            <a:p>
              <a:r>
                <a:rPr lang="en-AU" sz="1000" dirty="0"/>
                <a:t>Implementation of SQL DW external tables using </a:t>
              </a:r>
              <a:r>
                <a:rPr lang="en-AU" sz="1000" dirty="0" err="1"/>
                <a:t>Polybase</a:t>
              </a:r>
              <a:r>
                <a:rPr lang="en-AU" sz="1000" dirty="0"/>
                <a:t> technology.</a:t>
              </a:r>
            </a:p>
            <a:p>
              <a:r>
                <a:rPr lang="en-AU" sz="1000" dirty="0"/>
                <a:t>Implementation of SQL server and Oracle scripts.</a:t>
              </a:r>
            </a:p>
            <a:p>
              <a:endParaRPr lang="en-AU" sz="10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36835-C132-4204-2E91-FE9D8E6EC671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1DF6EC-2D10-1310-483C-35027A70DDA1}"/>
              </a:ext>
            </a:extLst>
          </p:cNvPr>
          <p:cNvSpPr txBox="1"/>
          <p:nvPr/>
        </p:nvSpPr>
        <p:spPr>
          <a:xfrm>
            <a:off x="3469640" y="4994041"/>
            <a:ext cx="4435479" cy="147732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GB" dirty="0"/>
              <a:t>Designed and implemented new data warehouse with multi-dimensional design using MS SQL Server.</a:t>
            </a:r>
            <a:endParaRPr lang="en-AU" dirty="0"/>
          </a:p>
          <a:p>
            <a:r>
              <a:rPr lang="en-GB" dirty="0"/>
              <a:t>Designed and develop ETLs to transfer data from production to the DW, using SSIS and T-SQL scripts.</a:t>
            </a:r>
            <a:endParaRPr lang="en-AU" dirty="0"/>
          </a:p>
          <a:p>
            <a:r>
              <a:rPr lang="en-GB" dirty="0"/>
              <a:t>Designed and implemented reports using SSRS utilizing data warehouse cubes </a:t>
            </a:r>
            <a:endParaRPr lang="en-AU" dirty="0"/>
          </a:p>
          <a:p>
            <a:r>
              <a:rPr lang="en-GB" dirty="0"/>
              <a:t>Tuned query speeds using various techniques such as indexing, statistics and indexed views and T-SQL.</a:t>
            </a:r>
            <a:endParaRPr lang="en-AU" dirty="0"/>
          </a:p>
          <a:p>
            <a:r>
              <a:rPr lang="en-GB" dirty="0"/>
              <a:t>Performed quality testing and assurance on data warehouse.</a:t>
            </a:r>
            <a:endParaRPr lang="en-A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D856C0-6C6C-30D2-8947-79D3F4B5FE07}"/>
              </a:ext>
            </a:extLst>
          </p:cNvPr>
          <p:cNvSpPr txBox="1"/>
          <p:nvPr/>
        </p:nvSpPr>
        <p:spPr>
          <a:xfrm>
            <a:off x="3335752" y="4765149"/>
            <a:ext cx="478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Large Australian Energy Operator – Data Engineer</a:t>
            </a: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271841-9AD2-76A9-36A3-77AD3CD1ED17}"/>
              </a:ext>
            </a:extLst>
          </p:cNvPr>
          <p:cNvCxnSpPr>
            <a:cxnSpLocks/>
          </p:cNvCxnSpPr>
          <p:nvPr/>
        </p:nvCxnSpPr>
        <p:spPr>
          <a:xfrm>
            <a:off x="3430684" y="5040113"/>
            <a:ext cx="0" cy="1448477"/>
          </a:xfrm>
          <a:prstGeom prst="line">
            <a:avLst/>
          </a:prstGeom>
          <a:ln w="19050">
            <a:solidFill>
              <a:srgbClr val="A935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9DDFC6-124A-4859-BB62-4C7039BA48C0}">
  <ds:schemaRefs>
    <ds:schemaRef ds:uri="http://schemas.microsoft.com/office/2006/metadata/properties"/>
    <ds:schemaRef ds:uri="http://purl.org/dc/dcmitype/"/>
    <ds:schemaRef ds:uri="daf93972-1964-4522-aa34-640805a01c3a"/>
    <ds:schemaRef ds:uri="http://schemas.microsoft.com/office/2006/documentManagement/types"/>
    <ds:schemaRef ds:uri="http://purl.org/dc/terms/"/>
    <ds:schemaRef ds:uri="http://schemas.microsoft.com/office/infopath/2007/PartnerControls"/>
    <ds:schemaRef ds:uri="e52cd9e7-35e5-4bd3-9cab-ca6a63c31e52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8A42DD3-3CFF-4CE7-838D-122AC46E945F}"/>
</file>

<file path=customXml/itemProps3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2478</TotalTime>
  <Words>512</Words>
  <Application>Microsoft Office PowerPoint</Application>
  <PresentationFormat>Custom</PresentationFormat>
  <Paragraphs>85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26</cp:revision>
  <dcterms:created xsi:type="dcterms:W3CDTF">2019-12-03T01:50:37Z</dcterms:created>
  <dcterms:modified xsi:type="dcterms:W3CDTF">2023-02-08T05:58:50Z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