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BC3776-A293-48BF-98E3-56D608D9EE3A}" v="1" dt="2023-03-29T03:55:56.763"/>
    <p1510:client id="{C28E2D32-2D33-433D-B0FD-2E6F587EBAD6}" v="10" dt="2023-09-24T02:04:11.8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101" d="100"/>
          <a:sy n="101" d="100"/>
        </p:scale>
        <p:origin x="1686"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17BC3776-A293-48BF-98E3-56D608D9EE3A}"/>
    <pc:docChg chg="undo custSel modSld">
      <pc:chgData name="Darcy Roach" userId="ba676ee9-e9b4-49e8-a515-8077106c948d" providerId="ADAL" clId="{17BC3776-A293-48BF-98E3-56D608D9EE3A}" dt="2023-03-29T06:44:08.561" v="803" actId="33524"/>
      <pc:docMkLst>
        <pc:docMk/>
      </pc:docMkLst>
      <pc:sldChg chg="addSp delSp modSp mod">
        <pc:chgData name="Darcy Roach" userId="ba676ee9-e9b4-49e8-a515-8077106c948d" providerId="ADAL" clId="{17BC3776-A293-48BF-98E3-56D608D9EE3A}" dt="2023-03-29T06:44:08.561" v="803" actId="33524"/>
        <pc:sldMkLst>
          <pc:docMk/>
          <pc:sldMk cId="2009923557" sldId="270"/>
        </pc:sldMkLst>
        <pc:spChg chg="mod">
          <ac:chgData name="Darcy Roach" userId="ba676ee9-e9b4-49e8-a515-8077106c948d" providerId="ADAL" clId="{17BC3776-A293-48BF-98E3-56D608D9EE3A}" dt="2023-03-29T03:49:29.291" v="199" actId="20577"/>
          <ac:spMkLst>
            <pc:docMk/>
            <pc:sldMk cId="2009923557" sldId="270"/>
            <ac:spMk id="2" creationId="{2FA774CA-3857-9308-4D38-9414B0CC2B95}"/>
          </ac:spMkLst>
        </pc:spChg>
        <pc:spChg chg="mod">
          <ac:chgData name="Darcy Roach" userId="ba676ee9-e9b4-49e8-a515-8077106c948d" providerId="ADAL" clId="{17BC3776-A293-48BF-98E3-56D608D9EE3A}" dt="2023-03-29T06:04:34.931" v="802" actId="20577"/>
          <ac:spMkLst>
            <pc:docMk/>
            <pc:sldMk cId="2009923557" sldId="270"/>
            <ac:spMk id="4" creationId="{80F49B2F-21D4-F9EB-049F-717A10CB7D84}"/>
          </ac:spMkLst>
        </pc:spChg>
        <pc:spChg chg="mod">
          <ac:chgData name="Darcy Roach" userId="ba676ee9-e9b4-49e8-a515-8077106c948d" providerId="ADAL" clId="{17BC3776-A293-48BF-98E3-56D608D9EE3A}" dt="2023-03-29T03:44:56.899" v="148" actId="1076"/>
          <ac:spMkLst>
            <pc:docMk/>
            <pc:sldMk cId="2009923557" sldId="270"/>
            <ac:spMk id="6" creationId="{701E125D-B356-8A2A-B86B-AB6567CEABE1}"/>
          </ac:spMkLst>
        </pc:spChg>
        <pc:spChg chg="del">
          <ac:chgData name="Darcy Roach" userId="ba676ee9-e9b4-49e8-a515-8077106c948d" providerId="ADAL" clId="{17BC3776-A293-48BF-98E3-56D608D9EE3A}" dt="2023-03-29T05:42:21.359" v="459" actId="478"/>
          <ac:spMkLst>
            <pc:docMk/>
            <pc:sldMk cId="2009923557" sldId="270"/>
            <ac:spMk id="8" creationId="{0A3A5E2E-C4A2-A7E8-2ACE-9DD127DC06B0}"/>
          </ac:spMkLst>
        </pc:spChg>
        <pc:spChg chg="mod">
          <ac:chgData name="Darcy Roach" userId="ba676ee9-e9b4-49e8-a515-8077106c948d" providerId="ADAL" clId="{17BC3776-A293-48BF-98E3-56D608D9EE3A}" dt="2023-03-29T03:51:18.306" v="232" actId="1076"/>
          <ac:spMkLst>
            <pc:docMk/>
            <pc:sldMk cId="2009923557" sldId="270"/>
            <ac:spMk id="12" creationId="{70DE989F-A988-8C86-5720-1FE5B119EB30}"/>
          </ac:spMkLst>
        </pc:spChg>
        <pc:spChg chg="mod">
          <ac:chgData name="Darcy Roach" userId="ba676ee9-e9b4-49e8-a515-8077106c948d" providerId="ADAL" clId="{17BC3776-A293-48BF-98E3-56D608D9EE3A}" dt="2023-03-29T05:42:08.118" v="458" actId="14100"/>
          <ac:spMkLst>
            <pc:docMk/>
            <pc:sldMk cId="2009923557" sldId="270"/>
            <ac:spMk id="17" creationId="{1BDE5051-9F34-F139-742D-4450E5D6591E}"/>
          </ac:spMkLst>
        </pc:spChg>
        <pc:spChg chg="mod">
          <ac:chgData name="Darcy Roach" userId="ba676ee9-e9b4-49e8-a515-8077106c948d" providerId="ADAL" clId="{17BC3776-A293-48BF-98E3-56D608D9EE3A}" dt="2023-03-29T03:55:56.763" v="328" actId="164"/>
          <ac:spMkLst>
            <pc:docMk/>
            <pc:sldMk cId="2009923557" sldId="270"/>
            <ac:spMk id="19" creationId="{7513C49A-2DF2-8111-FED4-FC07A8EAD258}"/>
          </ac:spMkLst>
        </pc:spChg>
        <pc:spChg chg="mod">
          <ac:chgData name="Darcy Roach" userId="ba676ee9-e9b4-49e8-a515-8077106c948d" providerId="ADAL" clId="{17BC3776-A293-48BF-98E3-56D608D9EE3A}" dt="2023-03-29T05:44:07.258" v="489" actId="20577"/>
          <ac:spMkLst>
            <pc:docMk/>
            <pc:sldMk cId="2009923557" sldId="270"/>
            <ac:spMk id="26" creationId="{1A3D666D-00C8-D106-73C3-9FF300F8618C}"/>
          </ac:spMkLst>
        </pc:spChg>
        <pc:spChg chg="mod">
          <ac:chgData name="Darcy Roach" userId="ba676ee9-e9b4-49e8-a515-8077106c948d" providerId="ADAL" clId="{17BC3776-A293-48BF-98E3-56D608D9EE3A}" dt="2023-03-29T03:56:16.799" v="331" actId="1076"/>
          <ac:spMkLst>
            <pc:docMk/>
            <pc:sldMk cId="2009923557" sldId="270"/>
            <ac:spMk id="28" creationId="{6059F888-3BDF-A1C0-65E5-CB6FDD43D97C}"/>
          </ac:spMkLst>
        </pc:spChg>
        <pc:spChg chg="mod">
          <ac:chgData name="Darcy Roach" userId="ba676ee9-e9b4-49e8-a515-8077106c948d" providerId="ADAL" clId="{17BC3776-A293-48BF-98E3-56D608D9EE3A}" dt="2023-03-29T06:44:08.561" v="803" actId="33524"/>
          <ac:spMkLst>
            <pc:docMk/>
            <pc:sldMk cId="2009923557" sldId="270"/>
            <ac:spMk id="31" creationId="{5D644C1D-FE62-9752-27C7-42A94F729A86}"/>
          </ac:spMkLst>
        </pc:spChg>
        <pc:spChg chg="mod">
          <ac:chgData name="Darcy Roach" userId="ba676ee9-e9b4-49e8-a515-8077106c948d" providerId="ADAL" clId="{17BC3776-A293-48BF-98E3-56D608D9EE3A}" dt="2023-03-29T06:01:37.635" v="744" actId="20577"/>
          <ac:spMkLst>
            <pc:docMk/>
            <pc:sldMk cId="2009923557" sldId="270"/>
            <ac:spMk id="38" creationId="{AB47A2EE-BF0B-DB05-8B7C-DB6594B2B3D5}"/>
          </ac:spMkLst>
        </pc:spChg>
        <pc:spChg chg="mod">
          <ac:chgData name="Darcy Roach" userId="ba676ee9-e9b4-49e8-a515-8077106c948d" providerId="ADAL" clId="{17BC3776-A293-48BF-98E3-56D608D9EE3A}" dt="2023-03-29T05:49:21.466" v="639" actId="1076"/>
          <ac:spMkLst>
            <pc:docMk/>
            <pc:sldMk cId="2009923557" sldId="270"/>
            <ac:spMk id="39" creationId="{3EA81938-6A76-B850-B0E8-A5F905AEBA98}"/>
          </ac:spMkLst>
        </pc:spChg>
        <pc:spChg chg="mod">
          <ac:chgData name="Darcy Roach" userId="ba676ee9-e9b4-49e8-a515-8077106c948d" providerId="ADAL" clId="{17BC3776-A293-48BF-98E3-56D608D9EE3A}" dt="2023-03-29T05:45:29.321" v="510" actId="20577"/>
          <ac:spMkLst>
            <pc:docMk/>
            <pc:sldMk cId="2009923557" sldId="270"/>
            <ac:spMk id="43" creationId="{2F7F9DCD-ABFD-3411-96C4-EDE25D98CDEB}"/>
          </ac:spMkLst>
        </pc:spChg>
        <pc:grpChg chg="mod">
          <ac:chgData name="Darcy Roach" userId="ba676ee9-e9b4-49e8-a515-8077106c948d" providerId="ADAL" clId="{17BC3776-A293-48BF-98E3-56D608D9EE3A}" dt="2023-03-29T05:49:21.466" v="639" actId="1076"/>
          <ac:grpSpMkLst>
            <pc:docMk/>
            <pc:sldMk cId="2009923557" sldId="270"/>
            <ac:grpSpMk id="5" creationId="{980A06B1-0A2F-7DF6-91DB-0F6DFA896A23}"/>
          </ac:grpSpMkLst>
        </pc:grpChg>
        <pc:grpChg chg="add mod">
          <ac:chgData name="Darcy Roach" userId="ba676ee9-e9b4-49e8-a515-8077106c948d" providerId="ADAL" clId="{17BC3776-A293-48BF-98E3-56D608D9EE3A}" dt="2023-03-29T03:56:00.258" v="329" actId="1076"/>
          <ac:grpSpMkLst>
            <pc:docMk/>
            <pc:sldMk cId="2009923557" sldId="270"/>
            <ac:grpSpMk id="18" creationId="{A89C5C9F-9D07-D503-5C41-180EAD3D5355}"/>
          </ac:grpSpMkLst>
        </pc:grpChg>
        <pc:grpChg chg="mod">
          <ac:chgData name="Darcy Roach" userId="ba676ee9-e9b4-49e8-a515-8077106c948d" providerId="ADAL" clId="{17BC3776-A293-48BF-98E3-56D608D9EE3A}" dt="2023-03-29T03:51:36.584" v="234" actId="1076"/>
          <ac:grpSpMkLst>
            <pc:docMk/>
            <pc:sldMk cId="2009923557" sldId="270"/>
            <ac:grpSpMk id="45" creationId="{7C004A0F-26FD-81BE-0DC7-EDCD01D4194B}"/>
          </ac:grpSpMkLst>
        </pc:grpChg>
        <pc:cxnChg chg="mod">
          <ac:chgData name="Darcy Roach" userId="ba676ee9-e9b4-49e8-a515-8077106c948d" providerId="ADAL" clId="{17BC3776-A293-48BF-98E3-56D608D9EE3A}" dt="2023-03-29T03:51:27.184" v="233" actId="14100"/>
          <ac:cxnSpMkLst>
            <pc:docMk/>
            <pc:sldMk cId="2009923557" sldId="270"/>
            <ac:cxnSpMk id="3" creationId="{67C34E10-2CF8-9BCA-1CC6-D78A3FF9CA80}"/>
          </ac:cxnSpMkLst>
        </pc:cxnChg>
        <pc:cxnChg chg="mod">
          <ac:chgData name="Darcy Roach" userId="ba676ee9-e9b4-49e8-a515-8077106c948d" providerId="ADAL" clId="{17BC3776-A293-48BF-98E3-56D608D9EE3A}" dt="2023-03-29T03:51:08.373" v="231" actId="14100"/>
          <ac:cxnSpMkLst>
            <pc:docMk/>
            <pc:sldMk cId="2009923557" sldId="270"/>
            <ac:cxnSpMk id="15" creationId="{F87F05F2-DA4C-4F55-A5D0-1887110DF155}"/>
          </ac:cxnSpMkLst>
        </pc:cxnChg>
        <pc:cxnChg chg="mod">
          <ac:chgData name="Darcy Roach" userId="ba676ee9-e9b4-49e8-a515-8077106c948d" providerId="ADAL" clId="{17BC3776-A293-48BF-98E3-56D608D9EE3A}" dt="2023-03-29T03:56:06.580" v="330" actId="14100"/>
          <ac:cxnSpMkLst>
            <pc:docMk/>
            <pc:sldMk cId="2009923557" sldId="270"/>
            <ac:cxnSpMk id="21" creationId="{B0913DE4-461D-CE43-AABC-C4B3D7D22F45}"/>
          </ac:cxnSpMkLst>
        </pc:cxnChg>
        <pc:cxnChg chg="mod">
          <ac:chgData name="Darcy Roach" userId="ba676ee9-e9b4-49e8-a515-8077106c948d" providerId="ADAL" clId="{17BC3776-A293-48BF-98E3-56D608D9EE3A}" dt="2023-03-29T06:01:53.861" v="745" actId="14100"/>
          <ac:cxnSpMkLst>
            <pc:docMk/>
            <pc:sldMk cId="2009923557" sldId="270"/>
            <ac:cxnSpMk id="170" creationId="{0D51728F-48BB-14BB-256E-5F0C0284BCDF}"/>
          </ac:cxnSpMkLst>
        </pc:cxnChg>
      </pc:sldChg>
    </pc:docChg>
  </pc:docChgLst>
  <pc:docChgLst>
    <pc:chgData name="Emilio Parente" userId="S::emilio.parente@intelia.com.au::01da3a18-a8c9-4a65-a55b-c6794ec7dcc4" providerId="AD" clId="Web-{C28E2D32-2D33-433D-B0FD-2E6F587EBAD6}"/>
    <pc:docChg chg="modSld">
      <pc:chgData name="Emilio Parente" userId="S::emilio.parente@intelia.com.au::01da3a18-a8c9-4a65-a55b-c6794ec7dcc4" providerId="AD" clId="Web-{C28E2D32-2D33-433D-B0FD-2E6F587EBAD6}" dt="2023-09-24T02:04:11.807" v="4" actId="20577"/>
      <pc:docMkLst>
        <pc:docMk/>
      </pc:docMkLst>
      <pc:sldChg chg="modSp">
        <pc:chgData name="Emilio Parente" userId="S::emilio.parente@intelia.com.au::01da3a18-a8c9-4a65-a55b-c6794ec7dcc4" providerId="AD" clId="Web-{C28E2D32-2D33-433D-B0FD-2E6F587EBAD6}" dt="2023-09-24T02:04:11.807" v="4" actId="20577"/>
        <pc:sldMkLst>
          <pc:docMk/>
          <pc:sldMk cId="2009923557" sldId="270"/>
        </pc:sldMkLst>
        <pc:spChg chg="mod">
          <ac:chgData name="Emilio Parente" userId="S::emilio.parente@intelia.com.au::01da3a18-a8c9-4a65-a55b-c6794ec7dcc4" providerId="AD" clId="Web-{C28E2D32-2D33-433D-B0FD-2E6F587EBAD6}" dt="2023-09-24T02:04:11.807" v="4" actId="20577"/>
          <ac:spMkLst>
            <pc:docMk/>
            <pc:sldMk cId="2009923557" sldId="270"/>
            <ac:spMk id="26" creationId="{1A3D666D-00C8-D106-73C3-9FF300F8618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9/23/2023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Subash </a:t>
            </a:r>
            <a:r>
              <a:rPr lang="en-US" sz="2800" b="1" dirty="0" err="1">
                <a:solidFill>
                  <a:srgbClr val="00AB80"/>
                </a:solidFill>
                <a:latin typeface="Roboto" panose="02000000000000000000" pitchFamily="2" charset="0"/>
                <a:ea typeface="Roboto" panose="02000000000000000000" pitchFamily="2" charset="0"/>
              </a:rPr>
              <a:t>Sundarraj</a:t>
            </a:r>
            <a:endParaRPr lang="en-US" sz="2800" b="1" dirty="0">
              <a:solidFill>
                <a:srgbClr val="00AB80"/>
              </a:solidFill>
              <a:latin typeface="Roboto" panose="02000000000000000000" pitchFamily="2" charset="0"/>
              <a:ea typeface="Roboto" panose="02000000000000000000" pitchFamily="2" charset="0"/>
            </a:endParaRP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87858"/>
            <a:ext cx="2868270" cy="3077766"/>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Subash is a Data Engineer with 9 years of experience in building data intensive,</a:t>
            </a:r>
          </a:p>
          <a:p>
            <a:pPr algn="l"/>
            <a:r>
              <a:rPr lang="en-AU" sz="1000" spc="13" dirty="0">
                <a:latin typeface="Roboto Light"/>
                <a:ea typeface="Roboto Light"/>
                <a:cs typeface="Lato"/>
              </a:rPr>
              <a:t>value driven &amp; robust data solutions with high customer satisfaction.</a:t>
            </a:r>
          </a:p>
          <a:p>
            <a:pPr algn="l"/>
            <a:endParaRPr lang="en-AU" sz="1000" spc="13" dirty="0">
              <a:latin typeface="Roboto Light"/>
              <a:ea typeface="Roboto Light"/>
              <a:cs typeface="Lato"/>
            </a:endParaRPr>
          </a:p>
          <a:p>
            <a:r>
              <a:rPr lang="en-AU" sz="1000" spc="13" dirty="0">
                <a:latin typeface="Roboto Light"/>
                <a:ea typeface="Roboto Light"/>
                <a:cs typeface="Lato"/>
              </a:rPr>
              <a:t>Subash is tech agnostic and holds AWS Cloud Practitioner, Snowflake Snow Pro Core, </a:t>
            </a:r>
            <a:r>
              <a:rPr lang="en-AU" sz="1000" spc="13" dirty="0" err="1">
                <a:latin typeface="Roboto Light"/>
                <a:ea typeface="Roboto Light"/>
                <a:cs typeface="Lato"/>
              </a:rPr>
              <a:t>Fivetran</a:t>
            </a:r>
            <a:r>
              <a:rPr lang="en-AU" sz="1000" spc="13" dirty="0">
                <a:latin typeface="Roboto Light"/>
                <a:ea typeface="Roboto Light"/>
                <a:cs typeface="Lato"/>
              </a:rPr>
              <a:t> Technical and Scrum Master Certifications. Subash delivers true value to business through data as a proven BI expert across a range of domains particularly Retail, Institutional Banking and Insurance. </a:t>
            </a:r>
          </a:p>
          <a:p>
            <a:endParaRPr lang="en-AU" sz="1000" spc="13" dirty="0">
              <a:latin typeface="Roboto Light"/>
              <a:ea typeface="Roboto Light"/>
              <a:cs typeface="Lato"/>
            </a:endParaRPr>
          </a:p>
          <a:p>
            <a:pPr algn="l"/>
            <a:r>
              <a:rPr lang="en-AU" sz="1000" spc="13" dirty="0">
                <a:latin typeface="Roboto Light"/>
                <a:ea typeface="Roboto Light"/>
                <a:cs typeface="Lato"/>
              </a:rPr>
              <a:t>Subash is an exceptionally clever individual with a keen eye for creative solutions, impressive problem-solving abilities, and an astute analytical mindset. His work ethic is admirable and his interpersonal skills and capability to tackle complex software issues. are exemplary. Capability to tackle complex software issues.</a:t>
            </a:r>
            <a:endParaRPr lang="en-US" sz="1000" spc="13" dirty="0">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308324"/>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err="1">
                <a:latin typeface="Roboto Light"/>
                <a:ea typeface="Roboto Light"/>
                <a:cs typeface="Roboto Light"/>
              </a:rPr>
              <a:t>Fivetran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Hadoop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Qlik</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Apache</a:t>
            </a: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57163"/>
            <a:ext cx="0" cy="184027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392039"/>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7382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607483"/>
            <a:ext cx="1951941" cy="4339650"/>
            <a:chOff x="8106458" y="2681447"/>
            <a:chExt cx="1951941" cy="433965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4339650"/>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Amazon Web Services | Certified Cloud Practitioner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Snowflake | Snow Pro Core Certification</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err="1">
                  <a:solidFill>
                    <a:srgbClr val="00AB80"/>
                  </a:solidFill>
                  <a:latin typeface="Roboto Light" panose="02000000000000000000" pitchFamily="2" charset="0"/>
                  <a:ea typeface="Calibri" panose="020F0502020204030204" pitchFamily="34" charset="0"/>
                </a:rPr>
                <a:t>Fivetran</a:t>
              </a:r>
              <a:r>
                <a:rPr lang="en-GB" sz="1200" dirty="0">
                  <a:solidFill>
                    <a:srgbClr val="00AB80"/>
                  </a:solidFill>
                  <a:effectLst/>
                  <a:latin typeface="Roboto Light" panose="02000000000000000000" pitchFamily="2" charset="0"/>
                  <a:ea typeface="Calibri" panose="020F0502020204030204" pitchFamily="34" charset="0"/>
                </a:rPr>
                <a:t> | Technical Certification</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SMC | SCRUM Master Certified</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Masters </a:t>
              </a:r>
              <a:r>
                <a:rPr lang="en-GB" sz="1200" dirty="0">
                  <a:solidFill>
                    <a:srgbClr val="00AB80"/>
                  </a:solidFill>
                  <a:latin typeface="Roboto Light" panose="02000000000000000000" pitchFamily="2" charset="0"/>
                  <a:ea typeface="Calibri" panose="020F0502020204030204" pitchFamily="34" charset="0"/>
                </a:rPr>
                <a:t>– Computer Applications | </a:t>
              </a:r>
              <a:r>
                <a:rPr lang="en-GB" sz="1200" dirty="0" err="1">
                  <a:solidFill>
                    <a:srgbClr val="00AB80"/>
                  </a:solidFill>
                  <a:latin typeface="Roboto Light" panose="02000000000000000000" pitchFamily="2" charset="0"/>
                  <a:ea typeface="Calibri" panose="020F0502020204030204" pitchFamily="34" charset="0"/>
                </a:rPr>
                <a:t>Bharathiyar</a:t>
              </a:r>
              <a:r>
                <a:rPr lang="en-GB" sz="1200" dirty="0">
                  <a:solidFill>
                    <a:srgbClr val="00AB80"/>
                  </a:solidFill>
                  <a:latin typeface="Roboto Light" panose="02000000000000000000" pitchFamily="2" charset="0"/>
                  <a:ea typeface="Calibri" panose="020F0502020204030204" pitchFamily="34" charset="0"/>
                </a:rPr>
                <a:t> University, India</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Science, Computer Science | </a:t>
              </a:r>
              <a:r>
                <a:rPr lang="en-GB" sz="1200" dirty="0" err="1">
                  <a:solidFill>
                    <a:srgbClr val="00AB80"/>
                  </a:solidFill>
                  <a:latin typeface="Roboto Light" panose="02000000000000000000" pitchFamily="2" charset="0"/>
                  <a:ea typeface="Calibri" panose="020F0502020204030204" pitchFamily="34" charset="0"/>
                </a:rPr>
                <a:t>Bharathiyar</a:t>
              </a:r>
              <a:r>
                <a:rPr lang="en-GB" sz="1200" dirty="0">
                  <a:solidFill>
                    <a:srgbClr val="00AB80"/>
                  </a:solidFill>
                  <a:latin typeface="Roboto Light" panose="02000000000000000000" pitchFamily="2" charset="0"/>
                  <a:ea typeface="Calibri" panose="020F0502020204030204" pitchFamily="34" charset="0"/>
                </a:rPr>
                <a:t> University, India</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698493"/>
            <a:ext cx="1570024"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AWS </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Strategic Planning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System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Deep Learning</a:t>
            </a: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14265"/>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Data &amp; Analytics Consultancy </a:t>
            </a:r>
            <a:r>
              <a:rPr lang="en-AU" sz="1200" b="1" dirty="0">
                <a:solidFill>
                  <a:srgbClr val="0059FF"/>
                </a:solidFill>
                <a:latin typeface="Roboto" panose="02000000000000000000" pitchFamily="2" charset="0"/>
                <a:ea typeface="Roboto" panose="02000000000000000000" pitchFamily="2" charset="0"/>
              </a:rPr>
              <a:t>–  Data Engineer</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grpSp>
        <p:nvGrpSpPr>
          <p:cNvPr id="18" name="Group 17">
            <a:extLst>
              <a:ext uri="{FF2B5EF4-FFF2-40B4-BE49-F238E27FC236}">
                <a16:creationId xmlns:a16="http://schemas.microsoft.com/office/drawing/2014/main" id="{A89C5C9F-9D07-D503-5C41-180EAD3D5355}"/>
              </a:ext>
            </a:extLst>
          </p:cNvPr>
          <p:cNvGrpSpPr/>
          <p:nvPr/>
        </p:nvGrpSpPr>
        <p:grpSpPr>
          <a:xfrm>
            <a:off x="3335752" y="5571439"/>
            <a:ext cx="4782734" cy="2371545"/>
            <a:chOff x="3335752" y="5617697"/>
            <a:chExt cx="4782734" cy="2371545"/>
          </a:xfrm>
        </p:grpSpPr>
        <p:sp>
          <p:nvSpPr>
            <p:cNvPr id="19" name="TextBox 18">
              <a:extLst>
                <a:ext uri="{FF2B5EF4-FFF2-40B4-BE49-F238E27FC236}">
                  <a16:creationId xmlns:a16="http://schemas.microsoft.com/office/drawing/2014/main" id="{7513C49A-2DF2-8111-FED4-FC07A8EAD258}"/>
                </a:ext>
              </a:extLst>
            </p:cNvPr>
            <p:cNvSpPr txBox="1"/>
            <p:nvPr/>
          </p:nvSpPr>
          <p:spPr>
            <a:xfrm>
              <a:off x="3462567" y="5896361"/>
              <a:ext cx="4560861" cy="2092881"/>
            </a:xfrm>
            <a:prstGeom prst="rect">
              <a:avLst/>
            </a:prstGeom>
            <a:noFill/>
          </p:spPr>
          <p:txBody>
            <a:bodyPr wrap="square" numCol="1" rtlCol="0">
              <a:spAutoFit/>
            </a:bodyPr>
            <a:lstStyle>
              <a:defPPr>
                <a:defRPr lang="en-US"/>
              </a:defPPr>
              <a:lvl1pPr indent="0">
                <a:buClr>
                  <a:srgbClr val="00AB80"/>
                </a:buClr>
                <a:buFont typeface="Arial" panose="020B0604020202020204" pitchFamily="34" charset="0"/>
                <a:buNone/>
                <a:defRPr sz="1000">
                  <a:solidFill>
                    <a:schemeClr val="bg1"/>
                  </a:solidFill>
                  <a:latin typeface="Roboto Light" panose="02000000000000000000" pitchFamily="2" charset="0"/>
                  <a:ea typeface="Roboto Light" panose="02000000000000000000" pitchFamily="2" charset="0"/>
                </a:defRPr>
              </a:lvl1pPr>
            </a:lstStyle>
            <a:p>
              <a:pPr marL="171450" indent="-171450">
                <a:buFont typeface="Arial" panose="020B0604020202020204" pitchFamily="34" charset="0"/>
                <a:buChar char="•"/>
              </a:pPr>
              <a:r>
                <a:rPr lang="en-AU" dirty="0"/>
                <a:t>Design, build and maintain efficient, reliable and reusable C# code</a:t>
              </a:r>
            </a:p>
            <a:p>
              <a:pPr marL="171450" indent="-171450">
                <a:buFont typeface="Arial" panose="020B0604020202020204" pitchFamily="34" charset="0"/>
                <a:buChar char="•"/>
              </a:pPr>
              <a:r>
                <a:rPr lang="en-AU" dirty="0"/>
                <a:t>Identify process bottlenecks, suggest and implement solutions to them</a:t>
              </a:r>
            </a:p>
            <a:p>
              <a:pPr marL="171450" indent="-171450">
                <a:buFont typeface="Arial" panose="020B0604020202020204" pitchFamily="34" charset="0"/>
                <a:buChar char="•"/>
              </a:pPr>
              <a:r>
                <a:rPr lang="en-AU" dirty="0"/>
                <a:t>Support the team in maintaining the code quality &amp; release management</a:t>
              </a:r>
            </a:p>
            <a:p>
              <a:pPr marL="171450" indent="-171450">
                <a:buFont typeface="Arial" panose="020B0604020202020204" pitchFamily="34" charset="0"/>
                <a:buChar char="•"/>
              </a:pPr>
              <a:r>
                <a:rPr lang="en-AU" dirty="0"/>
                <a:t>Analysis, design, develop, test and implementation of lending applications</a:t>
              </a:r>
            </a:p>
            <a:p>
              <a:pPr marL="171450" indent="-171450">
                <a:buFont typeface="Arial" panose="020B0604020202020204" pitchFamily="34" charset="0"/>
                <a:buChar char="•"/>
              </a:pPr>
              <a:r>
                <a:rPr lang="en-AU" dirty="0"/>
                <a:t>Prep and analyse the data to identify adoption rate, density, disparity, business / functional issues, data patterns and trends.</a:t>
              </a:r>
            </a:p>
            <a:p>
              <a:pPr marL="171450" indent="-171450">
                <a:buFont typeface="Arial" panose="020B0604020202020204" pitchFamily="34" charset="0"/>
                <a:buChar char="•"/>
              </a:pPr>
              <a:r>
                <a:rPr lang="en-AU" dirty="0"/>
                <a:t>Create interactive Tableau dashboards </a:t>
              </a:r>
            </a:p>
            <a:p>
              <a:pPr marL="171450" indent="-171450">
                <a:buFont typeface="Arial" panose="020B0604020202020204" pitchFamily="34" charset="0"/>
                <a:buChar char="•"/>
              </a:pPr>
              <a:r>
                <a:rPr lang="en-AU" dirty="0"/>
                <a:t>Leverage high volume data to create models that depicts trends.</a:t>
              </a:r>
            </a:p>
            <a:p>
              <a:pPr marL="171450" indent="-171450">
                <a:buFont typeface="Arial" panose="020B0604020202020204" pitchFamily="34" charset="0"/>
                <a:buChar char="•"/>
              </a:pPr>
              <a:r>
                <a:rPr lang="en-AU" dirty="0"/>
                <a:t>Present the findings to a wider forum of business members, which benefits them while making critical decisions and to resolve prolonging customer needs / issues or a new investment.</a:t>
              </a:r>
            </a:p>
            <a:p>
              <a:endParaRPr lang="en-AU" dirty="0"/>
            </a:p>
            <a:p>
              <a:pPr marL="171450" indent="-171450">
                <a:buFont typeface="Arial" panose="020B0604020202020204" pitchFamily="34" charset="0"/>
                <a:buChar char="•"/>
              </a:pPr>
              <a:endParaRPr lang="en-AU"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28144" y="5961311"/>
              <a:ext cx="0" cy="1631315"/>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335752" y="5617697"/>
              <a:ext cx="4782734"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Australian Big 4 Bank – Software Engineer / Data Analyst</a:t>
              </a:r>
            </a:p>
          </p:txBody>
        </p:sp>
      </p:grpSp>
      <p:sp>
        <p:nvSpPr>
          <p:cNvPr id="12" name="TextBox 11">
            <a:extLst>
              <a:ext uri="{FF2B5EF4-FFF2-40B4-BE49-F238E27FC236}">
                <a16:creationId xmlns:a16="http://schemas.microsoft.com/office/drawing/2014/main" id="{70DE989F-A988-8C86-5720-1FE5B119EB30}"/>
              </a:ext>
            </a:extLst>
          </p:cNvPr>
          <p:cNvSpPr txBox="1"/>
          <p:nvPr/>
        </p:nvSpPr>
        <p:spPr>
          <a:xfrm>
            <a:off x="3463961" y="1250451"/>
            <a:ext cx="4533549" cy="196977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pPr marL="0" indent="0">
              <a:buNone/>
            </a:pPr>
            <a:r>
              <a:rPr lang="en-AU" sz="1000" dirty="0">
                <a:solidFill>
                  <a:schemeClr val="bg1"/>
                </a:solidFill>
              </a:rPr>
              <a:t>Worked with multiple clients in various teams, responsibilities included:</a:t>
            </a:r>
          </a:p>
          <a:p>
            <a:r>
              <a:rPr lang="en-AU" sz="1000" dirty="0">
                <a:solidFill>
                  <a:schemeClr val="bg1"/>
                </a:solidFill>
              </a:rPr>
              <a:t>Create / maintain self-sustaining and resilient data lake / data warehouse with audit / logging capabilities (Snowflake, RDS, Hive, etc)</a:t>
            </a:r>
          </a:p>
          <a:p>
            <a:r>
              <a:rPr lang="en-AU" sz="1000" dirty="0">
                <a:solidFill>
                  <a:schemeClr val="bg1"/>
                </a:solidFill>
              </a:rPr>
              <a:t>Model, build, maintain data pipelines from various sources (Internal &amp; External Infra) and prep the data for further processing</a:t>
            </a:r>
          </a:p>
          <a:p>
            <a:r>
              <a:rPr lang="en-AU" sz="1000" dirty="0">
                <a:solidFill>
                  <a:schemeClr val="bg1"/>
                </a:solidFill>
              </a:rPr>
              <a:t>Create / maintain Standard and ESB Talend jobs for data processing (Unpack, CDC, Star Schema, etc). Also, manage TAC and its resources (Nexus, GIT)</a:t>
            </a:r>
          </a:p>
          <a:p>
            <a:r>
              <a:rPr lang="en-AU" sz="1000" dirty="0">
                <a:solidFill>
                  <a:schemeClr val="bg1"/>
                </a:solidFill>
              </a:rPr>
              <a:t>Identify process pitfalls, work on enhancements and performance improvements</a:t>
            </a:r>
          </a:p>
          <a:p>
            <a:r>
              <a:rPr lang="en-AU" sz="1000" dirty="0">
                <a:solidFill>
                  <a:schemeClr val="bg1"/>
                </a:solidFill>
              </a:rPr>
              <a:t>Data prep for modelling &amp; dashboards. Data, reporting &amp; application advisory</a:t>
            </a:r>
            <a:endParaRPr lang="en-US" sz="1000" dirty="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243698"/>
            <a:ext cx="5029198" cy="2478801"/>
            <a:chOff x="3335753" y="3451682"/>
            <a:chExt cx="5029198" cy="2478801"/>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762375"/>
              <a:ext cx="0" cy="193157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3451682"/>
              <a:ext cx="5029198"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Australian Big 4 Bank – Data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652936"/>
              <a:ext cx="4423172"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Create and maintain a data lake with multiple streams of incoming and outgoing data sources.</a:t>
              </a:r>
            </a:p>
            <a:p>
              <a:r>
                <a:rPr lang="en-AU" sz="1000" dirty="0"/>
                <a:t>Create self-sustaining ETL / ELT models to transform the data to fit into reporting models by handling huge datasets sourced from multiple systems with audit and error handling mechanisms.</a:t>
              </a:r>
            </a:p>
            <a:p>
              <a:r>
                <a:rPr lang="en-AU" sz="1000" dirty="0"/>
                <a:t>Create data models, design specifications and design database solutions to meet application requirements as per the design standards.</a:t>
              </a:r>
            </a:p>
            <a:p>
              <a:r>
                <a:rPr lang="en-AU" sz="1000" dirty="0"/>
                <a:t>Create automated and optimised schedulers to fetch and store complex data from different tables in remote databases (database links, SQL loaders, etc)</a:t>
              </a:r>
            </a:p>
            <a:p>
              <a:r>
                <a:rPr lang="en-AU" sz="1000" dirty="0"/>
                <a:t>Participation in end-to-end stakeholder co-ordination, communication, development and deployment of solutions, issue root cause analysis and resolving high priority incidents.</a:t>
              </a:r>
            </a:p>
            <a:p>
              <a:endParaRPr lang="en-AU" sz="1000" dirty="0"/>
            </a:p>
          </p:txBody>
        </p:sp>
      </p:grpSp>
      <p:sp>
        <p:nvSpPr>
          <p:cNvPr id="43" name="TextBox 42">
            <a:extLst>
              <a:ext uri="{FF2B5EF4-FFF2-40B4-BE49-F238E27FC236}">
                <a16:creationId xmlns:a16="http://schemas.microsoft.com/office/drawing/2014/main" id="{2F7F9DCD-ABFD-3411-96C4-EDE25D98CDEB}"/>
              </a:ext>
            </a:extLst>
          </p:cNvPr>
          <p:cNvSpPr txBox="1"/>
          <p:nvPr/>
        </p:nvSpPr>
        <p:spPr>
          <a:xfrm>
            <a:off x="8118489" y="1456630"/>
            <a:ext cx="1951941" cy="89255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DDFC6-124A-4859-BB62-4C7039BA48C0}">
  <ds:schemaRefs>
    <ds:schemaRef ds:uri="e52cd9e7-35e5-4bd3-9cab-ca6a63c31e52"/>
    <ds:schemaRef ds:uri="http://www.w3.org/XML/1998/namespace"/>
    <ds:schemaRef ds:uri="http://purl.org/dc/elements/1.1/"/>
    <ds:schemaRef ds:uri="http://schemas.microsoft.com/office/2006/metadata/propertie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daf93972-1964-4522-aa34-640805a01c3a"/>
    <ds:schemaRef ds:uri="http://purl.org/dc/terms/"/>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42F17629-345B-44D0-BC5B-BC25541AE5E3}"/>
</file>

<file path=docProps/app.xml><?xml version="1.0" encoding="utf-8"?>
<Properties xmlns="http://schemas.openxmlformats.org/officeDocument/2006/extended-properties" xmlns:vt="http://schemas.openxmlformats.org/officeDocument/2006/docPropsVTypes">
  <Template>Office Theme</Template>
  <TotalTime>2796</TotalTime>
  <Words>596</Words>
  <Application>Microsoft Office PowerPoint</Application>
  <PresentationFormat>Custom</PresentationFormat>
  <Paragraphs>82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10</cp:revision>
  <dcterms:created xsi:type="dcterms:W3CDTF">2019-12-03T01:50:37Z</dcterms:created>
  <dcterms:modified xsi:type="dcterms:W3CDTF">2023-09-24T02:04:12Z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