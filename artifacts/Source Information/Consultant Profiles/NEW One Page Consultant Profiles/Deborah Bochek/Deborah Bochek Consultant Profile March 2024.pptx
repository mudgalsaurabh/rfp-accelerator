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8"/>
    <p:restoredTop sz="94808"/>
  </p:normalViewPr>
  <p:slideViewPr>
    <p:cSldViewPr snapToGrid="0" snapToObjects="1">
      <p:cViewPr varScale="1">
        <p:scale>
          <a:sx n="90" d="100"/>
          <a:sy n="90" d="100"/>
        </p:scale>
        <p:origin x="2394" y="66"/>
      </p:cViewPr>
      <p:guideLst>
        <p:guide orient="horz" pos="2448"/>
        <p:guide pos="3168"/>
        <p:guide pos="311"/>
        <p:guide pos="5994"/>
        <p:guide orient="horz" pos="148"/>
        <p:guide orient="horz" pos="4748"/>
      </p:guideLst>
    </p:cSldViewPr>
  </p:slid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7BAB003-7960-4047-B5B5-431DE48A29C8}"/>
    <pc:docChg chg="undo custSel modSld">
      <pc:chgData name="Darcy Roach" userId="ba676ee9-e9b4-49e8-a515-8077106c948d" providerId="ADAL" clId="{A7BAB003-7960-4047-B5B5-431DE48A29C8}" dt="2024-04-10T00:57:19.447" v="471" actId="20577"/>
      <pc:docMkLst>
        <pc:docMk/>
      </pc:docMkLst>
      <pc:sldChg chg="modSp mod">
        <pc:chgData name="Darcy Roach" userId="ba676ee9-e9b4-49e8-a515-8077106c948d" providerId="ADAL" clId="{A7BAB003-7960-4047-B5B5-431DE48A29C8}" dt="2024-04-10T00:57:19.447" v="471" actId="20577"/>
        <pc:sldMkLst>
          <pc:docMk/>
          <pc:sldMk cId="2009923557" sldId="270"/>
        </pc:sldMkLst>
      </pc:sldChg>
    </pc:docChg>
  </pc:docChgLst>
  <pc:docChgLst>
    <pc:chgData name="Darcy Roach" userId="ba676ee9-e9b4-49e8-a515-8077106c948d" providerId="ADAL" clId="{3AD069BD-88BB-4BD2-8265-B92BD667479E}"/>
    <pc:docChg chg="undo custSel modSld">
      <pc:chgData name="Darcy Roach" userId="ba676ee9-e9b4-49e8-a515-8077106c948d" providerId="ADAL" clId="{3AD069BD-88BB-4BD2-8265-B92BD667479E}" dt="2024-03-27T06:34:38.031" v="675" actId="20577"/>
      <pc:docMkLst>
        <pc:docMk/>
      </pc:docMkLst>
      <pc:sldChg chg="addSp delSp modSp mod">
        <pc:chgData name="Darcy Roach" userId="ba676ee9-e9b4-49e8-a515-8077106c948d" providerId="ADAL" clId="{3AD069BD-88BB-4BD2-8265-B92BD667479E}" dt="2024-03-27T06:34:38.031" v="675" actId="20577"/>
        <pc:sldMkLst>
          <pc:docMk/>
          <pc:sldMk cId="2009923557" sldId="270"/>
        </pc:sldMkLst>
      </pc:sldChg>
    </pc:docChg>
  </pc:docChgLst>
  <pc:docChgLst>
    <pc:chgData name="Paul Martinico" userId="05e381d2-80b7-43e8-b915-faa146d84a0f" providerId="ADAL" clId="{A6756F39-6CCD-7643-AAFC-8889B3227D6C}"/>
    <pc:docChg chg="modSld">
      <pc:chgData name="Paul Martinico" userId="05e381d2-80b7-43e8-b915-faa146d84a0f" providerId="ADAL" clId="{A6756F39-6CCD-7643-AAFC-8889B3227D6C}" dt="2024-04-10T01:36:35.673" v="3" actId="20577"/>
      <pc:docMkLst>
        <pc:docMk/>
      </pc:docMkLst>
      <pc:sldChg chg="modSp mod">
        <pc:chgData name="Paul Martinico" userId="05e381d2-80b7-43e8-b915-faa146d84a0f" providerId="ADAL" clId="{A6756F39-6CCD-7643-AAFC-8889B3227D6C}" dt="2024-04-10T01:36:35.673" v="3" actId="20577"/>
        <pc:sldMkLst>
          <pc:docMk/>
          <pc:sldMk cId="2009923557" sldId="270"/>
        </pc:sldMkLst>
      </pc:sldChg>
    </pc:docChg>
  </pc:docChgLst>
  <pc:docChgLst>
    <pc:chgData name="Darcy Roach" userId="ba676ee9-e9b4-49e8-a515-8077106c948d" providerId="ADAL" clId="{4D5F82A2-7597-41D3-8277-EE4DD7B08F0F}"/>
    <pc:docChg chg="undo custSel modSld">
      <pc:chgData name="Darcy Roach" userId="ba676ee9-e9b4-49e8-a515-8077106c948d" providerId="ADAL" clId="{4D5F82A2-7597-41D3-8277-EE4DD7B08F0F}" dt="2025-02-04T03:07:16.419" v="132" actId="1036"/>
      <pc:docMkLst>
        <pc:docMk/>
      </pc:docMkLst>
      <pc:sldChg chg="modSp mod">
        <pc:chgData name="Darcy Roach" userId="ba676ee9-e9b4-49e8-a515-8077106c948d" providerId="ADAL" clId="{4D5F82A2-7597-41D3-8277-EE4DD7B08F0F}" dt="2025-02-04T03:07:16.419" v="132" actId="1036"/>
        <pc:sldMkLst>
          <pc:docMk/>
          <pc:sldMk cId="2009923557" sldId="270"/>
        </pc:sldMkLst>
        <pc:spChg chg="mod">
          <ac:chgData name="Darcy Roach" userId="ba676ee9-e9b4-49e8-a515-8077106c948d" providerId="ADAL" clId="{4D5F82A2-7597-41D3-8277-EE4DD7B08F0F}" dt="2025-02-04T03:06:52.441" v="123" actId="1076"/>
          <ac:spMkLst>
            <pc:docMk/>
            <pc:sldMk cId="2009923557" sldId="270"/>
            <ac:spMk id="38" creationId="{AB47A2EE-BF0B-DB05-8B7C-DB6594B2B3D5}"/>
          </ac:spMkLst>
        </pc:spChg>
        <pc:spChg chg="mod">
          <ac:chgData name="Darcy Roach" userId="ba676ee9-e9b4-49e8-a515-8077106c948d" providerId="ADAL" clId="{4D5F82A2-7597-41D3-8277-EE4DD7B08F0F}" dt="2025-02-04T03:07:16.419" v="132" actId="1036"/>
          <ac:spMkLst>
            <pc:docMk/>
            <pc:sldMk cId="2009923557" sldId="270"/>
            <ac:spMk id="39" creationId="{3EA81938-6A76-B850-B0E8-A5F905AEBA98}"/>
          </ac:spMkLst>
        </pc:spChg>
        <pc:grpChg chg="mod">
          <ac:chgData name="Darcy Roach" userId="ba676ee9-e9b4-49e8-a515-8077106c948d" providerId="ADAL" clId="{4D5F82A2-7597-41D3-8277-EE4DD7B08F0F}" dt="2025-02-04T03:07:16.419" v="132" actId="1036"/>
          <ac:grpSpMkLst>
            <pc:docMk/>
            <pc:sldMk cId="2009923557" sldId="270"/>
            <ac:grpSpMk id="5" creationId="{980A06B1-0A2F-7DF6-91DB-0F6DFA896A23}"/>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2/4/2025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1F14AC0-7E81-3290-BFBD-9B334F5C0EFB}"/>
              </a:ext>
            </a:extLst>
          </p:cNvPr>
          <p:cNvGrpSpPr/>
          <p:nvPr/>
        </p:nvGrpSpPr>
        <p:grpSpPr>
          <a:xfrm>
            <a:off x="3316719" y="6352687"/>
            <a:ext cx="4807927" cy="1415830"/>
            <a:chOff x="3316719" y="5451800"/>
            <a:chExt cx="4807927" cy="1415830"/>
          </a:xfrm>
        </p:grpSpPr>
        <p:sp>
          <p:nvSpPr>
            <p:cNvPr id="28" name="TextBox 27">
              <a:extLst>
                <a:ext uri="{FF2B5EF4-FFF2-40B4-BE49-F238E27FC236}">
                  <a16:creationId xmlns:a16="http://schemas.microsoft.com/office/drawing/2014/main" id="{6059F888-3BDF-A1C0-65E5-CB6FDD43D97C}"/>
                </a:ext>
              </a:extLst>
            </p:cNvPr>
            <p:cNvSpPr txBox="1"/>
            <p:nvPr/>
          </p:nvSpPr>
          <p:spPr>
            <a:xfrm>
              <a:off x="3316719" y="5451800"/>
              <a:ext cx="4807927"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Major Australian Logistics Organisation – Senior Business Analyst</a:t>
              </a:r>
            </a:p>
            <a:p>
              <a:endParaRPr lang="en-AU" sz="1200" b="1" dirty="0">
                <a:solidFill>
                  <a:srgbClr val="A93584"/>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06312B81-BCF1-2796-C112-3DBE0E02F483}"/>
                </a:ext>
              </a:extLst>
            </p:cNvPr>
            <p:cNvSpPr txBox="1"/>
            <p:nvPr/>
          </p:nvSpPr>
          <p:spPr>
            <a:xfrm>
              <a:off x="3576751" y="5544191"/>
              <a:ext cx="4399656" cy="132343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dirty="0"/>
            </a:p>
            <a:p>
              <a:r>
                <a:rPr lang="en-AU" sz="1000" dirty="0"/>
                <a:t>Reviewed, documented, and analysed the legacy corporate data warehouse environment for GCP replacement via various technical and data assessments</a:t>
              </a:r>
            </a:p>
            <a:p>
              <a:r>
                <a:rPr lang="en-AU" sz="1000" dirty="0"/>
                <a:t>Identified obsolescence, residual requirements, and necessary improvements with key stakeholders </a:t>
              </a:r>
            </a:p>
            <a:p>
              <a:r>
                <a:rPr lang="en-AU" sz="1000" dirty="0"/>
                <a:t>Presented findings to leadership and the delivery team </a:t>
              </a:r>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785504"/>
              <a:ext cx="0" cy="90855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75170" y="113351"/>
            <a:ext cx="2684870"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Deborah </a:t>
            </a:r>
          </a:p>
          <a:p>
            <a:r>
              <a:rPr lang="en-US" sz="2800" b="1" dirty="0">
                <a:solidFill>
                  <a:srgbClr val="00AB80"/>
                </a:solidFill>
                <a:latin typeface="Roboto" panose="02000000000000000000" pitchFamily="2" charset="0"/>
                <a:ea typeface="Roboto" panose="02000000000000000000" pitchFamily="2" charset="0"/>
              </a:rPr>
              <a:t>Bochek</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79134" y="1247202"/>
            <a:ext cx="2972650" cy="310341"/>
          </a:xfrm>
          <a:prstGeom prst="rect">
            <a:avLst/>
          </a:prstGeom>
          <a:noFill/>
        </p:spPr>
        <p:txBody>
          <a:bodyPr wrap="square" lIns="91440" tIns="45720" rIns="91440" bIns="45720" anchor="t">
            <a:spAutoFit/>
          </a:bodyPr>
          <a:lstStyle/>
          <a:p>
            <a:pPr>
              <a:lnSpc>
                <a:spcPts val="1812"/>
              </a:lnSpc>
            </a:pPr>
            <a:r>
              <a:rPr lang="en-US" sz="1400" b="1" spc="13" dirty="0">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78877" y="1007832"/>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Delivery Focus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End-to-End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Process Improvement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Continuous Improvement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Transformation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Compliance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Leadership</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219897" y="3134620"/>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735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33650" y="3179707"/>
            <a:ext cx="1963972" cy="3970318"/>
            <a:chOff x="8106458" y="2511090"/>
            <a:chExt cx="1963972"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511090"/>
              <a:ext cx="1963972" cy="3970318"/>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Cloud Digital Leader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Alation Certified | Professional Consultant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Collibra Certified | Data Steward &amp; Solution Architect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AMPG Certified | Agile Business Analyst </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Diploma – Psychology</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University of Melbourne</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Business Administration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St. Bonaventure University</a:t>
              </a: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Risk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Process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Vendor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Coaching / Mentoring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Gathering </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grpSp>
        <p:nvGrpSpPr>
          <p:cNvPr id="12" name="Group 11">
            <a:extLst>
              <a:ext uri="{FF2B5EF4-FFF2-40B4-BE49-F238E27FC236}">
                <a16:creationId xmlns:a16="http://schemas.microsoft.com/office/drawing/2014/main" id="{1D22586E-7368-F324-7FDC-3F7894D3FC2F}"/>
              </a:ext>
            </a:extLst>
          </p:cNvPr>
          <p:cNvGrpSpPr/>
          <p:nvPr/>
        </p:nvGrpSpPr>
        <p:grpSpPr>
          <a:xfrm>
            <a:off x="3336218" y="1020941"/>
            <a:ext cx="4880003" cy="3093007"/>
            <a:chOff x="3336218" y="1020941"/>
            <a:chExt cx="4880003" cy="3093007"/>
          </a:xfrm>
        </p:grpSpPr>
        <p:sp>
          <p:nvSpPr>
            <p:cNvPr id="32" name="TextBox 31">
              <a:extLst>
                <a:ext uri="{FF2B5EF4-FFF2-40B4-BE49-F238E27FC236}">
                  <a16:creationId xmlns:a16="http://schemas.microsoft.com/office/drawing/2014/main" id="{0B703521-F331-D24D-2144-A609A273150D}"/>
                </a:ext>
              </a:extLst>
            </p:cNvPr>
            <p:cNvSpPr txBox="1"/>
            <p:nvPr/>
          </p:nvSpPr>
          <p:spPr>
            <a:xfrm>
              <a:off x="3500533" y="1251626"/>
              <a:ext cx="4524020" cy="286232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Reviewed, documented, and analysed the customer enquiry practices utilising stakeholder workshops, interviews, articles and procedures, channel assessments, Salesforce functional reviews, and data analytics</a:t>
              </a:r>
            </a:p>
            <a:p>
              <a:r>
                <a:rPr lang="en-AU" dirty="0"/>
                <a:t>Performed comparative technical object assessments of the two Salesforce service cloud classic applications that required consolidation and Lightning upgrade</a:t>
              </a:r>
            </a:p>
            <a:p>
              <a:r>
                <a:rPr lang="en-AU" dirty="0"/>
                <a:t>Identified key areas of improvement and presented to senior leadership</a:t>
              </a:r>
            </a:p>
            <a:p>
              <a:r>
                <a:rPr lang="en-AU" dirty="0"/>
                <a:t>Worked with key leaders and SMEs on developing future state objectives, designing the underpinning capability models, and articulating business requirements</a:t>
              </a:r>
            </a:p>
            <a:p>
              <a:r>
                <a:rPr lang="en-AU" dirty="0"/>
                <a:t>Collaborated with architects, engineers, and developers on solution options and designs</a:t>
              </a:r>
            </a:p>
            <a:p>
              <a:r>
                <a:rPr lang="en-AU" dirty="0"/>
                <a:t>With the Product Owner, defined the Horizon 1 scope, designed the future state process, developed the solution requirement backlog for elaboration</a:t>
              </a:r>
            </a:p>
            <a:p>
              <a:r>
                <a:rPr lang="en-AU" dirty="0"/>
                <a:t>Impact assessed the migration of employee agreements across HR and operational systems, determined and planned cutover activities with system owners, and provided input into change management activities</a:t>
              </a:r>
            </a:p>
            <a:p>
              <a:endParaRPr lang="en-AU" dirty="0"/>
            </a:p>
          </p:txBody>
        </p: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26515"/>
              <a:ext cx="0" cy="2559685"/>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36218" y="1020941"/>
              <a:ext cx="4880003" cy="276999"/>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Major Australian Logistics Organisation – Senior Business Analyst</a:t>
              </a:r>
              <a:endParaRPr lang="en-US" dirty="0"/>
            </a:p>
          </p:txBody>
        </p:sp>
      </p:grpSp>
      <p:grpSp>
        <p:nvGrpSpPr>
          <p:cNvPr id="17" name="Group 16">
            <a:extLst>
              <a:ext uri="{FF2B5EF4-FFF2-40B4-BE49-F238E27FC236}">
                <a16:creationId xmlns:a16="http://schemas.microsoft.com/office/drawing/2014/main" id="{1D8D61F2-4CC4-5434-643C-39C1860B3F54}"/>
              </a:ext>
            </a:extLst>
          </p:cNvPr>
          <p:cNvGrpSpPr/>
          <p:nvPr/>
        </p:nvGrpSpPr>
        <p:grpSpPr>
          <a:xfrm>
            <a:off x="3335753" y="3978591"/>
            <a:ext cx="4715244" cy="2364032"/>
            <a:chOff x="3335753" y="3649393"/>
            <a:chExt cx="4715244" cy="2364032"/>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3649393"/>
              <a:ext cx="4640653" cy="646331"/>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Australian Energy Organisation – Senior Business Analyst</a:t>
              </a:r>
            </a:p>
            <a:p>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55043" y="4000911"/>
              <a:ext cx="0" cy="190539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500533" y="3920544"/>
              <a:ext cx="4550464"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Worked with government departments, community partners, and relevant internal functions to deliver affordability initiatives for hardship customers</a:t>
              </a:r>
            </a:p>
            <a:p>
              <a:r>
                <a:rPr lang="en-AU" sz="1000" dirty="0"/>
                <a:t>Facilitated the execution of contractual agreements</a:t>
              </a:r>
            </a:p>
            <a:p>
              <a:r>
                <a:rPr lang="en-AU" sz="1000" dirty="0"/>
                <a:t>Designed and facilitated the implementation of supporting processes, including any relevant system modifications</a:t>
              </a:r>
            </a:p>
            <a:p>
              <a:r>
                <a:rPr lang="en-AU" sz="1000" dirty="0"/>
                <a:t>Facilitated the development, review and approval, and issuance of customer internal, and external (media) communications</a:t>
              </a:r>
            </a:p>
            <a:p>
              <a:r>
                <a:rPr lang="en-AU" sz="1000" dirty="0"/>
                <a:t>Analysed and identified eligible customer populations</a:t>
              </a:r>
            </a:p>
            <a:p>
              <a:r>
                <a:rPr lang="en-AU" sz="1000" dirty="0"/>
                <a:t>Executed customer recruitment campaigns and processes</a:t>
              </a:r>
            </a:p>
            <a:p>
              <a:r>
                <a:rPr lang="en-AU" sz="1000" dirty="0"/>
                <a:t>Supported and monitored service delivery in accordance with the contractual agreements</a:t>
              </a:r>
            </a:p>
            <a:p>
              <a:r>
                <a:rPr lang="en-AU" sz="1000" dirty="0"/>
                <a:t>Managed the associated risks, issues, financial transactions, budgets, benefits, and fortnightly progress reporting to senior management</a:t>
              </a: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70450" y="1593954"/>
            <a:ext cx="2921821" cy="3638817"/>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Deborah is a Senior Business Analyst with extensive experience working throughout a range of industries and large-scale projects. A career spanning over 30 years with multi-national organisations Deborah has experience gained from working on Large Scale Transformation Programs (including Digital), Risk Management, Compliance, through business process architecture and complex system implementations.  </a:t>
            </a:r>
          </a:p>
          <a:p>
            <a:endParaRPr lang="en-AU" dirty="0">
              <a:solidFill>
                <a:schemeClr val="tx1"/>
              </a:solidFill>
            </a:endParaRPr>
          </a:p>
          <a:p>
            <a:r>
              <a:rPr lang="en-AU" dirty="0">
                <a:solidFill>
                  <a:schemeClr val="tx1"/>
                </a:solidFill>
              </a:rPr>
              <a:t>This experience has provided Deborah with valuable insights into the challenges faced by diverse areas and levels of management. Giving Deborah a level of mastery in risk and process management and technical expertise. With an indelible passion for learning, Deborah has been able to enrich each workplace with an improved capability and enduring legacy at each career step.</a:t>
            </a:r>
          </a:p>
          <a:p>
            <a:endParaRPr lang="en-AU" dirty="0">
              <a:solidFill>
                <a:schemeClr val="tx1"/>
              </a:solidFill>
            </a:endParaRPr>
          </a:p>
        </p:txBody>
      </p:sp>
      <p:sp>
        <p:nvSpPr>
          <p:cNvPr id="8" name="TextBox 7">
            <a:extLst>
              <a:ext uri="{FF2B5EF4-FFF2-40B4-BE49-F238E27FC236}">
                <a16:creationId xmlns:a16="http://schemas.microsoft.com/office/drawing/2014/main" id="{B9775FC7-7124-8CCA-9B1C-7CCD7D3DF384}"/>
              </a:ext>
            </a:extLst>
          </p:cNvPr>
          <p:cNvSpPr txBox="1"/>
          <p:nvPr/>
        </p:nvSpPr>
        <p:spPr>
          <a:xfrm>
            <a:off x="8118489" y="1283343"/>
            <a:ext cx="1951941" cy="200054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Utilities</a:t>
            </a:r>
          </a:p>
          <a:p>
            <a:pPr marL="0" indent="0">
              <a:lnSpc>
                <a:spcPct val="150000"/>
              </a:lnSpc>
              <a:buNone/>
            </a:pPr>
            <a:endParaRPr lang="en-GB" sz="1200" dirty="0">
              <a:solidFill>
                <a:srgbClr val="00AB80"/>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78DE8-CA0B-4723-AF37-2B344746F8D2}">
  <ds:schemaRefs>
    <ds:schemaRef ds:uri="http://www.w3.org/XML/1998/namespace"/>
    <ds:schemaRef ds:uri="http://purl.org/dc/terms/"/>
    <ds:schemaRef ds:uri="daf93972-1964-4522-aa34-640805a01c3a"/>
    <ds:schemaRef ds:uri="http://purl.org/dc/dcmitype/"/>
    <ds:schemaRef ds:uri="http://purl.org/dc/elements/1.1/"/>
    <ds:schemaRef ds:uri="http://schemas.microsoft.com/office/2006/documentManagement/types"/>
    <ds:schemaRef ds:uri="http://schemas.microsoft.com/office/2006/metadata/properties"/>
    <ds:schemaRef ds:uri="e52cd9e7-35e5-4bd3-9cab-ca6a63c31e52"/>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C8433C9-7946-4B08-BE27-C877A5E123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20167</TotalTime>
  <Words>541</Words>
  <Application>Microsoft Office PowerPoint</Application>
  <PresentationFormat>Custom</PresentationFormat>
  <Paragraphs>81</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122</cp:revision>
  <dcterms:created xsi:type="dcterms:W3CDTF">2019-12-03T01:50:37Z</dcterms:created>
  <dcterms:modified xsi:type="dcterms:W3CDTF">2025-02-04T03:07:25Z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