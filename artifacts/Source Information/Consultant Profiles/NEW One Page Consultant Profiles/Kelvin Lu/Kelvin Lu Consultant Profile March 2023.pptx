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F2B3F"/>
    <a:srgbClr val="0059FF"/>
    <a:srgbClr val="00AB80"/>
    <a:srgbClr val="A935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101" d="100"/>
          <a:sy n="101" d="100"/>
        </p:scale>
        <p:origin x="2148"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2009DA2C-6E4C-4736-9D78-398EFE1BE35F}"/>
    <pc:docChg chg="modSld">
      <pc:chgData name="Darcy Roach" userId="ba676ee9-e9b4-49e8-a515-8077106c948d" providerId="ADAL" clId="{2009DA2C-6E4C-4736-9D78-398EFE1BE35F}" dt="2023-04-03T23:31:12.818" v="2" actId="20577"/>
      <pc:docMkLst>
        <pc:docMk/>
      </pc:docMkLst>
      <pc:sldChg chg="modSp mod">
        <pc:chgData name="Darcy Roach" userId="ba676ee9-e9b4-49e8-a515-8077106c948d" providerId="ADAL" clId="{2009DA2C-6E4C-4736-9D78-398EFE1BE35F}" dt="2023-04-03T23:31:12.818" v="2" actId="20577"/>
        <pc:sldMkLst>
          <pc:docMk/>
          <pc:sldMk cId="2009923557" sldId="270"/>
        </pc:sldMkLst>
        <pc:spChg chg="mod">
          <ac:chgData name="Darcy Roach" userId="ba676ee9-e9b4-49e8-a515-8077106c948d" providerId="ADAL" clId="{2009DA2C-6E4C-4736-9D78-398EFE1BE35F}" dt="2023-04-03T23:31:12.818" v="2" actId="20577"/>
          <ac:spMkLst>
            <pc:docMk/>
            <pc:sldMk cId="2009923557" sldId="270"/>
            <ac:spMk id="6" creationId="{701E125D-B356-8A2A-B86B-AB6567CEABE1}"/>
          </ac:spMkLst>
        </pc:spChg>
        <pc:spChg chg="mod">
          <ac:chgData name="Darcy Roach" userId="ba676ee9-e9b4-49e8-a515-8077106c948d" providerId="ADAL" clId="{2009DA2C-6E4C-4736-9D78-398EFE1BE35F}" dt="2023-03-26T21:44:58.501" v="0" actId="1076"/>
          <ac:spMkLst>
            <pc:docMk/>
            <pc:sldMk cId="2009923557" sldId="270"/>
            <ac:spMk id="49" creationId="{AFFA7D28-DE1A-0F60-E8EF-61D0953FBFC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4/4/2023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4/4/2023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4/4/2023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4/4/2023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4/4/2023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4/4/2023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4/4/2023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4/4/2023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93730"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Kelvin </a:t>
            </a:r>
          </a:p>
          <a:p>
            <a:r>
              <a:rPr lang="en-US" sz="2800" b="1" dirty="0">
                <a:solidFill>
                  <a:srgbClr val="00AB80"/>
                </a:solidFill>
                <a:latin typeface="Roboto" panose="02000000000000000000" pitchFamily="2" charset="0"/>
                <a:ea typeface="Roboto" panose="02000000000000000000" pitchFamily="2" charset="0"/>
              </a:rPr>
              <a:t>Lu</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02377" y="1612553"/>
            <a:ext cx="2889923" cy="1333955"/>
          </a:xfrm>
          <a:prstGeom prst="rect">
            <a:avLst/>
          </a:prstGeom>
          <a:noFill/>
        </p:spPr>
        <p:txBody>
          <a:bodyPr wrap="square" lIns="0" tIns="0" rIns="0" bIns="0" rtlCol="0" anchor="t">
            <a:spAutoFit/>
          </a:bodyPr>
          <a:lstStyle/>
          <a:p>
            <a:pPr>
              <a:lnSpc>
                <a:spcPts val="1500"/>
              </a:lnSpc>
            </a:pPr>
            <a:r>
              <a:rPr lang="en-US" sz="1050" spc="13" dirty="0">
                <a:latin typeface="Roboto Light" panose="02000000000000000000" pitchFamily="2" charset="0"/>
                <a:ea typeface="Roboto Light" panose="02000000000000000000" pitchFamily="2" charset="0"/>
                <a:cs typeface="Roboto Light" panose="02000000000000000000" pitchFamily="2" charset="0"/>
              </a:rPr>
              <a:t>Kelvin is an accomplished Data Engineer and Machine Learning Engineer with multiple certifications from AWS, GCP, and Neo4j. He is highly skilled in using cutting-edge technology to solve complex challenges and possesses extensive engineering expertise, as well as sharp business acumen. </a:t>
            </a:r>
            <a:endParaRPr lang="en-US" sz="2000" dirty="0">
              <a:latin typeface="Roboto Light" panose="02000000000000000000" pitchFamily="2" charset="0"/>
              <a:ea typeface="Roboto Light" panose="02000000000000000000" pitchFamily="2" charset="0"/>
              <a:cs typeface="Roboto Light" panose="02000000000000000000" pitchFamily="2"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20128"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66274"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2308324"/>
          </a:xfrm>
          <a:prstGeom prst="rect">
            <a:avLst/>
          </a:prstGeom>
          <a:noFill/>
        </p:spPr>
        <p:txBody>
          <a:bodyPr wrap="square" lIns="91440" tIns="45720" rIns="91440" bIns="45720" numCol="1" rtlCol="0" anchor="t">
            <a:spAutoFit/>
          </a:bodyPr>
          <a:lstStyle/>
          <a:p>
            <a:pPr marL="171450" indent="-171450">
              <a:buClr>
                <a:srgbClr val="00AB80"/>
              </a:buClr>
              <a:buFont typeface="Arial,Sans-Serif" panose="020B0604020202020204" pitchFamily="34" charset="0"/>
              <a:buChar char="•"/>
            </a:pPr>
            <a:r>
              <a:rPr lang="en-US" sz="900" dirty="0">
                <a:ea typeface="+mn-lt"/>
                <a:cs typeface="+mn-lt"/>
              </a:rPr>
              <a:t>Graph Analysis</a:t>
            </a:r>
          </a:p>
          <a:p>
            <a:pPr marL="171450" indent="-171450">
              <a:buClr>
                <a:srgbClr val="00AB80"/>
              </a:buClr>
              <a:buFont typeface="Arial,Sans-Serif" panose="020B0604020202020204" pitchFamily="34" charset="0"/>
              <a:buChar char="•"/>
            </a:pPr>
            <a:r>
              <a:rPr lang="en-US" sz="900" dirty="0">
                <a:ea typeface="+mn-lt"/>
                <a:cs typeface="+mn-lt"/>
              </a:rPr>
              <a:t>Neo4j</a:t>
            </a:r>
          </a:p>
          <a:p>
            <a:pPr marL="171450" indent="-171450">
              <a:buClr>
                <a:srgbClr val="00AB80"/>
              </a:buClr>
              <a:buFont typeface="Arial,Sans-Serif" panose="020B0604020202020204" pitchFamily="34" charset="0"/>
              <a:buChar char="•"/>
            </a:pPr>
            <a:r>
              <a:rPr lang="en-US" sz="900" dirty="0">
                <a:ea typeface="+mn-lt"/>
                <a:cs typeface="+mn-lt"/>
              </a:rPr>
              <a:t>NLP</a:t>
            </a:r>
          </a:p>
          <a:p>
            <a:pPr marL="171450" indent="-171450">
              <a:buClr>
                <a:srgbClr val="00AB80"/>
              </a:buClr>
              <a:buFont typeface="Arial" panose="020B0604020202020204" pitchFamily="34" charset="0"/>
              <a:buChar char="•"/>
            </a:pPr>
            <a:r>
              <a:rPr lang="en-US" sz="900" dirty="0">
                <a:latin typeface="Roboto Light"/>
                <a:ea typeface="Roboto Light"/>
                <a:cs typeface="Roboto Light"/>
              </a:rPr>
              <a:t>Python</a:t>
            </a:r>
            <a:endParaRPr lang="en-US" dirty="0">
              <a:latin typeface="Roboto Light"/>
              <a:ea typeface="Roboto Light"/>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Power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Looker</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ea typeface="+mn-lt"/>
                <a:cs typeface="+mn-lt"/>
              </a:rPr>
              <a:t>Apache Spark</a:t>
            </a:r>
          </a:p>
          <a:p>
            <a:pPr marL="171450" indent="-171450">
              <a:buClr>
                <a:srgbClr val="00AB80"/>
              </a:buClr>
              <a:buFont typeface="Arial" panose="020B0604020202020204" pitchFamily="34" charset="0"/>
              <a:buChar char="•"/>
            </a:pPr>
            <a:r>
              <a:rPr lang="en-US" sz="900" dirty="0">
                <a:latin typeface="Roboto Light"/>
                <a:ea typeface="Roboto Light"/>
                <a:cs typeface="Roboto Light"/>
              </a:rPr>
              <a:t>Scala</a:t>
            </a:r>
            <a:endParaRPr lang="en-US" dirty="0">
              <a:latin typeface="Roboto Light"/>
              <a:ea typeface="Roboto Light"/>
              <a:cs typeface="Roboto Light"/>
            </a:endParaRPr>
          </a:p>
          <a:p>
            <a:pPr marL="171450" indent="-171450">
              <a:buClr>
                <a:srgbClr val="00AB80"/>
              </a:buClr>
              <a:buFont typeface="Arial,Sans-Serif" panose="020B0604020202020204" pitchFamily="34" charset="0"/>
              <a:buChar char="•"/>
            </a:pPr>
            <a:r>
              <a:rPr lang="en-US" sz="900" dirty="0">
                <a:ea typeface="+mn-lt"/>
                <a:cs typeface="+mn-lt"/>
              </a:rPr>
              <a:t>Java</a:t>
            </a:r>
          </a:p>
          <a:p>
            <a:pPr marL="171450" indent="-171450">
              <a:buClr>
                <a:srgbClr val="00AB80"/>
              </a:buClr>
              <a:buFont typeface="Arial" panose="020B0604020202020204" pitchFamily="34" charset="0"/>
              <a:buChar char="•"/>
            </a:pPr>
            <a:r>
              <a:rPr lang="en-US" sz="900" dirty="0">
                <a:latin typeface="Roboto Light"/>
                <a:ea typeface="Roboto Light"/>
                <a:cs typeface="Roboto Light"/>
              </a:rPr>
              <a:t>Docker</a:t>
            </a:r>
            <a:endParaRPr lang="en-US" dirty="0">
              <a:latin typeface="Roboto Light"/>
              <a:ea typeface="Roboto Light"/>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Kubernetes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47073"/>
            <a:ext cx="0" cy="1742936"/>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626425"/>
            <a:ext cx="0" cy="193271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7456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3139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90009"/>
            <a:ext cx="1951941" cy="3985706"/>
            <a:chOff x="8106458" y="2681447"/>
            <a:chExt cx="1951941" cy="398570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85706"/>
            </a:xfrm>
            <a:prstGeom prst="rect">
              <a:avLst/>
            </a:prstGeom>
            <a:noFill/>
          </p:spPr>
          <p:txBody>
            <a:bodyPr wrap="square" lIns="91440" tIns="45720" rIns="91440" bIns="45720" anchor="t">
              <a:spAutoFit/>
            </a:bodyPr>
            <a:lstStyle/>
            <a:p>
              <a:pPr>
                <a:tabLst>
                  <a:tab pos="3819525" algn="l"/>
                  <a:tab pos="3895725" algn="l"/>
                </a:tabLst>
              </a:pPr>
              <a:endParaRPr lang="en-AU" sz="1100" dirty="0">
                <a:solidFill>
                  <a:srgbClr val="00AB80"/>
                </a:solidFill>
                <a:effectLst/>
                <a:latin typeface="Times New Roman" panose="02020603050405020304" pitchFamily="18" charset="0"/>
                <a:ea typeface="Calibri" panose="020F0502020204030204" pitchFamily="34" charset="0"/>
                <a:cs typeface="Times New Roman"/>
              </a:endParaRP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Amazon Web Services –</a:t>
              </a: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Certified Machine Learning Specialist</a:t>
              </a:r>
            </a:p>
            <a:p>
              <a:pPr>
                <a:tabLst>
                  <a:tab pos="3819525" algn="l"/>
                  <a:tab pos="3895725" algn="l"/>
                </a:tabLst>
              </a:pPr>
              <a:endParaRPr lang="en-GB" sz="11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Amazon Web Services –</a:t>
              </a: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Certified Big Data Specialist</a:t>
              </a:r>
            </a:p>
            <a:p>
              <a:pPr>
                <a:tabLst>
                  <a:tab pos="3819525" algn="l"/>
                  <a:tab pos="3895725" algn="l"/>
                </a:tabLst>
              </a:pPr>
              <a:endParaRPr lang="en-GB" sz="11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Google Cloud Platform –  Certified Data Engineer</a:t>
              </a:r>
            </a:p>
            <a:p>
              <a:pPr>
                <a:tabLst>
                  <a:tab pos="3819525" algn="l"/>
                  <a:tab pos="3895725" algn="l"/>
                </a:tabLst>
              </a:pPr>
              <a:endParaRPr lang="en-GB" sz="11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Google Cloud Platform –</a:t>
              </a:r>
            </a:p>
            <a:p>
              <a:pPr>
                <a:tabLst>
                  <a:tab pos="3819525" algn="l"/>
                  <a:tab pos="3895725" algn="l"/>
                </a:tabLst>
              </a:pPr>
              <a:r>
                <a:rPr lang="en-US" sz="1100" dirty="0">
                  <a:solidFill>
                    <a:srgbClr val="00AB80"/>
                  </a:solidFill>
                  <a:latin typeface="Roboto Light"/>
                  <a:ea typeface="Calibri" panose="020F0502020204030204" pitchFamily="34" charset="0"/>
                  <a:cs typeface="Roboto Light"/>
                </a:rPr>
                <a:t>Machine Learning Specialist</a:t>
              </a:r>
            </a:p>
            <a:p>
              <a:pPr>
                <a:tabLst>
                  <a:tab pos="3819525" algn="l"/>
                  <a:tab pos="3895725" algn="l"/>
                </a:tabLst>
              </a:pPr>
              <a:endParaRPr lang="en-US" sz="11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US" sz="1100" dirty="0">
                  <a:solidFill>
                    <a:srgbClr val="00AB80"/>
                  </a:solidFill>
                  <a:latin typeface="Roboto Light"/>
                  <a:ea typeface="Calibri" panose="020F0502020204030204" pitchFamily="34" charset="0"/>
                  <a:cs typeface="Roboto Light"/>
                </a:rPr>
                <a:t>Neo4J Certified Data Scientist</a:t>
              </a:r>
            </a:p>
            <a:p>
              <a:pPr>
                <a:tabLst>
                  <a:tab pos="3819525" algn="l"/>
                  <a:tab pos="3895725" algn="l"/>
                </a:tabLst>
              </a:pPr>
              <a:endParaRPr lang="en-US" sz="1100" dirty="0">
                <a:solidFill>
                  <a:srgbClr val="00AB80"/>
                </a:solidFill>
                <a:latin typeface="Roboto Light"/>
                <a:ea typeface="Calibri" panose="020F0502020204030204" pitchFamily="34" charset="0"/>
                <a:cs typeface="Roboto Light"/>
              </a:endParaRPr>
            </a:p>
            <a:p>
              <a:pPr>
                <a:tabLst>
                  <a:tab pos="3819525" algn="l"/>
                  <a:tab pos="3895725" algn="l"/>
                </a:tabLst>
              </a:pPr>
              <a:r>
                <a:rPr lang="en-US" sz="1100" dirty="0">
                  <a:solidFill>
                    <a:srgbClr val="00AB80"/>
                  </a:solidFill>
                  <a:latin typeface="Roboto Light"/>
                  <a:ea typeface="Calibri" panose="020F0502020204030204" pitchFamily="34" charset="0"/>
                  <a:cs typeface="Roboto Light"/>
                </a:rPr>
                <a:t>Neo4J Certified Graph Database Developer</a:t>
              </a:r>
            </a:p>
            <a:p>
              <a:pPr>
                <a:tabLst>
                  <a:tab pos="3819525" algn="l"/>
                  <a:tab pos="3895725" algn="l"/>
                </a:tabLst>
              </a:pPr>
              <a:endParaRPr lang="en-US" sz="1100" dirty="0">
                <a:solidFill>
                  <a:srgbClr val="00AB80"/>
                </a:solidFill>
                <a:latin typeface="Roboto Light"/>
                <a:ea typeface="Calibri" panose="020F0502020204030204" pitchFamily="34" charset="0"/>
                <a:cs typeface="Roboto Light"/>
              </a:endParaRPr>
            </a:p>
            <a:p>
              <a:pPr>
                <a:tabLst>
                  <a:tab pos="3819525" algn="l"/>
                  <a:tab pos="3895725" algn="l"/>
                </a:tabLst>
              </a:pPr>
              <a:r>
                <a:rPr lang="en-US" sz="1100" dirty="0">
                  <a:solidFill>
                    <a:srgbClr val="00AB80"/>
                  </a:solidFill>
                  <a:latin typeface="Roboto Light"/>
                  <a:ea typeface="Calibri" panose="020F0502020204030204" pitchFamily="34" charset="0"/>
                  <a:cs typeface="Roboto Light"/>
                </a:rPr>
                <a:t>Master </a:t>
              </a:r>
              <a:r>
                <a:rPr lang="en-GB" sz="1100" dirty="0">
                  <a:solidFill>
                    <a:srgbClr val="00AB80"/>
                  </a:solidFill>
                  <a:latin typeface="Roboto Light"/>
                  <a:ea typeface="Calibri" panose="020F0502020204030204" pitchFamily="34" charset="0"/>
                  <a:cs typeface="Roboto Light"/>
                </a:rPr>
                <a:t>– Computer Science &amp; Business Administration</a:t>
              </a:r>
            </a:p>
            <a:p>
              <a:pPr>
                <a:tabLst>
                  <a:tab pos="3819525" algn="l"/>
                  <a:tab pos="3895725" algn="l"/>
                </a:tabLst>
              </a:pPr>
              <a:r>
                <a:rPr lang="en-AU" sz="1100" dirty="0">
                  <a:solidFill>
                    <a:srgbClr val="00AB80"/>
                  </a:solidFill>
                  <a:latin typeface="Roboto Light"/>
                  <a:ea typeface="Roboto Light"/>
                  <a:cs typeface="Roboto Light"/>
                </a:rPr>
                <a:t>Renmin University, China </a:t>
              </a:r>
              <a:endParaRPr lang="en-AU" sz="1100">
                <a:solidFill>
                  <a:srgbClr val="00AB80"/>
                </a:solidFill>
                <a:latin typeface="Roboto Light" panose="02000000000000000000" pitchFamily="2" charset="0"/>
                <a:ea typeface="Roboto Light"/>
                <a:cs typeface="Roboto Light"/>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291189"/>
            <a:ext cx="3526969"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Entertainment &amp; Gaming Organisation</a:t>
            </a:r>
          </a:p>
          <a:p>
            <a:endParaRPr lang="en-AU" sz="1200" b="1" dirty="0">
              <a:solidFill>
                <a:srgbClr val="ED7D31"/>
              </a:solidFill>
              <a:latin typeface="Roboto" panose="02000000000000000000" pitchFamily="2" charset="0"/>
              <a:ea typeface="Roboto" panose="02000000000000000000" pitchFamily="2" charset="0"/>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2" y="574784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Amazon Web Services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SQL Server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Agile Methodologies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Web Services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Time Series Analysis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96904"/>
            <a:ext cx="3526969" cy="276999"/>
          </a:xfrm>
          <a:prstGeom prst="rect">
            <a:avLst/>
          </a:prstGeom>
          <a:noFill/>
        </p:spPr>
        <p:txBody>
          <a:bodyPr wrap="square" lIns="91440" tIns="45720" rIns="91440" bIns="45720" rtlCol="0" anchor="t">
            <a:spAutoFit/>
          </a:bodyPr>
          <a:lstStyle/>
          <a:p>
            <a:r>
              <a:rPr lang="en-AU" sz="1200" b="1" dirty="0">
                <a:solidFill>
                  <a:srgbClr val="0059FF"/>
                </a:solidFill>
                <a:latin typeface="Roboto"/>
                <a:ea typeface="Roboto"/>
                <a:cs typeface="Roboto"/>
              </a:rPr>
              <a:t>Leading Australian Logistics Organisation</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935052"/>
            <a:ext cx="4584890" cy="1938992"/>
            <a:chOff x="5023753" y="4247510"/>
            <a:chExt cx="4757437" cy="1938992"/>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US" sz="1000" dirty="0"/>
                <a:t>Led the POC project to showcase the usage of GCP features, Confluent Cloud, ML and Data Vault. Achievement: </a:t>
              </a:r>
            </a:p>
            <a:p>
              <a:r>
                <a:rPr lang="en-US" sz="1000" dirty="0"/>
                <a:t>Developed data integration solutions between on-prem Kafka and GCP with Confluent Cloud. 		</a:t>
              </a:r>
            </a:p>
            <a:p>
              <a:r>
                <a:rPr lang="en-US" sz="1000" dirty="0"/>
                <a:t>Developed data ingestion solution based on GCS, </a:t>
              </a:r>
              <a:r>
                <a:rPr lang="en-US" sz="1000" dirty="0" err="1"/>
                <a:t>Dataprep</a:t>
              </a:r>
              <a:r>
                <a:rPr lang="en-US" sz="1000" dirty="0"/>
                <a:t>, </a:t>
              </a:r>
              <a:r>
                <a:rPr lang="en-US" sz="1000" dirty="0" err="1"/>
                <a:t>Bigquery</a:t>
              </a:r>
              <a:r>
                <a:rPr lang="en-US" sz="1000" dirty="0"/>
                <a:t>. 	</a:t>
              </a:r>
            </a:p>
            <a:p>
              <a:r>
                <a:rPr lang="en-US" sz="1000" dirty="0"/>
                <a:t>Developed K-Means customer segmentation model based on a limited dataset to showcase how to leverage machine learning with limited </a:t>
              </a:r>
              <a:r>
                <a:rPr lang="en-US" sz="1000" dirty="0" err="1"/>
                <a:t>dat</a:t>
              </a:r>
              <a:endParaRPr lang="en-US" sz="1000" dirty="0"/>
            </a:p>
            <a:p>
              <a:r>
                <a:rPr lang="en-US" sz="1000" dirty="0"/>
                <a:t>Developed Looker dashboards. </a:t>
              </a:r>
            </a:p>
            <a:p>
              <a:r>
                <a:rPr lang="en-US" sz="1000" dirty="0"/>
                <a:t>Developed Terraform-based CICD system. </a:t>
              </a:r>
            </a:p>
            <a:p>
              <a:r>
                <a:rPr lang="en-US" sz="1000" dirty="0"/>
                <a:t>Demonstrated the usage of Data Catalog, Data Loss Prevention, and Vertex AI Feature Store. </a:t>
              </a:r>
            </a:p>
            <a:p>
              <a:endParaRPr lang="en-GB"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45019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658053"/>
            <a:ext cx="3526969"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Financial Services Organisation</a:t>
            </a:r>
          </a:p>
        </p:txBody>
      </p:sp>
      <p:sp>
        <p:nvSpPr>
          <p:cNvPr id="49" name="TextBox 48">
            <a:extLst>
              <a:ext uri="{FF2B5EF4-FFF2-40B4-BE49-F238E27FC236}">
                <a16:creationId xmlns:a16="http://schemas.microsoft.com/office/drawing/2014/main" id="{AFFA7D28-DE1A-0F60-E8EF-61D0953FBFC6}"/>
              </a:ext>
            </a:extLst>
          </p:cNvPr>
          <p:cNvSpPr txBox="1"/>
          <p:nvPr/>
        </p:nvSpPr>
        <p:spPr>
          <a:xfrm>
            <a:off x="207540" y="3051441"/>
            <a:ext cx="2935074" cy="1974709"/>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US" sz="1050" dirty="0">
                <a:latin typeface="Roboto Light"/>
                <a:ea typeface="Roboto Light"/>
                <a:cs typeface="Roboto Light"/>
              </a:rPr>
              <a:t>With more than 5 years of experience in Data Engineering and Machine Learning, in addition to over 15 years of software development expertise, Kelvin is a versatile and self-directed professional. He excels in developing data ETL systems, deriving business value from data, and uncovering hidden insights through pragmatic machine learning solutions. Kelvin is also proficient in creating presentations using Looker, </a:t>
            </a:r>
            <a:r>
              <a:rPr lang="en-US" sz="1050" dirty="0" err="1">
                <a:latin typeface="Roboto Light"/>
                <a:ea typeface="Roboto Light"/>
                <a:cs typeface="Roboto Light"/>
              </a:rPr>
              <a:t>PowerBI</a:t>
            </a:r>
            <a:r>
              <a:rPr lang="en-US" sz="1050" dirty="0">
                <a:latin typeface="Roboto Light"/>
                <a:ea typeface="Roboto Light"/>
                <a:cs typeface="Roboto Light"/>
              </a:rPr>
              <a:t>, or standalone web applications.</a:t>
            </a:r>
            <a:endParaRPr lang="en-US" sz="1050" dirty="0"/>
          </a:p>
        </p:txBody>
      </p:sp>
      <p:sp>
        <p:nvSpPr>
          <p:cNvPr id="51" name="TextBox 50">
            <a:extLst>
              <a:ext uri="{FF2B5EF4-FFF2-40B4-BE49-F238E27FC236}">
                <a16:creationId xmlns:a16="http://schemas.microsoft.com/office/drawing/2014/main" id="{A2694574-9592-18E9-CB1B-E6D8C3D03583}"/>
              </a:ext>
            </a:extLst>
          </p:cNvPr>
          <p:cNvSpPr txBox="1"/>
          <p:nvPr/>
        </p:nvSpPr>
        <p:spPr>
          <a:xfrm>
            <a:off x="3463962" y="3537015"/>
            <a:ext cx="4405084" cy="196977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rPr>
              <a:t>Established and managed Corporate Data Warehouse migration from an on-premise Sybase IQ database to the Google Cloud Platform. Responsibilities of this role included:</a:t>
            </a:r>
          </a:p>
          <a:p>
            <a:pPr marL="0" indent="0">
              <a:buNone/>
            </a:pPr>
            <a:endParaRPr lang="en-US" sz="200" dirty="0">
              <a:solidFill>
                <a:schemeClr val="bg1"/>
              </a:solidFill>
            </a:endParaRPr>
          </a:p>
          <a:p>
            <a:r>
              <a:rPr lang="en-US" sz="1000" dirty="0">
                <a:solidFill>
                  <a:schemeClr val="bg1"/>
                </a:solidFill>
                <a:latin typeface="Roboto Light"/>
                <a:ea typeface="Roboto Light"/>
                <a:cs typeface="Roboto Light"/>
              </a:rPr>
              <a:t>Introduced an easy-to-use graph analysis system to track the data lineage, data references and their similarity of all data object such as the tables, views, stored procedures and workflows.</a:t>
            </a:r>
            <a:endParaRPr lang="en-US" sz="1000" dirty="0">
              <a:solidFill>
                <a:schemeClr val="bg1"/>
              </a:solidFill>
              <a:cs typeface="Roboto Light"/>
            </a:endParaRPr>
          </a:p>
          <a:p>
            <a:r>
              <a:rPr lang="en-US" sz="1000" dirty="0">
                <a:solidFill>
                  <a:schemeClr val="bg1"/>
                </a:solidFill>
                <a:latin typeface="Roboto Light"/>
                <a:ea typeface="Roboto Light"/>
                <a:cs typeface="Roboto Light"/>
              </a:rPr>
              <a:t>Extracted and converted all the 1000+ tables and views from source text files in just a few weeks with complex data processing skills. Analysed all distinct patterns of 500 stored procedures and suggested ways of restructuring the code when migrating.  </a:t>
            </a:r>
            <a:endParaRPr lang="en-US" sz="1000" dirty="0">
              <a:solidFill>
                <a:schemeClr val="bg1"/>
              </a:solidFill>
              <a:cs typeface="Roboto Light"/>
            </a:endParaRPr>
          </a:p>
          <a:p>
            <a:r>
              <a:rPr lang="en-US" sz="1000" dirty="0">
                <a:solidFill>
                  <a:schemeClr val="bg1"/>
                </a:solidFill>
              </a:rPr>
              <a:t>Reduced the technical risk and paved the way for smooth project delivery. </a:t>
            </a:r>
          </a:p>
        </p:txBody>
      </p:sp>
      <p:sp>
        <p:nvSpPr>
          <p:cNvPr id="54" name="TextBox 53">
            <a:extLst>
              <a:ext uri="{FF2B5EF4-FFF2-40B4-BE49-F238E27FC236}">
                <a16:creationId xmlns:a16="http://schemas.microsoft.com/office/drawing/2014/main" id="{092E8EE8-EB50-47B2-451E-CA41683BA524}"/>
              </a:ext>
            </a:extLst>
          </p:cNvPr>
          <p:cNvSpPr txBox="1"/>
          <p:nvPr/>
        </p:nvSpPr>
        <p:spPr>
          <a:xfrm>
            <a:off x="3472965" y="1363472"/>
            <a:ext cx="4550465" cy="193899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latin typeface="Roboto Light"/>
                <a:ea typeface="Roboto Light"/>
                <a:cs typeface="Roboto Light"/>
              </a:rPr>
              <a:t>Partnered with high-level stakeholders, led the national rezoning project as the senior data scientist. Won trust from the client through high quality delivery and thought leadership. The project utilized ML technologies such as Geospatial analysis, </a:t>
            </a:r>
            <a:r>
              <a:rPr lang="en-US" sz="1000" dirty="0" err="1">
                <a:latin typeface="Roboto Light"/>
                <a:ea typeface="Roboto Light"/>
                <a:cs typeface="Roboto Light"/>
              </a:rPr>
              <a:t>DBScan</a:t>
            </a:r>
            <a:r>
              <a:rPr lang="en-US" sz="1000" dirty="0">
                <a:latin typeface="Roboto Light"/>
                <a:ea typeface="Roboto Light"/>
                <a:cs typeface="Roboto Light"/>
              </a:rPr>
              <a:t> and </a:t>
            </a:r>
            <a:r>
              <a:rPr lang="en-US" sz="1000" dirty="0" err="1">
                <a:latin typeface="Roboto Light"/>
                <a:ea typeface="Roboto Light"/>
                <a:cs typeface="Roboto Light"/>
              </a:rPr>
              <a:t>LightGBM</a:t>
            </a:r>
            <a:r>
              <a:rPr lang="en-US" sz="1000" dirty="0">
                <a:latin typeface="Roboto Light"/>
                <a:ea typeface="Roboto Light"/>
                <a:cs typeface="Roboto Light"/>
              </a:rPr>
              <a:t>.</a:t>
            </a:r>
          </a:p>
          <a:p>
            <a:r>
              <a:rPr lang="en-US" sz="1000" dirty="0">
                <a:latin typeface="Roboto Light"/>
                <a:ea typeface="Roboto Light"/>
                <a:cs typeface="Roboto Light"/>
              </a:rPr>
              <a:t>Presales support for GCP project cost reduction using technologies such as </a:t>
            </a:r>
            <a:r>
              <a:rPr lang="en-US" sz="1000" dirty="0" err="1">
                <a:latin typeface="Roboto Light"/>
                <a:ea typeface="Roboto Light"/>
                <a:cs typeface="Roboto Light"/>
              </a:rPr>
              <a:t>Bigquery</a:t>
            </a:r>
            <a:r>
              <a:rPr lang="en-US" sz="1000" dirty="0">
                <a:latin typeface="Roboto Light"/>
                <a:ea typeface="Roboto Light"/>
                <a:cs typeface="Roboto Light"/>
              </a:rPr>
              <a:t> cost analysis and optimization, Composer optimization, advanced data analysis, machine learning and Graph database.</a:t>
            </a:r>
          </a:p>
          <a:p>
            <a:r>
              <a:rPr lang="en-US" sz="1000" dirty="0">
                <a:latin typeface="Roboto Light"/>
                <a:ea typeface="Roboto Light"/>
                <a:cs typeface="Roboto Light"/>
              </a:rPr>
              <a:t>Presales support for Christmas parcel volume prediction using methodologies such as time series analysis, change point analysis, time series clustering, COVID impact analysis. </a:t>
            </a:r>
          </a:p>
          <a:p>
            <a:r>
              <a:rPr lang="en-US" sz="1000" dirty="0">
                <a:latin typeface="Roboto Light"/>
                <a:ea typeface="Roboto Light"/>
                <a:cs typeface="Roboto Light"/>
              </a:rPr>
              <a:t>IT consulting regarding IT governance, </a:t>
            </a:r>
            <a:r>
              <a:rPr lang="en-US" sz="1000" dirty="0" err="1">
                <a:latin typeface="Roboto Light"/>
                <a:ea typeface="Roboto Light"/>
                <a:cs typeface="Roboto Light"/>
              </a:rPr>
              <a:t>MLOps</a:t>
            </a:r>
            <a:r>
              <a:rPr lang="en-US" sz="1000" dirty="0">
                <a:latin typeface="Roboto Light"/>
                <a:ea typeface="Roboto Light"/>
                <a:cs typeface="Roboto Light"/>
              </a:rPr>
              <a:t>, resource optimization, and DevOps best practices.</a:t>
            </a:r>
          </a:p>
        </p:txBody>
      </p:sp>
      <p:sp>
        <p:nvSpPr>
          <p:cNvPr id="58" name="TextBox 57">
            <a:extLst>
              <a:ext uri="{FF2B5EF4-FFF2-40B4-BE49-F238E27FC236}">
                <a16:creationId xmlns:a16="http://schemas.microsoft.com/office/drawing/2014/main" id="{0CC34BC6-1E49-0ABF-685A-52CF78AD2F71}"/>
              </a:ext>
            </a:extLst>
          </p:cNvPr>
          <p:cNvSpPr txBox="1"/>
          <p:nvPr/>
        </p:nvSpPr>
        <p:spPr>
          <a:xfrm>
            <a:off x="8118489" y="1456630"/>
            <a:ext cx="1951941" cy="172354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Entertainment &amp; Gaming</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latin typeface="Roboto Light"/>
                <a:ea typeface="Roboto Light"/>
                <a:cs typeface="Roboto Light"/>
              </a:rPr>
              <a:t>Logistics</a:t>
            </a:r>
            <a:endParaRPr lang="en-GB" sz="1200" dirty="0">
              <a:solidFill>
                <a:srgbClr val="00AB80"/>
              </a:solidFill>
              <a:cs typeface="Roboto Light"/>
            </a:endParaRPr>
          </a:p>
          <a:p>
            <a:pPr marL="0" indent="0">
              <a:lnSpc>
                <a:spcPct val="150000"/>
              </a:lnSpc>
              <a:buNone/>
            </a:pPr>
            <a:r>
              <a:rPr lang="en-GB" sz="1200" dirty="0">
                <a:solidFill>
                  <a:srgbClr val="00AB80"/>
                </a:solidFill>
              </a:rPr>
              <a:t>Government</a:t>
            </a:r>
          </a:p>
          <a:p>
            <a:pPr marL="0" indent="0">
              <a:lnSpc>
                <a:spcPct val="150000"/>
              </a:lnSpc>
              <a:buNone/>
            </a:pPr>
            <a:endParaRPr lang="en-GB" sz="1200" dirty="0">
              <a:solidFill>
                <a:srgbClr val="00AB80"/>
              </a:solidFill>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EFC7D2-6851-4433-B704-A6B16196C9D6}">
  <ds:schemaRefs>
    <ds:schemaRef ds:uri="http://schemas.microsoft.com/sharepoint/v3/contenttype/forms"/>
  </ds:schemaRefs>
</ds:datastoreItem>
</file>

<file path=customXml/itemProps2.xml><?xml version="1.0" encoding="utf-8"?>
<ds:datastoreItem xmlns:ds="http://schemas.openxmlformats.org/officeDocument/2006/customXml" ds:itemID="{3BA4D89F-58B3-4B9E-B37D-66E22AF509B5}"/>
</file>

<file path=customXml/itemProps3.xml><?xml version="1.0" encoding="utf-8"?>
<ds:datastoreItem xmlns:ds="http://schemas.openxmlformats.org/officeDocument/2006/customXml" ds:itemID="{DAA3FC8E-BCE9-4331-802A-F6E2F6F18203}">
  <ds:schemaRefs>
    <ds:schemaRef ds:uri="http://schemas.openxmlformats.org/package/2006/metadata/core-properties"/>
    <ds:schemaRef ds:uri="http://purl.org/dc/elements/1.1/"/>
    <ds:schemaRef ds:uri="http://www.w3.org/XML/1998/namespace"/>
    <ds:schemaRef ds:uri="http://schemas.microsoft.com/office/2006/metadata/properties"/>
    <ds:schemaRef ds:uri="http://schemas.microsoft.com/office/2006/documentManagement/types"/>
    <ds:schemaRef ds:uri="http://purl.org/dc/terms/"/>
    <ds:schemaRef ds:uri="e52cd9e7-35e5-4bd3-9cab-ca6a63c31e52"/>
    <ds:schemaRef ds:uri="http://schemas.microsoft.com/office/infopath/2007/PartnerControls"/>
    <ds:schemaRef ds:uri="daf93972-1964-4522-aa34-640805a01c3a"/>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3740</TotalTime>
  <Words>578</Words>
  <Application>Microsoft Office PowerPoint</Application>
  <PresentationFormat>Custom</PresentationFormat>
  <Paragraphs>83</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Arial,Sans-Serif</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240</cp:revision>
  <dcterms:created xsi:type="dcterms:W3CDTF">2019-12-03T01:50:37Z</dcterms:created>
  <dcterms:modified xsi:type="dcterms:W3CDTF">2023-04-03T23:31:17Z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