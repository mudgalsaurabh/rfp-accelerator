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ED7D31"/>
    <a:srgbClr val="A93584"/>
    <a:srgbClr val="0059F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4D8CBE-F85F-41FA-B907-C030C0B9EB84}" v="1" dt="2025-05-16T05:20:07.7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878" y="-120"/>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D14D8CBE-F85F-41FA-B907-C030C0B9EB84}"/>
    <pc:docChg chg="undo redo custSel modSld">
      <pc:chgData name="Darcy Roach" userId="ba676ee9-e9b4-49e8-a515-8077106c948d" providerId="ADAL" clId="{D14D8CBE-F85F-41FA-B907-C030C0B9EB84}" dt="2025-05-16T06:45:13.997" v="1562" actId="1076"/>
      <pc:docMkLst>
        <pc:docMk/>
      </pc:docMkLst>
      <pc:sldChg chg="addSp delSp modSp mod">
        <pc:chgData name="Darcy Roach" userId="ba676ee9-e9b4-49e8-a515-8077106c948d" providerId="ADAL" clId="{D14D8CBE-F85F-41FA-B907-C030C0B9EB84}" dt="2025-05-16T06:45:13.997" v="1562" actId="1076"/>
        <pc:sldMkLst>
          <pc:docMk/>
          <pc:sldMk cId="2009923557" sldId="270"/>
        </pc:sldMkLst>
        <pc:spChg chg="mod">
          <ac:chgData name="Darcy Roach" userId="ba676ee9-e9b4-49e8-a515-8077106c948d" providerId="ADAL" clId="{D14D8CBE-F85F-41FA-B907-C030C0B9EB84}" dt="2025-05-16T06:02:53.342" v="521" actId="20577"/>
          <ac:spMkLst>
            <pc:docMk/>
            <pc:sldMk cId="2009923557" sldId="270"/>
            <ac:spMk id="4" creationId="{80F49B2F-21D4-F9EB-049F-717A10CB7D84}"/>
          </ac:spMkLst>
        </pc:spChg>
        <pc:spChg chg="mod">
          <ac:chgData name="Darcy Roach" userId="ba676ee9-e9b4-49e8-a515-8077106c948d" providerId="ADAL" clId="{D14D8CBE-F85F-41FA-B907-C030C0B9EB84}" dt="2025-05-16T06:39:01.777" v="1153" actId="1076"/>
          <ac:spMkLst>
            <pc:docMk/>
            <pc:sldMk cId="2009923557" sldId="270"/>
            <ac:spMk id="6" creationId="{701E125D-B356-8A2A-B86B-AB6567CEABE1}"/>
          </ac:spMkLst>
        </pc:spChg>
        <pc:spChg chg="mod">
          <ac:chgData name="Darcy Roach" userId="ba676ee9-e9b4-49e8-a515-8077106c948d" providerId="ADAL" clId="{D14D8CBE-F85F-41FA-B907-C030C0B9EB84}" dt="2025-05-16T06:39:01.777" v="1153" actId="1076"/>
          <ac:spMkLst>
            <pc:docMk/>
            <pc:sldMk cId="2009923557" sldId="270"/>
            <ac:spMk id="8" creationId="{59FEB941-5146-6B10-4E4D-8A4ADE918AEF}"/>
          </ac:spMkLst>
        </pc:spChg>
        <pc:spChg chg="mod">
          <ac:chgData name="Darcy Roach" userId="ba676ee9-e9b4-49e8-a515-8077106c948d" providerId="ADAL" clId="{D14D8CBE-F85F-41FA-B907-C030C0B9EB84}" dt="2025-05-16T06:39:13.884" v="1157" actId="20577"/>
          <ac:spMkLst>
            <pc:docMk/>
            <pc:sldMk cId="2009923557" sldId="270"/>
            <ac:spMk id="9" creationId="{8BF88D81-5535-9CA4-E956-E5A6096E59DC}"/>
          </ac:spMkLst>
        </pc:spChg>
        <pc:spChg chg="mod">
          <ac:chgData name="Darcy Roach" userId="ba676ee9-e9b4-49e8-a515-8077106c948d" providerId="ADAL" clId="{D14D8CBE-F85F-41FA-B907-C030C0B9EB84}" dt="2025-05-16T06:39:24.705" v="1158" actId="1076"/>
          <ac:spMkLst>
            <pc:docMk/>
            <pc:sldMk cId="2009923557" sldId="270"/>
            <ac:spMk id="12" creationId="{71E8655A-9388-59BA-F0D8-754D1DA66332}"/>
          </ac:spMkLst>
        </pc:spChg>
        <pc:spChg chg="mod">
          <ac:chgData name="Darcy Roach" userId="ba676ee9-e9b4-49e8-a515-8077106c948d" providerId="ADAL" clId="{D14D8CBE-F85F-41FA-B907-C030C0B9EB84}" dt="2025-05-16T05:23:05.538" v="80" actId="14100"/>
          <ac:spMkLst>
            <pc:docMk/>
            <pc:sldMk cId="2009923557" sldId="270"/>
            <ac:spMk id="13" creationId="{FD2720C9-A79F-BD7F-E179-674AD67D7892}"/>
          </ac:spMkLst>
        </pc:spChg>
        <pc:spChg chg="add del mod">
          <ac:chgData name="Darcy Roach" userId="ba676ee9-e9b4-49e8-a515-8077106c948d" providerId="ADAL" clId="{D14D8CBE-F85F-41FA-B907-C030C0B9EB84}" dt="2025-05-16T05:48:01.199" v="341" actId="478"/>
          <ac:spMkLst>
            <pc:docMk/>
            <pc:sldMk cId="2009923557" sldId="270"/>
            <ac:spMk id="15" creationId="{E2BBE035-1D3C-79F4-7D8B-D6BE63E62AA9}"/>
          </ac:spMkLst>
        </pc:spChg>
        <pc:spChg chg="mod">
          <ac:chgData name="Darcy Roach" userId="ba676ee9-e9b4-49e8-a515-8077106c948d" providerId="ADAL" clId="{D14D8CBE-F85F-41FA-B907-C030C0B9EB84}" dt="2025-05-16T06:38:44.232" v="1151" actId="20577"/>
          <ac:spMkLst>
            <pc:docMk/>
            <pc:sldMk cId="2009923557" sldId="270"/>
            <ac:spMk id="19" creationId="{7513C49A-2DF2-8111-FED4-FC07A8EAD258}"/>
          </ac:spMkLst>
        </pc:spChg>
        <pc:spChg chg="mod">
          <ac:chgData name="Darcy Roach" userId="ba676ee9-e9b4-49e8-a515-8077106c948d" providerId="ADAL" clId="{D14D8CBE-F85F-41FA-B907-C030C0B9EB84}" dt="2025-05-16T05:23:12.651" v="87" actId="20577"/>
          <ac:spMkLst>
            <pc:docMk/>
            <pc:sldMk cId="2009923557" sldId="270"/>
            <ac:spMk id="22" creationId="{9D4E289E-1D52-CBDD-E381-40963429D7F1}"/>
          </ac:spMkLst>
        </pc:spChg>
        <pc:spChg chg="mod">
          <ac:chgData name="Darcy Roach" userId="ba676ee9-e9b4-49e8-a515-8077106c948d" providerId="ADAL" clId="{D14D8CBE-F85F-41FA-B907-C030C0B9EB84}" dt="2025-05-16T06:01:55.989" v="499" actId="20577"/>
          <ac:spMkLst>
            <pc:docMk/>
            <pc:sldMk cId="2009923557" sldId="270"/>
            <ac:spMk id="26" creationId="{1A3D666D-00C8-D106-73C3-9FF300F8618C}"/>
          </ac:spMkLst>
        </pc:spChg>
        <pc:spChg chg="mod">
          <ac:chgData name="Darcy Roach" userId="ba676ee9-e9b4-49e8-a515-8077106c948d" providerId="ADAL" clId="{D14D8CBE-F85F-41FA-B907-C030C0B9EB84}" dt="2025-05-16T06:37:46.725" v="1127" actId="20577"/>
          <ac:spMkLst>
            <pc:docMk/>
            <pc:sldMk cId="2009923557" sldId="270"/>
            <ac:spMk id="28" creationId="{6059F888-3BDF-A1C0-65E5-CB6FDD43D97C}"/>
          </ac:spMkLst>
        </pc:spChg>
        <pc:spChg chg="mod">
          <ac:chgData name="Darcy Roach" userId="ba676ee9-e9b4-49e8-a515-8077106c948d" providerId="ADAL" clId="{D14D8CBE-F85F-41FA-B907-C030C0B9EB84}" dt="2025-05-16T06:45:13.997" v="1562" actId="1076"/>
          <ac:spMkLst>
            <pc:docMk/>
            <pc:sldMk cId="2009923557" sldId="270"/>
            <ac:spMk id="34" creationId="{43536914-D7FE-0F22-C18B-A5D89F6503CF}"/>
          </ac:spMkLst>
        </pc:spChg>
        <pc:spChg chg="mod">
          <ac:chgData name="Darcy Roach" userId="ba676ee9-e9b4-49e8-a515-8077106c948d" providerId="ADAL" clId="{D14D8CBE-F85F-41FA-B907-C030C0B9EB84}" dt="2025-05-16T06:44:47.538" v="1560" actId="20577"/>
          <ac:spMkLst>
            <pc:docMk/>
            <pc:sldMk cId="2009923557" sldId="270"/>
            <ac:spMk id="38" creationId="{AB47A2EE-BF0B-DB05-8B7C-DB6594B2B3D5}"/>
          </ac:spMkLst>
        </pc:spChg>
        <pc:spChg chg="mod">
          <ac:chgData name="Darcy Roach" userId="ba676ee9-e9b4-49e8-a515-8077106c948d" providerId="ADAL" clId="{D14D8CBE-F85F-41FA-B907-C030C0B9EB84}" dt="2025-05-16T06:45:07.902" v="1561" actId="1076"/>
          <ac:spMkLst>
            <pc:docMk/>
            <pc:sldMk cId="2009923557" sldId="270"/>
            <ac:spMk id="39" creationId="{3EA81938-6A76-B850-B0E8-A5F905AEBA98}"/>
          </ac:spMkLst>
        </pc:spChg>
        <pc:spChg chg="mod">
          <ac:chgData name="Darcy Roach" userId="ba676ee9-e9b4-49e8-a515-8077106c948d" providerId="ADAL" clId="{D14D8CBE-F85F-41FA-B907-C030C0B9EB84}" dt="2025-05-16T06:40:17.767" v="1252" actId="20577"/>
          <ac:spMkLst>
            <pc:docMk/>
            <pc:sldMk cId="2009923557" sldId="270"/>
            <ac:spMk id="175" creationId="{B9775FC7-7124-8CCA-9B1C-7CCD7D3DF384}"/>
          </ac:spMkLst>
        </pc:spChg>
        <pc:grpChg chg="mod">
          <ac:chgData name="Darcy Roach" userId="ba676ee9-e9b4-49e8-a515-8077106c948d" providerId="ADAL" clId="{D14D8CBE-F85F-41FA-B907-C030C0B9EB84}" dt="2025-05-16T06:39:24.705" v="1158" actId="1076"/>
          <ac:grpSpMkLst>
            <pc:docMk/>
            <pc:sldMk cId="2009923557" sldId="270"/>
            <ac:grpSpMk id="2" creationId="{69CD73AD-37BE-CE99-424E-8286EA039856}"/>
          </ac:grpSpMkLst>
        </pc:grpChg>
        <pc:grpChg chg="mod">
          <ac:chgData name="Darcy Roach" userId="ba676ee9-e9b4-49e8-a515-8077106c948d" providerId="ADAL" clId="{D14D8CBE-F85F-41FA-B907-C030C0B9EB84}" dt="2025-05-16T06:45:07.902" v="1561" actId="1076"/>
          <ac:grpSpMkLst>
            <pc:docMk/>
            <pc:sldMk cId="2009923557" sldId="270"/>
            <ac:grpSpMk id="5" creationId="{980A06B1-0A2F-7DF6-91DB-0F6DFA896A23}"/>
          </ac:grpSpMkLst>
        </pc:grpChg>
        <pc:cxnChg chg="mod">
          <ac:chgData name="Darcy Roach" userId="ba676ee9-e9b4-49e8-a515-8077106c948d" providerId="ADAL" clId="{D14D8CBE-F85F-41FA-B907-C030C0B9EB84}" dt="2025-05-16T06:39:01.777" v="1153" actId="1076"/>
          <ac:cxnSpMkLst>
            <pc:docMk/>
            <pc:sldMk cId="2009923557" sldId="270"/>
            <ac:cxnSpMk id="3" creationId="{67C34E10-2CF8-9BCA-1CC6-D78A3FF9CA80}"/>
          </ac:cxnSpMkLst>
        </pc:cxnChg>
        <pc:cxnChg chg="mod">
          <ac:chgData name="Darcy Roach" userId="ba676ee9-e9b4-49e8-a515-8077106c948d" providerId="ADAL" clId="{D14D8CBE-F85F-41FA-B907-C030C0B9EB84}" dt="2025-05-16T06:37:12.620" v="1029" actId="14100"/>
          <ac:cxnSpMkLst>
            <pc:docMk/>
            <pc:sldMk cId="2009923557" sldId="270"/>
            <ac:cxnSpMk id="10" creationId="{6260F2C2-2BAD-8746-08BD-953DBDF86432}"/>
          </ac:cxnSpMkLst>
        </pc:cxnChg>
        <pc:cxnChg chg="mod">
          <ac:chgData name="Darcy Roach" userId="ba676ee9-e9b4-49e8-a515-8077106c948d" providerId="ADAL" clId="{D14D8CBE-F85F-41FA-B907-C030C0B9EB84}" dt="2025-05-16T06:38:53.162" v="1152" actId="14100"/>
          <ac:cxnSpMkLst>
            <pc:docMk/>
            <pc:sldMk cId="2009923557" sldId="270"/>
            <ac:cxnSpMk id="21" creationId="{B0913DE4-461D-CE43-AABC-C4B3D7D22F4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749701C-9EBA-40CC-BD8B-4D7BF0D0B926}" type="datetimeFigureOut">
              <a:rPr lang="en-AU" smtClean="0"/>
              <a:t>14/05/2025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E10FD8D-36A7-4698-B581-E0FE1ADD2359}" type="slidenum">
              <a:rPr lang="en-AU" smtClean="0"/>
              <a:t>‹#›</a:t>
            </a:fld>
            <a:endParaRPr lang="en-AU"/>
          </a:p>
        </p:txBody>
      </p:sp>
    </p:spTree>
    <p:extLst>
      <p:ext uri="{BB962C8B-B14F-4D97-AF65-F5344CB8AC3E}">
        <p14:creationId xmlns:p14="http://schemas.microsoft.com/office/powerpoint/2010/main" val="411979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b="1">
                <a:solidFill>
                  <a:srgbClr val="A93584"/>
                </a:solidFill>
                <a:latin typeface="Roboto" panose="02000000000000000000" pitchFamily="2" charset="0"/>
                <a:ea typeface="Roboto" panose="02000000000000000000" pitchFamily="2" charset="0"/>
              </a:rPr>
              <a:t>Security Exchange Organisation – Data Engineer  </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Worked initially on a Pilot program to demonstrate GCP platform abilities using different GCP services such as Dataflow,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ETL, Cloud Composer.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Analysed</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companies entire historical data and migrated almost 40 TB of data to GCP cloud storage using GCP Storage Transfer Service. Developed scheduled jobs to migrate the data.</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Developed Dataflow python ingestion logic to ingest batch data in CSV format and from MS SQL server database.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Developed the Composer Airflow data orchestration to design end-to-end workflows of dataflow ingestion,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transformation and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export jobs.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Developed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Dataform</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ETL scripts to transform/curate the ingested </a:t>
            </a:r>
            <a:r>
              <a:rPr kumimoji="0" lang="en-US" sz="1000" b="0" i="0" u="none" strike="noStrike" kern="1200" cap="none" spc="0" normalizeH="0" baseline="0" noProof="0" err="1">
                <a:ln>
                  <a:noFill/>
                </a:ln>
                <a:solidFill>
                  <a:prstClr val="black"/>
                </a:solidFill>
                <a:effectLst/>
                <a:uLnTx/>
                <a:uFillTx/>
                <a:latin typeface="Calibri" panose="020F0502020204030204"/>
                <a:ea typeface="+mn-ea"/>
                <a:cs typeface="+mn-cs"/>
              </a:rPr>
              <a:t>BigQuery</a:t>
            </a:r>
            <a:r>
              <a:rPr kumimoji="0" lang="en-US" sz="1000" b="0" i="0" u="none" strike="noStrike" kern="1200" cap="none" spc="0" normalizeH="0" baseline="0" noProof="0">
                <a:ln>
                  <a:noFill/>
                </a:ln>
                <a:solidFill>
                  <a:prstClr val="black"/>
                </a:solidFill>
                <a:effectLst/>
                <a:uLnTx/>
                <a:uFillTx/>
                <a:latin typeface="Calibri" panose="020F0502020204030204"/>
                <a:ea typeface="+mn-ea"/>
                <a:cs typeface="+mn-cs"/>
              </a:rPr>
              <a:t> data.</a:t>
            </a:r>
          </a:p>
          <a:p>
            <a:pPr marL="171450" indent="-171450">
              <a:buFont typeface="Arial" panose="020B0604020202020204" pitchFamily="34" charset="0"/>
              <a:buChar char="•"/>
            </a:pPr>
            <a:endParaRPr lang="en-AU"/>
          </a:p>
        </p:txBody>
      </p:sp>
      <p:sp>
        <p:nvSpPr>
          <p:cNvPr id="4" name="Slide Number Placeholder 3"/>
          <p:cNvSpPr>
            <a:spLocks noGrp="1"/>
          </p:cNvSpPr>
          <p:nvPr>
            <p:ph type="sldNum" sz="quarter" idx="5"/>
          </p:nvPr>
        </p:nvSpPr>
        <p:spPr/>
        <p:txBody>
          <a:bodyPr/>
          <a:lstStyle/>
          <a:p>
            <a:fld id="{9E10FD8D-36A7-4698-B581-E0FE1ADD2359}" type="slidenum">
              <a:rPr lang="en-AU" smtClean="0"/>
              <a:t>1</a:t>
            </a:fld>
            <a:endParaRPr lang="en-AU"/>
          </a:p>
        </p:txBody>
      </p:sp>
    </p:spTree>
    <p:extLst>
      <p:ext uri="{BB962C8B-B14F-4D97-AF65-F5344CB8AC3E}">
        <p14:creationId xmlns:p14="http://schemas.microsoft.com/office/powerpoint/2010/main" val="2580453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5/14/2025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5/14/2025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5/14/2025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5/14/2025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CD73AD-37BE-CE99-424E-8286EA039856}"/>
              </a:ext>
            </a:extLst>
          </p:cNvPr>
          <p:cNvGrpSpPr/>
          <p:nvPr/>
        </p:nvGrpSpPr>
        <p:grpSpPr>
          <a:xfrm>
            <a:off x="3425115" y="4201794"/>
            <a:ext cx="4572309" cy="1508105"/>
            <a:chOff x="5030740" y="2225627"/>
            <a:chExt cx="4883932" cy="1508105"/>
          </a:xfrm>
        </p:grpSpPr>
        <p:sp>
          <p:nvSpPr>
            <p:cNvPr id="9" name="TextBox 8">
              <a:extLst>
                <a:ext uri="{FF2B5EF4-FFF2-40B4-BE49-F238E27FC236}">
                  <a16:creationId xmlns:a16="http://schemas.microsoft.com/office/drawing/2014/main" id="{8BF88D81-5535-9CA4-E956-E5A6096E59DC}"/>
                </a:ext>
              </a:extLst>
            </p:cNvPr>
            <p:cNvSpPr txBox="1"/>
            <p:nvPr/>
          </p:nvSpPr>
          <p:spPr>
            <a:xfrm>
              <a:off x="5059474" y="2225627"/>
              <a:ext cx="4855198" cy="1508105"/>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latin typeface="Roboto Light"/>
                  <a:ea typeface="Roboto Light"/>
                  <a:cs typeface="Roboto Light"/>
                </a:rPr>
                <a:t>Worked closely with clients to manage and build end-to-end design and developed Business Intelligence solutions on Power BI, Tableau and ThoughtSpot</a:t>
              </a:r>
            </a:p>
            <a:p>
              <a:r>
                <a:rPr lang="en-AU" sz="1000" dirty="0">
                  <a:latin typeface="Roboto Light"/>
                  <a:ea typeface="Roboto Light"/>
                  <a:cs typeface="Roboto Light"/>
                </a:rPr>
                <a:t>Implemented Continuous Integration Continuous Delivery (CICD) solutions on AWS</a:t>
              </a:r>
            </a:p>
            <a:p>
              <a:r>
                <a:rPr lang="en-AU" sz="1000" dirty="0">
                  <a:latin typeface="Roboto Light"/>
                  <a:ea typeface="Roboto Light"/>
                  <a:cs typeface="Roboto Light"/>
                </a:rPr>
                <a:t>Worked on an AWS solution to use Tableau Server Client and Tableau APIs to enable Tableau monitoring and Usage Dashboards</a:t>
              </a:r>
            </a:p>
            <a:p>
              <a:r>
                <a:rPr lang="en-AU" sz="1000" dirty="0">
                  <a:latin typeface="Roboto Light"/>
                  <a:ea typeface="Roboto Light"/>
                  <a:cs typeface="Roboto Light"/>
                </a:rPr>
                <a:t>Implemented and built data pipelines, dashboards and reports on Power BI and Tableau</a:t>
              </a:r>
            </a:p>
          </p:txBody>
        </p:sp>
        <p:cxnSp>
          <p:nvCxnSpPr>
            <p:cNvPr id="10" name="Straight Connector 9">
              <a:extLst>
                <a:ext uri="{FF2B5EF4-FFF2-40B4-BE49-F238E27FC236}">
                  <a16:creationId xmlns:a16="http://schemas.microsoft.com/office/drawing/2014/main" id="{6260F2C2-2BAD-8746-08BD-953DBDF86432}"/>
                </a:ext>
              </a:extLst>
            </p:cNvPr>
            <p:cNvCxnSpPr>
              <a:cxnSpLocks/>
            </p:cNvCxnSpPr>
            <p:nvPr/>
          </p:nvCxnSpPr>
          <p:spPr>
            <a:xfrm>
              <a:off x="5030740" y="2294036"/>
              <a:ext cx="0" cy="136429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5" y="5987846"/>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Customer Loyalty Program Organisation – Data Engineer  </a:t>
            </a:r>
          </a:p>
          <a:p>
            <a:endParaRPr lang="en-AU" sz="1200" b="1" dirty="0">
              <a:solidFill>
                <a:srgbClr val="A93584"/>
              </a:solidFill>
              <a:latin typeface="Roboto" panose="02000000000000000000" pitchFamily="2" charset="0"/>
              <a:ea typeface="Roboto" panose="02000000000000000000" pitchFamily="2" charset="0"/>
            </a:endParaRP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244516"/>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Big 4 Bank</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Customer Loyalty</a:t>
            </a:r>
          </a:p>
          <a:p>
            <a:pPr marL="0" indent="0">
              <a:lnSpc>
                <a:spcPct val="150000"/>
              </a:lnSpc>
              <a:buNone/>
            </a:pPr>
            <a:r>
              <a:rPr lang="en-GB" sz="1200" dirty="0">
                <a:solidFill>
                  <a:srgbClr val="00AB80"/>
                </a:solidFill>
              </a:rPr>
              <a:t>Retail</a:t>
            </a: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550420"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Kaushik Chandrashekar</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a:ea typeface="Roboto Light"/>
                <a:cs typeface="Lato"/>
              </a:rPr>
              <a:t>Senior Consultant</a:t>
            </a:r>
            <a:endPar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endParaRP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1892826"/>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DBT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RapidMiner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Alteryx</a:t>
            </a:r>
          </a:p>
          <a:p>
            <a:pPr marL="171450" indent="-171450">
              <a:buClr>
                <a:srgbClr val="00AB80"/>
              </a:buClr>
              <a:buFont typeface="Arial" panose="020B0604020202020204" pitchFamily="34" charset="0"/>
              <a:buChar char="•"/>
            </a:pPr>
            <a:r>
              <a:rPr lang="en-US" sz="900" dirty="0">
                <a:latin typeface="Roboto Light"/>
                <a:ea typeface="Roboto Light"/>
                <a:cs typeface="Roboto Light"/>
              </a:rPr>
              <a:t>Oracle SQL</a:t>
            </a:r>
          </a:p>
          <a:p>
            <a:pPr marL="171450" indent="-171450">
              <a:buClr>
                <a:srgbClr val="00AB80"/>
              </a:buClr>
              <a:buFont typeface="Arial" panose="020B0604020202020204" pitchFamily="34" charset="0"/>
              <a:buChar char="•"/>
            </a:pPr>
            <a:r>
              <a:rPr lang="en-US" sz="900" dirty="0">
                <a:latin typeface="Roboto Light"/>
                <a:ea typeface="Roboto Light"/>
                <a:cs typeface="Roboto Light"/>
              </a:rPr>
              <a:t>Power BI</a:t>
            </a:r>
          </a:p>
          <a:p>
            <a:pPr marL="171450" indent="-171450">
              <a:buClr>
                <a:srgbClr val="00AB80"/>
              </a:buClr>
              <a:buFont typeface="Arial" panose="020B0604020202020204" pitchFamily="34" charset="0"/>
              <a:buChar char="•"/>
            </a:pPr>
            <a:r>
              <a:rPr lang="en-US" sz="900" dirty="0">
                <a:latin typeface="Roboto Light"/>
                <a:ea typeface="Roboto Light"/>
                <a:cs typeface="Roboto Light"/>
              </a:rPr>
              <a:t>Tableau</a:t>
            </a:r>
          </a:p>
          <a:p>
            <a:pPr marL="171450" indent="-171450">
              <a:buClr>
                <a:srgbClr val="00AB80"/>
              </a:buClr>
              <a:buFont typeface="Arial" panose="020B0604020202020204" pitchFamily="34" charset="0"/>
              <a:buChar char="•"/>
            </a:pPr>
            <a:r>
              <a:rPr lang="en-US" sz="900" dirty="0">
                <a:latin typeface="Roboto Light"/>
                <a:ea typeface="Roboto Light"/>
                <a:cs typeface="Roboto Light"/>
              </a:rPr>
              <a:t>ThoughtSpot</a:t>
            </a:r>
          </a:p>
          <a:p>
            <a:pPr marL="171450" indent="-171450">
              <a:buClr>
                <a:srgbClr val="00AB80"/>
              </a:buClr>
              <a:buFont typeface="Arial" panose="020B0604020202020204" pitchFamily="34" charset="0"/>
              <a:buChar char="•"/>
            </a:pPr>
            <a:r>
              <a:rPr lang="en-US" sz="900" dirty="0">
                <a:latin typeface="Roboto Light"/>
                <a:ea typeface="Roboto Light"/>
                <a:cs typeface="Roboto Light"/>
              </a:rPr>
              <a:t>RapidMiner</a:t>
            </a:r>
          </a:p>
          <a:p>
            <a:pPr marL="171450" indent="-171450">
              <a:buClr>
                <a:srgbClr val="00AB80"/>
              </a:buClr>
              <a:buFont typeface="Arial" panose="020B0604020202020204" pitchFamily="34" charset="0"/>
              <a:buChar char="•"/>
            </a:pPr>
            <a:r>
              <a:rPr lang="en-US" sz="900" dirty="0">
                <a:latin typeface="Roboto Light"/>
                <a:ea typeface="Roboto Light"/>
                <a:cs typeface="Roboto Light"/>
              </a:rPr>
              <a:t>Alteryx</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76292"/>
            <a:ext cx="0" cy="2062965"/>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863159"/>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45663"/>
            <a:ext cx="0" cy="639941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668612"/>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41584"/>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078603"/>
            <a:ext cx="1951941" cy="3970318"/>
            <a:chOff x="8106458" y="2681447"/>
            <a:chExt cx="1951941"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7031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Microsoft | Advanced Power BI</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Snowflake | Hands on Essentials – Data Warehouse</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err="1">
                  <a:solidFill>
                    <a:srgbClr val="00AB80"/>
                  </a:solidFill>
                  <a:latin typeface="Roboto Light" panose="02000000000000000000" pitchFamily="2" charset="0"/>
                  <a:ea typeface="Calibri" panose="020F0502020204030204" pitchFamily="34" charset="0"/>
                </a:rPr>
                <a:t>Thoughtspot</a:t>
              </a:r>
              <a:r>
                <a:rPr lang="en-GB" sz="1200" dirty="0">
                  <a:solidFill>
                    <a:srgbClr val="00AB80"/>
                  </a:solidFill>
                  <a:latin typeface="Roboto Light" panose="02000000000000000000" pitchFamily="2" charset="0"/>
                  <a:ea typeface="Calibri" panose="020F0502020204030204" pitchFamily="34" charset="0"/>
                </a:rPr>
                <a:t> | Certified Data Expert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Master </a:t>
              </a:r>
              <a:r>
                <a:rPr lang="en-GB" sz="1200" dirty="0">
                  <a:solidFill>
                    <a:srgbClr val="00AB80"/>
                  </a:solidFill>
                  <a:latin typeface="Roboto Light" panose="02000000000000000000" pitchFamily="2" charset="0"/>
                  <a:ea typeface="Calibri" panose="020F0502020204030204" pitchFamily="34" charset="0"/>
                </a:rPr>
                <a:t>– Business Analytics, Deakin University</a:t>
              </a:r>
              <a:r>
                <a:rPr lang="en-GB" sz="1200" dirty="0">
                  <a:solidFill>
                    <a:srgbClr val="00AB80"/>
                  </a:solidFill>
                  <a:effectLst/>
                  <a:latin typeface="Roboto Light" panose="02000000000000000000" pitchFamily="2" charset="0"/>
                  <a:ea typeface="Calibri" panose="020F0502020204030204" pitchFamily="34" charset="0"/>
                </a:rPr>
                <a:t>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Engineering, Electronics and Communications Engineering </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BNM Institute of Technology, Bangalore</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47849"/>
            <a:ext cx="1467504"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Machine Learning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70" y="1174222"/>
            <a:ext cx="4631164"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Australian Big 4 Bank</a:t>
            </a:r>
            <a:r>
              <a:rPr lang="en-AU" sz="1200" b="1" dirty="0">
                <a:solidFill>
                  <a:srgbClr val="0059FF"/>
                </a:solidFill>
                <a:latin typeface="Roboto"/>
                <a:ea typeface="Roboto"/>
                <a:cs typeface="Roboto"/>
              </a:rPr>
              <a:t> –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4" y="1379684"/>
            <a:ext cx="4520938" cy="2277547"/>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Worked closely with client team to build out Cloud data warehousing solutions using DBT on Google Cloud Platform</a:t>
            </a:r>
          </a:p>
          <a:p>
            <a:r>
              <a:rPr lang="en-AU" sz="1000" dirty="0">
                <a:solidFill>
                  <a:schemeClr val="bg1"/>
                </a:solidFill>
              </a:rPr>
              <a:t>DBT project design and implementation of the Risk data warehouse, provided best practices solutions for present and future requirements</a:t>
            </a:r>
          </a:p>
          <a:p>
            <a:r>
              <a:rPr lang="en-AU" sz="1000" dirty="0">
                <a:solidFill>
                  <a:schemeClr val="bg1"/>
                </a:solidFill>
              </a:rPr>
              <a:t>Data modelling and data transformation based on best practices on DBT</a:t>
            </a:r>
          </a:p>
          <a:p>
            <a:r>
              <a:rPr lang="en-AU" sz="1000" dirty="0">
                <a:solidFill>
                  <a:schemeClr val="bg1"/>
                </a:solidFill>
              </a:rPr>
              <a:t>Development and testing of various DBT pipelines, macros and packages on GCP</a:t>
            </a:r>
          </a:p>
          <a:p>
            <a:r>
              <a:rPr lang="en-AU" sz="1000" dirty="0">
                <a:solidFill>
                  <a:schemeClr val="bg1"/>
                </a:solidFill>
              </a:rPr>
              <a:t>Developed and Implemented multiple metrics enabling Retail Risk reporting and Financial crime ML applications</a:t>
            </a:r>
          </a:p>
          <a:p>
            <a:r>
              <a:rPr lang="en-AU" sz="1000" dirty="0">
                <a:solidFill>
                  <a:schemeClr val="bg1"/>
                </a:solidFill>
              </a:rPr>
              <a:t>Developed multiple custom DBT packages that housed all the common custom macros across various tenants on RDH platform</a:t>
            </a:r>
          </a:p>
          <a:p>
            <a:r>
              <a:rPr lang="en-AU" sz="1000" dirty="0">
                <a:solidFill>
                  <a:schemeClr val="bg1"/>
                </a:solidFill>
              </a:rPr>
              <a:t>Performed complex release activities with ad hoc changes</a:t>
            </a:r>
          </a:p>
          <a:p>
            <a:r>
              <a:rPr lang="en-AU" sz="1000" dirty="0">
                <a:solidFill>
                  <a:schemeClr val="bg1"/>
                </a:solidFill>
              </a:rPr>
              <a:t>Structured DBT and git strategy considering all initiatives/tenants using RDH platform</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7" y="6234947"/>
            <a:ext cx="4511892" cy="1169551"/>
            <a:chOff x="5023753" y="4247510"/>
            <a:chExt cx="4681691" cy="1169551"/>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5" y="4247510"/>
              <a:ext cx="4645969"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Data modelling and data transformation based on best practices and partner requirements</a:t>
              </a:r>
            </a:p>
            <a:p>
              <a:r>
                <a:rPr lang="en-AU" sz="1000" dirty="0"/>
                <a:t>Developed and tested various DBT models and projects</a:t>
              </a:r>
            </a:p>
            <a:p>
              <a:r>
                <a:rPr lang="en-AU" sz="1000" dirty="0"/>
                <a:t>Airflow – DAG configurations and use of UI to enable and trigger DAGs for various testing purposes</a:t>
              </a:r>
            </a:p>
            <a:p>
              <a:r>
                <a:rPr lang="en-AU" sz="1000" dirty="0"/>
                <a:t>Snowflake platform engineer - Worked on best practices of Role Based Access Control (RBAC) and dynamic data masking policies</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1015303"/>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43536914-D7FE-0F22-C18B-A5D89F6503CF}"/>
              </a:ext>
            </a:extLst>
          </p:cNvPr>
          <p:cNvSpPr txBox="1"/>
          <p:nvPr/>
        </p:nvSpPr>
        <p:spPr>
          <a:xfrm>
            <a:off x="259401" y="1612553"/>
            <a:ext cx="2951768" cy="3061736"/>
          </a:xfrm>
          <a:prstGeom prst="rect">
            <a:avLst/>
          </a:prstGeom>
          <a:noFill/>
        </p:spPr>
        <p:txBody>
          <a:bodyPr wrap="square" lIns="0" tIns="0" rIns="0" bIns="0" rtlCol="0" anchor="t">
            <a:spAutoFit/>
          </a:bodyPr>
          <a:lstStyle/>
          <a:p>
            <a:pPr>
              <a:lnSpc>
                <a:spcPts val="1500"/>
              </a:lnSpc>
            </a:pPr>
            <a:r>
              <a:rPr lang="en-AU" sz="1000" spc="13" dirty="0">
                <a:latin typeface="Roboto Light"/>
                <a:ea typeface="Roboto Light"/>
                <a:cs typeface="Lato"/>
              </a:rPr>
              <a:t>Kaushik is a highly skilled Senior Data Engineer at intelia, bringing over five years of dedicated IT industry experience to the forefront of Australia's technology services sector. With a strong foundation in Business Intelligence and Data Analytics, further enriched by a Master of Business Analytics, Kaushik specialises in transforming complex data into actionable insights. </a:t>
            </a:r>
          </a:p>
          <a:p>
            <a:pPr>
              <a:lnSpc>
                <a:spcPts val="1500"/>
              </a:lnSpc>
            </a:pPr>
            <a:endParaRPr lang="en-AU" sz="1000" spc="13" dirty="0">
              <a:latin typeface="Roboto Light"/>
              <a:ea typeface="Roboto Light"/>
              <a:cs typeface="Lato"/>
            </a:endParaRPr>
          </a:p>
          <a:p>
            <a:pPr>
              <a:lnSpc>
                <a:spcPts val="1500"/>
              </a:lnSpc>
            </a:pPr>
            <a:r>
              <a:rPr lang="en-AU" sz="1000" spc="13" dirty="0">
                <a:latin typeface="Roboto Light"/>
                <a:ea typeface="Roboto Light"/>
                <a:cs typeface="Lato"/>
              </a:rPr>
              <a:t>He possesses a robust capability in designing, building, and optimising data pipelines and architectures. Known for his excellent work ethic and an insatiably inquisitive mind, Kaushik consistently thrives in dynamic tech environments, adeptly navigating change to deliver robust and innovative data solutions to delight the customer.</a:t>
            </a:r>
            <a:endParaRPr lang="en-US" sz="1000" spc="13" dirty="0">
              <a:latin typeface="Roboto Light"/>
              <a:ea typeface="Roboto Light"/>
              <a:cs typeface="Lato"/>
            </a:endParaRPr>
          </a:p>
        </p:txBody>
      </p:sp>
      <p:sp>
        <p:nvSpPr>
          <p:cNvPr id="12" name="TextBox 11">
            <a:extLst>
              <a:ext uri="{FF2B5EF4-FFF2-40B4-BE49-F238E27FC236}">
                <a16:creationId xmlns:a16="http://schemas.microsoft.com/office/drawing/2014/main" id="{71E8655A-9388-59BA-F0D8-754D1DA66332}"/>
              </a:ext>
            </a:extLst>
          </p:cNvPr>
          <p:cNvSpPr txBox="1"/>
          <p:nvPr/>
        </p:nvSpPr>
        <p:spPr>
          <a:xfrm>
            <a:off x="3332724" y="3975095"/>
            <a:ext cx="4591676" cy="276999"/>
          </a:xfrm>
          <a:prstGeom prst="rect">
            <a:avLst/>
          </a:prstGeom>
          <a:noFill/>
        </p:spPr>
        <p:txBody>
          <a:bodyPr wrap="square" lIns="91440" tIns="45720" rIns="91440" bIns="45720" rtlCol="0" anchor="t">
            <a:spAutoFit/>
          </a:bodyPr>
          <a:lstStyle/>
          <a:p>
            <a:r>
              <a:rPr lang="en-AU" sz="1200" b="1" dirty="0">
                <a:solidFill>
                  <a:srgbClr val="ED7D31"/>
                </a:solidFill>
                <a:latin typeface="Roboto"/>
                <a:ea typeface="Roboto"/>
                <a:cs typeface="Roboto"/>
              </a:rPr>
              <a:t>Australian Government Organisation – Data Engineer</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3751C5-9698-40F5-AD20-4BF57165A770}">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734DEBD-EF7F-418D-BEA7-68DB4E533249}">
  <ds:schemaRefs>
    <ds:schemaRef ds:uri="http://schemas.microsoft.com/office/2006/metadata/properties"/>
    <ds:schemaRef ds:uri="http://schemas.microsoft.com/office/2006/documentManagement/types"/>
    <ds:schemaRef ds:uri="http://purl.org/dc/dcmitype/"/>
    <ds:schemaRef ds:uri="http://www.w3.org/XML/1998/namespace"/>
    <ds:schemaRef ds:uri="http://schemas.microsoft.com/office/infopath/2007/PartnerControls"/>
    <ds:schemaRef ds:uri="http://purl.org/dc/elements/1.1/"/>
    <ds:schemaRef ds:uri="daf93972-1964-4522-aa34-640805a01c3a"/>
    <ds:schemaRef ds:uri="http://schemas.openxmlformats.org/package/2006/metadata/core-properties"/>
    <ds:schemaRef ds:uri="e52cd9e7-35e5-4bd3-9cab-ca6a63c31e52"/>
    <ds:schemaRef ds:uri="http://purl.org/dc/terms/"/>
  </ds:schemaRefs>
</ds:datastoreItem>
</file>

<file path=customXml/itemProps3.xml><?xml version="1.0" encoding="utf-8"?>
<ds:datastoreItem xmlns:ds="http://schemas.openxmlformats.org/officeDocument/2006/customXml" ds:itemID="{D25800A5-016C-48F2-9776-20E979C4EE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88</TotalTime>
  <Words>591</Words>
  <Application>Microsoft Office PowerPoint</Application>
  <PresentationFormat>Custom</PresentationFormat>
  <Paragraphs>83</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2</cp:revision>
  <dcterms:created xsi:type="dcterms:W3CDTF">2019-12-03T01:50:37Z</dcterms:created>
  <dcterms:modified xsi:type="dcterms:W3CDTF">2025-05-16T06:45:18Z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