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B80"/>
    <a:srgbClr val="A93584"/>
    <a:srgbClr val="0F2B3F"/>
    <a:srgbClr val="0059FF"/>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8DCABB-A9E3-452B-828B-2DCC485078F7}" v="1" dt="2024-06-16T23:38:04.4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448"/>
        <p:guide pos="3168"/>
        <p:guide pos="311"/>
        <p:guide pos="5994"/>
        <p:guide orient="horz" pos="148"/>
        <p:guide orient="horz" pos="4748"/>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6C8DCABB-A9E3-452B-828B-2DCC485078F7}"/>
    <pc:docChg chg="modSld">
      <pc:chgData name="Darcy Roach" userId="ba676ee9-e9b4-49e8-a515-8077106c948d" providerId="ADAL" clId="{6C8DCABB-A9E3-452B-828B-2DCC485078F7}" dt="2024-06-16T23:38:04.417" v="0" actId="20577"/>
      <pc:docMkLst>
        <pc:docMk/>
      </pc:docMkLst>
      <pc:sldChg chg="modSp mod">
        <pc:chgData name="Darcy Roach" userId="ba676ee9-e9b4-49e8-a515-8077106c948d" providerId="ADAL" clId="{6C8DCABB-A9E3-452B-828B-2DCC485078F7}" dt="2024-06-16T23:38:04.417" v="0" actId="20577"/>
        <pc:sldMkLst>
          <pc:docMk/>
          <pc:sldMk cId="2009923557" sldId="270"/>
        </pc:sldMkLst>
        <pc:spChg chg="mod">
          <ac:chgData name="Darcy Roach" userId="ba676ee9-e9b4-49e8-a515-8077106c948d" providerId="ADAL" clId="{6C8DCABB-A9E3-452B-828B-2DCC485078F7}" dt="2024-06-16T23:38:04.417" v="0" actId="20577"/>
          <ac:spMkLst>
            <pc:docMk/>
            <pc:sldMk cId="2009923557" sldId="270"/>
            <ac:spMk id="38" creationId="{AB47A2EE-BF0B-DB05-8B7C-DB6594B2B3D5}"/>
          </ac:spMkLst>
        </pc:spChg>
      </pc:sldChg>
    </pc:docChg>
  </pc:docChgLst>
  <pc:docChgLst>
    <pc:chgData name="Darcy Roach" userId="ba676ee9-e9b4-49e8-a515-8077106c948d" providerId="ADAL" clId="{CB005FBF-849F-41F7-83C7-BC30A7DF7DC5}"/>
    <pc:docChg chg="undo custSel modSld">
      <pc:chgData name="Darcy Roach" userId="ba676ee9-e9b4-49e8-a515-8077106c948d" providerId="ADAL" clId="{CB005FBF-849F-41F7-83C7-BC30A7DF7DC5}" dt="2023-07-31T05:28:25.227" v="1665" actId="478"/>
      <pc:docMkLst>
        <pc:docMk/>
      </pc:docMkLst>
      <pc:sldChg chg="addSp delSp modSp mod">
        <pc:chgData name="Darcy Roach" userId="ba676ee9-e9b4-49e8-a515-8077106c948d" providerId="ADAL" clId="{CB005FBF-849F-41F7-83C7-BC30A7DF7DC5}" dt="2023-07-31T05:28:25.227" v="1665" actId="478"/>
        <pc:sldMkLst>
          <pc:docMk/>
          <pc:sldMk cId="2009923557" sldId="270"/>
        </pc:sldMkLst>
        <pc:spChg chg="mod">
          <ac:chgData name="Darcy Roach" userId="ba676ee9-e9b4-49e8-a515-8077106c948d" providerId="ADAL" clId="{CB005FBF-849F-41F7-83C7-BC30A7DF7DC5}" dt="2023-07-31T01:24:46.185" v="675" actId="20577"/>
          <ac:spMkLst>
            <pc:docMk/>
            <pc:sldMk cId="2009923557" sldId="270"/>
            <ac:spMk id="2" creationId="{2FA774CA-3857-9308-4D38-9414B0CC2B95}"/>
          </ac:spMkLst>
        </pc:spChg>
        <pc:spChg chg="mod">
          <ac:chgData name="Darcy Roach" userId="ba676ee9-e9b4-49e8-a515-8077106c948d" providerId="ADAL" clId="{CB005FBF-849F-41F7-83C7-BC30A7DF7DC5}" dt="2023-07-31T01:24:43.168" v="668" actId="20577"/>
          <ac:spMkLst>
            <pc:docMk/>
            <pc:sldMk cId="2009923557" sldId="270"/>
            <ac:spMk id="6" creationId="{701E125D-B356-8A2A-B86B-AB6567CEABE1}"/>
          </ac:spMkLst>
        </pc:spChg>
        <pc:spChg chg="add del mod">
          <ac:chgData name="Darcy Roach" userId="ba676ee9-e9b4-49e8-a515-8077106c948d" providerId="ADAL" clId="{CB005FBF-849F-41F7-83C7-BC30A7DF7DC5}" dt="2023-07-31T05:28:25.227" v="1665" actId="478"/>
          <ac:spMkLst>
            <pc:docMk/>
            <pc:sldMk cId="2009923557" sldId="270"/>
            <ac:spMk id="9" creationId="{C1B4CC82-12D3-22BF-A029-C770ACE7CDC5}"/>
          </ac:spMkLst>
        </pc:spChg>
        <pc:spChg chg="mod">
          <ac:chgData name="Darcy Roach" userId="ba676ee9-e9b4-49e8-a515-8077106c948d" providerId="ADAL" clId="{CB005FBF-849F-41F7-83C7-BC30A7DF7DC5}" dt="2023-07-25T04:23:31.413" v="428" actId="20577"/>
          <ac:spMkLst>
            <pc:docMk/>
            <pc:sldMk cId="2009923557" sldId="270"/>
            <ac:spMk id="12" creationId="{70DE989F-A988-8C86-5720-1FE5B119EB30}"/>
          </ac:spMkLst>
        </pc:spChg>
        <pc:spChg chg="mod">
          <ac:chgData name="Darcy Roach" userId="ba676ee9-e9b4-49e8-a515-8077106c948d" providerId="ADAL" clId="{CB005FBF-849F-41F7-83C7-BC30A7DF7DC5}" dt="2023-07-25T02:51:01.043" v="30" actId="20577"/>
          <ac:spMkLst>
            <pc:docMk/>
            <pc:sldMk cId="2009923557" sldId="270"/>
            <ac:spMk id="13" creationId="{FD2720C9-A79F-BD7F-E179-674AD67D7892}"/>
          </ac:spMkLst>
        </pc:spChg>
        <pc:spChg chg="mod">
          <ac:chgData name="Darcy Roach" userId="ba676ee9-e9b4-49e8-a515-8077106c948d" providerId="ADAL" clId="{CB005FBF-849F-41F7-83C7-BC30A7DF7DC5}" dt="2023-07-31T05:22:01.418" v="1334" actId="20577"/>
          <ac:spMkLst>
            <pc:docMk/>
            <pc:sldMk cId="2009923557" sldId="270"/>
            <ac:spMk id="17" creationId="{1BDE5051-9F34-F139-742D-4450E5D6591E}"/>
          </ac:spMkLst>
        </pc:spChg>
        <pc:spChg chg="mod">
          <ac:chgData name="Darcy Roach" userId="ba676ee9-e9b4-49e8-a515-8077106c948d" providerId="ADAL" clId="{CB005FBF-849F-41F7-83C7-BC30A7DF7DC5}" dt="2023-07-31T02:15:03.415" v="1114" actId="20577"/>
          <ac:spMkLst>
            <pc:docMk/>
            <pc:sldMk cId="2009923557" sldId="270"/>
            <ac:spMk id="31" creationId="{5D644C1D-FE62-9752-27C7-42A94F729A86}"/>
          </ac:spMkLst>
        </pc:spChg>
        <pc:spChg chg="mod">
          <ac:chgData name="Darcy Roach" userId="ba676ee9-e9b4-49e8-a515-8077106c948d" providerId="ADAL" clId="{CB005FBF-849F-41F7-83C7-BC30A7DF7DC5}" dt="2023-07-31T05:28:06.678" v="1664" actId="20577"/>
          <ac:spMkLst>
            <pc:docMk/>
            <pc:sldMk cId="2009923557" sldId="270"/>
            <ac:spMk id="38" creationId="{AB47A2EE-BF0B-DB05-8B7C-DB6594B2B3D5}"/>
          </ac:spMkLst>
        </pc:spChg>
        <pc:spChg chg="mod">
          <ac:chgData name="Darcy Roach" userId="ba676ee9-e9b4-49e8-a515-8077106c948d" providerId="ADAL" clId="{CB005FBF-849F-41F7-83C7-BC30A7DF7DC5}" dt="2023-07-31T05:23:18.318" v="1390" actId="1076"/>
          <ac:spMkLst>
            <pc:docMk/>
            <pc:sldMk cId="2009923557" sldId="270"/>
            <ac:spMk id="39" creationId="{3EA81938-6A76-B850-B0E8-A5F905AEBA98}"/>
          </ac:spMkLst>
        </pc:spChg>
        <pc:spChg chg="mod ord">
          <ac:chgData name="Darcy Roach" userId="ba676ee9-e9b4-49e8-a515-8077106c948d" providerId="ADAL" clId="{CB005FBF-849F-41F7-83C7-BC30A7DF7DC5}" dt="2023-07-31T05:23:11.778" v="1389" actId="167"/>
          <ac:spMkLst>
            <pc:docMk/>
            <pc:sldMk cId="2009923557" sldId="270"/>
            <ac:spMk id="48" creationId="{2E936835-C132-4204-2E91-FE9D8E6EC671}"/>
          </ac:spMkLst>
        </pc:spChg>
        <pc:spChg chg="mod">
          <ac:chgData name="Darcy Roach" userId="ba676ee9-e9b4-49e8-a515-8077106c948d" providerId="ADAL" clId="{CB005FBF-849F-41F7-83C7-BC30A7DF7DC5}" dt="2023-07-31T05:20:20.406" v="1255" actId="1035"/>
          <ac:spMkLst>
            <pc:docMk/>
            <pc:sldMk cId="2009923557" sldId="270"/>
            <ac:spMk id="54" creationId="{4F1DF6EC-2D10-1310-483C-35027A70DDA1}"/>
          </ac:spMkLst>
        </pc:spChg>
        <pc:spChg chg="mod">
          <ac:chgData name="Darcy Roach" userId="ba676ee9-e9b4-49e8-a515-8077106c948d" providerId="ADAL" clId="{CB005FBF-849F-41F7-83C7-BC30A7DF7DC5}" dt="2023-07-31T05:20:17.067" v="1253" actId="1035"/>
          <ac:spMkLst>
            <pc:docMk/>
            <pc:sldMk cId="2009923557" sldId="270"/>
            <ac:spMk id="55" creationId="{20D856C0-6C6C-30D2-8947-79D3F4B5FE07}"/>
          </ac:spMkLst>
        </pc:spChg>
        <pc:grpChg chg="mod">
          <ac:chgData name="Darcy Roach" userId="ba676ee9-e9b4-49e8-a515-8077106c948d" providerId="ADAL" clId="{CB005FBF-849F-41F7-83C7-BC30A7DF7DC5}" dt="2023-07-31T05:23:18.318" v="1390" actId="1076"/>
          <ac:grpSpMkLst>
            <pc:docMk/>
            <pc:sldMk cId="2009923557" sldId="270"/>
            <ac:grpSpMk id="5" creationId="{980A06B1-0A2F-7DF6-91DB-0F6DFA896A23}"/>
          </ac:grpSpMkLst>
        </pc:grpChg>
        <pc:grpChg chg="mod">
          <ac:chgData name="Darcy Roach" userId="ba676ee9-e9b4-49e8-a515-8077106c948d" providerId="ADAL" clId="{CB005FBF-849F-41F7-83C7-BC30A7DF7DC5}" dt="2023-07-31T02:11:18.935" v="1098" actId="1076"/>
          <ac:grpSpMkLst>
            <pc:docMk/>
            <pc:sldMk cId="2009923557" sldId="270"/>
            <ac:grpSpMk id="10" creationId="{A6927CF3-C0AD-7B0E-CC21-BDD13E4FAF2F}"/>
          </ac:grpSpMkLst>
        </pc:grpChg>
        <pc:grpChg chg="mod">
          <ac:chgData name="Darcy Roach" userId="ba676ee9-e9b4-49e8-a515-8077106c948d" providerId="ADAL" clId="{CB005FBF-849F-41F7-83C7-BC30A7DF7DC5}" dt="2023-07-31T01:52:12.659" v="889" actId="1076"/>
          <ac:grpSpMkLst>
            <pc:docMk/>
            <pc:sldMk cId="2009923557" sldId="270"/>
            <ac:grpSpMk id="45" creationId="{7C004A0F-26FD-81BE-0DC7-EDCD01D4194B}"/>
          </ac:grpSpMkLst>
        </pc:grpChg>
        <pc:cxnChg chg="mod">
          <ac:chgData name="Darcy Roach" userId="ba676ee9-e9b4-49e8-a515-8077106c948d" providerId="ADAL" clId="{CB005FBF-849F-41F7-83C7-BC30A7DF7DC5}" dt="2023-07-25T04:23:43.908" v="429" actId="14100"/>
          <ac:cxnSpMkLst>
            <pc:docMk/>
            <pc:sldMk cId="2009923557" sldId="270"/>
            <ac:cxnSpMk id="3" creationId="{67C34E10-2CF8-9BCA-1CC6-D78A3FF9CA80}"/>
          </ac:cxnSpMkLst>
        </pc:cxnChg>
        <pc:cxnChg chg="mod">
          <ac:chgData name="Darcy Roach" userId="ba676ee9-e9b4-49e8-a515-8077106c948d" providerId="ADAL" clId="{CB005FBF-849F-41F7-83C7-BC30A7DF7DC5}" dt="2023-07-31T02:11:09.771" v="1097" actId="14100"/>
          <ac:cxnSpMkLst>
            <pc:docMk/>
            <pc:sldMk cId="2009923557" sldId="270"/>
            <ac:cxnSpMk id="15" creationId="{F87F05F2-DA4C-4F55-A5D0-1887110DF155}"/>
          </ac:cxnSpMkLst>
        </pc:cxnChg>
        <pc:cxnChg chg="mod">
          <ac:chgData name="Darcy Roach" userId="ba676ee9-e9b4-49e8-a515-8077106c948d" providerId="ADAL" clId="{CB005FBF-849F-41F7-83C7-BC30A7DF7DC5}" dt="2023-07-31T05:20:23.502" v="1257" actId="1035"/>
          <ac:cxnSpMkLst>
            <pc:docMk/>
            <pc:sldMk cId="2009923557" sldId="270"/>
            <ac:cxnSpMk id="56" creationId="{C0271841-9AD2-76A9-36A3-77AD3CD1ED17}"/>
          </ac:cxnSpMkLst>
        </pc:cxnChg>
      </pc:sldChg>
    </pc:docChg>
  </pc:docChgLst>
  <pc:docChgLst>
    <pc:chgData name="Barry Stoneham" userId="S::barry.stoneham@intelia.com.au::5f69c1b5-44f9-41a7-8703-12ffd697d239" providerId="AD" clId="Web-{7D9ECACF-C28E-D062-3FC9-31F47230B5FC}"/>
    <pc:docChg chg="modSld">
      <pc:chgData name="Barry Stoneham" userId="S::barry.stoneham@intelia.com.au::5f69c1b5-44f9-41a7-8703-12ffd697d239" providerId="AD" clId="Web-{7D9ECACF-C28E-D062-3FC9-31F47230B5FC}" dt="2024-06-12T05:07:51.931" v="3" actId="1076"/>
      <pc:docMkLst>
        <pc:docMk/>
      </pc:docMkLst>
      <pc:sldChg chg="modSp">
        <pc:chgData name="Barry Stoneham" userId="S::barry.stoneham@intelia.com.au::5f69c1b5-44f9-41a7-8703-12ffd697d239" providerId="AD" clId="Web-{7D9ECACF-C28E-D062-3FC9-31F47230B5FC}" dt="2024-06-12T05:07:51.931" v="3" actId="1076"/>
        <pc:sldMkLst>
          <pc:docMk/>
          <pc:sldMk cId="2009923557" sldId="270"/>
        </pc:sldMkLst>
        <pc:spChg chg="mod">
          <ac:chgData name="Barry Stoneham" userId="S::barry.stoneham@intelia.com.au::5f69c1b5-44f9-41a7-8703-12ffd697d239" providerId="AD" clId="Web-{7D9ECACF-C28E-D062-3FC9-31F47230B5FC}" dt="2024-06-12T05:07:41.087" v="1" actId="14100"/>
          <ac:spMkLst>
            <pc:docMk/>
            <pc:sldMk cId="2009923557" sldId="270"/>
            <ac:spMk id="54" creationId="{4F1DF6EC-2D10-1310-483C-35027A70DDA1}"/>
          </ac:spMkLst>
        </pc:spChg>
        <pc:spChg chg="mod">
          <ac:chgData name="Barry Stoneham" userId="S::barry.stoneham@intelia.com.au::5f69c1b5-44f9-41a7-8703-12ffd697d239" providerId="AD" clId="Web-{7D9ECACF-C28E-D062-3FC9-31F47230B5FC}" dt="2024-06-12T05:07:51.931" v="3" actId="1076"/>
          <ac:spMkLst>
            <pc:docMk/>
            <pc:sldMk cId="2009923557" sldId="270"/>
            <ac:spMk id="55" creationId="{20D856C0-6C6C-30D2-8947-79D3F4B5FE0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6/16/2024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6/16/2024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6/16/2024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6/16/2024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6/16/2024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6/16/2024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6/16/2024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6/16/2024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6/16/2024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6/16/2024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6/16/2024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6/16/2024</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2E936835-C132-4204-2E91-FE9D8E6EC671}"/>
              </a:ext>
            </a:extLst>
          </p:cNvPr>
          <p:cNvSpPr txBox="1"/>
          <p:nvPr/>
        </p:nvSpPr>
        <p:spPr>
          <a:xfrm>
            <a:off x="8118489" y="1456630"/>
            <a:ext cx="1951941" cy="2277547"/>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a:solidFill>
                  <a:srgbClr val="00AB80"/>
                </a:solidFill>
              </a:rPr>
              <a:t>Financial Services</a:t>
            </a:r>
          </a:p>
          <a:p>
            <a:pPr marL="0" indent="0">
              <a:lnSpc>
                <a:spcPct val="150000"/>
              </a:lnSpc>
              <a:buNone/>
            </a:pPr>
            <a:r>
              <a:rPr lang="en-GB" sz="1200">
                <a:solidFill>
                  <a:srgbClr val="00AB80"/>
                </a:solidFill>
              </a:rPr>
              <a:t>Insurance</a:t>
            </a:r>
          </a:p>
          <a:p>
            <a:pPr marL="0" indent="0">
              <a:lnSpc>
                <a:spcPct val="150000"/>
              </a:lnSpc>
              <a:buNone/>
            </a:pPr>
            <a:r>
              <a:rPr lang="en-GB" sz="1200">
                <a:solidFill>
                  <a:srgbClr val="00AB80"/>
                </a:solidFill>
              </a:rPr>
              <a:t>Healthcare</a:t>
            </a:r>
          </a:p>
          <a:p>
            <a:pPr marL="0" indent="0">
              <a:lnSpc>
                <a:spcPct val="150000"/>
              </a:lnSpc>
              <a:buNone/>
            </a:pPr>
            <a:r>
              <a:rPr lang="en-GB" sz="1200">
                <a:solidFill>
                  <a:srgbClr val="00AB80"/>
                </a:solidFill>
              </a:rPr>
              <a:t>Utilities</a:t>
            </a:r>
          </a:p>
          <a:p>
            <a:pPr marL="0" indent="0">
              <a:lnSpc>
                <a:spcPct val="150000"/>
              </a:lnSpc>
              <a:buNone/>
            </a:pPr>
            <a:r>
              <a:rPr lang="en-GB" sz="1200">
                <a:solidFill>
                  <a:srgbClr val="00AB80"/>
                </a:solidFill>
              </a:rPr>
              <a:t>Government</a:t>
            </a:r>
          </a:p>
          <a:p>
            <a:pPr marL="0" indent="0">
              <a:lnSpc>
                <a:spcPct val="150000"/>
              </a:lnSpc>
              <a:buNone/>
            </a:pPr>
            <a:r>
              <a:rPr lang="en-GB" sz="1200">
                <a:solidFill>
                  <a:srgbClr val="00AB80"/>
                </a:solidFill>
              </a:rPr>
              <a:t>Mining</a:t>
            </a:r>
          </a:p>
          <a:p>
            <a:pPr marL="0" indent="0">
              <a:lnSpc>
                <a:spcPct val="150000"/>
              </a:lnSpc>
              <a:buNone/>
            </a:pPr>
            <a:endParaRPr lang="en-GB" sz="1200">
              <a:solidFill>
                <a:srgbClr val="00AB80"/>
              </a:solidFill>
            </a:endParaRPr>
          </a:p>
          <a:p>
            <a:pPr marL="0" indent="0">
              <a:lnSpc>
                <a:spcPct val="150000"/>
              </a:lnSpc>
              <a:buNone/>
            </a:pPr>
            <a:endParaRPr lang="en-GB" sz="1200">
              <a:solidFill>
                <a:srgbClr val="00AB80"/>
              </a:solidFill>
            </a:endParaRPr>
          </a:p>
        </p:txBody>
      </p:sp>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Pratibha Chowdary</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50508" y="1634583"/>
            <a:ext cx="2904483" cy="3693319"/>
          </a:xfrm>
          <a:prstGeom prst="rect">
            <a:avLst/>
          </a:prstGeom>
          <a:noFill/>
        </p:spPr>
        <p:txBody>
          <a:bodyPr wrap="square" lIns="0" tIns="0" rIns="0" bIns="0" rtlCol="0" anchor="t">
            <a:spAutoFit/>
          </a:bodyPr>
          <a:lstStyle/>
          <a:p>
            <a:pPr algn="l"/>
            <a:r>
              <a:rPr lang="en-AU" sz="1000" spc="13">
                <a:latin typeface="Roboto Light"/>
                <a:ea typeface="Roboto Light"/>
                <a:cs typeface="Lato"/>
              </a:rPr>
              <a:t>Pratibha is a Google Cloud Certified Professional Data Engineer and Machine Learning Engineer, with excellent communication, interpersonal</a:t>
            </a:r>
          </a:p>
          <a:p>
            <a:pPr algn="l"/>
            <a:r>
              <a:rPr lang="en-AU" sz="1000" spc="13">
                <a:latin typeface="Roboto Light"/>
                <a:ea typeface="Roboto Light"/>
                <a:cs typeface="Lato"/>
              </a:rPr>
              <a:t>skills and a proactive approach to overcoming technical challenges. </a:t>
            </a:r>
          </a:p>
          <a:p>
            <a:pPr algn="l"/>
            <a:endParaRPr lang="en-AU" sz="1000" spc="13">
              <a:latin typeface="Roboto Light"/>
              <a:ea typeface="Roboto Light"/>
              <a:cs typeface="Lato"/>
            </a:endParaRPr>
          </a:p>
          <a:p>
            <a:pPr algn="l"/>
            <a:r>
              <a:rPr lang="en-AU" sz="1000" spc="13">
                <a:latin typeface="Roboto Light"/>
                <a:ea typeface="Roboto Light"/>
                <a:cs typeface="Lato"/>
              </a:rPr>
              <a:t>Pratibha has experience and skill in building and designing data ingestions with both streaming and batch pipeline frameworks in GCP using tools such as Dataflow, Cloud Storage, </a:t>
            </a:r>
            <a:r>
              <a:rPr lang="en-AU" sz="1000" spc="13" err="1">
                <a:latin typeface="Roboto Light"/>
                <a:ea typeface="Roboto Light"/>
                <a:cs typeface="Lato"/>
              </a:rPr>
              <a:t>BigQuery</a:t>
            </a:r>
            <a:r>
              <a:rPr lang="en-AU" sz="1000" spc="13">
                <a:latin typeface="Roboto Light"/>
                <a:ea typeface="Roboto Light"/>
                <a:cs typeface="Lato"/>
              </a:rPr>
              <a:t>, and Airflow. </a:t>
            </a:r>
          </a:p>
          <a:p>
            <a:pPr algn="l"/>
            <a:endParaRPr lang="en-AU" sz="1000" spc="13">
              <a:latin typeface="Roboto Light"/>
              <a:ea typeface="Roboto Light"/>
              <a:cs typeface="Lato"/>
            </a:endParaRPr>
          </a:p>
          <a:p>
            <a:pPr algn="l"/>
            <a:r>
              <a:rPr lang="en-AU" sz="1000" spc="13">
                <a:latin typeface="Roboto Light"/>
                <a:ea typeface="Roboto Light"/>
                <a:cs typeface="Lato"/>
              </a:rPr>
              <a:t>With experience in Financial Services and multiple industrial environments including mining, manufacturing, distribution, government, power and water utilities Pratibha has gained considerable experience and knowledge. These experiences also further fuelled her interest and understanding of data. </a:t>
            </a:r>
          </a:p>
          <a:p>
            <a:pPr algn="l"/>
            <a:endParaRPr lang="en-AU" sz="1000" spc="13">
              <a:latin typeface="Roboto Light"/>
              <a:ea typeface="Roboto Light"/>
              <a:cs typeface="Lato"/>
            </a:endParaRPr>
          </a:p>
          <a:p>
            <a:r>
              <a:rPr lang="en-AU" sz="1000" spc="13">
                <a:latin typeface="Roboto Light"/>
                <a:ea typeface="Roboto Light"/>
                <a:cs typeface="Lato"/>
              </a:rPr>
              <a:t>Pratibha has always had a fascination with data, she relishes any opportunity to use various Cloud Tools &amp; Services to deepen her understanding and delight the customer.</a:t>
            </a:r>
          </a:p>
          <a:p>
            <a:pPr algn="l"/>
            <a:endParaRPr lang="en-AU" sz="1000" spc="13">
              <a:latin typeface="Roboto Light"/>
              <a:ea typeface="Roboto Light"/>
              <a:cs typeface="Lato"/>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693950"/>
            <a:ext cx="1510046" cy="24468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Big Query</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Informatica</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Snowflake</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Tableau</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Google Data Studio</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SAP</a:t>
            </a:r>
          </a:p>
          <a:p>
            <a:pPr marL="171450" indent="-171450">
              <a:buClr>
                <a:srgbClr val="00AB80"/>
              </a:buClr>
              <a:buFont typeface="Arial" panose="020B0604020202020204" pitchFamily="34" charset="0"/>
              <a:buChar char="•"/>
            </a:pPr>
            <a:r>
              <a:rPr lang="en-US" sz="900" err="1">
                <a:latin typeface="Roboto Light" panose="02000000000000000000" pitchFamily="2" charset="0"/>
                <a:ea typeface="Roboto Light" panose="02000000000000000000" pitchFamily="2" charset="0"/>
              </a:rPr>
              <a:t>Linx</a:t>
            </a:r>
            <a:r>
              <a:rPr lang="en-US" sz="900">
                <a:latin typeface="Roboto Light" panose="02000000000000000000" pitchFamily="2" charset="0"/>
                <a:ea typeface="Roboto Light" panose="02000000000000000000" pitchFamily="2" charset="0"/>
              </a:rPr>
              <a:t>/Unix Scripting </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Jira</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Confluence</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C#</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Java</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.NET</a:t>
            </a: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a:buClr>
                <a:srgbClr val="00AB80"/>
              </a:buCl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319232"/>
            <a:ext cx="0" cy="2262168"/>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3276993"/>
            <a:ext cx="1648720" cy="215444"/>
          </a:xfrm>
          <a:prstGeom prst="rect">
            <a:avLst/>
          </a:prstGeom>
          <a:noFill/>
        </p:spPr>
        <p:txBody>
          <a:bodyPr wrap="none" lIns="0" tIns="0" rIns="0" bIns="0" rtlCol="0">
            <a:spAutoFit/>
          </a:bodyPr>
          <a:lstStyle/>
          <a:p>
            <a:pPr algn="ctr"/>
            <a:r>
              <a:rPr lang="en-US" sz="1400" b="1" spc="388">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619549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492437"/>
            <a:ext cx="1951941" cy="3046988"/>
            <a:chOff x="8106458" y="2681447"/>
            <a:chExt cx="1951941" cy="3046988"/>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3046988"/>
            </a:xfrm>
            <a:prstGeom prst="rect">
              <a:avLst/>
            </a:prstGeom>
            <a:noFill/>
          </p:spPr>
          <p:txBody>
            <a:bodyPr wrap="square">
              <a:spAutoFit/>
            </a:bodyPr>
            <a:lstStyle/>
            <a:p>
              <a:pPr>
                <a:tabLst>
                  <a:tab pos="3819525" algn="l"/>
                  <a:tab pos="3895725" algn="l"/>
                </a:tabLst>
              </a:pPr>
              <a:endParaRPr lang="en-AU" sz="120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a:solidFill>
                    <a:srgbClr val="00AB80"/>
                  </a:solidFill>
                  <a:effectLst/>
                  <a:latin typeface="Roboto Light" panose="02000000000000000000" pitchFamily="2" charset="0"/>
                  <a:ea typeface="Calibri" panose="020F0502020204030204" pitchFamily="34" charset="0"/>
                </a:rPr>
                <a:t>Google Cloud Certified | Professional Data Engineer</a:t>
              </a: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effectLst/>
                  <a:latin typeface="Roboto Light" panose="02000000000000000000" pitchFamily="2" charset="0"/>
                  <a:ea typeface="Calibri" panose="020F0502020204030204" pitchFamily="34" charset="0"/>
                </a:rPr>
                <a:t>Google Cloud Certified | Professional Machine Learning Engineer</a:t>
              </a: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err="1">
                  <a:solidFill>
                    <a:srgbClr val="00AB80"/>
                  </a:solidFill>
                  <a:latin typeface="Roboto Light" panose="02000000000000000000" pitchFamily="2" charset="0"/>
                  <a:ea typeface="Calibri" panose="020F0502020204030204" pitchFamily="34" charset="0"/>
                </a:rPr>
                <a:t>dbt</a:t>
              </a:r>
              <a:r>
                <a:rPr lang="en-GB" sz="1200">
                  <a:solidFill>
                    <a:srgbClr val="00AB80"/>
                  </a:solidFill>
                  <a:effectLst/>
                  <a:latin typeface="Roboto Light" panose="02000000000000000000" pitchFamily="2" charset="0"/>
                  <a:ea typeface="Calibri" panose="020F0502020204030204" pitchFamily="34" charset="0"/>
                </a:rPr>
                <a:t> Labs | Fundamentals</a:t>
              </a: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endParaRPr lang="en-GB" sz="120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latin typeface="Roboto Light" panose="02000000000000000000" pitchFamily="2" charset="0"/>
                  <a:ea typeface="Calibri" panose="020F0502020204030204" pitchFamily="34" charset="0"/>
                </a:rPr>
                <a:t>Graduate Certificate</a:t>
              </a:r>
              <a:r>
                <a:rPr lang="en-GB" sz="1200">
                  <a:solidFill>
                    <a:srgbClr val="00AB80"/>
                  </a:solidFill>
                  <a:effectLst/>
                  <a:latin typeface="Roboto Light" panose="02000000000000000000" pitchFamily="2" charset="0"/>
                  <a:ea typeface="Calibri" panose="020F0502020204030204" pitchFamily="34" charset="0"/>
                </a:rPr>
                <a:t> | </a:t>
              </a:r>
            </a:p>
            <a:p>
              <a:pPr>
                <a:tabLst>
                  <a:tab pos="3819525" algn="l"/>
                  <a:tab pos="3895725" algn="l"/>
                </a:tabLst>
              </a:pPr>
              <a:r>
                <a:rPr lang="en-GB" sz="1200">
                  <a:solidFill>
                    <a:srgbClr val="00AB80"/>
                  </a:solidFill>
                  <a:latin typeface="Roboto Light" panose="02000000000000000000" pitchFamily="2" charset="0"/>
                  <a:ea typeface="Calibri" panose="020F0502020204030204" pitchFamily="34" charset="0"/>
                </a:rPr>
                <a:t>Data</a:t>
              </a:r>
              <a:r>
                <a:rPr lang="en-GB" sz="1200">
                  <a:solidFill>
                    <a:srgbClr val="00AB80"/>
                  </a:solidFill>
                  <a:effectLst/>
                  <a:latin typeface="Roboto Light" panose="02000000000000000000" pitchFamily="2" charset="0"/>
                  <a:ea typeface="Calibri" panose="020F0502020204030204" pitchFamily="34" charset="0"/>
                </a:rPr>
                <a:t> Science</a:t>
              </a: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latin typeface="Roboto Light" panose="02000000000000000000" pitchFamily="2" charset="0"/>
                  <a:ea typeface="Calibri" panose="020F0502020204030204" pitchFamily="34" charset="0"/>
                </a:rPr>
                <a:t>Ment360 | Data Engineering Internship</a:t>
              </a: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27339" y="5698493"/>
            <a:ext cx="1557991" cy="21698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Google Cloud Platform</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AWS</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Analytics</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Wrangling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integration</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Cloud Computing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Project Management</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Software Development</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1026883"/>
            <a:ext cx="4631164" cy="461665"/>
          </a:xfrm>
          <a:prstGeom prst="rect">
            <a:avLst/>
          </a:prstGeom>
          <a:noFill/>
        </p:spPr>
        <p:txBody>
          <a:bodyPr wrap="square" rtlCol="0">
            <a:spAutoFit/>
          </a:bodyPr>
          <a:lstStyle/>
          <a:p>
            <a:r>
              <a:rPr lang="en-AU" sz="1200" b="1">
                <a:solidFill>
                  <a:srgbClr val="0059FF"/>
                </a:solidFill>
                <a:latin typeface="Roboto" panose="02000000000000000000" pitchFamily="2" charset="0"/>
                <a:ea typeface="Roboto" panose="02000000000000000000" pitchFamily="2" charset="0"/>
              </a:rPr>
              <a:t>Financial Services Organisation – Data Engineer</a:t>
            </a:r>
          </a:p>
          <a:p>
            <a:endParaRPr lang="en-AU" sz="1200" b="1">
              <a:solidFill>
                <a:srgbClr val="0059FF"/>
              </a:solidFill>
              <a:latin typeface="Roboto" panose="02000000000000000000" pitchFamily="2" charset="0"/>
              <a:ea typeface="Roboto" panose="02000000000000000000" pitchFamily="2" charset="0"/>
            </a:endParaRPr>
          </a:p>
        </p:txBody>
      </p:sp>
      <p:sp>
        <p:nvSpPr>
          <p:cNvPr id="12" name="TextBox 11">
            <a:extLst>
              <a:ext uri="{FF2B5EF4-FFF2-40B4-BE49-F238E27FC236}">
                <a16:creationId xmlns:a16="http://schemas.microsoft.com/office/drawing/2014/main" id="{70DE989F-A988-8C86-5720-1FE5B119EB30}"/>
              </a:ext>
            </a:extLst>
          </p:cNvPr>
          <p:cNvSpPr txBox="1"/>
          <p:nvPr/>
        </p:nvSpPr>
        <p:spPr>
          <a:xfrm>
            <a:off x="3463961" y="1232965"/>
            <a:ext cx="4533549" cy="2585323"/>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endParaRPr lang="en-US" sz="200">
              <a:solidFill>
                <a:schemeClr val="bg1"/>
              </a:solidFill>
            </a:endParaRPr>
          </a:p>
          <a:p>
            <a:r>
              <a:rPr lang="en-AU" sz="1000">
                <a:solidFill>
                  <a:schemeClr val="bg1"/>
                </a:solidFill>
              </a:rPr>
              <a:t>Effective stakeholder engagement to understand business requirements.</a:t>
            </a:r>
          </a:p>
          <a:p>
            <a:r>
              <a:rPr lang="en-AU" sz="1000">
                <a:solidFill>
                  <a:schemeClr val="bg1"/>
                </a:solidFill>
              </a:rPr>
              <a:t>Analysed business requirements and source systems to inform data strategies.</a:t>
            </a:r>
          </a:p>
          <a:p>
            <a:r>
              <a:rPr lang="en-AU" sz="1000">
                <a:solidFill>
                  <a:schemeClr val="bg1"/>
                </a:solidFill>
              </a:rPr>
              <a:t>Developed understanding of on-prem Kafka topics for improved data delivery</a:t>
            </a:r>
          </a:p>
          <a:p>
            <a:r>
              <a:rPr lang="en-AU" sz="1000">
                <a:solidFill>
                  <a:schemeClr val="bg1"/>
                </a:solidFill>
              </a:rPr>
              <a:t>Designed &amp; built data ingestions – both streaming and batch pipeline framework in GCP using Dataflow, Cloud Storage, </a:t>
            </a:r>
            <a:r>
              <a:rPr lang="en-AU" sz="1000" err="1">
                <a:solidFill>
                  <a:schemeClr val="bg1"/>
                </a:solidFill>
              </a:rPr>
              <a:t>BigQuery</a:t>
            </a:r>
            <a:r>
              <a:rPr lang="en-AU" sz="1000">
                <a:solidFill>
                  <a:schemeClr val="bg1"/>
                </a:solidFill>
              </a:rPr>
              <a:t>, Airflow, Cloud Logging &amp; Monitoring and various other tools</a:t>
            </a:r>
          </a:p>
          <a:p>
            <a:r>
              <a:rPr lang="en-AU" sz="1000">
                <a:solidFill>
                  <a:schemeClr val="bg1"/>
                </a:solidFill>
              </a:rPr>
              <a:t>Optimised data pipelines for improved efficiency and scalability</a:t>
            </a:r>
          </a:p>
          <a:p>
            <a:r>
              <a:rPr lang="en-AU" sz="1000">
                <a:solidFill>
                  <a:schemeClr val="bg1"/>
                </a:solidFill>
              </a:rPr>
              <a:t>Developed solution designs for data masking to enhance data privacy &amp; security</a:t>
            </a:r>
          </a:p>
          <a:p>
            <a:r>
              <a:rPr lang="en-AU" sz="1000">
                <a:solidFill>
                  <a:schemeClr val="bg1"/>
                </a:solidFill>
              </a:rPr>
              <a:t>Developed comprehensive technical documentation for project</a:t>
            </a:r>
          </a:p>
          <a:p>
            <a:r>
              <a:rPr lang="en-AU" sz="1000">
                <a:solidFill>
                  <a:schemeClr val="bg1"/>
                </a:solidFill>
              </a:rPr>
              <a:t>Utilised Vault Speed for creating data vault structures in the raw vault, business vault &amp; business consumption layers</a:t>
            </a:r>
          </a:p>
          <a:p>
            <a:r>
              <a:rPr lang="en-AU" sz="1000">
                <a:solidFill>
                  <a:schemeClr val="bg1"/>
                </a:solidFill>
              </a:rPr>
              <a:t>Utilised Looker for data visualisation and reporting</a:t>
            </a:r>
          </a:p>
          <a:p>
            <a:endParaRPr lang="en-AU" sz="1000">
              <a:solidFill>
                <a:schemeClr val="bg1"/>
              </a:solidFill>
            </a:endParaRPr>
          </a:p>
        </p:txBody>
      </p:sp>
      <p:grpSp>
        <p:nvGrpSpPr>
          <p:cNvPr id="45" name="Group 44">
            <a:extLst>
              <a:ext uri="{FF2B5EF4-FFF2-40B4-BE49-F238E27FC236}">
                <a16:creationId xmlns:a16="http://schemas.microsoft.com/office/drawing/2014/main" id="{7C004A0F-26FD-81BE-0DC7-EDCD01D4194B}"/>
              </a:ext>
            </a:extLst>
          </p:cNvPr>
          <p:cNvGrpSpPr/>
          <p:nvPr/>
        </p:nvGrpSpPr>
        <p:grpSpPr>
          <a:xfrm>
            <a:off x="3335753" y="3689641"/>
            <a:ext cx="5029198" cy="2467018"/>
            <a:chOff x="3335753" y="2997642"/>
            <a:chExt cx="5029198" cy="2620440"/>
          </a:xfrm>
        </p:grpSpPr>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3428144" y="3336592"/>
              <a:ext cx="0" cy="1994477"/>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FA774CA-3857-9308-4D38-9414B0CC2B95}"/>
                </a:ext>
              </a:extLst>
            </p:cNvPr>
            <p:cNvSpPr txBox="1"/>
            <p:nvPr/>
          </p:nvSpPr>
          <p:spPr>
            <a:xfrm>
              <a:off x="3335753" y="2997642"/>
              <a:ext cx="5029198" cy="490375"/>
            </a:xfrm>
            <a:prstGeom prst="rect">
              <a:avLst/>
            </a:prstGeom>
            <a:noFill/>
          </p:spPr>
          <p:txBody>
            <a:bodyPr wrap="square" rtlCol="0">
              <a:spAutoFit/>
            </a:bodyPr>
            <a:lstStyle/>
            <a:p>
              <a:r>
                <a:rPr lang="en-AU" sz="1200" b="1">
                  <a:solidFill>
                    <a:srgbClr val="ED7D31"/>
                  </a:solidFill>
                  <a:latin typeface="Roboto" panose="02000000000000000000" pitchFamily="2" charset="0"/>
                  <a:ea typeface="Roboto" panose="02000000000000000000" pitchFamily="2" charset="0"/>
                </a:rPr>
                <a:t>Financial Services Organisation – Data Engineer</a:t>
              </a:r>
            </a:p>
            <a:p>
              <a:endParaRPr lang="en-AU" sz="1200" b="1">
                <a:solidFill>
                  <a:srgbClr val="ED7D31"/>
                </a:solidFill>
                <a:latin typeface="Roboto" panose="02000000000000000000" pitchFamily="2" charset="0"/>
                <a:ea typeface="Roboto" panose="02000000000000000000" pitchFamily="2" charset="0"/>
              </a:endParaRPr>
            </a:p>
          </p:txBody>
        </p:sp>
        <p:sp>
          <p:nvSpPr>
            <p:cNvPr id="31" name="TextBox 30">
              <a:extLst>
                <a:ext uri="{FF2B5EF4-FFF2-40B4-BE49-F238E27FC236}">
                  <a16:creationId xmlns:a16="http://schemas.microsoft.com/office/drawing/2014/main" id="{5D644C1D-FE62-9752-27C7-42A94F729A86}"/>
                </a:ext>
              </a:extLst>
            </p:cNvPr>
            <p:cNvSpPr txBox="1"/>
            <p:nvPr/>
          </p:nvSpPr>
          <p:spPr>
            <a:xfrm>
              <a:off x="3455045" y="3198896"/>
              <a:ext cx="4580414" cy="2419186"/>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200"/>
            </a:p>
            <a:p>
              <a:r>
                <a:rPr lang="en-AU" sz="1000"/>
                <a:t>Created a financial information aggregator dashboard in GCP</a:t>
              </a:r>
            </a:p>
            <a:p>
              <a:r>
                <a:rPr lang="en-AU" sz="1000"/>
                <a:t>Created visualisations for money movement in both public &amp; private markets</a:t>
              </a:r>
            </a:p>
            <a:p>
              <a:r>
                <a:rPr lang="en-AU" sz="1000"/>
                <a:t>Followed Agile Methodology for completion of the project, done in 4 sprints using tools such as Confluence, Jira Board &amp; GitHub</a:t>
              </a:r>
            </a:p>
            <a:p>
              <a:r>
                <a:rPr lang="en-AU" sz="1000"/>
                <a:t>Used Cloud Pub/Sub for real-time data ingestion in JSON </a:t>
              </a:r>
            </a:p>
            <a:p>
              <a:r>
                <a:rPr lang="en-AU" sz="1000"/>
                <a:t>Used Dataflow to create a data pipeline to consume real-time data from Cloud Pub/Sub and batch data from Google Cloud Storage </a:t>
              </a:r>
            </a:p>
            <a:p>
              <a:r>
                <a:rPr lang="en-AU" sz="1000"/>
                <a:t>Used Apache Beam to write the result into a data sink in </a:t>
              </a:r>
              <a:r>
                <a:rPr lang="en-AU" sz="1000" err="1"/>
                <a:t>BigQuery</a:t>
              </a:r>
              <a:endParaRPr lang="en-AU" sz="1000"/>
            </a:p>
            <a:p>
              <a:r>
                <a:rPr lang="en-AU" sz="1000"/>
                <a:t>Used Google Data </a:t>
              </a:r>
              <a:r>
                <a:rPr lang="en-AU" sz="1000" err="1"/>
                <a:t>Catalog</a:t>
              </a:r>
              <a:r>
                <a:rPr lang="en-AU" sz="1000"/>
                <a:t> to perform data discovery and metadata management</a:t>
              </a:r>
            </a:p>
            <a:p>
              <a:r>
                <a:rPr lang="en-AU" sz="1000"/>
                <a:t>Used Data Studio with </a:t>
              </a:r>
              <a:r>
                <a:rPr lang="en-AU" sz="1000" err="1"/>
                <a:t>BigQuery</a:t>
              </a:r>
              <a:r>
                <a:rPr lang="en-AU" sz="1000"/>
                <a:t> dataset, reports &amp; dashboards to help identify trends</a:t>
              </a:r>
            </a:p>
            <a:p>
              <a:r>
                <a:rPr lang="en-AU" sz="1000"/>
                <a:t>Used GitHub for code versioning and Cloud Build for CI/CD</a:t>
              </a:r>
            </a:p>
            <a:p>
              <a:endParaRPr lang="en-AU" sz="1000"/>
            </a:p>
          </p:txBody>
        </p:sp>
      </p:grpSp>
      <p:grpSp>
        <p:nvGrpSpPr>
          <p:cNvPr id="10" name="Group 9">
            <a:extLst>
              <a:ext uri="{FF2B5EF4-FFF2-40B4-BE49-F238E27FC236}">
                <a16:creationId xmlns:a16="http://schemas.microsoft.com/office/drawing/2014/main" id="{A6927CF3-C0AD-7B0E-CC21-BDD13E4FAF2F}"/>
              </a:ext>
            </a:extLst>
          </p:cNvPr>
          <p:cNvGrpSpPr/>
          <p:nvPr/>
        </p:nvGrpSpPr>
        <p:grpSpPr>
          <a:xfrm>
            <a:off x="3376557" y="6073810"/>
            <a:ext cx="4782734" cy="1768308"/>
            <a:chOff x="3376557" y="5839607"/>
            <a:chExt cx="4782734" cy="1768308"/>
          </a:xfrm>
        </p:grpSpPr>
        <p:sp>
          <p:nvSpPr>
            <p:cNvPr id="55" name="TextBox 54">
              <a:extLst>
                <a:ext uri="{FF2B5EF4-FFF2-40B4-BE49-F238E27FC236}">
                  <a16:creationId xmlns:a16="http://schemas.microsoft.com/office/drawing/2014/main" id="{20D856C0-6C6C-30D2-8947-79D3F4B5FE07}"/>
                </a:ext>
              </a:extLst>
            </p:cNvPr>
            <p:cNvSpPr txBox="1"/>
            <p:nvPr/>
          </p:nvSpPr>
          <p:spPr>
            <a:xfrm>
              <a:off x="3376557" y="5839607"/>
              <a:ext cx="4782734" cy="461665"/>
            </a:xfrm>
            <a:prstGeom prst="rect">
              <a:avLst/>
            </a:prstGeom>
            <a:noFill/>
          </p:spPr>
          <p:txBody>
            <a:bodyPr wrap="square" rtlCol="0">
              <a:spAutoFit/>
            </a:bodyPr>
            <a:lstStyle/>
            <a:p>
              <a:r>
                <a:rPr lang="en-AU" sz="1200" b="1">
                  <a:solidFill>
                    <a:srgbClr val="A93584"/>
                  </a:solidFill>
                  <a:latin typeface="Roboto" panose="02000000000000000000" pitchFamily="2" charset="0"/>
                  <a:ea typeface="Roboto" panose="02000000000000000000" pitchFamily="2" charset="0"/>
                </a:rPr>
                <a:t>Engineering Organisation – Program Manager</a:t>
              </a:r>
            </a:p>
            <a:p>
              <a:endParaRPr lang="en-AU" sz="1200" b="1">
                <a:solidFill>
                  <a:srgbClr val="A93584"/>
                </a:solidFill>
                <a:latin typeface="Roboto" panose="02000000000000000000" pitchFamily="2" charset="0"/>
                <a:ea typeface="Roboto" panose="02000000000000000000" pitchFamily="2" charset="0"/>
              </a:endParaRPr>
            </a:p>
          </p:txBody>
        </p:sp>
        <p:sp>
          <p:nvSpPr>
            <p:cNvPr id="54" name="TextBox 53">
              <a:extLst>
                <a:ext uri="{FF2B5EF4-FFF2-40B4-BE49-F238E27FC236}">
                  <a16:creationId xmlns:a16="http://schemas.microsoft.com/office/drawing/2014/main" id="{4F1DF6EC-2D10-1310-483C-35027A70DDA1}"/>
                </a:ext>
              </a:extLst>
            </p:cNvPr>
            <p:cNvSpPr txBox="1"/>
            <p:nvPr/>
          </p:nvSpPr>
          <p:spPr>
            <a:xfrm>
              <a:off x="3469641" y="5976699"/>
              <a:ext cx="4527866" cy="1631216"/>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r>
                <a:rPr lang="en-AU"/>
                <a:t>Coordinated program of maintenance, remediation, and refurbishment projects across mechanical, electrical, civil and structural, telecom engineering projects in Asia</a:t>
              </a:r>
            </a:p>
            <a:p>
              <a:r>
                <a:rPr lang="en-AU"/>
                <a:t>Oversee the program of projects from bid to execution</a:t>
              </a:r>
            </a:p>
            <a:p>
              <a:r>
                <a:rPr lang="en-AU"/>
                <a:t>Coordinated the tendering, project procurement, project planning and delivery, aspects of the program for government projects in Asia</a:t>
              </a:r>
            </a:p>
            <a:p>
              <a:r>
                <a:rPr lang="en-AU"/>
                <a:t>Led program oversight for the program in excess of $40 million</a:t>
              </a:r>
            </a:p>
            <a:p>
              <a:r>
                <a:rPr lang="en-AU"/>
                <a:t>Coordinated the development of a confidential and discreet Al investment project. </a:t>
              </a:r>
            </a:p>
            <a:p>
              <a:endParaRPr lang="en-AU"/>
            </a:p>
          </p:txBody>
        </p:sp>
        <p:cxnSp>
          <p:nvCxnSpPr>
            <p:cNvPr id="56" name="Straight Connector 55">
              <a:extLst>
                <a:ext uri="{FF2B5EF4-FFF2-40B4-BE49-F238E27FC236}">
                  <a16:creationId xmlns:a16="http://schemas.microsoft.com/office/drawing/2014/main" id="{C0271841-9AD2-76A9-36A3-77AD3CD1ED17}"/>
                </a:ext>
              </a:extLst>
            </p:cNvPr>
            <p:cNvCxnSpPr>
              <a:cxnSpLocks/>
            </p:cNvCxnSpPr>
            <p:nvPr/>
          </p:nvCxnSpPr>
          <p:spPr>
            <a:xfrm>
              <a:off x="3430684" y="6058657"/>
              <a:ext cx="0" cy="1375912"/>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A58EE98-E40B-4889-803A-51CA868E706B}">
  <ds:schemaRefs>
    <ds:schemaRef ds:uri="daf93972-1964-4522-aa34-640805a01c3a"/>
    <ds:schemaRef ds:uri="e52cd9e7-35e5-4bd3-9cab-ca6a63c31e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EAAB431-6FA9-4678-BFEA-63CD1CAD6FC2}">
  <ds:schemaRefs>
    <ds:schemaRef ds:uri="http://schemas.microsoft.com/sharepoint/v3/contenttype/forms"/>
  </ds:schemaRefs>
</ds:datastoreItem>
</file>

<file path=customXml/itemProps3.xml><?xml version="1.0" encoding="utf-8"?>
<ds:datastoreItem xmlns:ds="http://schemas.openxmlformats.org/officeDocument/2006/customXml" ds:itemID="{B79DDFC6-124A-4859-BB62-4C7039BA48C0}">
  <ds:schemaRefs>
    <ds:schemaRef ds:uri="daf93972-1964-4522-aa34-640805a01c3a"/>
    <ds:schemaRef ds:uri="e52cd9e7-35e5-4bd3-9cab-ca6a63c31e5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Custom</PresentationFormat>
  <Slides>1</Slides>
  <Notes>0</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revision>1</cp:revision>
  <dcterms:created xsi:type="dcterms:W3CDTF">2019-12-03T01:50:37Z</dcterms:created>
  <dcterms:modified xsi:type="dcterms:W3CDTF">2024-06-16T23:38:13Z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