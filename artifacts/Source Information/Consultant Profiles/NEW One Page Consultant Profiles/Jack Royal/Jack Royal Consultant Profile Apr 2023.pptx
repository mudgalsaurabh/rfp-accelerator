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1"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8216C5-8109-4532-9BA3-53D642875343}" v="3" dt="2023-04-11T05:55:12.1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588"/>
    <p:restoredTop sz="95595"/>
  </p:normalViewPr>
  <p:slideViewPr>
    <p:cSldViewPr snapToGrid="0" snapToObjects="1">
      <p:cViewPr varScale="1">
        <p:scale>
          <a:sx n="101" d="100"/>
          <a:sy n="101" d="100"/>
        </p:scale>
        <p:origin x="2148"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C18216C5-8109-4532-9BA3-53D642875343}"/>
    <pc:docChg chg="undo custSel addSld delSld modSld">
      <pc:chgData name="Darcy Roach" userId="ba676ee9-e9b4-49e8-a515-8077106c948d" providerId="ADAL" clId="{C18216C5-8109-4532-9BA3-53D642875343}" dt="2023-04-11T06:25:57.028" v="1585" actId="47"/>
      <pc:docMkLst>
        <pc:docMk/>
      </pc:docMkLst>
      <pc:sldChg chg="addSp delSp modSp del mod">
        <pc:chgData name="Darcy Roach" userId="ba676ee9-e9b4-49e8-a515-8077106c948d" providerId="ADAL" clId="{C18216C5-8109-4532-9BA3-53D642875343}" dt="2023-04-11T06:25:57.028" v="1585" actId="47"/>
        <pc:sldMkLst>
          <pc:docMk/>
          <pc:sldMk cId="2009923557" sldId="270"/>
        </pc:sldMkLst>
        <pc:spChg chg="mod">
          <ac:chgData name="Darcy Roach" userId="ba676ee9-e9b4-49e8-a515-8077106c948d" providerId="ADAL" clId="{C18216C5-8109-4532-9BA3-53D642875343}" dt="2023-04-10T23:58:16.876" v="289" actId="20577"/>
          <ac:spMkLst>
            <pc:docMk/>
            <pc:sldMk cId="2009923557" sldId="270"/>
            <ac:spMk id="4" creationId="{80F49B2F-21D4-F9EB-049F-717A10CB7D84}"/>
          </ac:spMkLst>
        </pc:spChg>
        <pc:spChg chg="mod">
          <ac:chgData name="Darcy Roach" userId="ba676ee9-e9b4-49e8-a515-8077106c948d" providerId="ADAL" clId="{C18216C5-8109-4532-9BA3-53D642875343}" dt="2023-04-11T01:11:21.003" v="864" actId="20577"/>
          <ac:spMkLst>
            <pc:docMk/>
            <pc:sldMk cId="2009923557" sldId="270"/>
            <ac:spMk id="6" creationId="{701E125D-B356-8A2A-B86B-AB6567CEABE1}"/>
          </ac:spMkLst>
        </pc:spChg>
        <pc:spChg chg="mod">
          <ac:chgData name="Darcy Roach" userId="ba676ee9-e9b4-49e8-a515-8077106c948d" providerId="ADAL" clId="{C18216C5-8109-4532-9BA3-53D642875343}" dt="2023-04-11T05:57:03.155" v="990" actId="20577"/>
          <ac:spMkLst>
            <pc:docMk/>
            <pc:sldMk cId="2009923557" sldId="270"/>
            <ac:spMk id="8" creationId="{59FEB941-5146-6B10-4E4D-8A4ADE918AEF}"/>
          </ac:spMkLst>
        </pc:spChg>
        <pc:spChg chg="mod">
          <ac:chgData name="Darcy Roach" userId="ba676ee9-e9b4-49e8-a515-8077106c948d" providerId="ADAL" clId="{C18216C5-8109-4532-9BA3-53D642875343}" dt="2023-04-05T01:46:49.076" v="28" actId="20577"/>
          <ac:spMkLst>
            <pc:docMk/>
            <pc:sldMk cId="2009923557" sldId="270"/>
            <ac:spMk id="13" creationId="{FD2720C9-A79F-BD7F-E179-674AD67D7892}"/>
          </ac:spMkLst>
        </pc:spChg>
        <pc:spChg chg="mod">
          <ac:chgData name="Darcy Roach" userId="ba676ee9-e9b4-49e8-a515-8077106c948d" providerId="ADAL" clId="{C18216C5-8109-4532-9BA3-53D642875343}" dt="2023-04-11T00:25:48.250" v="652" actId="20577"/>
          <ac:spMkLst>
            <pc:docMk/>
            <pc:sldMk cId="2009923557" sldId="270"/>
            <ac:spMk id="17" creationId="{1BDE5051-9F34-F139-742D-4450E5D6591E}"/>
          </ac:spMkLst>
        </pc:spChg>
        <pc:spChg chg="mod">
          <ac:chgData name="Darcy Roach" userId="ba676ee9-e9b4-49e8-a515-8077106c948d" providerId="ADAL" clId="{C18216C5-8109-4532-9BA3-53D642875343}" dt="2023-04-11T06:12:38.299" v="1315" actId="20577"/>
          <ac:spMkLst>
            <pc:docMk/>
            <pc:sldMk cId="2009923557" sldId="270"/>
            <ac:spMk id="19" creationId="{7513C49A-2DF2-8111-FED4-FC07A8EAD258}"/>
          </ac:spMkLst>
        </pc:spChg>
        <pc:spChg chg="mod">
          <ac:chgData name="Darcy Roach" userId="ba676ee9-e9b4-49e8-a515-8077106c948d" providerId="ADAL" clId="{C18216C5-8109-4532-9BA3-53D642875343}" dt="2023-04-10T23:56:47.536" v="243" actId="20577"/>
          <ac:spMkLst>
            <pc:docMk/>
            <pc:sldMk cId="2009923557" sldId="270"/>
            <ac:spMk id="26" creationId="{1A3D666D-00C8-D106-73C3-9FF300F8618C}"/>
          </ac:spMkLst>
        </pc:spChg>
        <pc:spChg chg="mod">
          <ac:chgData name="Darcy Roach" userId="ba676ee9-e9b4-49e8-a515-8077106c948d" providerId="ADAL" clId="{C18216C5-8109-4532-9BA3-53D642875343}" dt="2023-04-11T06:10:28.819" v="1269" actId="20577"/>
          <ac:spMkLst>
            <pc:docMk/>
            <pc:sldMk cId="2009923557" sldId="270"/>
            <ac:spMk id="28" creationId="{6059F888-3BDF-A1C0-65E5-CB6FDD43D97C}"/>
          </ac:spMkLst>
        </pc:spChg>
        <pc:spChg chg="add del mod">
          <ac:chgData name="Darcy Roach" userId="ba676ee9-e9b4-49e8-a515-8077106c948d" providerId="ADAL" clId="{C18216C5-8109-4532-9BA3-53D642875343}" dt="2023-04-11T05:55:04.753" v="954"/>
          <ac:spMkLst>
            <pc:docMk/>
            <pc:sldMk cId="2009923557" sldId="270"/>
            <ac:spMk id="29" creationId="{3DD85DA8-5411-3A0F-4C94-AE7CB3167332}"/>
          </ac:spMkLst>
        </pc:spChg>
        <pc:spChg chg="add mod">
          <ac:chgData name="Darcy Roach" userId="ba676ee9-e9b4-49e8-a515-8077106c948d" providerId="ADAL" clId="{C18216C5-8109-4532-9BA3-53D642875343}" dt="2023-04-11T05:55:12.170" v="956"/>
          <ac:spMkLst>
            <pc:docMk/>
            <pc:sldMk cId="2009923557" sldId="270"/>
            <ac:spMk id="30" creationId="{74222436-425F-25EB-B5D7-E7D8B8D50B1C}"/>
          </ac:spMkLst>
        </pc:spChg>
        <pc:spChg chg="mod">
          <ac:chgData name="Darcy Roach" userId="ba676ee9-e9b4-49e8-a515-8077106c948d" providerId="ADAL" clId="{C18216C5-8109-4532-9BA3-53D642875343}" dt="2023-04-11T01:00:00.605" v="653" actId="14100"/>
          <ac:spMkLst>
            <pc:docMk/>
            <pc:sldMk cId="2009923557" sldId="270"/>
            <ac:spMk id="38" creationId="{AB47A2EE-BF0B-DB05-8B7C-DB6594B2B3D5}"/>
          </ac:spMkLst>
        </pc:spChg>
        <pc:spChg chg="mod">
          <ac:chgData name="Darcy Roach" userId="ba676ee9-e9b4-49e8-a515-8077106c948d" providerId="ADAL" clId="{C18216C5-8109-4532-9BA3-53D642875343}" dt="2023-04-11T05:55:10.859" v="955" actId="1076"/>
          <ac:spMkLst>
            <pc:docMk/>
            <pc:sldMk cId="2009923557" sldId="270"/>
            <ac:spMk id="39" creationId="{3EA81938-6A76-B850-B0E8-A5F905AEBA98}"/>
          </ac:spMkLst>
        </pc:spChg>
        <pc:spChg chg="del mod">
          <ac:chgData name="Darcy Roach" userId="ba676ee9-e9b4-49e8-a515-8077106c948d" providerId="ADAL" clId="{C18216C5-8109-4532-9BA3-53D642875343}" dt="2023-04-11T05:54:49.487" v="951" actId="21"/>
          <ac:spMkLst>
            <pc:docMk/>
            <pc:sldMk cId="2009923557" sldId="270"/>
            <ac:spMk id="175" creationId="{B9775FC7-7124-8CCA-9B1C-7CCD7D3DF384}"/>
          </ac:spMkLst>
        </pc:spChg>
        <pc:grpChg chg="mod">
          <ac:chgData name="Darcy Roach" userId="ba676ee9-e9b4-49e8-a515-8077106c948d" providerId="ADAL" clId="{C18216C5-8109-4532-9BA3-53D642875343}" dt="2023-04-11T05:55:10.859" v="955" actId="1076"/>
          <ac:grpSpMkLst>
            <pc:docMk/>
            <pc:sldMk cId="2009923557" sldId="270"/>
            <ac:grpSpMk id="5" creationId="{980A06B1-0A2F-7DF6-91DB-0F6DFA896A23}"/>
          </ac:grpSpMkLst>
        </pc:grpChg>
        <pc:grpChg chg="mod">
          <ac:chgData name="Darcy Roach" userId="ba676ee9-e9b4-49e8-a515-8077106c948d" providerId="ADAL" clId="{C18216C5-8109-4532-9BA3-53D642875343}" dt="2023-04-11T06:13:44.954" v="1316" actId="1076"/>
          <ac:grpSpMkLst>
            <pc:docMk/>
            <pc:sldMk cId="2009923557" sldId="270"/>
            <ac:grpSpMk id="9" creationId="{E7DD910D-15D0-5CBC-B70B-D2480ECA3DCA}"/>
          </ac:grpSpMkLst>
        </pc:grpChg>
        <pc:grpChg chg="mod">
          <ac:chgData name="Darcy Roach" userId="ba676ee9-e9b4-49e8-a515-8077106c948d" providerId="ADAL" clId="{C18216C5-8109-4532-9BA3-53D642875343}" dt="2023-04-11T01:12:05.893" v="865" actId="1076"/>
          <ac:grpSpMkLst>
            <pc:docMk/>
            <pc:sldMk cId="2009923557" sldId="270"/>
            <ac:grpSpMk id="12" creationId="{C465E181-1D5D-D878-8A71-F5848AAF858F}"/>
          </ac:grpSpMkLst>
        </pc:grpChg>
        <pc:cxnChg chg="mod">
          <ac:chgData name="Darcy Roach" userId="ba676ee9-e9b4-49e8-a515-8077106c948d" providerId="ADAL" clId="{C18216C5-8109-4532-9BA3-53D642875343}" dt="2023-04-11T06:00:02.560" v="992" actId="14100"/>
          <ac:cxnSpMkLst>
            <pc:docMk/>
            <pc:sldMk cId="2009923557" sldId="270"/>
            <ac:cxnSpMk id="3" creationId="{67C34E10-2CF8-9BCA-1CC6-D78A3FF9CA80}"/>
          </ac:cxnSpMkLst>
        </pc:cxnChg>
        <pc:cxnChg chg="mod">
          <ac:chgData name="Darcy Roach" userId="ba676ee9-e9b4-49e8-a515-8077106c948d" providerId="ADAL" clId="{C18216C5-8109-4532-9BA3-53D642875343}" dt="2023-04-11T06:10:50.552" v="1271" actId="14100"/>
          <ac:cxnSpMkLst>
            <pc:docMk/>
            <pc:sldMk cId="2009923557" sldId="270"/>
            <ac:cxnSpMk id="21" creationId="{B0913DE4-461D-CE43-AABC-C4B3D7D22F45}"/>
          </ac:cxnSpMkLst>
        </pc:cxnChg>
        <pc:cxnChg chg="mod">
          <ac:chgData name="Darcy Roach" userId="ba676ee9-e9b4-49e8-a515-8077106c948d" providerId="ADAL" clId="{C18216C5-8109-4532-9BA3-53D642875343}" dt="2023-04-11T05:55:17.643" v="957" actId="14100"/>
          <ac:cxnSpMkLst>
            <pc:docMk/>
            <pc:sldMk cId="2009923557" sldId="270"/>
            <ac:cxnSpMk id="170" creationId="{0D51728F-48BB-14BB-256E-5F0C0284BCDF}"/>
          </ac:cxnSpMkLst>
        </pc:cxnChg>
      </pc:sldChg>
      <pc:sldChg chg="modSp add mod">
        <pc:chgData name="Darcy Roach" userId="ba676ee9-e9b4-49e8-a515-8077106c948d" providerId="ADAL" clId="{C18216C5-8109-4532-9BA3-53D642875343}" dt="2023-04-11T06:25:30.825" v="1584" actId="20577"/>
        <pc:sldMkLst>
          <pc:docMk/>
          <pc:sldMk cId="229752085" sldId="271"/>
        </pc:sldMkLst>
        <pc:spChg chg="mod">
          <ac:chgData name="Darcy Roach" userId="ba676ee9-e9b4-49e8-a515-8077106c948d" providerId="ADAL" clId="{C18216C5-8109-4532-9BA3-53D642875343}" dt="2023-04-11T06:25:30.825" v="1584" actId="20577"/>
          <ac:spMkLst>
            <pc:docMk/>
            <pc:sldMk cId="229752085" sldId="271"/>
            <ac:spMk id="4" creationId="{80F49B2F-21D4-F9EB-049F-717A10CB7D84}"/>
          </ac:spMkLst>
        </pc:spChg>
        <pc:spChg chg="mod">
          <ac:chgData name="Darcy Roach" userId="ba676ee9-e9b4-49e8-a515-8077106c948d" providerId="ADAL" clId="{C18216C5-8109-4532-9BA3-53D642875343}" dt="2023-04-11T06:18:41.466" v="1479" actId="1076"/>
          <ac:spMkLst>
            <pc:docMk/>
            <pc:sldMk cId="229752085" sldId="271"/>
            <ac:spMk id="6" creationId="{701E125D-B356-8A2A-B86B-AB6567CEABE1}"/>
          </ac:spMkLst>
        </pc:spChg>
        <pc:spChg chg="mod">
          <ac:chgData name="Darcy Roach" userId="ba676ee9-e9b4-49e8-a515-8077106c948d" providerId="ADAL" clId="{C18216C5-8109-4532-9BA3-53D642875343}" dt="2023-04-11T06:20:48.414" v="1496" actId="20577"/>
          <ac:spMkLst>
            <pc:docMk/>
            <pc:sldMk cId="229752085" sldId="271"/>
            <ac:spMk id="8" creationId="{59FEB941-5146-6B10-4E4D-8A4ADE918AEF}"/>
          </ac:spMkLst>
        </pc:spChg>
        <pc:spChg chg="mod">
          <ac:chgData name="Darcy Roach" userId="ba676ee9-e9b4-49e8-a515-8077106c948d" providerId="ADAL" clId="{C18216C5-8109-4532-9BA3-53D642875343}" dt="2023-04-11T06:21:47.765" v="1497" actId="20577"/>
          <ac:spMkLst>
            <pc:docMk/>
            <pc:sldMk cId="229752085" sldId="271"/>
            <ac:spMk id="17" creationId="{1BDE5051-9F34-F139-742D-4450E5D6591E}"/>
          </ac:spMkLst>
        </pc:spChg>
        <pc:grpChg chg="mod">
          <ac:chgData name="Darcy Roach" userId="ba676ee9-e9b4-49e8-a515-8077106c948d" providerId="ADAL" clId="{C18216C5-8109-4532-9BA3-53D642875343}" dt="2023-04-11T06:18:53.173" v="1480" actId="1076"/>
          <ac:grpSpMkLst>
            <pc:docMk/>
            <pc:sldMk cId="229752085" sldId="271"/>
            <ac:grpSpMk id="9" creationId="{E7DD910D-15D0-5CBC-B70B-D2480ECA3DCA}"/>
          </ac:grpSpMkLst>
        </pc:grpChg>
        <pc:cxnChg chg="mod">
          <ac:chgData name="Darcy Roach" userId="ba676ee9-e9b4-49e8-a515-8077106c948d" providerId="ADAL" clId="{C18216C5-8109-4532-9BA3-53D642875343}" dt="2023-04-11T06:19:22.095" v="1483" actId="14100"/>
          <ac:cxnSpMkLst>
            <pc:docMk/>
            <pc:sldMk cId="229752085" sldId="271"/>
            <ac:cxnSpMk id="3" creationId="{67C34E10-2CF8-9BCA-1CC6-D78A3FF9CA80}"/>
          </ac:cxnSpMkLst>
        </pc:cxnChg>
        <pc:cxnChg chg="mod">
          <ac:chgData name="Darcy Roach" userId="ba676ee9-e9b4-49e8-a515-8077106c948d" providerId="ADAL" clId="{C18216C5-8109-4532-9BA3-53D642875343}" dt="2023-04-11T06:19:02.364" v="1481" actId="14100"/>
          <ac:cxnSpMkLst>
            <pc:docMk/>
            <pc:sldMk cId="229752085" sldId="271"/>
            <ac:cxnSpMk id="21" creationId="{B0913DE4-461D-CE43-AABC-C4B3D7D22F4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4/11/2023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4/11/2023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4/11/2023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4/11/2023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760388"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Jack </a:t>
            </a:r>
          </a:p>
          <a:p>
            <a:r>
              <a:rPr lang="en-US" sz="2800" b="1" dirty="0">
                <a:solidFill>
                  <a:srgbClr val="00AB80"/>
                </a:solidFill>
                <a:latin typeface="Roboto" panose="02000000000000000000" pitchFamily="2" charset="0"/>
                <a:ea typeface="Roboto" panose="02000000000000000000" pitchFamily="2" charset="0"/>
              </a:rPr>
              <a:t>Royal</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34577" y="1560956"/>
            <a:ext cx="2794374" cy="3446456"/>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Jack is a skilled Data Engineer with an eye for detail and a passion for analytical and evidence-based thinking. Jack has great experience working on several solutions for public and private sector clients utilising a number of technologies including Apache Spark (</a:t>
            </a:r>
            <a:r>
              <a:rPr lang="en-AU" sz="1000" spc="13" dirty="0" err="1">
                <a:latin typeface="Roboto Light" panose="02000000000000000000" pitchFamily="2" charset="0"/>
                <a:ea typeface="Roboto Light" panose="02000000000000000000" pitchFamily="2" charset="0"/>
                <a:cs typeface="Lato" panose="020F0502020204030203" pitchFamily="34" charset="0"/>
              </a:rPr>
              <a:t>PySpark</a:t>
            </a:r>
            <a:r>
              <a:rPr lang="en-AU" sz="1000" spc="13" dirty="0">
                <a:latin typeface="Roboto Light" panose="02000000000000000000" pitchFamily="2" charset="0"/>
                <a:ea typeface="Roboto Light" panose="02000000000000000000" pitchFamily="2" charset="0"/>
                <a:cs typeface="Lato" panose="020F0502020204030203" pitchFamily="34" charset="0"/>
              </a:rPr>
              <a:t>), Python, R, SQL, Power BI, and various aspects of the Azure tech stack.</a:t>
            </a: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US" sz="1000" spc="13" dirty="0">
                <a:latin typeface="Roboto Light" panose="02000000000000000000" pitchFamily="2" charset="0"/>
                <a:ea typeface="Roboto Light" panose="02000000000000000000" pitchFamily="2" charset="0"/>
                <a:cs typeface="Lato" panose="020F0502020204030203" pitchFamily="34" charset="0"/>
              </a:rPr>
              <a:t>Jack is a fantastic communicator and demonstrates high-level interpersonal skills and excellence to solve complex problems. </a:t>
            </a:r>
            <a:r>
              <a:rPr lang="en-AU" sz="1000" spc="13" dirty="0">
                <a:latin typeface="Roboto Light" panose="02000000000000000000" pitchFamily="2" charset="0"/>
                <a:ea typeface="Roboto Light" panose="02000000000000000000" pitchFamily="2" charset="0"/>
                <a:cs typeface="Lato" panose="020F0502020204030203" pitchFamily="34" charset="0"/>
              </a:rPr>
              <a:t>He is often praised for his effective communication with all stakeholders and his ability to provide clarity on technical aspects of a project that can be easily understood by non-technical stakeholders.</a:t>
            </a:r>
          </a:p>
          <a:p>
            <a:pPr>
              <a:lnSpc>
                <a:spcPts val="1500"/>
              </a:lnSpc>
            </a:pP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Factory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Power BI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Apache Spark</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Excel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Power Query,</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Powershell</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CSS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HTML.</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56630"/>
            <a:ext cx="0" cy="3743143"/>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6473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59542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80179"/>
            <a:ext cx="1963971" cy="3785652"/>
            <a:chOff x="8106458" y="2681447"/>
            <a:chExt cx="1963971" cy="3785652"/>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1" cy="3785652"/>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Microsoft</a:t>
              </a:r>
              <a:r>
                <a:rPr lang="en-GB" sz="1200" dirty="0">
                  <a:solidFill>
                    <a:srgbClr val="00AB80"/>
                  </a:solidFill>
                  <a:effectLst/>
                  <a:latin typeface="Roboto Light" panose="02000000000000000000" pitchFamily="2" charset="0"/>
                  <a:ea typeface="Calibri" panose="020F0502020204030204" pitchFamily="34" charset="0"/>
                </a:rPr>
                <a:t> Certified | </a:t>
              </a:r>
              <a:r>
                <a:rPr lang="en-GB" sz="1200" dirty="0">
                  <a:solidFill>
                    <a:srgbClr val="00AB80"/>
                  </a:solidFill>
                  <a:latin typeface="Roboto Light" panose="02000000000000000000" pitchFamily="2" charset="0"/>
                  <a:ea typeface="Calibri" panose="020F0502020204030204" pitchFamily="34" charset="0"/>
                </a:rPr>
                <a:t>Azure Fundamentals</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err="1">
                  <a:solidFill>
                    <a:srgbClr val="00AB80"/>
                  </a:solidFill>
                  <a:latin typeface="Roboto Light" panose="02000000000000000000" pitchFamily="2" charset="0"/>
                  <a:ea typeface="Calibri" panose="020F0502020204030204" pitchFamily="34" charset="0"/>
                </a:rPr>
                <a:t>Linkedin</a:t>
              </a:r>
              <a:r>
                <a:rPr lang="en-GB" sz="1200" dirty="0">
                  <a:solidFill>
                    <a:srgbClr val="00AB80"/>
                  </a:solidFill>
                  <a:latin typeface="Roboto Light" panose="02000000000000000000" pitchFamily="2" charset="0"/>
                  <a:ea typeface="Calibri" panose="020F0502020204030204" pitchFamily="34" charset="0"/>
                </a:rPr>
                <a:t> Learning | Advanced SQL for Data Scientists</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Bachelor - Science, Computer Science |</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University of </a:t>
              </a:r>
              <a:r>
                <a:rPr lang="en-GB" sz="1200" dirty="0">
                  <a:solidFill>
                    <a:srgbClr val="00AB80"/>
                  </a:solidFill>
                  <a:latin typeface="Roboto Light" panose="02000000000000000000" pitchFamily="2" charset="0"/>
                  <a:ea typeface="Calibri" panose="020F0502020204030204" pitchFamily="34" charset="0"/>
                </a:rPr>
                <a:t>Otago,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New Zealand</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Applied Science, Data &amp; Information Science |</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University of </a:t>
              </a:r>
              <a:r>
                <a:rPr lang="en-GB" sz="1200" dirty="0">
                  <a:solidFill>
                    <a:srgbClr val="00AB80"/>
                  </a:solidFill>
                  <a:latin typeface="Roboto Light" panose="02000000000000000000" pitchFamily="2" charset="0"/>
                  <a:ea typeface="Calibri" panose="020F0502020204030204" pitchFamily="34" charset="0"/>
                </a:rPr>
                <a:t>Otago,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New Zealand</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grpSp>
        <p:nvGrpSpPr>
          <p:cNvPr id="12" name="Group 11">
            <a:extLst>
              <a:ext uri="{FF2B5EF4-FFF2-40B4-BE49-F238E27FC236}">
                <a16:creationId xmlns:a16="http://schemas.microsoft.com/office/drawing/2014/main" id="{C465E181-1D5D-D878-8A71-F5848AAF858F}"/>
              </a:ext>
            </a:extLst>
          </p:cNvPr>
          <p:cNvGrpSpPr/>
          <p:nvPr/>
        </p:nvGrpSpPr>
        <p:grpSpPr>
          <a:xfrm>
            <a:off x="3361806" y="8375059"/>
            <a:ext cx="4642275" cy="2504718"/>
            <a:chOff x="3335753" y="5068700"/>
            <a:chExt cx="4642275" cy="2504718"/>
          </a:xfrm>
        </p:grpSpPr>
        <p:grpSp>
          <p:nvGrpSpPr>
            <p:cNvPr id="163" name="Group 162">
              <a:extLst>
                <a:ext uri="{FF2B5EF4-FFF2-40B4-BE49-F238E27FC236}">
                  <a16:creationId xmlns:a16="http://schemas.microsoft.com/office/drawing/2014/main" id="{E52FDF9F-B084-9074-7DB9-539AD5456487}"/>
                </a:ext>
              </a:extLst>
            </p:cNvPr>
            <p:cNvGrpSpPr/>
            <p:nvPr/>
          </p:nvGrpSpPr>
          <p:grpSpPr>
            <a:xfrm>
              <a:off x="3428144" y="5326649"/>
              <a:ext cx="4549884" cy="2246769"/>
              <a:chOff x="5030740" y="2225627"/>
              <a:chExt cx="4859979" cy="2246769"/>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25627"/>
                <a:ext cx="4831245" cy="224676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Migrated Talend workloads to Azure Data Factory, to help decommission the existing on-prem systems and move into Azure cloud.</a:t>
                </a:r>
              </a:p>
              <a:p>
                <a:r>
                  <a:rPr lang="en-AU" sz="1000" dirty="0"/>
                  <a:t>Extensively utilised Azure Data Bricks for data munging. Used the medallion architecture solution to develop a centralised </a:t>
                </a:r>
                <a:r>
                  <a:rPr lang="en-AU" sz="1000" dirty="0" err="1"/>
                  <a:t>DataLake</a:t>
                </a:r>
                <a:r>
                  <a:rPr lang="en-AU" sz="1000" dirty="0"/>
                  <a:t>.</a:t>
                </a:r>
              </a:p>
              <a:p>
                <a:r>
                  <a:rPr lang="en-AU" sz="1000" dirty="0"/>
                  <a:t>Architected data platform using Azure Blob and Azure Databricks Build data pipeline to communicate with external APIs using TypeScript and NodeJS in AWS </a:t>
                </a:r>
              </a:p>
              <a:p>
                <a:r>
                  <a:rPr lang="en-AU" sz="1000" dirty="0"/>
                  <a:t>Used CDK to manage infrastructure as code and enable, deploy personal stacks for test and development before deploying to production using GitHub Actions for CI/CD </a:t>
                </a:r>
              </a:p>
              <a:p>
                <a:r>
                  <a:rPr lang="en-AU" sz="1000" dirty="0"/>
                  <a:t>Polled data from external API using AWS Lambda, push it to MQTT, Kinesis and load into </a:t>
                </a:r>
                <a:r>
                  <a:rPr lang="en-AU" sz="1000" dirty="0" err="1"/>
                  <a:t>Influxdb</a:t>
                </a:r>
                <a:r>
                  <a:rPr lang="en-AU" sz="1000" dirty="0"/>
                  <a:t> for visualizing in Grafana in real-time</a:t>
                </a:r>
              </a:p>
              <a:p>
                <a:r>
                  <a:rPr lang="en-AU" sz="1000" dirty="0"/>
                  <a:t>Created internal APIs for project team to be able to communicate with external APIs securely</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20940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2FA774CA-3857-9308-4D38-9414B0CC2B95}"/>
                </a:ext>
              </a:extLst>
            </p:cNvPr>
            <p:cNvSpPr txBox="1"/>
            <p:nvPr/>
          </p:nvSpPr>
          <p:spPr>
            <a:xfrm>
              <a:off x="3335753" y="5068700"/>
              <a:ext cx="3526969" cy="276999"/>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Energy Sector Organisation</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31065" y="5747849"/>
            <a:ext cx="1528457" cy="2585323"/>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Modeling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Science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Dashboards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Database Development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Structures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Visualisations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Web Development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Financial Reporting</a:t>
            </a: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124881"/>
            <a:ext cx="3526969"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B</a:t>
            </a:r>
            <a:r>
              <a:rPr lang="en-AU" sz="1200" b="1" dirty="0" err="1">
                <a:solidFill>
                  <a:srgbClr val="0059FF"/>
                </a:solidFill>
                <a:latin typeface="Roboto" panose="02000000000000000000" pitchFamily="2" charset="0"/>
                <a:ea typeface="Roboto" panose="02000000000000000000" pitchFamily="2" charset="0"/>
              </a:rPr>
              <a:t>ig</a:t>
            </a:r>
            <a:r>
              <a:rPr lang="en-AU" sz="1200" b="1" dirty="0">
                <a:solidFill>
                  <a:srgbClr val="0059FF"/>
                </a:solidFill>
                <a:latin typeface="Roboto" panose="02000000000000000000" pitchFamily="2" charset="0"/>
                <a:ea typeface="Roboto" panose="02000000000000000000" pitchFamily="2" charset="0"/>
              </a:rPr>
              <a:t> 4 Consulting Firm (NZ) –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401607"/>
            <a:ext cx="4549073" cy="393954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dirty="0">
                <a:solidFill>
                  <a:schemeClr val="bg1"/>
                </a:solidFill>
              </a:rPr>
              <a:t>Implemented a variety of data and analytics-focused solutions for several public and private sector clients. Solutions utilised a number of technologies including Apache Spark (</a:t>
            </a:r>
            <a:r>
              <a:rPr lang="en-AU" sz="1000" dirty="0" err="1">
                <a:solidFill>
                  <a:schemeClr val="bg1"/>
                </a:solidFill>
              </a:rPr>
              <a:t>PySpark</a:t>
            </a:r>
            <a:r>
              <a:rPr lang="en-AU" sz="1000" dirty="0">
                <a:solidFill>
                  <a:schemeClr val="bg1"/>
                </a:solidFill>
              </a:rPr>
              <a:t>), Python, R, SQL &amp; Power BI.</a:t>
            </a:r>
          </a:p>
          <a:p>
            <a:r>
              <a:rPr lang="en-AU" sz="1000" dirty="0">
                <a:solidFill>
                  <a:schemeClr val="bg1"/>
                </a:solidFill>
              </a:rPr>
              <a:t>Led the design and building of a data pipeline &amp; dashboard for a large public sector client and automated a manual cleaning task which previously took multiple months to perform. Data was ingested from ADLS Gen 2, cleaned and transformed using </a:t>
            </a:r>
            <a:r>
              <a:rPr lang="en-AU" sz="1000" dirty="0" err="1">
                <a:solidFill>
                  <a:schemeClr val="bg1"/>
                </a:solidFill>
              </a:rPr>
              <a:t>PySpark</a:t>
            </a:r>
            <a:r>
              <a:rPr lang="en-AU" sz="1000" dirty="0">
                <a:solidFill>
                  <a:schemeClr val="bg1"/>
                </a:solidFill>
              </a:rPr>
              <a:t> within Azure Databricks and visualised on a static website hosting a public Power BI dashboard. The work completed on this engagement led to a six-figure multi-year extension.</a:t>
            </a:r>
          </a:p>
          <a:p>
            <a:r>
              <a:rPr lang="en-AU" sz="1000" dirty="0">
                <a:solidFill>
                  <a:schemeClr val="bg1"/>
                </a:solidFill>
              </a:rPr>
              <a:t>Utilised Azure Data Factory to create additional data flows and pipelines for a public sector client. Data was ingested from ADLS with orchestration and transformations being handled by Azure Data Factory. The solution was deployed into the clients production environment using ARM templates and </a:t>
            </a:r>
            <a:r>
              <a:rPr lang="en-AU" sz="1000" dirty="0" err="1">
                <a:solidFill>
                  <a:schemeClr val="bg1"/>
                </a:solidFill>
              </a:rPr>
              <a:t>Powershell</a:t>
            </a:r>
            <a:r>
              <a:rPr lang="en-AU" sz="1000" dirty="0">
                <a:solidFill>
                  <a:schemeClr val="bg1"/>
                </a:solidFill>
              </a:rPr>
              <a:t> scripts.</a:t>
            </a:r>
          </a:p>
          <a:p>
            <a:r>
              <a:rPr lang="en-AU" sz="1000" dirty="0">
                <a:solidFill>
                  <a:schemeClr val="bg1"/>
                </a:solidFill>
              </a:rPr>
              <a:t>Led the design and development of a financial reporting dashboard in Power BI for a leading agricultural industry association. </a:t>
            </a:r>
          </a:p>
          <a:p>
            <a:r>
              <a:rPr lang="en-AU" sz="1000" dirty="0">
                <a:solidFill>
                  <a:schemeClr val="bg1"/>
                </a:solidFill>
              </a:rPr>
              <a:t>Developed additional functionality for a model assuring one of New Zealand’s largest state-owned enterprises. The model provided assurance over several financial calculations and classifications </a:t>
            </a:r>
          </a:p>
          <a:p>
            <a:r>
              <a:rPr lang="en-AU" sz="1000" dirty="0">
                <a:solidFill>
                  <a:schemeClr val="bg1"/>
                </a:solidFill>
              </a:rPr>
              <a:t>Developed a big data pipeline assuring calculations and data processing done by one of New Zealand’s largest state-owned enterprises. The data pipeline ingests parquet files from ADLS Gen 2 and processes billions of rows of data utilizing </a:t>
            </a:r>
            <a:r>
              <a:rPr lang="en-AU" sz="1000" dirty="0" err="1">
                <a:solidFill>
                  <a:schemeClr val="bg1"/>
                </a:solidFill>
              </a:rPr>
              <a:t>PySpark</a:t>
            </a:r>
            <a:r>
              <a:rPr lang="en-AU" sz="1000" dirty="0">
                <a:solidFill>
                  <a:schemeClr val="bg1"/>
                </a:solidFill>
              </a:rPr>
              <a:t> and Azure Databricks.</a:t>
            </a:r>
          </a:p>
          <a:p>
            <a:r>
              <a:rPr lang="en-AU" sz="1000" dirty="0">
                <a:solidFill>
                  <a:schemeClr val="bg1"/>
                </a:solidFill>
              </a:rPr>
              <a:t>Worked with IAC tools such as </a:t>
            </a:r>
            <a:r>
              <a:rPr lang="en-AU" sz="1000" dirty="0" err="1">
                <a:solidFill>
                  <a:schemeClr val="bg1"/>
                </a:solidFill>
              </a:rPr>
              <a:t>Pulumi</a:t>
            </a:r>
            <a:r>
              <a:rPr lang="en-AU" sz="1000" dirty="0">
                <a:solidFill>
                  <a:schemeClr val="bg1"/>
                </a:solidFill>
              </a:rPr>
              <a:t> alongside scripting technologies such as </a:t>
            </a:r>
            <a:r>
              <a:rPr lang="en-AU" sz="1000" dirty="0" err="1">
                <a:solidFill>
                  <a:schemeClr val="bg1"/>
                </a:solidFill>
              </a:rPr>
              <a:t>Powershell</a:t>
            </a:r>
            <a:r>
              <a:rPr lang="en-AU" sz="1000" dirty="0">
                <a:solidFill>
                  <a:schemeClr val="bg1"/>
                </a:solidFill>
              </a:rPr>
              <a:t> to deploy cloud infrastructure within Azure.</a:t>
            </a:r>
          </a:p>
        </p:txBody>
      </p:sp>
      <p:grpSp>
        <p:nvGrpSpPr>
          <p:cNvPr id="9" name="Group 8">
            <a:extLst>
              <a:ext uri="{FF2B5EF4-FFF2-40B4-BE49-F238E27FC236}">
                <a16:creationId xmlns:a16="http://schemas.microsoft.com/office/drawing/2014/main" id="{E7DD910D-15D0-5CBC-B70B-D2480ECA3DCA}"/>
              </a:ext>
            </a:extLst>
          </p:cNvPr>
          <p:cNvGrpSpPr/>
          <p:nvPr/>
        </p:nvGrpSpPr>
        <p:grpSpPr>
          <a:xfrm>
            <a:off x="3329099" y="5382235"/>
            <a:ext cx="4887125" cy="1416619"/>
            <a:chOff x="3303046" y="6194352"/>
            <a:chExt cx="4887125" cy="1416619"/>
          </a:xfrm>
        </p:grpSpPr>
        <p:grpSp>
          <p:nvGrpSpPr>
            <p:cNvPr id="18" name="Group 17">
              <a:extLst>
                <a:ext uri="{FF2B5EF4-FFF2-40B4-BE49-F238E27FC236}">
                  <a16:creationId xmlns:a16="http://schemas.microsoft.com/office/drawing/2014/main" id="{E0B3FDFC-4A78-346F-E1D4-E183BEB90A60}"/>
                </a:ext>
              </a:extLst>
            </p:cNvPr>
            <p:cNvGrpSpPr/>
            <p:nvPr/>
          </p:nvGrpSpPr>
          <p:grpSpPr>
            <a:xfrm>
              <a:off x="3428144" y="6441420"/>
              <a:ext cx="4584890" cy="1169551"/>
              <a:chOff x="5023753" y="4494578"/>
              <a:chExt cx="4757437" cy="1169551"/>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494578"/>
                <a:ext cx="4721716"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Provided a number of advanced data science-based solutions for clients both in the public and private sector.</a:t>
                </a:r>
              </a:p>
              <a:p>
                <a:r>
                  <a:rPr lang="en-AU" sz="1000" dirty="0"/>
                  <a:t>Worked on a variety of projects gaining a wide range of domain knowledge and skills</a:t>
                </a:r>
              </a:p>
              <a:p>
                <a:r>
                  <a:rPr lang="en-AU" sz="1000" dirty="0"/>
                  <a:t>Web development using Python within the Django framework</a:t>
                </a:r>
              </a:p>
              <a:p>
                <a:r>
                  <a:rPr lang="en-AU" sz="1000" dirty="0"/>
                  <a:t>Completed a variety of projects contributing to significant improvement of the internal workings of the organisation. </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579160"/>
                <a:ext cx="0" cy="1049626"/>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03046" y="6194352"/>
              <a:ext cx="4887125" cy="276999"/>
            </a:xfrm>
            <a:prstGeom prst="rect">
              <a:avLst/>
            </a:prstGeom>
            <a:noFill/>
          </p:spPr>
          <p:txBody>
            <a:bodyPr wrap="square" rtlCol="0">
              <a:spAutoFit/>
            </a:bodyPr>
            <a:lstStyle/>
            <a:p>
              <a:r>
                <a:rPr lang="en-US" sz="1200" b="1" dirty="0">
                  <a:solidFill>
                    <a:srgbClr val="A93584"/>
                  </a:solidFill>
                  <a:latin typeface="Roboto" panose="02000000000000000000" pitchFamily="2" charset="0"/>
                  <a:ea typeface="Roboto" panose="02000000000000000000" pitchFamily="2" charset="0"/>
                </a:rPr>
                <a:t>Leading NZ Based Data Science </a:t>
              </a:r>
              <a:r>
                <a:rPr lang="en-US" sz="1200" b="1" dirty="0" err="1">
                  <a:solidFill>
                    <a:srgbClr val="A93584"/>
                  </a:solidFill>
                  <a:latin typeface="Roboto" panose="02000000000000000000" pitchFamily="2" charset="0"/>
                  <a:ea typeface="Roboto" panose="02000000000000000000" pitchFamily="2" charset="0"/>
                </a:rPr>
                <a:t>Organisation</a:t>
              </a:r>
              <a:r>
                <a:rPr lang="en-US" sz="1200" b="1" dirty="0">
                  <a:solidFill>
                    <a:srgbClr val="A93584"/>
                  </a:solidFill>
                  <a:latin typeface="Roboto" panose="02000000000000000000" pitchFamily="2" charset="0"/>
                  <a:ea typeface="Roboto" panose="02000000000000000000" pitchFamily="2" charset="0"/>
                </a:rPr>
                <a:t> – Developer </a:t>
              </a:r>
              <a:endParaRPr lang="en-AU" sz="1200" b="1" dirty="0">
                <a:solidFill>
                  <a:srgbClr val="A93584"/>
                </a:solidFill>
                <a:latin typeface="Roboto" panose="02000000000000000000" pitchFamily="2" charset="0"/>
                <a:ea typeface="Roboto" panose="02000000000000000000" pitchFamily="2" charset="0"/>
              </a:endParaRPr>
            </a:p>
          </p:txBody>
        </p:sp>
      </p:grpSp>
      <p:sp>
        <p:nvSpPr>
          <p:cNvPr id="30" name="TextBox 29">
            <a:extLst>
              <a:ext uri="{FF2B5EF4-FFF2-40B4-BE49-F238E27FC236}">
                <a16:creationId xmlns:a16="http://schemas.microsoft.com/office/drawing/2014/main" id="{74222436-425F-25EB-B5D7-E7D8B8D50B1C}"/>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Information Technology</a:t>
            </a:r>
          </a:p>
          <a:p>
            <a:pPr marL="0" indent="0">
              <a:lnSpc>
                <a:spcPct val="150000"/>
              </a:lnSpc>
              <a:buNone/>
            </a:pPr>
            <a:r>
              <a:rPr lang="en-GB" sz="1200" dirty="0">
                <a:solidFill>
                  <a:srgbClr val="00AB80"/>
                </a:solidFill>
              </a:rPr>
              <a:t>Big 4 Consulting Firm</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Agriculture</a:t>
            </a:r>
          </a:p>
          <a:p>
            <a:pPr marL="0" indent="0">
              <a:lnSpc>
                <a:spcPct val="150000"/>
              </a:lnSpc>
              <a:buNone/>
            </a:pPr>
            <a:endParaRPr lang="en-GB" sz="1200" dirty="0">
              <a:solidFill>
                <a:srgbClr val="00AB80"/>
              </a:solidFill>
            </a:endParaRPr>
          </a:p>
        </p:txBody>
      </p:sp>
    </p:spTree>
    <p:extLst>
      <p:ext uri="{BB962C8B-B14F-4D97-AF65-F5344CB8AC3E}">
        <p14:creationId xmlns:p14="http://schemas.microsoft.com/office/powerpoint/2010/main" val="2297520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604DA7-C5E1-49DD-8C41-CCB449994644}">
  <ds:schemaRefs>
    <ds:schemaRef ds:uri="http://schemas.microsoft.com/sharepoint/v3/contenttype/forms"/>
  </ds:schemaRefs>
</ds:datastoreItem>
</file>

<file path=customXml/itemProps2.xml><?xml version="1.0" encoding="utf-8"?>
<ds:datastoreItem xmlns:ds="http://schemas.openxmlformats.org/officeDocument/2006/customXml" ds:itemID="{5DED3751-8046-450E-BBF0-0C652FE3CD2B}">
  <ds:schemaRefs>
    <ds:schemaRef ds:uri="http://purl.org/dc/elements/1.1/"/>
    <ds:schemaRef ds:uri="http://purl.org/dc/terms/"/>
    <ds:schemaRef ds:uri="6b920ebc-3252-4293-abd7-b10e8ed2381a"/>
    <ds:schemaRef ds:uri="http://schemas.microsoft.com/office/infopath/2007/PartnerControls"/>
    <ds:schemaRef ds:uri="http://purl.org/dc/dcmitype/"/>
    <ds:schemaRef ds:uri="http://www.w3.org/XML/1998/namespace"/>
    <ds:schemaRef ds:uri="6230feca-9d7b-41a9-b53d-d6f1bbda9326"/>
    <ds:schemaRef ds:uri="http://schemas.microsoft.com/office/2006/documentManagement/type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A926AD79-0291-46D7-8DDC-D4CBCCC03518}"/>
</file>

<file path=docProps/app.xml><?xml version="1.0" encoding="utf-8"?>
<Properties xmlns="http://schemas.openxmlformats.org/officeDocument/2006/extended-properties" xmlns:vt="http://schemas.openxmlformats.org/officeDocument/2006/docPropsVTypes">
  <Template>Office Theme</Template>
  <TotalTime>5514</TotalTime>
  <Words>705</Words>
  <Application>Microsoft Office PowerPoint</Application>
  <PresentationFormat>Custom</PresentationFormat>
  <Paragraphs>79</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93</cp:revision>
  <dcterms:created xsi:type="dcterms:W3CDTF">2019-12-03T01:50:37Z</dcterms:created>
  <dcterms:modified xsi:type="dcterms:W3CDTF">2023-04-11T06:26:05Z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