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68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9FF"/>
    <a:srgbClr val="A93584"/>
    <a:srgbClr val="ED7D31"/>
    <a:srgbClr val="00AB80"/>
    <a:srgbClr val="0F2B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878" y="9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9FB2A4DB-A690-4020-92DD-089BB3AAFE6D}"/>
    <pc:docChg chg="undo custSel modSld">
      <pc:chgData name="Darcy Roach" userId="ba676ee9-e9b4-49e8-a515-8077106c948d" providerId="ADAL" clId="{9FB2A4DB-A690-4020-92DD-089BB3AAFE6D}" dt="2024-11-12T01:56:48.851" v="792" actId="20577"/>
      <pc:docMkLst>
        <pc:docMk/>
      </pc:docMkLst>
      <pc:sldChg chg="modSp mod">
        <pc:chgData name="Darcy Roach" userId="ba676ee9-e9b4-49e8-a515-8077106c948d" providerId="ADAL" clId="{9FB2A4DB-A690-4020-92DD-089BB3AAFE6D}" dt="2024-11-12T01:56:48.851" v="792" actId="20577"/>
        <pc:sldMkLst>
          <pc:docMk/>
          <pc:sldMk cId="292016949" sldId="268"/>
        </pc:sldMkLst>
        <pc:spChg chg="mod">
          <ac:chgData name="Darcy Roach" userId="ba676ee9-e9b4-49e8-a515-8077106c948d" providerId="ADAL" clId="{9FB2A4DB-A690-4020-92DD-089BB3AAFE6D}" dt="2024-11-12T01:36:58.544" v="372" actId="20577"/>
          <ac:spMkLst>
            <pc:docMk/>
            <pc:sldMk cId="292016949" sldId="268"/>
            <ac:spMk id="4" creationId="{0CA1106F-7AEC-25A1-55A8-188EDF5EED3E}"/>
          </ac:spMkLst>
        </pc:spChg>
        <pc:spChg chg="mod">
          <ac:chgData name="Darcy Roach" userId="ba676ee9-e9b4-49e8-a515-8077106c948d" providerId="ADAL" clId="{9FB2A4DB-A690-4020-92DD-089BB3AAFE6D}" dt="2024-11-12T01:31:54.080" v="283" actId="20577"/>
          <ac:spMkLst>
            <pc:docMk/>
            <pc:sldMk cId="292016949" sldId="268"/>
            <ac:spMk id="12" creationId="{A66396D8-FB35-5C0A-F8E9-453C263854BF}"/>
          </ac:spMkLst>
        </pc:spChg>
        <pc:spChg chg="mod">
          <ac:chgData name="Darcy Roach" userId="ba676ee9-e9b4-49e8-a515-8077106c948d" providerId="ADAL" clId="{9FB2A4DB-A690-4020-92DD-089BB3AAFE6D}" dt="2024-11-11T22:44:41.282" v="34" actId="20577"/>
          <ac:spMkLst>
            <pc:docMk/>
            <pc:sldMk cId="292016949" sldId="268"/>
            <ac:spMk id="13" creationId="{FD2720C9-A79F-BD7F-E179-674AD67D7892}"/>
          </ac:spMkLst>
        </pc:spChg>
        <pc:spChg chg="mod">
          <ac:chgData name="Darcy Roach" userId="ba676ee9-e9b4-49e8-a515-8077106c948d" providerId="ADAL" clId="{9FB2A4DB-A690-4020-92DD-089BB3AAFE6D}" dt="2024-11-12T01:51:47.097" v="563" actId="20577"/>
          <ac:spMkLst>
            <pc:docMk/>
            <pc:sldMk cId="292016949" sldId="268"/>
            <ac:spMk id="16" creationId="{BED88831-66E6-E9EC-E1A5-875B0478B9C5}"/>
          </ac:spMkLst>
        </pc:spChg>
        <pc:spChg chg="mod">
          <ac:chgData name="Darcy Roach" userId="ba676ee9-e9b4-49e8-a515-8077106c948d" providerId="ADAL" clId="{9FB2A4DB-A690-4020-92DD-089BB3AAFE6D}" dt="2024-11-12T01:56:48.851" v="792" actId="20577"/>
          <ac:spMkLst>
            <pc:docMk/>
            <pc:sldMk cId="292016949" sldId="268"/>
            <ac:spMk id="18" creationId="{58BF8C21-ED5A-BA0E-18B1-1DE2682A5497}"/>
          </ac:spMkLst>
        </pc:spChg>
        <pc:spChg chg="mod">
          <ac:chgData name="Darcy Roach" userId="ba676ee9-e9b4-49e8-a515-8077106c948d" providerId="ADAL" clId="{9FB2A4DB-A690-4020-92DD-089BB3AAFE6D}" dt="2024-11-11T22:44:52.890" v="37" actId="1035"/>
          <ac:spMkLst>
            <pc:docMk/>
            <pc:sldMk cId="292016949" sldId="268"/>
            <ac:spMk id="22" creationId="{9D4E289E-1D52-CBDD-E381-40963429D7F1}"/>
          </ac:spMkLst>
        </pc:spChg>
        <pc:spChg chg="mod">
          <ac:chgData name="Darcy Roach" userId="ba676ee9-e9b4-49e8-a515-8077106c948d" providerId="ADAL" clId="{9FB2A4DB-A690-4020-92DD-089BB3AAFE6D}" dt="2024-11-12T01:17:12.635" v="137" actId="20577"/>
          <ac:spMkLst>
            <pc:docMk/>
            <pc:sldMk cId="292016949" sldId="268"/>
            <ac:spMk id="26" creationId="{1A3D666D-00C8-D106-73C3-9FF300F8618C}"/>
          </ac:spMkLst>
        </pc:spChg>
        <pc:spChg chg="mod">
          <ac:chgData name="Darcy Roach" userId="ba676ee9-e9b4-49e8-a515-8077106c948d" providerId="ADAL" clId="{9FB2A4DB-A690-4020-92DD-089BB3AAFE6D}" dt="2024-11-12T01:41:03.420" v="403" actId="20577"/>
          <ac:spMkLst>
            <pc:docMk/>
            <pc:sldMk cId="292016949" sldId="268"/>
            <ac:spMk id="28" creationId="{40710181-8A8D-B1D8-4355-3623991D3D91}"/>
          </ac:spMkLst>
        </pc:spChg>
        <pc:spChg chg="mod">
          <ac:chgData name="Darcy Roach" userId="ba676ee9-e9b4-49e8-a515-8077106c948d" providerId="ADAL" clId="{9FB2A4DB-A690-4020-92DD-089BB3AAFE6D}" dt="2024-11-12T01:42:39.573" v="440" actId="20577"/>
          <ac:spMkLst>
            <pc:docMk/>
            <pc:sldMk cId="292016949" sldId="268"/>
            <ac:spMk id="32" creationId="{0F249814-33C0-B670-218F-31302BFE2960}"/>
          </ac:spMkLst>
        </pc:spChg>
        <pc:spChg chg="mod">
          <ac:chgData name="Darcy Roach" userId="ba676ee9-e9b4-49e8-a515-8077106c948d" providerId="ADAL" clId="{9FB2A4DB-A690-4020-92DD-089BB3AAFE6D}" dt="2024-11-12T01:52:20.603" v="597" actId="20577"/>
          <ac:spMkLst>
            <pc:docMk/>
            <pc:sldMk cId="292016949" sldId="268"/>
            <ac:spMk id="41" creationId="{43CC98C9-C464-89B7-6A99-A5273F6259AB}"/>
          </ac:spMkLst>
        </pc:spChg>
        <pc:spChg chg="mod">
          <ac:chgData name="Darcy Roach" userId="ba676ee9-e9b4-49e8-a515-8077106c948d" providerId="ADAL" clId="{9FB2A4DB-A690-4020-92DD-089BB3AAFE6D}" dt="2024-11-12T01:44:52.432" v="480" actId="20577"/>
          <ac:spMkLst>
            <pc:docMk/>
            <pc:sldMk cId="292016949" sldId="268"/>
            <ac:spMk id="42" creationId="{3534AD08-B109-DFDF-B2BE-31CEBA74C899}"/>
          </ac:spMkLst>
        </pc:spChg>
        <pc:spChg chg="mod">
          <ac:chgData name="Darcy Roach" userId="ba676ee9-e9b4-49e8-a515-8077106c948d" providerId="ADAL" clId="{9FB2A4DB-A690-4020-92DD-089BB3AAFE6D}" dt="2024-11-12T01:45:07.633" v="482" actId="1076"/>
          <ac:spMkLst>
            <pc:docMk/>
            <pc:sldMk cId="292016949" sldId="268"/>
            <ac:spMk id="45" creationId="{557D6438-C644-FAAE-4B96-313C24B3C21B}"/>
          </ac:spMkLst>
        </pc:spChg>
        <pc:spChg chg="mod">
          <ac:chgData name="Darcy Roach" userId="ba676ee9-e9b4-49e8-a515-8077106c948d" providerId="ADAL" clId="{9FB2A4DB-A690-4020-92DD-089BB3AAFE6D}" dt="2024-11-12T01:17:31.639" v="164" actId="20577"/>
          <ac:spMkLst>
            <pc:docMk/>
            <pc:sldMk cId="292016949" sldId="268"/>
            <ac:spMk id="57" creationId="{864E5747-5E1E-FC22-4333-19623D15B478}"/>
          </ac:spMkLst>
        </pc:spChg>
        <pc:grpChg chg="mod">
          <ac:chgData name="Darcy Roach" userId="ba676ee9-e9b4-49e8-a515-8077106c948d" providerId="ADAL" clId="{9FB2A4DB-A690-4020-92DD-089BB3AAFE6D}" dt="2024-11-12T01:45:07.633" v="482" actId="1076"/>
          <ac:grpSpMkLst>
            <pc:docMk/>
            <pc:sldMk cId="292016949" sldId="268"/>
            <ac:grpSpMk id="9" creationId="{0FCF0E79-8C1B-C602-4BED-4BB3DEAA36BB}"/>
          </ac:grpSpMkLst>
        </pc:grpChg>
        <pc:grpChg chg="mod">
          <ac:chgData name="Darcy Roach" userId="ba676ee9-e9b4-49e8-a515-8077106c948d" providerId="ADAL" clId="{9FB2A4DB-A690-4020-92DD-089BB3AAFE6D}" dt="2024-11-12T01:45:10.885" v="483" actId="1076"/>
          <ac:grpSpMkLst>
            <pc:docMk/>
            <pc:sldMk cId="292016949" sldId="268"/>
            <ac:grpSpMk id="19" creationId="{B5F41F4C-D94E-5412-64EB-C01EF08F3FC7}"/>
          </ac:grpSpMkLst>
        </pc:grpChg>
        <pc:grpChg chg="mod">
          <ac:chgData name="Darcy Roach" userId="ba676ee9-e9b4-49e8-a515-8077106c948d" providerId="ADAL" clId="{9FB2A4DB-A690-4020-92DD-089BB3AAFE6D}" dt="2024-11-12T01:45:14.138" v="484" actId="1076"/>
          <ac:grpSpMkLst>
            <pc:docMk/>
            <pc:sldMk cId="292016949" sldId="268"/>
            <ac:grpSpMk id="36" creationId="{D743579E-5672-6DC2-35A5-2DED215E734F}"/>
          </ac:grpSpMkLst>
        </pc:grpChg>
        <pc:cxnChg chg="mod">
          <ac:chgData name="Darcy Roach" userId="ba676ee9-e9b4-49e8-a515-8077106c948d" providerId="ADAL" clId="{9FB2A4DB-A690-4020-92DD-089BB3AAFE6D}" dt="2024-11-12T01:32:00.397" v="284" actId="14100"/>
          <ac:cxnSpMkLst>
            <pc:docMk/>
            <pc:sldMk cId="292016949" sldId="268"/>
            <ac:cxnSpMk id="14" creationId="{FEBE86C6-C118-6CC2-068C-9B2E10977CA7}"/>
          </ac:cxnSpMkLst>
        </pc:cxnChg>
        <pc:cxnChg chg="mod">
          <ac:chgData name="Darcy Roach" userId="ba676ee9-e9b4-49e8-a515-8077106c948d" providerId="ADAL" clId="{9FB2A4DB-A690-4020-92DD-089BB3AAFE6D}" dt="2024-11-12T01:42:46.109" v="441" actId="14100"/>
          <ac:cxnSpMkLst>
            <pc:docMk/>
            <pc:sldMk cId="292016949" sldId="268"/>
            <ac:cxnSpMk id="35" creationId="{36892423-C7ED-E20D-EE03-3E4185823836}"/>
          </ac:cxnSpMkLst>
        </pc:cxnChg>
        <pc:cxnChg chg="mod">
          <ac:chgData name="Darcy Roach" userId="ba676ee9-e9b4-49e8-a515-8077106c948d" providerId="ADAL" clId="{9FB2A4DB-A690-4020-92DD-089BB3AAFE6D}" dt="2024-11-12T01:44:59.215" v="481" actId="14100"/>
          <ac:cxnSpMkLst>
            <pc:docMk/>
            <pc:sldMk cId="292016949" sldId="268"/>
            <ac:cxnSpMk id="44" creationId="{C0EF4CAA-5099-AB18-442D-44AA814D04C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Maria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George</a:t>
            </a:r>
          </a:p>
          <a:p>
            <a:endParaRPr lang="en-US" sz="2800" b="1" dirty="0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1000448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51390" y="5693950"/>
            <a:ext cx="1510046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dirty="0"/>
              <a:t>Data Warehousing</a:t>
            </a:r>
          </a:p>
          <a:p>
            <a:r>
              <a:rPr lang="en-AU" dirty="0"/>
              <a:t>Data Integration</a:t>
            </a:r>
          </a:p>
          <a:p>
            <a:r>
              <a:rPr lang="en-AU" dirty="0"/>
              <a:t>Data Engineering</a:t>
            </a:r>
          </a:p>
          <a:p>
            <a:r>
              <a:rPr lang="en-AU" dirty="0"/>
              <a:t>Big Data</a:t>
            </a:r>
          </a:p>
          <a:p>
            <a:r>
              <a:rPr lang="en-AU" dirty="0"/>
              <a:t>Reporting</a:t>
            </a:r>
          </a:p>
          <a:p>
            <a:r>
              <a:rPr lang="en-AU" dirty="0"/>
              <a:t>Analytics</a:t>
            </a:r>
          </a:p>
          <a:p>
            <a:r>
              <a:rPr lang="en-AU" dirty="0"/>
              <a:t>CI/CD Pipeline</a:t>
            </a:r>
          </a:p>
          <a:p>
            <a:r>
              <a:rPr lang="en-AU" dirty="0"/>
              <a:t>Databricks</a:t>
            </a:r>
          </a:p>
          <a:p>
            <a:r>
              <a:rPr lang="en-AU" dirty="0"/>
              <a:t>Apache Spark</a:t>
            </a:r>
          </a:p>
          <a:p>
            <a:r>
              <a:rPr lang="en-AU" dirty="0"/>
              <a:t>Apache Kafka</a:t>
            </a:r>
          </a:p>
          <a:p>
            <a:r>
              <a:rPr lang="en-AU" dirty="0"/>
              <a:t>Stakeholder Management</a:t>
            </a:r>
          </a:p>
          <a:p>
            <a:endParaRPr lang="en-AU" dirty="0"/>
          </a:p>
        </p:txBody>
      </p: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64E5747-5E1E-FC22-4333-19623D15B478}"/>
              </a:ext>
            </a:extLst>
          </p:cNvPr>
          <p:cNvSpPr txBox="1"/>
          <p:nvPr/>
        </p:nvSpPr>
        <p:spPr>
          <a:xfrm>
            <a:off x="1748656" y="5693950"/>
            <a:ext cx="1327414" cy="20313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dirty="0"/>
              <a:t>Microsoft Azure</a:t>
            </a:r>
          </a:p>
          <a:p>
            <a:r>
              <a:rPr lang="en-AU" dirty="0"/>
              <a:t>Databricks</a:t>
            </a:r>
          </a:p>
          <a:p>
            <a:r>
              <a:rPr lang="en-AU" dirty="0"/>
              <a:t>ETL/ELT framework development</a:t>
            </a:r>
          </a:p>
          <a:p>
            <a:r>
              <a:rPr lang="en-AU" dirty="0"/>
              <a:t>AWS</a:t>
            </a:r>
          </a:p>
          <a:p>
            <a:r>
              <a:rPr lang="en-AU" dirty="0"/>
              <a:t>Python</a:t>
            </a:r>
          </a:p>
          <a:p>
            <a:r>
              <a:rPr lang="en-AU" dirty="0"/>
              <a:t>SQL</a:t>
            </a:r>
          </a:p>
          <a:p>
            <a:r>
              <a:rPr lang="en-AU" dirty="0"/>
              <a:t>Shell</a:t>
            </a:r>
          </a:p>
          <a:p>
            <a:r>
              <a:rPr lang="en-AU" dirty="0"/>
              <a:t>Unix</a:t>
            </a:r>
          </a:p>
          <a:p>
            <a:r>
              <a:rPr lang="en-AU" dirty="0"/>
              <a:t>Hadoop</a:t>
            </a:r>
          </a:p>
          <a:p>
            <a:r>
              <a:rPr lang="en-AU" dirty="0"/>
              <a:t>Hive</a:t>
            </a:r>
          </a:p>
          <a:p>
            <a:r>
              <a:rPr lang="en-AU" dirty="0"/>
              <a:t>Tableau</a:t>
            </a:r>
          </a:p>
          <a:p>
            <a:endParaRPr lang="en-AU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13036" y="957777"/>
            <a:ext cx="0" cy="61161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578FEE8-8C19-8665-3283-8CC554270635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Key Skills &amp; Technologies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F20BEF-6600-1F08-56D8-EBF9453B6D9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CA1106F-7AEC-25A1-55A8-188EDF5EED3E}"/>
              </a:ext>
            </a:extLst>
          </p:cNvPr>
          <p:cNvSpPr txBox="1"/>
          <p:nvPr/>
        </p:nvSpPr>
        <p:spPr>
          <a:xfrm>
            <a:off x="250509" y="1671342"/>
            <a:ext cx="2856904" cy="34368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Maria is a dedicated Senior Data Engineer with over 13 years in Big Data Technologies and extensive experience in Azure Databricks, Apache Spark and Kafka. </a:t>
            </a:r>
          </a:p>
          <a:p>
            <a:pPr>
              <a:lnSpc>
                <a:spcPts val="1812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812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She is skilled in Data Warehousing, Data Integration, Data Engineering, CI/CD pipeline, ETL/ELT framework development with strong analytical skills and excellent problem-solving abilities. Maria is highly adaptable with a proven track record of high customer satisfaction and demonstrates an exemplary sense of ownership. She is a quick learner with excellent leadership and teamwork skills.</a:t>
            </a:r>
          </a:p>
          <a:p>
            <a:pPr>
              <a:lnSpc>
                <a:spcPts val="1812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FCF0E79-8C1B-C602-4BED-4BB3DEAA36BB}"/>
              </a:ext>
            </a:extLst>
          </p:cNvPr>
          <p:cNvGrpSpPr/>
          <p:nvPr/>
        </p:nvGrpSpPr>
        <p:grpSpPr>
          <a:xfrm>
            <a:off x="3428142" y="1391991"/>
            <a:ext cx="4584894" cy="2708434"/>
            <a:chOff x="5021215" y="814987"/>
            <a:chExt cx="4897377" cy="270843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6396D8-FB35-5C0A-F8E9-453C263854BF}"/>
                </a:ext>
              </a:extLst>
            </p:cNvPr>
            <p:cNvSpPr txBox="1"/>
            <p:nvPr/>
          </p:nvSpPr>
          <p:spPr>
            <a:xfrm>
              <a:off x="5059478" y="814987"/>
              <a:ext cx="4859114" cy="2708434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sz="1000" dirty="0">
                  <a:solidFill>
                    <a:schemeClr val="bg1"/>
                  </a:solidFill>
                </a:rPr>
                <a:t>Designed, developed, and optimised scalable data pipelines using Databricks and Apache Spark, processing large volumes of structured and unstructured data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Led the migration of legacy data systems to Databricks on AWS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Implemented scalable data pipelines and optimised data storage solutions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Developed a real-time analytics platform using Databricks and Spark Structured Streaming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Integrated data sources, enabling real-time data ingestion and processing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Maintained comprehensive documentation of data pipelines, ETL processes, and data models supporting knowledge sharing and onboarding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Automated data pipeline deployments using CI/CD tools and frameworks, ensuring seamless updates and minimising downtime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Worked closely with data scientists, analysts, and other stakeholders to understand data needs and deliver high-quality data solutions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Integrated data from disparate sources, ensuring data consistency, quality, and accessibility for analytics and reporting</a:t>
              </a:r>
            </a:p>
            <a:p>
              <a:endParaRPr lang="en-AU" sz="1000" dirty="0">
                <a:solidFill>
                  <a:schemeClr val="bg1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EBE86C6-C118-6CC2-068C-9B2E10977CA7}"/>
                </a:ext>
              </a:extLst>
            </p:cNvPr>
            <p:cNvCxnSpPr>
              <a:cxnSpLocks/>
            </p:cNvCxnSpPr>
            <p:nvPr/>
          </p:nvCxnSpPr>
          <p:spPr>
            <a:xfrm>
              <a:off x="5021215" y="891854"/>
              <a:ext cx="0" cy="2416123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ED88831-66E6-E9EC-E1A5-875B0478B9C5}"/>
              </a:ext>
            </a:extLst>
          </p:cNvPr>
          <p:cNvSpPr txBox="1"/>
          <p:nvPr/>
        </p:nvSpPr>
        <p:spPr>
          <a:xfrm>
            <a:off x="8118490" y="1456630"/>
            <a:ext cx="1668754" cy="221599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Big 4 Bank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Utilities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Airline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Infrastructure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 dirty="0">
              <a:solidFill>
                <a:srgbClr val="00AB80"/>
              </a:solidFill>
            </a:endParaRPr>
          </a:p>
          <a:p>
            <a:pPr marL="0" indent="0">
              <a:buNone/>
            </a:pPr>
            <a:endParaRPr lang="en-AU" sz="1200" dirty="0">
              <a:solidFill>
                <a:srgbClr val="00AB8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BF8C21-ED5A-BA0E-18B1-1DE2682A5497}"/>
              </a:ext>
            </a:extLst>
          </p:cNvPr>
          <p:cNvSpPr txBox="1"/>
          <p:nvPr/>
        </p:nvSpPr>
        <p:spPr>
          <a:xfrm>
            <a:off x="8106458" y="3841042"/>
            <a:ext cx="1951942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19525" algn="l"/>
                <a:tab pos="3895725" algn="l"/>
              </a:tabLst>
            </a:pPr>
            <a:endParaRPr lang="en-AU" sz="1200" dirty="0">
              <a:solidFill>
                <a:srgbClr val="00AB8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tabLst>
                <a:tab pos="3819525" algn="l"/>
                <a:tab pos="3895725" algn="l"/>
              </a:tabLst>
            </a:pPr>
            <a:r>
              <a:rPr lang="en-AU" sz="1200" dirty="0">
                <a:solidFill>
                  <a:srgbClr val="00AB80"/>
                </a:solidFill>
                <a:latin typeface="Roboto Light" panose="02000000000000000000" pitchFamily="2" charset="0"/>
              </a:rPr>
              <a:t>Amazon Web Services (AWS) – Associate Developer</a:t>
            </a:r>
          </a:p>
          <a:p>
            <a:pPr>
              <a:tabLst>
                <a:tab pos="3819525" algn="l"/>
                <a:tab pos="3895725" algn="l"/>
              </a:tabLst>
            </a:pPr>
            <a:endParaRPr lang="en-AU" sz="1200" dirty="0">
              <a:solidFill>
                <a:srgbClr val="00AB80"/>
              </a:solidFill>
              <a:latin typeface="Roboto Light" panose="02000000000000000000" pitchFamily="2" charset="0"/>
            </a:endParaRPr>
          </a:p>
          <a:p>
            <a:pPr>
              <a:tabLst>
                <a:tab pos="3819525" algn="l"/>
                <a:tab pos="3895725" algn="l"/>
              </a:tabLst>
            </a:pPr>
            <a:r>
              <a:rPr lang="en-AU" sz="1200" dirty="0">
                <a:solidFill>
                  <a:srgbClr val="00AB80"/>
                </a:solidFill>
                <a:latin typeface="Roboto Light" panose="02000000000000000000" pitchFamily="2" charset="0"/>
              </a:rPr>
              <a:t>Microsoft – MCTS, Business Intelligence Development and Maintenance</a:t>
            </a:r>
          </a:p>
          <a:p>
            <a:pPr>
              <a:tabLst>
                <a:tab pos="3819525" algn="l"/>
                <a:tab pos="3895725" algn="l"/>
              </a:tabLst>
            </a:pPr>
            <a:endParaRPr lang="en-AU" sz="1200" dirty="0">
              <a:solidFill>
                <a:srgbClr val="00AB8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spcAft>
                <a:spcPts val="835"/>
              </a:spcAft>
            </a:pPr>
            <a:r>
              <a: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rPr>
              <a:t>Bachelor – Technology, Electronics &amp; Communications Engineering, MG University, India</a:t>
            </a:r>
          </a:p>
          <a:p>
            <a:pPr>
              <a:spcAft>
                <a:spcPts val="835"/>
              </a:spcAft>
            </a:pPr>
            <a:endParaRPr lang="en-GB" sz="1200" dirty="0">
              <a:solidFill>
                <a:srgbClr val="00AB80"/>
              </a:solidFill>
              <a:effectLst/>
              <a:latin typeface="Roboto Light" panose="02000000000000000000" pitchFamily="2" charset="0"/>
              <a:ea typeface="Calibri" panose="020F050202020403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5F41F4C-D94E-5412-64EB-C01EF08F3FC7}"/>
              </a:ext>
            </a:extLst>
          </p:cNvPr>
          <p:cNvGrpSpPr/>
          <p:nvPr/>
        </p:nvGrpSpPr>
        <p:grpSpPr>
          <a:xfrm>
            <a:off x="3324259" y="3977550"/>
            <a:ext cx="4891965" cy="2240515"/>
            <a:chOff x="3324259" y="2800881"/>
            <a:chExt cx="4891965" cy="224051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390D72A-5A5C-8A29-8C67-C702BD18EE15}"/>
                </a:ext>
              </a:extLst>
            </p:cNvPr>
            <p:cNvGrpSpPr/>
            <p:nvPr/>
          </p:nvGrpSpPr>
          <p:grpSpPr>
            <a:xfrm>
              <a:off x="3447294" y="3102404"/>
              <a:ext cx="4473597" cy="1938992"/>
              <a:chOff x="5030740" y="2373425"/>
              <a:chExt cx="4778493" cy="193899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F249814-33C0-B670-218F-31302BFE2960}"/>
                  </a:ext>
                </a:extLst>
              </p:cNvPr>
              <p:cNvSpPr txBox="1"/>
              <p:nvPr/>
            </p:nvSpPr>
            <p:spPr>
              <a:xfrm>
                <a:off x="5068016" y="2373425"/>
                <a:ext cx="4741217" cy="1938992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Optimised data processing by implementing Hadoop and Spark frameworks for big data management</a:t>
                </a:r>
              </a:p>
              <a:p>
                <a:r>
                  <a:rPr lang="en-AU" sz="1000" dirty="0"/>
                  <a:t>Designed scalable ETL pipelines for improved data ingestion, processing, and storage</a:t>
                </a:r>
              </a:p>
              <a:p>
                <a:r>
                  <a:rPr lang="en-AU" sz="1000" dirty="0"/>
                  <a:t>Collaborated with cross-functional teams to determine business requirements and translate them into functional specifications</a:t>
                </a:r>
              </a:p>
              <a:p>
                <a:r>
                  <a:rPr lang="en-AU" sz="1000" dirty="0"/>
                  <a:t>Integrated real-time streaming technologies for accurate monitoring of critical business metrics</a:t>
                </a:r>
              </a:p>
              <a:p>
                <a:r>
                  <a:rPr lang="en-AU" sz="1000" dirty="0"/>
                  <a:t>Optimised application performance by profiling Spark jobs and identifying bottlenecks in code execution</a:t>
                </a:r>
              </a:p>
              <a:p>
                <a:r>
                  <a:rPr lang="en-AU" sz="1000" dirty="0"/>
                  <a:t>Streamlined ETL processes by developing custom Spark transformations and actions</a:t>
                </a: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6892423-C7ED-E20D-EE03-3E4185823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441046"/>
                <a:ext cx="0" cy="1745803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0710181-8A8D-B1D8-4355-3623991D3D91}"/>
                </a:ext>
              </a:extLst>
            </p:cNvPr>
            <p:cNvSpPr txBox="1"/>
            <p:nvPr/>
          </p:nvSpPr>
          <p:spPr>
            <a:xfrm>
              <a:off x="3324259" y="2800881"/>
              <a:ext cx="4891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Major Airline Organisation– Senior Data Engineer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743579E-5672-6DC2-35A5-2DED215E734F}"/>
              </a:ext>
            </a:extLst>
          </p:cNvPr>
          <p:cNvGrpSpPr/>
          <p:nvPr/>
        </p:nvGrpSpPr>
        <p:grpSpPr>
          <a:xfrm>
            <a:off x="3335752" y="6205019"/>
            <a:ext cx="4614752" cy="1446550"/>
            <a:chOff x="3335752" y="4957505"/>
            <a:chExt cx="4614752" cy="144655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77A5904-A083-26DE-C58A-67397B13F721}"/>
                </a:ext>
              </a:extLst>
            </p:cNvPr>
            <p:cNvGrpSpPr/>
            <p:nvPr/>
          </p:nvGrpSpPr>
          <p:grpSpPr>
            <a:xfrm>
              <a:off x="3447294" y="5234504"/>
              <a:ext cx="4446241" cy="1169551"/>
              <a:chOff x="5044207" y="4415671"/>
              <a:chExt cx="4749273" cy="1169551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534AD08-B109-DFDF-B2BE-31CEBA74C899}"/>
                  </a:ext>
                </a:extLst>
              </p:cNvPr>
              <p:cNvSpPr txBox="1"/>
              <p:nvPr/>
            </p:nvSpPr>
            <p:spPr>
              <a:xfrm>
                <a:off x="5071764" y="4415671"/>
                <a:ext cx="4721716" cy="1169551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Gathered the Requirements, Designed, Developed and Documented SSIS Packages and Tableau Reports</a:t>
                </a:r>
              </a:p>
              <a:p>
                <a:r>
                  <a:rPr lang="en-AU" sz="1000" dirty="0"/>
                  <a:t>Wrote and optimised SQL statements to assist BI practices</a:t>
                </a:r>
              </a:p>
              <a:p>
                <a:r>
                  <a:rPr lang="en-AU" sz="1000" dirty="0"/>
                  <a:t>Collaborated with cross-functional teams to identify business requirements and translate them into technical specifications</a:t>
                </a:r>
              </a:p>
              <a:p>
                <a:r>
                  <a:rPr lang="en-AU" sz="1000" dirty="0"/>
                  <a:t>Provided timely responses to ad hoc requests for information from management staff, allowing for informed decision-making</a:t>
                </a: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0EF4CAA-5099-AB18-442D-44AA814D04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44207" y="4466477"/>
                <a:ext cx="0" cy="1052132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CC98C9-C464-89B7-6A99-A5273F6259AB}"/>
                </a:ext>
              </a:extLst>
            </p:cNvPr>
            <p:cNvSpPr txBox="1"/>
            <p:nvPr/>
          </p:nvSpPr>
          <p:spPr>
            <a:xfrm>
              <a:off x="3335752" y="4957505"/>
              <a:ext cx="46147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Online Retail Organisation – Data Engineer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57D6438-C644-FAAE-4B96-313C24B3C21B}"/>
              </a:ext>
            </a:extLst>
          </p:cNvPr>
          <p:cNvSpPr txBox="1"/>
          <p:nvPr/>
        </p:nvSpPr>
        <p:spPr>
          <a:xfrm>
            <a:off x="3324260" y="1070103"/>
            <a:ext cx="3292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</a:rPr>
              <a:t>Australian Big 4 Bank – Senior Data Engineer</a:t>
            </a:r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3A5386-B590-F059-8B85-485C3E1D1E72}"/>
              </a:ext>
            </a:extLst>
          </p:cNvPr>
          <p:cNvSpPr txBox="1"/>
          <p:nvPr/>
        </p:nvSpPr>
        <p:spPr>
          <a:xfrm>
            <a:off x="8192705" y="3571309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54030A1-24B1-1BF9-AEF3-3F9F443F8EA5}"/>
              </a:ext>
            </a:extLst>
          </p:cNvPr>
          <p:cNvCxnSpPr>
            <a:cxnSpLocks/>
          </p:cNvCxnSpPr>
          <p:nvPr/>
        </p:nvCxnSpPr>
        <p:spPr>
          <a:xfrm>
            <a:off x="8192160" y="3878614"/>
            <a:ext cx="17347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1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Darcy Roach</DisplayName>
        <AccountId>14</AccountId>
        <AccountType/>
      </UserInfo>
      <UserInfo>
        <DisplayName>Mason Jam</DisplayName>
        <AccountId>28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694E399-8B2F-40E6-8803-B8093461C9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E4800C-4E63-4436-BF96-83EF234E3A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9A4802-9F70-483A-BDD1-DB600634ECB8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e52cd9e7-35e5-4bd3-9cab-ca6a63c31e52"/>
    <ds:schemaRef ds:uri="daf93972-1964-4522-aa34-640805a01c3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1370</TotalTime>
  <Words>473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3</cp:revision>
  <dcterms:created xsi:type="dcterms:W3CDTF">2019-12-03T01:50:37Z</dcterms:created>
  <dcterms:modified xsi:type="dcterms:W3CDTF">2024-11-12T01:56:50Z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