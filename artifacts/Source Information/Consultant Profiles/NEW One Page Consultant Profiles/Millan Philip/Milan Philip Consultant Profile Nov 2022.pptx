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sldIdLst>
    <p:sldId id="270" r:id="rId2"/>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2"/>
    <p:restoredTop sz="94711"/>
  </p:normalViewPr>
  <p:slideViewPr>
    <p:cSldViewPr snapToGrid="0">
      <p:cViewPr>
        <p:scale>
          <a:sx n="130" d="100"/>
          <a:sy n="130" d="100"/>
        </p:scale>
        <p:origin x="252" y="9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3.xml"/><Relationship Id="rId4" Type="http://schemas.openxmlformats.org/officeDocument/2006/relationships/viewProps" Target="viewProps.xml"/><Relationship Id="rId9"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DE900027-DBA7-4DBF-881F-892D8F42CD96}"/>
    <pc:docChg chg="undo custSel modSld">
      <pc:chgData name="Darcy Roach" userId="ba676ee9-e9b4-49e8-a515-8077106c948d" providerId="ADAL" clId="{DE900027-DBA7-4DBF-881F-892D8F42CD96}" dt="2022-11-15T02:23:43.007" v="2027" actId="1076"/>
      <pc:docMkLst>
        <pc:docMk/>
      </pc:docMkLst>
      <pc:sldChg chg="addSp delSp modSp mod">
        <pc:chgData name="Darcy Roach" userId="ba676ee9-e9b4-49e8-a515-8077106c948d" providerId="ADAL" clId="{DE900027-DBA7-4DBF-881F-892D8F42CD96}" dt="2022-11-15T02:23:43.007" v="2027" actId="1076"/>
        <pc:sldMkLst>
          <pc:docMk/>
          <pc:sldMk cId="2009923557" sldId="270"/>
        </pc:sldMkLst>
        <pc:spChg chg="mod">
          <ac:chgData name="Darcy Roach" userId="ba676ee9-e9b4-49e8-a515-8077106c948d" providerId="ADAL" clId="{DE900027-DBA7-4DBF-881F-892D8F42CD96}" dt="2022-11-15T02:22:02.131" v="2025" actId="1076"/>
          <ac:spMkLst>
            <pc:docMk/>
            <pc:sldMk cId="2009923557" sldId="270"/>
            <ac:spMk id="2" creationId="{2FA774CA-3857-9308-4D38-9414B0CC2B95}"/>
          </ac:spMkLst>
        </pc:spChg>
        <pc:spChg chg="mod">
          <ac:chgData name="Darcy Roach" userId="ba676ee9-e9b4-49e8-a515-8077106c948d" providerId="ADAL" clId="{DE900027-DBA7-4DBF-881F-892D8F42CD96}" dt="2022-11-15T00:06:48.116" v="686" actId="20577"/>
          <ac:spMkLst>
            <pc:docMk/>
            <pc:sldMk cId="2009923557" sldId="270"/>
            <ac:spMk id="4" creationId="{80F49B2F-21D4-F9EB-049F-717A10CB7D84}"/>
          </ac:spMkLst>
        </pc:spChg>
        <pc:spChg chg="mod">
          <ac:chgData name="Darcy Roach" userId="ba676ee9-e9b4-49e8-a515-8077106c948d" providerId="ADAL" clId="{DE900027-DBA7-4DBF-881F-892D8F42CD96}" dt="2022-11-15T01:01:14.351" v="1300" actId="20577"/>
          <ac:spMkLst>
            <pc:docMk/>
            <pc:sldMk cId="2009923557" sldId="270"/>
            <ac:spMk id="6" creationId="{701E125D-B356-8A2A-B86B-AB6567CEABE1}"/>
          </ac:spMkLst>
        </pc:spChg>
        <pc:spChg chg="mod">
          <ac:chgData name="Darcy Roach" userId="ba676ee9-e9b4-49e8-a515-8077106c948d" providerId="ADAL" clId="{DE900027-DBA7-4DBF-881F-892D8F42CD96}" dt="2022-11-14T22:52:47.947" v="144" actId="1076"/>
          <ac:spMkLst>
            <pc:docMk/>
            <pc:sldMk cId="2009923557" sldId="270"/>
            <ac:spMk id="7" creationId="{6B2F289A-52B4-2A27-52EA-B05DE2DA93CE}"/>
          </ac:spMkLst>
        </pc:spChg>
        <pc:spChg chg="mod">
          <ac:chgData name="Darcy Roach" userId="ba676ee9-e9b4-49e8-a515-8077106c948d" providerId="ADAL" clId="{DE900027-DBA7-4DBF-881F-892D8F42CD96}" dt="2022-11-15T01:09:54.951" v="1556" actId="20577"/>
          <ac:spMkLst>
            <pc:docMk/>
            <pc:sldMk cId="2009923557" sldId="270"/>
            <ac:spMk id="8" creationId="{59FEB941-5146-6B10-4E4D-8A4ADE918AEF}"/>
          </ac:spMkLst>
        </pc:spChg>
        <pc:spChg chg="mod">
          <ac:chgData name="Darcy Roach" userId="ba676ee9-e9b4-49e8-a515-8077106c948d" providerId="ADAL" clId="{DE900027-DBA7-4DBF-881F-892D8F42CD96}" dt="2022-11-15T01:19:26.156" v="1761" actId="20577"/>
          <ac:spMkLst>
            <pc:docMk/>
            <pc:sldMk cId="2009923557" sldId="270"/>
            <ac:spMk id="10" creationId="{06312B81-BCF1-2796-C112-3DBE0E02F483}"/>
          </ac:spMkLst>
        </pc:spChg>
        <pc:spChg chg="add mod">
          <ac:chgData name="Darcy Roach" userId="ba676ee9-e9b4-49e8-a515-8077106c948d" providerId="ADAL" clId="{DE900027-DBA7-4DBF-881F-892D8F42CD96}" dt="2022-11-15T02:21:44.622" v="2024" actId="20577"/>
          <ac:spMkLst>
            <pc:docMk/>
            <pc:sldMk cId="2009923557" sldId="270"/>
            <ac:spMk id="12" creationId="{05BEA2A7-F2F4-D7C4-273B-94784BBDC7E2}"/>
          </ac:spMkLst>
        </pc:spChg>
        <pc:spChg chg="mod">
          <ac:chgData name="Darcy Roach" userId="ba676ee9-e9b4-49e8-a515-8077106c948d" providerId="ADAL" clId="{DE900027-DBA7-4DBF-881F-892D8F42CD96}" dt="2022-11-15T00:12:54.262" v="710" actId="20577"/>
          <ac:spMkLst>
            <pc:docMk/>
            <pc:sldMk cId="2009923557" sldId="270"/>
            <ac:spMk id="13" creationId="{FD2720C9-A79F-BD7F-E179-674AD67D7892}"/>
          </ac:spMkLst>
        </pc:spChg>
        <pc:spChg chg="del">
          <ac:chgData name="Darcy Roach" userId="ba676ee9-e9b4-49e8-a515-8077106c948d" providerId="ADAL" clId="{DE900027-DBA7-4DBF-881F-892D8F42CD96}" dt="2022-11-15T00:27:02.425" v="896" actId="478"/>
          <ac:spMkLst>
            <pc:docMk/>
            <pc:sldMk cId="2009923557" sldId="270"/>
            <ac:spMk id="16" creationId="{63764321-363D-C1BE-1D4B-888B068F63F2}"/>
          </ac:spMkLst>
        </pc:spChg>
        <pc:spChg chg="mod">
          <ac:chgData name="Darcy Roach" userId="ba676ee9-e9b4-49e8-a515-8077106c948d" providerId="ADAL" clId="{DE900027-DBA7-4DBF-881F-892D8F42CD96}" dt="2022-11-15T00:14:41.226" v="731" actId="20577"/>
          <ac:spMkLst>
            <pc:docMk/>
            <pc:sldMk cId="2009923557" sldId="270"/>
            <ac:spMk id="17" creationId="{1BDE5051-9F34-F139-742D-4450E5D6591E}"/>
          </ac:spMkLst>
        </pc:spChg>
        <pc:spChg chg="mod">
          <ac:chgData name="Darcy Roach" userId="ba676ee9-e9b4-49e8-a515-8077106c948d" providerId="ADAL" clId="{DE900027-DBA7-4DBF-881F-892D8F42CD96}" dt="2022-11-15T02:18:54.873" v="1979" actId="20577"/>
          <ac:spMkLst>
            <pc:docMk/>
            <pc:sldMk cId="2009923557" sldId="270"/>
            <ac:spMk id="19" creationId="{7513C49A-2DF2-8111-FED4-FC07A8EAD258}"/>
          </ac:spMkLst>
        </pc:spChg>
        <pc:spChg chg="mod">
          <ac:chgData name="Darcy Roach" userId="ba676ee9-e9b4-49e8-a515-8077106c948d" providerId="ADAL" clId="{DE900027-DBA7-4DBF-881F-892D8F42CD96}" dt="2022-11-14T22:37:42.328" v="34" actId="20577"/>
          <ac:spMkLst>
            <pc:docMk/>
            <pc:sldMk cId="2009923557" sldId="270"/>
            <ac:spMk id="22" creationId="{9D4E289E-1D52-CBDD-E381-40963429D7F1}"/>
          </ac:spMkLst>
        </pc:spChg>
        <pc:spChg chg="del mod">
          <ac:chgData name="Darcy Roach" userId="ba676ee9-e9b4-49e8-a515-8077106c948d" providerId="ADAL" clId="{DE900027-DBA7-4DBF-881F-892D8F42CD96}" dt="2022-11-14T23:06:01.549" v="266" actId="478"/>
          <ac:spMkLst>
            <pc:docMk/>
            <pc:sldMk cId="2009923557" sldId="270"/>
            <ac:spMk id="24" creationId="{C204E547-6630-B6B8-5E98-6A4E05316A14}"/>
          </ac:spMkLst>
        </pc:spChg>
        <pc:spChg chg="mod">
          <ac:chgData name="Darcy Roach" userId="ba676ee9-e9b4-49e8-a515-8077106c948d" providerId="ADAL" clId="{DE900027-DBA7-4DBF-881F-892D8F42CD96}" dt="2022-11-15T00:09:23.413" v="709" actId="20577"/>
          <ac:spMkLst>
            <pc:docMk/>
            <pc:sldMk cId="2009923557" sldId="270"/>
            <ac:spMk id="26" creationId="{1A3D666D-00C8-D106-73C3-9FF300F8618C}"/>
          </ac:spMkLst>
        </pc:spChg>
        <pc:spChg chg="mod">
          <ac:chgData name="Darcy Roach" userId="ba676ee9-e9b4-49e8-a515-8077106c948d" providerId="ADAL" clId="{DE900027-DBA7-4DBF-881F-892D8F42CD96}" dt="2022-11-15T02:22:11.372" v="2026" actId="1076"/>
          <ac:spMkLst>
            <pc:docMk/>
            <pc:sldMk cId="2009923557" sldId="270"/>
            <ac:spMk id="28" creationId="{6059F888-3BDF-A1C0-65E5-CB6FDD43D97C}"/>
          </ac:spMkLst>
        </pc:spChg>
        <pc:spChg chg="del">
          <ac:chgData name="Darcy Roach" userId="ba676ee9-e9b4-49e8-a515-8077106c948d" providerId="ADAL" clId="{DE900027-DBA7-4DBF-881F-892D8F42CD96}" dt="2022-11-15T00:27:05.131" v="898" actId="478"/>
          <ac:spMkLst>
            <pc:docMk/>
            <pc:sldMk cId="2009923557" sldId="270"/>
            <ac:spMk id="29" creationId="{2A74FF7A-B35A-8CC7-6512-1A7E563062D8}"/>
          </ac:spMkLst>
        </pc:spChg>
        <pc:spChg chg="mod">
          <ac:chgData name="Darcy Roach" userId="ba676ee9-e9b4-49e8-a515-8077106c948d" providerId="ADAL" clId="{DE900027-DBA7-4DBF-881F-892D8F42CD96}" dt="2022-11-15T00:48:18.870" v="1176" actId="20577"/>
          <ac:spMkLst>
            <pc:docMk/>
            <pc:sldMk cId="2009923557" sldId="270"/>
            <ac:spMk id="38" creationId="{AB47A2EE-BF0B-DB05-8B7C-DB6594B2B3D5}"/>
          </ac:spMkLst>
        </pc:spChg>
        <pc:spChg chg="mod">
          <ac:chgData name="Darcy Roach" userId="ba676ee9-e9b4-49e8-a515-8077106c948d" providerId="ADAL" clId="{DE900027-DBA7-4DBF-881F-892D8F42CD96}" dt="2022-11-15T02:23:43.007" v="2027" actId="1076"/>
          <ac:spMkLst>
            <pc:docMk/>
            <pc:sldMk cId="2009923557" sldId="270"/>
            <ac:spMk id="39" creationId="{3EA81938-6A76-B850-B0E8-A5F905AEBA98}"/>
          </ac:spMkLst>
        </pc:spChg>
        <pc:spChg chg="mod">
          <ac:chgData name="Darcy Roach" userId="ba676ee9-e9b4-49e8-a515-8077106c948d" providerId="ADAL" clId="{DE900027-DBA7-4DBF-881F-892D8F42CD96}" dt="2022-11-15T00:26:22.273" v="895" actId="20577"/>
          <ac:spMkLst>
            <pc:docMk/>
            <pc:sldMk cId="2009923557" sldId="270"/>
            <ac:spMk id="175" creationId="{B9775FC7-7124-8CCA-9B1C-7CCD7D3DF384}"/>
          </ac:spMkLst>
        </pc:spChg>
        <pc:grpChg chg="mod">
          <ac:chgData name="Darcy Roach" userId="ba676ee9-e9b4-49e8-a515-8077106c948d" providerId="ADAL" clId="{DE900027-DBA7-4DBF-881F-892D8F42CD96}" dt="2022-11-15T02:23:43.007" v="2027" actId="1076"/>
          <ac:grpSpMkLst>
            <pc:docMk/>
            <pc:sldMk cId="2009923557" sldId="270"/>
            <ac:grpSpMk id="5" creationId="{980A06B1-0A2F-7DF6-91DB-0F6DFA896A23}"/>
          </ac:grpSpMkLst>
        </pc:grpChg>
        <pc:grpChg chg="mod">
          <ac:chgData name="Darcy Roach" userId="ba676ee9-e9b4-49e8-a515-8077106c948d" providerId="ADAL" clId="{DE900027-DBA7-4DBF-881F-892D8F42CD96}" dt="2022-11-15T02:22:11.372" v="2026" actId="1076"/>
          <ac:grpSpMkLst>
            <pc:docMk/>
            <pc:sldMk cId="2009923557" sldId="270"/>
            <ac:grpSpMk id="18" creationId="{E0B3FDFC-4A78-346F-E1D4-E183BEB90A60}"/>
          </ac:grpSpMkLst>
        </pc:grpChg>
        <pc:grpChg chg="mod">
          <ac:chgData name="Darcy Roach" userId="ba676ee9-e9b4-49e8-a515-8077106c948d" providerId="ADAL" clId="{DE900027-DBA7-4DBF-881F-892D8F42CD96}" dt="2022-11-15T02:22:02.131" v="2025" actId="1076"/>
          <ac:grpSpMkLst>
            <pc:docMk/>
            <pc:sldMk cId="2009923557" sldId="270"/>
            <ac:grpSpMk id="163" creationId="{E52FDF9F-B084-9074-7DB9-539AD5456487}"/>
          </ac:grpSpMkLst>
        </pc:grpChg>
        <pc:cxnChg chg="mod">
          <ac:chgData name="Darcy Roach" userId="ba676ee9-e9b4-49e8-a515-8077106c948d" providerId="ADAL" clId="{DE900027-DBA7-4DBF-881F-892D8F42CD96}" dt="2022-11-15T02:19:47.915" v="1982" actId="14100"/>
          <ac:cxnSpMkLst>
            <pc:docMk/>
            <pc:sldMk cId="2009923557" sldId="270"/>
            <ac:cxnSpMk id="3" creationId="{67C34E10-2CF8-9BCA-1CC6-D78A3FF9CA80}"/>
          </ac:cxnSpMkLst>
        </pc:cxnChg>
        <pc:cxnChg chg="mod">
          <ac:chgData name="Darcy Roach" userId="ba676ee9-e9b4-49e8-a515-8077106c948d" providerId="ADAL" clId="{DE900027-DBA7-4DBF-881F-892D8F42CD96}" dt="2022-11-15T02:19:12.652" v="1981" actId="14100"/>
          <ac:cxnSpMkLst>
            <pc:docMk/>
            <pc:sldMk cId="2009923557" sldId="270"/>
            <ac:cxnSpMk id="21" creationId="{B0913DE4-461D-CE43-AABC-C4B3D7D22F45}"/>
          </ac:cxnSpMkLst>
        </pc:cxnChg>
        <pc:cxnChg chg="del">
          <ac:chgData name="Darcy Roach" userId="ba676ee9-e9b4-49e8-a515-8077106c948d" providerId="ADAL" clId="{DE900027-DBA7-4DBF-881F-892D8F42CD96}" dt="2022-11-15T00:27:03.682" v="897" actId="478"/>
          <ac:cxnSpMkLst>
            <pc:docMk/>
            <pc:sldMk cId="2009923557" sldId="270"/>
            <ac:cxnSpMk id="37" creationId="{DF30A21A-E6A0-D751-8343-AEA597A4BFEE}"/>
          </ac:cxnSpMkLst>
        </pc:cxnChg>
        <pc:cxnChg chg="mod">
          <ac:chgData name="Darcy Roach" userId="ba676ee9-e9b4-49e8-a515-8077106c948d" providerId="ADAL" clId="{DE900027-DBA7-4DBF-881F-892D8F42CD96}" dt="2022-11-15T00:48:32.960" v="1177" actId="14100"/>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11/15/2022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Millan</a:t>
            </a:r>
          </a:p>
          <a:p>
            <a:r>
              <a:rPr lang="en-US" sz="2800" b="1" dirty="0">
                <a:solidFill>
                  <a:srgbClr val="00AB80"/>
                </a:solidFill>
                <a:latin typeface="Roboto" panose="02000000000000000000" pitchFamily="2" charset="0"/>
                <a:ea typeface="Roboto" panose="02000000000000000000" pitchFamily="2" charset="0"/>
              </a:rPr>
              <a:t>Philip</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96808"/>
            <a:ext cx="2794374" cy="1907573"/>
          </a:xfrm>
          <a:prstGeom prst="rect">
            <a:avLst/>
          </a:prstGeom>
          <a:noFill/>
        </p:spPr>
        <p:txBody>
          <a:bodyPr wrap="square" lIns="0" tIns="0" rIns="0" bIns="0" rtlCol="0" anchor="t">
            <a:spAutoFit/>
          </a:bodyPr>
          <a:lstStyle/>
          <a:p>
            <a:pPr>
              <a:lnSpc>
                <a:spcPts val="1500"/>
              </a:lnSpc>
            </a:pPr>
            <a:r>
              <a:rPr lang="en-US" sz="1000" spc="13" dirty="0">
                <a:latin typeface="Roboto Light"/>
                <a:ea typeface="Roboto Light"/>
                <a:cs typeface="Lato"/>
              </a:rPr>
              <a:t>Millan is a Google Cloud Certified Data Engineer Professional and recently completed a data bootcamp internship working with Google Cloud Platform tools. Through this Millan gained extensive hands-on experience in implementing projects using GCP from concept phase to a working model. Completion of this program aided Millan to not only develop understanding of GCP best practices to deliver outcomes, but also to innovate and excel in </a:t>
            </a:r>
            <a:r>
              <a:rPr lang="en-US" sz="1000" spc="13" dirty="0" err="1">
                <a:latin typeface="Roboto Light"/>
                <a:ea typeface="Roboto Light"/>
                <a:cs typeface="Lato"/>
              </a:rPr>
              <a:t>organisations</a:t>
            </a:r>
            <a:r>
              <a:rPr lang="en-US" sz="1000" spc="13" dirty="0">
                <a:latin typeface="Roboto Light"/>
                <a:ea typeface="Roboto Light"/>
                <a:cs typeface="Lato"/>
              </a:rPr>
              <a:t>. </a:t>
            </a: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7543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GitHub</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ANSYS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SolidWorks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 Fundamentals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Office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3D and 2D Computer Aided Design</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802"/>
            <a:ext cx="0" cy="192733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728887"/>
            <a:ext cx="4549884" cy="2277547"/>
            <a:chOff x="5030740" y="2225627"/>
            <a:chExt cx="4859979" cy="2277547"/>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5"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US" sz="1000" dirty="0"/>
                <a:t>Design Engineer / Project Manager professional with 5+ years of experience in the complete project life cycle of after-cast machinery equipment for the medical, aerospace, and defense industry. Key responsibilities included:</a:t>
              </a:r>
            </a:p>
            <a:p>
              <a:pPr marL="0" indent="0">
                <a:buNone/>
              </a:pPr>
              <a:endParaRPr lang="en-US" sz="200" dirty="0"/>
            </a:p>
            <a:p>
              <a:r>
                <a:rPr lang="en-US" sz="1000" dirty="0"/>
                <a:t>CAD Modelling</a:t>
              </a:r>
            </a:p>
            <a:p>
              <a:r>
                <a:rPr lang="en-US" sz="1000" dirty="0"/>
                <a:t>Project Cost Estimation</a:t>
              </a:r>
            </a:p>
            <a:p>
              <a:r>
                <a:rPr lang="en-US" sz="1000" dirty="0"/>
                <a:t>Project Management</a:t>
              </a:r>
            </a:p>
            <a:p>
              <a:r>
                <a:rPr lang="en-US" sz="1000" dirty="0"/>
                <a:t>Sub-Contractors selection</a:t>
              </a:r>
            </a:p>
            <a:p>
              <a:r>
                <a:rPr lang="en-US" sz="1000" dirty="0"/>
                <a:t>Product Integration</a:t>
              </a:r>
            </a:p>
            <a:p>
              <a:r>
                <a:rPr lang="en-US" sz="1000" dirty="0"/>
                <a:t>Client Interaction</a:t>
              </a:r>
            </a:p>
            <a:p>
              <a:r>
                <a:rPr lang="en-US" sz="1000" dirty="0"/>
                <a:t>Quality Analysis</a:t>
              </a:r>
            </a:p>
            <a:p>
              <a:r>
                <a:rPr lang="en-US" sz="1000" dirty="0"/>
                <a:t>Change Management, Risk Finding and Elimination</a:t>
              </a:r>
            </a:p>
            <a:p>
              <a:r>
                <a:rPr lang="en-US" sz="1000" dirty="0"/>
                <a:t>Performance Management</a:t>
              </a:r>
            </a:p>
            <a:p>
              <a:r>
                <a:rPr lang="en-US" sz="1000" dirty="0"/>
                <a:t>Manufacturing Process Reengineering</a:t>
              </a:r>
            </a:p>
            <a:p>
              <a:r>
                <a:rPr lang="en-US" sz="1000" dirty="0"/>
                <a:t>Logistic Management</a:t>
              </a:r>
              <a:endParaRPr lang="en-AU" sz="1000" dirty="0"/>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20767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72331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42413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Manufacturing</a:t>
            </a:r>
          </a:p>
          <a:p>
            <a:pPr marL="0" indent="0">
              <a:lnSpc>
                <a:spcPct val="150000"/>
              </a:lnSpc>
              <a:buNone/>
            </a:pPr>
            <a:r>
              <a:rPr lang="en-GB" sz="1200" dirty="0">
                <a:solidFill>
                  <a:srgbClr val="00AB80"/>
                </a:solidFill>
              </a:rPr>
              <a:t>Defence Sector </a:t>
            </a:r>
          </a:p>
          <a:p>
            <a:pPr marL="0" indent="0">
              <a:lnSpc>
                <a:spcPct val="150000"/>
              </a:lnSpc>
              <a:buNone/>
            </a:pPr>
            <a:r>
              <a:rPr lang="en-GB" sz="1200" dirty="0">
                <a:solidFill>
                  <a:srgbClr val="00AB80"/>
                </a:solidFill>
              </a:rPr>
              <a:t>Aerospace</a:t>
            </a:r>
          </a:p>
          <a:p>
            <a:pPr marL="0" indent="0">
              <a:lnSpc>
                <a:spcPct val="150000"/>
              </a:lnSpc>
              <a:buNone/>
            </a:pPr>
            <a:r>
              <a:rPr lang="en-GB" sz="1200" dirty="0">
                <a:solidFill>
                  <a:srgbClr val="00AB80"/>
                </a:solidFill>
              </a:rPr>
              <a:t>Medical</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938761"/>
            <a:ext cx="1951941" cy="3416320"/>
            <a:chOff x="8106458" y="2681447"/>
            <a:chExt cx="1951941" cy="341632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41632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Platform –  Certified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Graduate Certificate – Data Science (in progress)</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Master </a:t>
              </a:r>
              <a:r>
                <a:rPr lang="en-GB" sz="1200" dirty="0">
                  <a:solidFill>
                    <a:srgbClr val="00AB80"/>
                  </a:solidFill>
                  <a:latin typeface="Roboto Light" panose="02000000000000000000" pitchFamily="2" charset="0"/>
                  <a:ea typeface="Calibri" panose="020F0502020204030204" pitchFamily="34" charset="0"/>
                </a:rPr>
                <a:t>– Engineering, Management</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RMIT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Mechanical Engineering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Christ University, India</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Project Management Essentials – Engineering Australia </a:t>
              </a: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444251"/>
            <a:ext cx="4616675"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Australian Manufacturing Organisation – Design Engineer  </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0" y="5747849"/>
            <a:ext cx="1649097"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Cleansing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Product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Design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Mentoring and training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Conflict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Public Speaking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Client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3734"/>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D</a:t>
            </a:r>
            <a:r>
              <a:rPr lang="en-AU" sz="1200" b="1" dirty="0" err="1">
                <a:solidFill>
                  <a:srgbClr val="0059FF"/>
                </a:solidFill>
                <a:latin typeface="Roboto" panose="02000000000000000000" pitchFamily="2" charset="0"/>
                <a:ea typeface="Roboto" panose="02000000000000000000" pitchFamily="2" charset="0"/>
              </a:rPr>
              <a:t>ata</a:t>
            </a:r>
            <a:r>
              <a:rPr lang="en-AU" sz="1200" b="1" dirty="0">
                <a:solidFill>
                  <a:srgbClr val="0059FF"/>
                </a:solidFill>
                <a:latin typeface="Roboto" panose="02000000000000000000" pitchFamily="2" charset="0"/>
                <a:ea typeface="Roboto" panose="02000000000000000000" pitchFamily="2" charset="0"/>
              </a:rPr>
              <a:t> Engineering Internship Program – Data Engineering Intern</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0460"/>
            <a:ext cx="4488473" cy="212365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latin typeface="Roboto Light"/>
                <a:ea typeface="Roboto Light"/>
                <a:cs typeface="Roboto Light"/>
              </a:rPr>
              <a:t>Completed a six-month comprehensive Data Engineering internship program designed to develop individuals who not only understand and deliver outcomes but innovate and excel in organizations. Studied the journey</a:t>
            </a:r>
          </a:p>
          <a:p>
            <a:pPr marL="0" indent="0">
              <a:buNone/>
            </a:pPr>
            <a:r>
              <a:rPr lang="en-US" sz="1000" dirty="0">
                <a:solidFill>
                  <a:schemeClr val="bg1"/>
                </a:solidFill>
                <a:latin typeface="Roboto Light"/>
                <a:ea typeface="Roboto Light"/>
                <a:cs typeface="Roboto Light"/>
              </a:rPr>
              <a:t>of Data Analytics through time till current state and gained clear understanding of the history of data analytics and reasons for evolution in the industry. The upskilling courses in this program covered :</a:t>
            </a:r>
          </a:p>
          <a:p>
            <a:pPr marL="0" indent="0">
              <a:buNone/>
            </a:pPr>
            <a:endParaRPr lang="en-US" sz="200" dirty="0">
              <a:solidFill>
                <a:schemeClr val="bg1"/>
              </a:solidFill>
            </a:endParaRPr>
          </a:p>
          <a:p>
            <a:r>
              <a:rPr lang="en-US" sz="1000" dirty="0">
                <a:solidFill>
                  <a:schemeClr val="bg1"/>
                </a:solidFill>
              </a:rPr>
              <a:t>GCP Data Engineering Certification</a:t>
            </a:r>
          </a:p>
          <a:p>
            <a:r>
              <a:rPr lang="en-US" sz="1000" dirty="0">
                <a:solidFill>
                  <a:schemeClr val="bg1"/>
                </a:solidFill>
              </a:rPr>
              <a:t>GCP Fundamentals: Core Infrastructure, GCP Big Data and ML</a:t>
            </a:r>
          </a:p>
          <a:p>
            <a:r>
              <a:rPr lang="en-US" sz="1000" dirty="0">
                <a:solidFill>
                  <a:schemeClr val="bg1"/>
                </a:solidFill>
              </a:rPr>
              <a:t>Modernizing data lakes and data warehouses with GCP</a:t>
            </a:r>
          </a:p>
          <a:p>
            <a:r>
              <a:rPr lang="en-US" sz="1000" dirty="0">
                <a:solidFill>
                  <a:schemeClr val="bg1"/>
                </a:solidFill>
              </a:rPr>
              <a:t>Building batch data pipelines on GCP</a:t>
            </a:r>
          </a:p>
          <a:p>
            <a:r>
              <a:rPr lang="en-US" sz="1000" dirty="0">
                <a:solidFill>
                  <a:schemeClr val="bg1"/>
                </a:solidFill>
              </a:rPr>
              <a:t>Building Resilient Streaming Analytics Systems on Google Cloud</a:t>
            </a:r>
          </a:p>
          <a:p>
            <a:r>
              <a:rPr lang="en-US" sz="1000" dirty="0">
                <a:solidFill>
                  <a:schemeClr val="bg1"/>
                </a:solidFill>
              </a:rPr>
              <a:t>Smart Analytics, ML, and AI on GCP</a:t>
            </a:r>
          </a:p>
          <a:p>
            <a:r>
              <a:rPr lang="en-US" sz="1000" dirty="0">
                <a:solidFill>
                  <a:schemeClr val="bg1"/>
                </a:solidFill>
              </a:rPr>
              <a:t>SQL training, Terraform, GitHub, Agile Methodology, Linux</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278244"/>
            <a:ext cx="4584890" cy="1323439"/>
            <a:chOff x="5023753" y="4247510"/>
            <a:chExt cx="4757437" cy="1323439"/>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32343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t>Identified price trends, created efficient ways to manufacture parts, and predicted future availability of materials and goods. </a:t>
              </a:r>
            </a:p>
            <a:p>
              <a:r>
                <a:rPr lang="en-US" sz="1000" dirty="0"/>
                <a:t>Ensured individual projects adhered to allocated budget and increased total revenue for the company.</a:t>
              </a:r>
            </a:p>
            <a:p>
              <a:r>
                <a:rPr lang="en-US" sz="1000" dirty="0"/>
                <a:t>Found vendors, negotiated, prepared requisitions, purchase orders, and maintained supplier relationships.</a:t>
              </a:r>
            </a:p>
            <a:p>
              <a:r>
                <a:rPr lang="en-US" sz="1000" dirty="0"/>
                <a:t>Worked closely with the engineering team, supply chain and procurement areas of the business.</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20298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6001245"/>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Major Australian Manufacturing Organisation – Technical Analyst  </a:t>
            </a:r>
          </a:p>
          <a:p>
            <a:endParaRPr lang="en-AU" sz="1200" b="1" dirty="0">
              <a:solidFill>
                <a:srgbClr val="A93584"/>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05BEA2A7-F2F4-D7C4-273B-94784BBDC7E2}"/>
              </a:ext>
            </a:extLst>
          </p:cNvPr>
          <p:cNvSpPr txBox="1"/>
          <p:nvPr/>
        </p:nvSpPr>
        <p:spPr>
          <a:xfrm>
            <a:off x="247663" y="3628757"/>
            <a:ext cx="2895959" cy="1522853"/>
          </a:xfrm>
          <a:prstGeom prst="rect">
            <a:avLst/>
          </a:prstGeom>
          <a:noFill/>
        </p:spPr>
        <p:txBody>
          <a:bodyPr wrap="square" lIns="0" tIns="0" rIns="0" bIns="0" rtlCol="0" anchor="t">
            <a:spAutoFit/>
          </a:bodyPr>
          <a:lstStyle>
            <a:defPPr>
              <a:defRPr lang="en-US"/>
            </a:defPPr>
            <a:lvl1pPr>
              <a:lnSpc>
                <a:spcPts val="1500"/>
              </a:lnSpc>
              <a:defRPr sz="1000" spc="13">
                <a:latin typeface="Roboto Light"/>
                <a:ea typeface="Roboto Light"/>
                <a:cs typeface="Lato"/>
              </a:defRPr>
            </a:lvl1pPr>
          </a:lstStyle>
          <a:p>
            <a:r>
              <a:rPr lang="en-US" dirty="0"/>
              <a:t>Prior to starting his journey as a Data Engineer, Millan was a Design Engineer/Project Manager/Technical Analyst professional with 5+ years of experience and exposure to the complete project life cycle, working with after-cast machinery equipment in the Manufacturing, Medical, Aerospace, and Australian Defense Sectors. </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44A2EB7-74CC-4C97-BEDF-D40AA55620A1}"/>
</file>

<file path=customXml/itemProps2.xml><?xml version="1.0" encoding="utf-8"?>
<ds:datastoreItem xmlns:ds="http://schemas.openxmlformats.org/officeDocument/2006/customXml" ds:itemID="{EC2A3B75-F7FC-42C4-BBA7-1078CC2BF2C5}"/>
</file>

<file path=customXml/itemProps3.xml><?xml version="1.0" encoding="utf-8"?>
<ds:datastoreItem xmlns:ds="http://schemas.openxmlformats.org/officeDocument/2006/customXml" ds:itemID="{A14F268D-524A-4444-945E-87E176A879F4}"/>
</file>

<file path=docProps/app.xml><?xml version="1.0" encoding="utf-8"?>
<Properties xmlns="http://schemas.openxmlformats.org/officeDocument/2006/extended-properties" xmlns:vt="http://schemas.openxmlformats.org/officeDocument/2006/docPropsVTypes">
  <Template>Office Theme</Template>
  <TotalTime>268</TotalTime>
  <Words>507</Words>
  <Application>Microsoft Office PowerPoint</Application>
  <PresentationFormat>Custom</PresentationFormat>
  <Paragraphs>83</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cp:revision>
  <dcterms:created xsi:type="dcterms:W3CDTF">2019-12-03T01:50:37Z</dcterms:created>
  <dcterms:modified xsi:type="dcterms:W3CDTF">2022-11-15T02:23:51Z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