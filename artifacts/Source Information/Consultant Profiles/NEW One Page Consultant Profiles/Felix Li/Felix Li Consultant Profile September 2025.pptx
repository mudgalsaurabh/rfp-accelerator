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Roboto" panose="02000000000000000000" pitchFamily="2" charset="0"/>
      <p:regular r:id="rId3"/>
      <p:bold r:id="rId4"/>
      <p:italic r:id="rId5"/>
      <p:boldItalic r:id="rId6"/>
    </p:embeddedFont>
    <p:embeddedFont>
      <p:font typeface="Roboto Bold" panose="02000000000000000000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AA7F"/>
    <a:srgbClr val="D77432"/>
    <a:srgbClr val="92337A"/>
    <a:srgbClr val="0059FF"/>
    <a:srgbClr val="EF9B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8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customXml" Target="../customXml/item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9675" b="-967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7"/>
          <p:cNvSpPr/>
          <p:nvPr userDrawn="1"/>
        </p:nvSpPr>
        <p:spPr>
          <a:xfrm>
            <a:off x="16137869" y="7528219"/>
            <a:ext cx="2145775" cy="2770530"/>
          </a:xfrm>
          <a:custGeom>
            <a:avLst/>
            <a:gdLst/>
            <a:ahLst/>
            <a:cxnLst/>
            <a:rect l="l" t="t" r="r" b="b"/>
            <a:pathLst>
              <a:path w="2150131" h="2776154">
                <a:moveTo>
                  <a:pt x="0" y="0"/>
                </a:moveTo>
                <a:lnTo>
                  <a:pt x="2150131" y="0"/>
                </a:lnTo>
                <a:lnTo>
                  <a:pt x="2150131" y="2776154"/>
                </a:lnTo>
                <a:lnTo>
                  <a:pt x="0" y="27761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200025" y="2665197"/>
            <a:ext cx="6493375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4" name="AutoShape 4"/>
          <p:cNvSpPr/>
          <p:nvPr/>
        </p:nvSpPr>
        <p:spPr>
          <a:xfrm flipV="1">
            <a:off x="7119903" y="778751"/>
            <a:ext cx="7629610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AutoShape 5"/>
          <p:cNvSpPr/>
          <p:nvPr/>
        </p:nvSpPr>
        <p:spPr>
          <a:xfrm flipV="1">
            <a:off x="6934200" y="345438"/>
            <a:ext cx="0" cy="9566935"/>
          </a:xfrm>
          <a:prstGeom prst="line">
            <a:avLst/>
          </a:prstGeom>
          <a:ln w="19050" cap="flat">
            <a:solidFill>
              <a:srgbClr val="00AA7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6" name="AutoShape 6"/>
          <p:cNvSpPr/>
          <p:nvPr/>
        </p:nvSpPr>
        <p:spPr>
          <a:xfrm flipV="1">
            <a:off x="15392400" y="899862"/>
            <a:ext cx="0" cy="9041700"/>
          </a:xfrm>
          <a:prstGeom prst="line">
            <a:avLst/>
          </a:prstGeom>
          <a:ln w="19050" cap="flat">
            <a:solidFill>
              <a:srgbClr val="00AA7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5588910" y="204425"/>
            <a:ext cx="2048952" cy="474651"/>
          </a:xfrm>
          <a:custGeom>
            <a:avLst/>
            <a:gdLst/>
            <a:ahLst/>
            <a:cxnLst/>
            <a:rect l="l" t="t" r="r" b="b"/>
            <a:pathLst>
              <a:path w="2048952" h="474651">
                <a:moveTo>
                  <a:pt x="0" y="0"/>
                </a:moveTo>
                <a:lnTo>
                  <a:pt x="2048952" y="0"/>
                </a:lnTo>
                <a:lnTo>
                  <a:pt x="2048952" y="474651"/>
                </a:lnTo>
                <a:lnTo>
                  <a:pt x="0" y="47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15568937" y="4541365"/>
            <a:ext cx="2519031" cy="3827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Microsoft | Certified Azure Solutions Architect Expert </a:t>
            </a:r>
          </a:p>
          <a:p>
            <a:pPr algn="l">
              <a:lnSpc>
                <a:spcPts val="1959"/>
              </a:lnSpc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1959"/>
              </a:lnSpc>
              <a:spcBef>
                <a:spcPct val="0"/>
              </a:spcBef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Microsoft | Certified Azure Data Engineer Associate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1959"/>
              </a:lnSpc>
              <a:spcBef>
                <a:spcPct val="0"/>
              </a:spcBef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Microsoft | Certified Azure Fundamentals</a:t>
            </a:r>
          </a:p>
          <a:p>
            <a:pPr>
              <a:lnSpc>
                <a:spcPts val="1959"/>
              </a:lnSpc>
              <a:spcBef>
                <a:spcPct val="0"/>
              </a:spcBef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1959"/>
              </a:lnSpc>
              <a:spcBef>
                <a:spcPct val="0"/>
              </a:spcBef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PMP | Project Management Professional </a:t>
            </a:r>
          </a:p>
          <a:p>
            <a:pPr>
              <a:lnSpc>
                <a:spcPts val="1959"/>
              </a:lnSpc>
              <a:spcBef>
                <a:spcPct val="0"/>
              </a:spcBef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1959"/>
              </a:lnSpc>
              <a:spcBef>
                <a:spcPct val="0"/>
              </a:spcBef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Agile </a:t>
            </a:r>
            <a:r>
              <a:rPr lang="en-US" sz="1399" b="1" dirty="0" err="1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CoLab</a:t>
            </a: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 | Certified</a:t>
            </a:r>
          </a:p>
          <a:p>
            <a:pPr>
              <a:lnSpc>
                <a:spcPts val="1959"/>
              </a:lnSpc>
              <a:spcBef>
                <a:spcPct val="0"/>
              </a:spcBef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Scrum Master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5568938" y="4435570"/>
            <a:ext cx="2273295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1" name="AutoShape 11"/>
          <p:cNvSpPr/>
          <p:nvPr/>
        </p:nvSpPr>
        <p:spPr>
          <a:xfrm>
            <a:off x="15559425" y="1922426"/>
            <a:ext cx="2273295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Box 12"/>
          <p:cNvSpPr txBox="1"/>
          <p:nvPr/>
        </p:nvSpPr>
        <p:spPr>
          <a:xfrm>
            <a:off x="15539453" y="1427714"/>
            <a:ext cx="7840469" cy="35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Industry Experience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39453" y="1989101"/>
            <a:ext cx="2293267" cy="246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L</a:t>
            </a:r>
            <a:r>
              <a:rPr lang="en-AU" sz="1400" b="1" dirty="0" err="1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ogistics</a:t>
            </a:r>
            <a:endParaRPr lang="en-AU" sz="1400" b="1" dirty="0">
              <a:solidFill>
                <a:srgbClr val="00AA7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Infrastructure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Healthcare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Media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Software</a:t>
            </a:r>
          </a:p>
          <a:p>
            <a:pPr>
              <a:lnSpc>
                <a:spcPts val="2800"/>
              </a:lnSpc>
            </a:pPr>
            <a:endParaRPr lang="en-AU" sz="1400" b="1" dirty="0">
              <a:solidFill>
                <a:srgbClr val="00AA7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>
              <a:lnSpc>
                <a:spcPts val="2800"/>
              </a:lnSpc>
            </a:pPr>
            <a:endParaRPr lang="en-US" sz="1400" b="1" dirty="0">
              <a:solidFill>
                <a:srgbClr val="00AA7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39453" y="3950861"/>
            <a:ext cx="26870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Certification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0" y="171689"/>
            <a:ext cx="784046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Selected Project Experience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2666" y="765476"/>
            <a:ext cx="65938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Felix Li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 dirty="0">
              <a:solidFill>
                <a:srgbClr val="00AA7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22207" y="1427714"/>
            <a:ext cx="463168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Senior Consultant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207" y="2020005"/>
            <a:ext cx="307231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Summary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207" y="2940122"/>
            <a:ext cx="6593800" cy="2795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Felix is a Data Engineer with over 12 years 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sym typeface="Roboto"/>
              </a:rPr>
              <a:t>of experience in 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</a:rPr>
              <a:t>delivering scalable, secure, and high-impact data solutions.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sym typeface="Roboto"/>
              </a:rPr>
              <a:t> Felix excels in 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</a:rPr>
              <a:t>building and optimising data platforms and pipelines using Azure Data Factory, Databricks, Python, and SQL. His work also spans end-to-end ingestion, ETL/ELT, cloud migration, governance, and observability, ensuring systems are reliable, compliant, and business-aligned. </a:t>
            </a:r>
          </a:p>
          <a:p>
            <a:pPr>
              <a:lnSpc>
                <a:spcPts val="2239"/>
              </a:lnSpc>
            </a:pPr>
            <a:endParaRPr lang="en-AU" sz="1400" dirty="0">
              <a:solidFill>
                <a:srgbClr val="0F2B3F"/>
              </a:solidFill>
              <a:latin typeface="Roboto"/>
              <a:ea typeface="Roboto"/>
            </a:endParaRPr>
          </a:p>
          <a:p>
            <a:pPr>
              <a:lnSpc>
                <a:spcPts val="2239"/>
              </a:lnSpc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sym typeface="Roboto"/>
              </a:rPr>
              <a:t>As a PMP-certified Project Manager, Felix has led teams, mentored engineers, and collaborated with stakeholders to deliver projects, unlocking measurable 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value. Passionate about solving complex problems, Felix applies agile practices to enable data-driven decision-making through robust and future-ready data platforms.</a:t>
            </a:r>
            <a:endParaRPr lang="en-US" sz="1400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307964" y="7547037"/>
            <a:ext cx="7875630" cy="17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1" dirty="0">
                <a:solidFill>
                  <a:srgbClr val="92337A"/>
                </a:solidFill>
                <a:latin typeface="Roboto Bold"/>
                <a:ea typeface="Roboto Bold"/>
                <a:cs typeface="Roboto Bold"/>
                <a:sym typeface="Roboto Bold"/>
              </a:rPr>
              <a:t>Multiple Clients (Healthcare &amp; Media) – Senior Data Engineer/Scientist</a:t>
            </a:r>
          </a:p>
          <a:p>
            <a:pPr algn="just">
              <a:lnSpc>
                <a:spcPts val="1960"/>
              </a:lnSpc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sym typeface="Roboto"/>
              </a:rPr>
              <a:t>Delivered data warehouses and streaming pipelines for healthcare and media workloads, integrating third-party APIs and optimising recommendation models, while ensuring governance and lineage across complex ecosystems.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sym typeface="Roboto"/>
              </a:rPr>
              <a:t>Built data warehouses and streaming pipelines for healthcare and media workloads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Integrated third-party APIs and optimised recommendation models, improving CTR by 20– 30%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Maintained governance and lineage across growing data ecosystems</a:t>
            </a:r>
            <a:endParaRPr lang="en-US" sz="1400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60616" y="7080882"/>
            <a:ext cx="3944578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24" name="Group 24"/>
          <p:cNvGrpSpPr/>
          <p:nvPr/>
        </p:nvGrpSpPr>
        <p:grpSpPr>
          <a:xfrm>
            <a:off x="200025" y="6502344"/>
            <a:ext cx="6493375" cy="3524877"/>
            <a:chOff x="0" y="0"/>
            <a:chExt cx="1710189" cy="8981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10189" cy="898114"/>
            </a:xfrm>
            <a:custGeom>
              <a:avLst/>
              <a:gdLst/>
              <a:ahLst/>
              <a:cxnLst/>
              <a:rect l="l" t="t" r="r" b="b"/>
              <a:pathLst>
                <a:path w="1710189" h="898114">
                  <a:moveTo>
                    <a:pt x="0" y="0"/>
                  </a:moveTo>
                  <a:lnTo>
                    <a:pt x="1710189" y="0"/>
                  </a:lnTo>
                  <a:lnTo>
                    <a:pt x="1710189" y="898114"/>
                  </a:lnTo>
                  <a:lnTo>
                    <a:pt x="0" y="898114"/>
                  </a:lnTo>
                  <a:close/>
                </a:path>
              </a:pathLst>
            </a:custGeom>
            <a:solidFill>
              <a:srgbClr val="0F2B3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10189" cy="936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3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7699" y="6632364"/>
            <a:ext cx="382349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18018"/>
                </a:solidFill>
                <a:latin typeface="Roboto Bold"/>
                <a:ea typeface="Roboto Bold"/>
                <a:cs typeface="Roboto Bold"/>
                <a:sym typeface="Roboto Bold"/>
              </a:rPr>
              <a:t>Key Skills &amp; Tech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0042" y="-24175"/>
            <a:ext cx="774435" cy="824275"/>
          </a:xfrm>
          <a:custGeom>
            <a:avLst/>
            <a:gdLst/>
            <a:ahLst/>
            <a:cxnLst/>
            <a:rect l="l" t="t" r="r" b="b"/>
            <a:pathLst>
              <a:path w="774435" h="824275">
                <a:moveTo>
                  <a:pt x="0" y="0"/>
                </a:moveTo>
                <a:lnTo>
                  <a:pt x="774435" y="0"/>
                </a:lnTo>
                <a:lnTo>
                  <a:pt x="774435" y="824275"/>
                </a:lnTo>
                <a:lnTo>
                  <a:pt x="0" y="82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2" name="TextBox 32"/>
          <p:cNvSpPr txBox="1"/>
          <p:nvPr/>
        </p:nvSpPr>
        <p:spPr>
          <a:xfrm>
            <a:off x="1001693" y="103852"/>
            <a:ext cx="3570307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Consultant Profile</a:t>
            </a:r>
          </a:p>
        </p:txBody>
      </p:sp>
      <p:sp>
        <p:nvSpPr>
          <p:cNvPr id="33" name="TextBox 21"/>
          <p:cNvSpPr txBox="1"/>
          <p:nvPr/>
        </p:nvSpPr>
        <p:spPr>
          <a:xfrm>
            <a:off x="7307963" y="1105040"/>
            <a:ext cx="7901355" cy="2545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Major Logistics </a:t>
            </a:r>
            <a:r>
              <a:rPr lang="en-US" sz="1400" b="1" dirty="0" err="1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Organisation</a:t>
            </a:r>
            <a:r>
              <a:rPr lang="en-US" sz="1400" b="1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1400" b="1" u="none" strike="noStrike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 – </a:t>
            </a:r>
            <a:r>
              <a:rPr lang="en-US" sz="1400" b="1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Senior Data Architect </a:t>
            </a:r>
          </a:p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Designed and delivered reliable, scalable, and cost-efficient data pipelines for a logistics project, integrating external systems into the Lakehouse with validation and monitoring to ensure data quality and visibility.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Designed and evolved data ingestion pipelines with emphasis on reliability, observability, scalability, and cost efficiency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Integrated multiple external systems into the Lakehouse; implemented schema validation, deduplication, and reconciliation before data landed in ADLS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Designed event-driven ingestion flows and incremental data pipelines using ADF and Databricks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Improved visibility into ingestion health and implemented monitoring/alerting</a:t>
            </a:r>
            <a:endParaRPr lang="en-US" sz="1400" u="none" strike="noStrike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B2A0672-5AF0-5438-8D24-87E280881A20}"/>
              </a:ext>
            </a:extLst>
          </p:cNvPr>
          <p:cNvCxnSpPr>
            <a:cxnSpLocks/>
          </p:cNvCxnSpPr>
          <p:nvPr/>
        </p:nvCxnSpPr>
        <p:spPr>
          <a:xfrm>
            <a:off x="7179436" y="1192885"/>
            <a:ext cx="0" cy="2350415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ABFD3B-85BE-9F1D-EBDE-61B80D7CD5F7}"/>
              </a:ext>
            </a:extLst>
          </p:cNvPr>
          <p:cNvCxnSpPr>
            <a:cxnSpLocks/>
          </p:cNvCxnSpPr>
          <p:nvPr/>
        </p:nvCxnSpPr>
        <p:spPr>
          <a:xfrm>
            <a:off x="7179436" y="4284902"/>
            <a:ext cx="0" cy="2572773"/>
          </a:xfrm>
          <a:prstGeom prst="line">
            <a:avLst/>
          </a:prstGeom>
          <a:ln w="19050">
            <a:solidFill>
              <a:srgbClr val="D77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FA25F3-F5B1-ADB7-8671-CA98D693BF24}"/>
              </a:ext>
            </a:extLst>
          </p:cNvPr>
          <p:cNvCxnSpPr>
            <a:cxnSpLocks/>
          </p:cNvCxnSpPr>
          <p:nvPr/>
        </p:nvCxnSpPr>
        <p:spPr>
          <a:xfrm>
            <a:off x="7162800" y="7578902"/>
            <a:ext cx="0" cy="1744262"/>
          </a:xfrm>
          <a:prstGeom prst="line">
            <a:avLst/>
          </a:prstGeom>
          <a:ln w="19050">
            <a:solidFill>
              <a:srgbClr val="9233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2"/>
          <p:cNvSpPr txBox="1"/>
          <p:nvPr/>
        </p:nvSpPr>
        <p:spPr>
          <a:xfrm>
            <a:off x="7307964" y="4197798"/>
            <a:ext cx="7901357" cy="2802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AU" sz="1400" b="1" dirty="0">
                <a:solidFill>
                  <a:srgbClr val="D77432"/>
                </a:solidFill>
                <a:latin typeface="Roboto Bold"/>
                <a:ea typeface="Roboto Bold"/>
                <a:cs typeface="Roboto Bold"/>
                <a:sym typeface="Roboto Bold"/>
              </a:rPr>
              <a:t>Major Logistics Organisation  – Lead / Senior Data Engineer</a:t>
            </a:r>
          </a:p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Led end-to-end ETL and cloud migration initiatives for a logistics project, optimising performance and cost while ensuring compliance, enabling CI/CD delivery, and uplifting engineering practices in quality, governance, and observability.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Delivered end-to-end ETL pipelines and cloud migration projects, optimised workloads for performance and cost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Supported multi-environment CI/CD deployments; maintained ALM workflows and Git- based pipelines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Collaborated with analysts, architects, and leadership to ensure solutions aligned with business and compliance requirements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Mentored engineers to drive adoption of best practices for quality, governance, and observability</a:t>
            </a:r>
            <a:endParaRPr lang="en-US" sz="1400" u="none" strike="noStrike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002D50C6-0F6B-AD41-3505-10D029917A92}"/>
              </a:ext>
            </a:extLst>
          </p:cNvPr>
          <p:cNvSpPr txBox="1"/>
          <p:nvPr/>
        </p:nvSpPr>
        <p:spPr>
          <a:xfrm>
            <a:off x="272023" y="7026062"/>
            <a:ext cx="2543313" cy="281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Engineering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Architecture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Migration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Governance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Modeling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Mining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Analytics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Warehousing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 Computing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ETL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AI/ML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SSRS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SSIS</a:t>
            </a: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8587052C-2CBA-2939-405C-9B7DDC07F669}"/>
              </a:ext>
            </a:extLst>
          </p:cNvPr>
          <p:cNvSpPr txBox="1"/>
          <p:nvPr/>
        </p:nvSpPr>
        <p:spPr>
          <a:xfrm>
            <a:off x="2810100" y="6991139"/>
            <a:ext cx="1957414" cy="3036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Platforms​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Microsoft Azure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Databricks​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Cloud Platform</a:t>
            </a:r>
          </a:p>
          <a:p>
            <a:pPr>
              <a:lnSpc>
                <a:spcPts val="1679"/>
              </a:lnSpc>
            </a:pPr>
            <a:r>
              <a:rPr lang="en-AU" sz="1199" b="1" dirty="0">
                <a:solidFill>
                  <a:srgbClr val="00AA7F"/>
                </a:solidFill>
                <a:latin typeface="Roboto Bold"/>
                <a:ea typeface="Roboto Bold"/>
              </a:rPr>
              <a:t>Programming</a:t>
            </a:r>
            <a:endParaRPr lang="en-US" sz="1199" b="1" dirty="0">
              <a:solidFill>
                <a:srgbClr val="00AA7F"/>
              </a:solidFill>
              <a:latin typeface="Roboto Bold"/>
              <a:ea typeface="Roboto Bold"/>
              <a:sym typeface="Roboto Bold"/>
            </a:endParaRP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C#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Linux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Pyspark</a:t>
            </a: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TextBox 30">
            <a:extLst>
              <a:ext uri="{FF2B5EF4-FFF2-40B4-BE49-F238E27FC236}">
                <a16:creationId xmlns:a16="http://schemas.microsoft.com/office/drawing/2014/main" id="{D9770108-C379-B724-B371-69BCACDECCA2}"/>
              </a:ext>
            </a:extLst>
          </p:cNvPr>
          <p:cNvSpPr txBox="1"/>
          <p:nvPr/>
        </p:nvSpPr>
        <p:spPr>
          <a:xfrm>
            <a:off x="4838908" y="6991139"/>
            <a:ext cx="1752557" cy="216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-327661">
              <a:lnSpc>
                <a:spcPts val="1679"/>
              </a:lnSpc>
            </a:pPr>
            <a:r>
              <a:rPr lang="en-US" sz="1199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Tools</a:t>
            </a:r>
            <a:r>
              <a:rPr lang="en-US" sz="1199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​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Azure Data Factory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Google </a:t>
            </a:r>
            <a:r>
              <a:rPr lang="en-US" sz="1199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BigQuery</a:t>
            </a:r>
            <a:endParaRPr lang="en-US" sz="1199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Airflow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Visio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Apache Kafka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Tableau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Github</a:t>
            </a:r>
            <a:endParaRPr lang="en-US" sz="1199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Beam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FE5FCF-A059-4DB9-BBF8-E1248D955530}"/>
</file>

<file path=customXml/itemProps2.xml><?xml version="1.0" encoding="utf-8"?>
<ds:datastoreItem xmlns:ds="http://schemas.openxmlformats.org/officeDocument/2006/customXml" ds:itemID="{3B67A8FA-0DDF-43FB-8416-BF4BD3F64A62}"/>
</file>

<file path=customXml/itemProps3.xml><?xml version="1.0" encoding="utf-8"?>
<ds:datastoreItem xmlns:ds="http://schemas.openxmlformats.org/officeDocument/2006/customXml" ds:itemID="{04E0CDB7-73A3-48AD-BE05-5B55E7CD9F79}"/>
</file>

<file path=docProps/app.xml><?xml version="1.0" encoding="utf-8"?>
<Properties xmlns="http://schemas.openxmlformats.org/officeDocument/2006/extended-properties" xmlns:vt="http://schemas.openxmlformats.org/officeDocument/2006/docPropsVTypes">
  <TotalTime>4378</TotalTime>
  <Words>514</Words>
  <Application>Microsoft Office PowerPoint</Application>
  <PresentationFormat>Custom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Roboto</vt:lpstr>
      <vt:lpstr>Roboto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 templates (Presentation)</dc:title>
  <dc:creator>Darcy Roach</dc:creator>
  <cp:lastModifiedBy>Darcy Roach</cp:lastModifiedBy>
  <cp:revision>6</cp:revision>
  <dcterms:created xsi:type="dcterms:W3CDTF">2006-08-16T00:00:00Z</dcterms:created>
  <dcterms:modified xsi:type="dcterms:W3CDTF">2025-09-23T01:29:34Z</dcterms:modified>
  <dc:identifier>DAGrzN_SXAE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