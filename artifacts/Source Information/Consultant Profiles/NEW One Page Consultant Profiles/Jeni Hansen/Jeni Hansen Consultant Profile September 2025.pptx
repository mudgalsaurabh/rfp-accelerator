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Roboto" panose="02000000000000000000" pitchFamily="2" charset="0"/>
      <p:regular r:id="rId3"/>
      <p:bold r:id="rId4"/>
      <p:italic r:id="rId5"/>
      <p:boldItalic r:id="rId6"/>
    </p:embeddedFont>
    <p:embeddedFont>
      <p:font typeface="Roboto Bold" panose="02000000000000000000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AA7F"/>
    <a:srgbClr val="D77432"/>
    <a:srgbClr val="92337A"/>
    <a:srgbClr val="0059FF"/>
    <a:srgbClr val="EF9B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8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customXml" Target="../customXml/item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9675" b="-967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7"/>
          <p:cNvSpPr/>
          <p:nvPr userDrawn="1"/>
        </p:nvSpPr>
        <p:spPr>
          <a:xfrm>
            <a:off x="16137869" y="7528219"/>
            <a:ext cx="2145775" cy="2770530"/>
          </a:xfrm>
          <a:custGeom>
            <a:avLst/>
            <a:gdLst/>
            <a:ahLst/>
            <a:cxnLst/>
            <a:rect l="l" t="t" r="r" b="b"/>
            <a:pathLst>
              <a:path w="2150131" h="2776154">
                <a:moveTo>
                  <a:pt x="0" y="0"/>
                </a:moveTo>
                <a:lnTo>
                  <a:pt x="2150131" y="0"/>
                </a:lnTo>
                <a:lnTo>
                  <a:pt x="2150131" y="2776154"/>
                </a:lnTo>
                <a:lnTo>
                  <a:pt x="0" y="27761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200025" y="2552960"/>
            <a:ext cx="6493375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4" name="AutoShape 4"/>
          <p:cNvSpPr/>
          <p:nvPr/>
        </p:nvSpPr>
        <p:spPr>
          <a:xfrm flipV="1">
            <a:off x="7119903" y="778751"/>
            <a:ext cx="7629610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AutoShape 5"/>
          <p:cNvSpPr/>
          <p:nvPr/>
        </p:nvSpPr>
        <p:spPr>
          <a:xfrm flipV="1">
            <a:off x="6934200" y="345438"/>
            <a:ext cx="0" cy="9566935"/>
          </a:xfrm>
          <a:prstGeom prst="line">
            <a:avLst/>
          </a:prstGeom>
          <a:ln w="19050" cap="flat">
            <a:solidFill>
              <a:srgbClr val="00AA7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6" name="AutoShape 6"/>
          <p:cNvSpPr/>
          <p:nvPr/>
        </p:nvSpPr>
        <p:spPr>
          <a:xfrm flipV="1">
            <a:off x="15316200" y="899862"/>
            <a:ext cx="0" cy="9041700"/>
          </a:xfrm>
          <a:prstGeom prst="line">
            <a:avLst/>
          </a:prstGeom>
          <a:ln w="19050" cap="flat">
            <a:solidFill>
              <a:srgbClr val="00AA7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>
            <a:off x="15588910" y="204425"/>
            <a:ext cx="2048952" cy="474651"/>
          </a:xfrm>
          <a:custGeom>
            <a:avLst/>
            <a:gdLst/>
            <a:ahLst/>
            <a:cxnLst/>
            <a:rect l="l" t="t" r="r" b="b"/>
            <a:pathLst>
              <a:path w="2048952" h="474651">
                <a:moveTo>
                  <a:pt x="0" y="0"/>
                </a:moveTo>
                <a:lnTo>
                  <a:pt x="2048952" y="0"/>
                </a:lnTo>
                <a:lnTo>
                  <a:pt x="2048952" y="474651"/>
                </a:lnTo>
                <a:lnTo>
                  <a:pt x="0" y="47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9"/>
          <p:cNvSpPr txBox="1"/>
          <p:nvPr/>
        </p:nvSpPr>
        <p:spPr>
          <a:xfrm>
            <a:off x="15568937" y="4628114"/>
            <a:ext cx="2519031" cy="1263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IIBA | Entry Certificate in Business Analysis </a:t>
            </a:r>
          </a:p>
          <a:p>
            <a:pPr algn="l">
              <a:lnSpc>
                <a:spcPts val="1959"/>
              </a:lnSpc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1959"/>
              </a:lnSpc>
            </a:pPr>
            <a:r>
              <a:rPr lang="en-US" sz="1399" b="1" dirty="0">
                <a:solidFill>
                  <a:srgbClr val="00AA7F"/>
                </a:solidFill>
                <a:latin typeface="Roboto"/>
                <a:ea typeface="Roboto"/>
                <a:cs typeface="Roboto"/>
                <a:sym typeface="Roboto"/>
              </a:rPr>
              <a:t>Planit | ISTQB Certified Tester</a:t>
            </a:r>
          </a:p>
          <a:p>
            <a:pPr algn="l">
              <a:lnSpc>
                <a:spcPts val="1959"/>
              </a:lnSpc>
              <a:spcBef>
                <a:spcPct val="0"/>
              </a:spcBef>
            </a:pPr>
            <a:endParaRPr lang="en-US" sz="1399" b="1" dirty="0">
              <a:solidFill>
                <a:srgbClr val="00AA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5568938" y="4522319"/>
            <a:ext cx="2273295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1" name="AutoShape 11"/>
          <p:cNvSpPr/>
          <p:nvPr/>
        </p:nvSpPr>
        <p:spPr>
          <a:xfrm>
            <a:off x="15559425" y="1922426"/>
            <a:ext cx="2273295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Box 12"/>
          <p:cNvSpPr txBox="1"/>
          <p:nvPr/>
        </p:nvSpPr>
        <p:spPr>
          <a:xfrm>
            <a:off x="15539453" y="1427714"/>
            <a:ext cx="7840469" cy="35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Industry Experience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39453" y="1989101"/>
            <a:ext cx="2293267" cy="175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Financial Services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Wagering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Telecommunications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Healthcare </a:t>
            </a:r>
          </a:p>
          <a:p>
            <a:pPr>
              <a:lnSpc>
                <a:spcPts val="2800"/>
              </a:lnSpc>
            </a:pPr>
            <a:r>
              <a:rPr lang="en-AU" sz="14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Paints &amp; Coatings</a:t>
            </a:r>
            <a:endParaRPr lang="en-US" sz="1400" b="1" dirty="0">
              <a:solidFill>
                <a:srgbClr val="00AA7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39453" y="4037610"/>
            <a:ext cx="26870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Certification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11817" y="171689"/>
            <a:ext cx="784046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Selected Project Experience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2666" y="765476"/>
            <a:ext cx="65938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Jeni Hansen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 dirty="0">
              <a:solidFill>
                <a:srgbClr val="00AA7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22207" y="1427714"/>
            <a:ext cx="463168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Senior Consultant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207" y="2020005"/>
            <a:ext cx="307231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Summary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207" y="2785079"/>
            <a:ext cx="6493375" cy="3359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Jeni is a highly experienced Business Analyst with over 15 years leading IT projects across content management systems and e-commerce platforms. She has deep expertise in solutions such as Adobe Experience Manager, Optimizely, Sitecore, SAP Hybris, and modern headless CMS platforms. With a background as a Test Manager, Jeni brings a unique ability to bridge the gap between business objectives and technical delivery. </a:t>
            </a:r>
          </a:p>
          <a:p>
            <a:pPr algn="l">
              <a:lnSpc>
                <a:spcPts val="2239"/>
              </a:lnSpc>
            </a:pPr>
            <a:endParaRPr lang="en-AU" sz="1400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239"/>
              </a:lnSpc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She excels in requirements gathering, process analysis, and solution design -ensuring outcomes that align with both customer needs and organisational goals. Collaborative and detail-driven, Jeni is adept at working within Agile and Scrum frameworks, consistently delivering high-quality digital solutions that support transformation and enhance customer experiences.</a:t>
            </a:r>
            <a:endParaRPr lang="en-US" sz="1400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269903" y="7104906"/>
            <a:ext cx="7948103" cy="305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1" dirty="0">
                <a:solidFill>
                  <a:srgbClr val="92337A"/>
                </a:solidFill>
                <a:latin typeface="Roboto Bold"/>
                <a:ea typeface="Roboto Bold"/>
                <a:cs typeface="Roboto Bold"/>
                <a:sym typeface="Roboto Bold"/>
              </a:rPr>
              <a:t>Multiple Clients (Telecoms, Financial Services &amp; Wagering) – Senior QA</a:t>
            </a:r>
          </a:p>
          <a:p>
            <a:pPr algn="just">
              <a:lnSpc>
                <a:spcPts val="1960"/>
              </a:lnSpc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Led quality assurance efforts across mobile, desktop, cloud, and regulatory platforms, ensuring high-quality releases with minimal critical defects releases within Agile environments.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End-to-End Testing Leadership - Led testing across multiple projects, delivering high-quality SaaS and CMS solutions across multiple devices and connectivity types.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Agile Delivery &amp; Defect Management - Managed test planning, execution, and defect triage using tools like Jira, Mantis, and Test Link.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Worked closely with third-party vendors, development teams, and stakeholders to ensure defect resolution and alignment with evolving business requirements.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Mentored junior QA analysts to elevate team capabilities and test coverage.</a:t>
            </a:r>
          </a:p>
          <a:p>
            <a:pPr marL="302261" lvl="1" indent="-151130">
              <a:lnSpc>
                <a:spcPts val="1960"/>
              </a:lnSpc>
              <a:buFont typeface="Arial"/>
              <a:buChar char="•"/>
            </a:pP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Data Validation &amp; Quality Assurance - Executed SQL queries for backend verification and accuracy; ensured smooth functionality and compliance during large-scale platform migrations</a:t>
            </a:r>
            <a:endParaRPr lang="en-US" sz="1400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60616" y="7080882"/>
            <a:ext cx="3944578" cy="0"/>
          </a:xfrm>
          <a:prstGeom prst="line">
            <a:avLst/>
          </a:prstGeom>
          <a:ln w="19050" cap="flat">
            <a:solidFill>
              <a:srgbClr val="0F2B3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grpSp>
        <p:nvGrpSpPr>
          <p:cNvPr id="24" name="Group 24"/>
          <p:cNvGrpSpPr/>
          <p:nvPr/>
        </p:nvGrpSpPr>
        <p:grpSpPr>
          <a:xfrm>
            <a:off x="200025" y="6502345"/>
            <a:ext cx="6493375" cy="3410028"/>
            <a:chOff x="0" y="0"/>
            <a:chExt cx="1710189" cy="8981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10189" cy="898114"/>
            </a:xfrm>
            <a:custGeom>
              <a:avLst/>
              <a:gdLst/>
              <a:ahLst/>
              <a:cxnLst/>
              <a:rect l="l" t="t" r="r" b="b"/>
              <a:pathLst>
                <a:path w="1710189" h="898114">
                  <a:moveTo>
                    <a:pt x="0" y="0"/>
                  </a:moveTo>
                  <a:lnTo>
                    <a:pt x="1710189" y="0"/>
                  </a:lnTo>
                  <a:lnTo>
                    <a:pt x="1710189" y="898114"/>
                  </a:lnTo>
                  <a:lnTo>
                    <a:pt x="0" y="898114"/>
                  </a:lnTo>
                  <a:close/>
                </a:path>
              </a:pathLst>
            </a:custGeom>
            <a:solidFill>
              <a:srgbClr val="0F2B3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10189" cy="936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3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01927" y="7104906"/>
            <a:ext cx="2543313" cy="260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Analysis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Intelligence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Stakeholder Management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Communication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Strategic Thinking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Agile Methodologies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Scrum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Story Development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Complex Problem Solving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Requirements Gathering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Requirements Elicitation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87699" y="6632364"/>
            <a:ext cx="382349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18018"/>
                </a:solidFill>
                <a:latin typeface="Roboto Bold"/>
                <a:ea typeface="Roboto Bold"/>
                <a:cs typeface="Roboto Bold"/>
                <a:sym typeface="Roboto Bold"/>
              </a:rPr>
              <a:t>Key Skills &amp; Tech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65426" y="7263090"/>
            <a:ext cx="1951786" cy="1510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327661">
              <a:lnSpc>
                <a:spcPts val="1679"/>
              </a:lnSpc>
            </a:pPr>
            <a:r>
              <a:rPr lang="en-US" sz="1199" b="1" dirty="0">
                <a:solidFill>
                  <a:srgbClr val="00AA7F"/>
                </a:solidFill>
                <a:latin typeface="Roboto Bold"/>
                <a:ea typeface="Roboto Bold"/>
                <a:cs typeface="Roboto Bold"/>
                <a:sym typeface="Roboto Bold"/>
              </a:rPr>
              <a:t>BI Tools</a:t>
            </a:r>
            <a:r>
              <a:rPr lang="en-US" sz="1199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​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Adobe Experience Manager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SAP Hybris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Optimizely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Sitecore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Leapwork</a:t>
            </a:r>
            <a:endParaRPr lang="en-US" sz="1199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40042" y="-24175"/>
            <a:ext cx="774435" cy="824275"/>
          </a:xfrm>
          <a:custGeom>
            <a:avLst/>
            <a:gdLst/>
            <a:ahLst/>
            <a:cxnLst/>
            <a:rect l="l" t="t" r="r" b="b"/>
            <a:pathLst>
              <a:path w="774435" h="824275">
                <a:moveTo>
                  <a:pt x="0" y="0"/>
                </a:moveTo>
                <a:lnTo>
                  <a:pt x="774435" y="0"/>
                </a:lnTo>
                <a:lnTo>
                  <a:pt x="774435" y="824275"/>
                </a:lnTo>
                <a:lnTo>
                  <a:pt x="0" y="82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2" name="TextBox 32"/>
          <p:cNvSpPr txBox="1"/>
          <p:nvPr/>
        </p:nvSpPr>
        <p:spPr>
          <a:xfrm>
            <a:off x="1001693" y="103852"/>
            <a:ext cx="3570307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F2B3F"/>
                </a:solidFill>
                <a:latin typeface="Roboto Bold"/>
                <a:ea typeface="Roboto Bold"/>
                <a:cs typeface="Roboto Bold"/>
                <a:sym typeface="Roboto Bold"/>
              </a:rPr>
              <a:t>Consultant Profile</a:t>
            </a:r>
          </a:p>
        </p:txBody>
      </p:sp>
      <p:sp>
        <p:nvSpPr>
          <p:cNvPr id="33" name="TextBox 21"/>
          <p:cNvSpPr txBox="1"/>
          <p:nvPr/>
        </p:nvSpPr>
        <p:spPr>
          <a:xfrm>
            <a:off x="7255642" y="898697"/>
            <a:ext cx="7962369" cy="305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Global Digital Marketing &amp; E-Commerce </a:t>
            </a:r>
            <a:r>
              <a:rPr lang="en-US" sz="1400" b="1" dirty="0" err="1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Organisation</a:t>
            </a:r>
            <a:r>
              <a:rPr lang="en-US" sz="1400" b="1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1400" b="1" u="none" strike="noStrike" dirty="0">
                <a:solidFill>
                  <a:srgbClr val="0059FF"/>
                </a:solidFill>
                <a:latin typeface="Roboto Bold"/>
                <a:ea typeface="Roboto Bold"/>
                <a:cs typeface="Roboto Bold"/>
                <a:sym typeface="Roboto Bold"/>
              </a:rPr>
              <a:t> – Business Analyst (Based in Denmark)</a:t>
            </a:r>
            <a:endParaRPr lang="en-US" sz="1400" b="1" dirty="0">
              <a:solidFill>
                <a:srgbClr val="0059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Worked on digital platform and website projects for global clients. 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ey liaison between business stakeholders and technical teams to ensure delivery of solutions aligned with business objectives.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Requirements Gathering &amp; Documentation - Led the collection and analysis of business and product requirements through stakeholder interviews and workshops, translated them into functional specifications and user stories in Jira.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Stakeholder Collaboration - Acted as the main point of contact between clients and internal teams, ensuring clear communication and understanding of business goals.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Agile Delivery Leadership - Maintained product backlogs, managed change requests, and led key Scrum ceremonies, including backlog grooming and sprint planning.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Process &amp; Gap Analysis - Conducted business process reviews to identify functional gaps and recommend improvements that enhanced customer experience and delivery efficiency.</a:t>
            </a:r>
            <a:endParaRPr lang="en-US" sz="1400" u="none" strike="noStrike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B2A0672-5AF0-5438-8D24-87E280881A20}"/>
              </a:ext>
            </a:extLst>
          </p:cNvPr>
          <p:cNvCxnSpPr>
            <a:cxnSpLocks/>
          </p:cNvCxnSpPr>
          <p:nvPr/>
        </p:nvCxnSpPr>
        <p:spPr>
          <a:xfrm>
            <a:off x="7127114" y="952500"/>
            <a:ext cx="0" cy="2790921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ABFD3B-85BE-9F1D-EBDE-61B80D7CD5F7}"/>
              </a:ext>
            </a:extLst>
          </p:cNvPr>
          <p:cNvCxnSpPr>
            <a:cxnSpLocks/>
          </p:cNvCxnSpPr>
          <p:nvPr/>
        </p:nvCxnSpPr>
        <p:spPr>
          <a:xfrm>
            <a:off x="7127114" y="4054636"/>
            <a:ext cx="0" cy="2804890"/>
          </a:xfrm>
          <a:prstGeom prst="line">
            <a:avLst/>
          </a:prstGeom>
          <a:ln w="19050">
            <a:solidFill>
              <a:srgbClr val="D77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FA25F3-F5B1-ADB7-8671-CA98D693BF24}"/>
              </a:ext>
            </a:extLst>
          </p:cNvPr>
          <p:cNvCxnSpPr>
            <a:cxnSpLocks/>
          </p:cNvCxnSpPr>
          <p:nvPr/>
        </p:nvCxnSpPr>
        <p:spPr>
          <a:xfrm>
            <a:off x="7127114" y="7164943"/>
            <a:ext cx="0" cy="2890456"/>
          </a:xfrm>
          <a:prstGeom prst="line">
            <a:avLst/>
          </a:prstGeom>
          <a:ln w="19050">
            <a:solidFill>
              <a:srgbClr val="9233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7">
            <a:extLst>
              <a:ext uri="{FF2B5EF4-FFF2-40B4-BE49-F238E27FC236}">
                <a16:creationId xmlns:a16="http://schemas.microsoft.com/office/drawing/2014/main" id="{BEDD77A3-DE9E-3B4E-33A4-780873974306}"/>
              </a:ext>
            </a:extLst>
          </p:cNvPr>
          <p:cNvSpPr txBox="1"/>
          <p:nvPr/>
        </p:nvSpPr>
        <p:spPr>
          <a:xfrm>
            <a:off x="2538049" y="7052307"/>
            <a:ext cx="2543313" cy="325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Delivery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Validation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Quality Assurance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SDLC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Leadership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Mentoring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 Analysis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 Improvement</a:t>
            </a:r>
          </a:p>
          <a:p>
            <a:pPr marL="259078" lvl="1" indent="-129539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E-Commerce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r>
              <a:rPr lang="en-US" sz="11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Documentation &amp; Reporting</a:t>
            </a: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59078" lvl="1" indent="-129539" algn="l">
              <a:lnSpc>
                <a:spcPts val="1679"/>
              </a:lnSpc>
              <a:buFont typeface="Arial"/>
              <a:buChar char="•"/>
            </a:pPr>
            <a:endParaRPr lang="en-US" sz="1199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TextBox 22"/>
          <p:cNvSpPr txBox="1"/>
          <p:nvPr/>
        </p:nvSpPr>
        <p:spPr>
          <a:xfrm>
            <a:off x="7255642" y="3967532"/>
            <a:ext cx="7962365" cy="305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AU" sz="1400" b="1" dirty="0">
                <a:solidFill>
                  <a:srgbClr val="D77432"/>
                </a:solidFill>
                <a:latin typeface="Roboto Bold"/>
                <a:ea typeface="Roboto Bold"/>
                <a:cs typeface="Roboto Bold"/>
                <a:sym typeface="Roboto Bold"/>
              </a:rPr>
              <a:t>Global Digital Marketing &amp; E-Commerce Organisation  – Test Manager (Based in Denmark)</a:t>
            </a:r>
          </a:p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Led end-to-end quality assurance for large-scale digital transformation projects for global clients. Owned the testing strategy, planning, and execution across agile teams to ensure delivery of high-quality digital solutions.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Test Strategy &amp; Execution - Defined and implemented test strategies aligned with agile methodologies, covering functional, regression, and integration testing.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Cross-Functional Collaboration - Worked closely with developers, product owners, and business analysts to proactively identify risks and ensure test coverage met requirements.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Team Leadership - Managed onshore and offshore QA teams, including planning, estimation, task assignment, and mentoring to ensure consistent delivery standards.</a:t>
            </a:r>
          </a:p>
          <a:p>
            <a:pPr marL="302261" lvl="1" indent="-151130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Process Improvement -</a:t>
            </a:r>
            <a:r>
              <a:rPr lang="en-AU" sz="1400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AU" sz="1400" u="none" strike="noStrike" dirty="0">
                <a:solidFill>
                  <a:srgbClr val="0F2B3F"/>
                </a:solidFill>
                <a:latin typeface="Roboto"/>
                <a:ea typeface="Roboto"/>
                <a:cs typeface="Roboto"/>
                <a:sym typeface="Roboto"/>
              </a:rPr>
              <a:t>Championed best practices in test automation, defect management, and continuous improvement to enhance delivery speed and product quality.</a:t>
            </a:r>
            <a:endParaRPr lang="en-US" sz="1400" u="none" strike="noStrike" dirty="0">
              <a:solidFill>
                <a:srgbClr val="0F2B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C5D5D4-FCFB-48DA-A1B0-423351784DDA}"/>
</file>

<file path=customXml/itemProps2.xml><?xml version="1.0" encoding="utf-8"?>
<ds:datastoreItem xmlns:ds="http://schemas.openxmlformats.org/officeDocument/2006/customXml" ds:itemID="{BB710602-4585-4756-AA1D-5F5638481F75}"/>
</file>

<file path=customXml/itemProps3.xml><?xml version="1.0" encoding="utf-8"?>
<ds:datastoreItem xmlns:ds="http://schemas.openxmlformats.org/officeDocument/2006/customXml" ds:itemID="{5456D1FE-3840-4ECB-89CA-A4C495F930AD}"/>
</file>

<file path=docProps/app.xml><?xml version="1.0" encoding="utf-8"?>
<Properties xmlns="http://schemas.openxmlformats.org/officeDocument/2006/extended-properties" xmlns:vt="http://schemas.openxmlformats.org/officeDocument/2006/docPropsVTypes">
  <TotalTime>2987</TotalTime>
  <Words>654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Roboto</vt:lpstr>
      <vt:lpstr>Roboto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 templates (Presentation)</dc:title>
  <dc:creator>Darcy Roach</dc:creator>
  <cp:lastModifiedBy>Darcy Roach</cp:lastModifiedBy>
  <cp:revision>5</cp:revision>
  <dcterms:created xsi:type="dcterms:W3CDTF">2006-08-16T00:00:00Z</dcterms:created>
  <dcterms:modified xsi:type="dcterms:W3CDTF">2025-09-22T02:18:29Z</dcterms:modified>
  <dc:identifier>DAGrzN_SXAE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