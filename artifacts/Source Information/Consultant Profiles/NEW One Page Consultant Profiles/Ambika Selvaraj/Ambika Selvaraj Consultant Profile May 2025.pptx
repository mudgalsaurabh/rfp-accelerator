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ED7D31"/>
    <a:srgbClr val="A93584"/>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726C6A-625A-4C9A-4221-55F6189C09E4}" v="25" dt="2025-05-13T03:46:02.834"/>
    <p1510:client id="{4EB54854-7F56-4BC8-9B2E-0663547CE814}" v="1" dt="2025-05-13T00:48:20.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go Bates" userId="S::hugo.bates@intelia.com.au::ba74953f-2fdb-4aeb-90e3-56b78010c38c" providerId="AD" clId="Web-{4D726C6A-625A-4C9A-4221-55F6189C09E4}"/>
    <pc:docChg chg="modSld">
      <pc:chgData name="Hugo Bates" userId="S::hugo.bates@intelia.com.au::ba74953f-2fdb-4aeb-90e3-56b78010c38c" providerId="AD" clId="Web-{4D726C6A-625A-4C9A-4221-55F6189C09E4}" dt="2025-05-13T03:46:01.802" v="10" actId="20577"/>
      <pc:docMkLst>
        <pc:docMk/>
      </pc:docMkLst>
      <pc:sldChg chg="addSp delSp modSp">
        <pc:chgData name="Hugo Bates" userId="S::hugo.bates@intelia.com.au::ba74953f-2fdb-4aeb-90e3-56b78010c38c" providerId="AD" clId="Web-{4D726C6A-625A-4C9A-4221-55F6189C09E4}" dt="2025-05-13T03:46:01.802" v="10" actId="20577"/>
        <pc:sldMkLst>
          <pc:docMk/>
          <pc:sldMk cId="2009923557" sldId="270"/>
        </pc:sldMkLst>
        <pc:spChg chg="add del mod">
          <ac:chgData name="Hugo Bates" userId="S::hugo.bates@intelia.com.au::ba74953f-2fdb-4aeb-90e3-56b78010c38c" providerId="AD" clId="Web-{4D726C6A-625A-4C9A-4221-55F6189C09E4}" dt="2025-05-13T03:46:01.802" v="10" actId="20577"/>
          <ac:spMkLst>
            <pc:docMk/>
            <pc:sldMk cId="2009923557" sldId="270"/>
            <ac:spMk id="22" creationId="{9D4E289E-1D52-CBDD-E381-40963429D7F1}"/>
          </ac:spMkLst>
        </pc:spChg>
        <pc:spChg chg="mod">
          <ac:chgData name="Hugo Bates" userId="S::hugo.bates@intelia.com.au::ba74953f-2fdb-4aeb-90e3-56b78010c38c" providerId="AD" clId="Web-{4D726C6A-625A-4C9A-4221-55F6189C09E4}" dt="2025-05-13T01:38:14.169" v="6" actId="20577"/>
          <ac:spMkLst>
            <pc:docMk/>
            <pc:sldMk cId="2009923557" sldId="270"/>
            <ac:spMk id="26" creationId="{1A3D666D-00C8-D106-73C3-9FF300F8618C}"/>
          </ac:spMkLst>
        </pc:spChg>
      </pc:sldChg>
    </pc:docChg>
  </pc:docChgLst>
  <pc:docChgLst>
    <pc:chgData name="Darcy Roach" userId="ba676ee9-e9b4-49e8-a515-8077106c948d" providerId="ADAL" clId="{4EB54854-7F56-4BC8-9B2E-0663547CE814}"/>
    <pc:docChg chg="undo redo custSel modSld">
      <pc:chgData name="Darcy Roach" userId="ba676ee9-e9b4-49e8-a515-8077106c948d" providerId="ADAL" clId="{4EB54854-7F56-4BC8-9B2E-0663547CE814}" dt="2025-05-13T01:24:45.656" v="2013" actId="1076"/>
      <pc:docMkLst>
        <pc:docMk/>
      </pc:docMkLst>
      <pc:sldChg chg="addSp delSp modSp mod">
        <pc:chgData name="Darcy Roach" userId="ba676ee9-e9b4-49e8-a515-8077106c948d" providerId="ADAL" clId="{4EB54854-7F56-4BC8-9B2E-0663547CE814}" dt="2025-05-13T01:24:45.656" v="2013" actId="1076"/>
        <pc:sldMkLst>
          <pc:docMk/>
          <pc:sldMk cId="2009923557" sldId="270"/>
        </pc:sldMkLst>
        <pc:spChg chg="mod">
          <ac:chgData name="Darcy Roach" userId="ba676ee9-e9b4-49e8-a515-8077106c948d" providerId="ADAL" clId="{4EB54854-7F56-4BC8-9B2E-0663547CE814}" dt="2025-05-13T00:41:14.266" v="789" actId="20577"/>
          <ac:spMkLst>
            <pc:docMk/>
            <pc:sldMk cId="2009923557" sldId="270"/>
            <ac:spMk id="4" creationId="{80F49B2F-21D4-F9EB-049F-717A10CB7D84}"/>
          </ac:spMkLst>
        </pc:spChg>
        <pc:spChg chg="mod">
          <ac:chgData name="Darcy Roach" userId="ba676ee9-e9b4-49e8-a515-8077106c948d" providerId="ADAL" clId="{4EB54854-7F56-4BC8-9B2E-0663547CE814}" dt="2025-05-13T01:17:15.964" v="1711" actId="20577"/>
          <ac:spMkLst>
            <pc:docMk/>
            <pc:sldMk cId="2009923557" sldId="270"/>
            <ac:spMk id="6" creationId="{701E125D-B356-8A2A-B86B-AB6567CEABE1}"/>
          </ac:spMkLst>
        </pc:spChg>
        <pc:spChg chg="mod">
          <ac:chgData name="Darcy Roach" userId="ba676ee9-e9b4-49e8-a515-8077106c948d" providerId="ADAL" clId="{4EB54854-7F56-4BC8-9B2E-0663547CE814}" dt="2025-05-13T01:01:01.580" v="1123" actId="1076"/>
          <ac:spMkLst>
            <pc:docMk/>
            <pc:sldMk cId="2009923557" sldId="270"/>
            <ac:spMk id="8" creationId="{59FEB941-5146-6B10-4E4D-8A4ADE918AEF}"/>
          </ac:spMkLst>
        </pc:spChg>
        <pc:spChg chg="mod">
          <ac:chgData name="Darcy Roach" userId="ba676ee9-e9b4-49e8-a515-8077106c948d" providerId="ADAL" clId="{4EB54854-7F56-4BC8-9B2E-0663547CE814}" dt="2025-05-13T01:04:26.534" v="1257" actId="20577"/>
          <ac:spMkLst>
            <pc:docMk/>
            <pc:sldMk cId="2009923557" sldId="270"/>
            <ac:spMk id="9" creationId="{8BF88D81-5535-9CA4-E956-E5A6096E59DC}"/>
          </ac:spMkLst>
        </pc:spChg>
        <pc:spChg chg="add mod">
          <ac:chgData name="Darcy Roach" userId="ba676ee9-e9b4-49e8-a515-8077106c948d" providerId="ADAL" clId="{4EB54854-7F56-4BC8-9B2E-0663547CE814}" dt="2025-05-13T01:01:08.316" v="1124" actId="1076"/>
          <ac:spMkLst>
            <pc:docMk/>
            <pc:sldMk cId="2009923557" sldId="270"/>
            <ac:spMk id="12" creationId="{71E8655A-9388-59BA-F0D8-754D1DA66332}"/>
          </ac:spMkLst>
        </pc:spChg>
        <pc:spChg chg="mod">
          <ac:chgData name="Darcy Roach" userId="ba676ee9-e9b4-49e8-a515-8077106c948d" providerId="ADAL" clId="{4EB54854-7F56-4BC8-9B2E-0663547CE814}" dt="2025-05-12T23:43:07.629" v="18" actId="20577"/>
          <ac:spMkLst>
            <pc:docMk/>
            <pc:sldMk cId="2009923557" sldId="270"/>
            <ac:spMk id="13" creationId="{FD2720C9-A79F-BD7F-E179-674AD67D7892}"/>
          </ac:spMkLst>
        </pc:spChg>
        <pc:spChg chg="mod">
          <ac:chgData name="Darcy Roach" userId="ba676ee9-e9b4-49e8-a515-8077106c948d" providerId="ADAL" clId="{4EB54854-7F56-4BC8-9B2E-0663547CE814}" dt="2025-05-13T01:12:59.295" v="1643" actId="20577"/>
          <ac:spMkLst>
            <pc:docMk/>
            <pc:sldMk cId="2009923557" sldId="270"/>
            <ac:spMk id="19" creationId="{7513C49A-2DF2-8111-FED4-FC07A8EAD258}"/>
          </ac:spMkLst>
        </pc:spChg>
        <pc:spChg chg="mod">
          <ac:chgData name="Darcy Roach" userId="ba676ee9-e9b4-49e8-a515-8077106c948d" providerId="ADAL" clId="{4EB54854-7F56-4BC8-9B2E-0663547CE814}" dt="2025-05-12T23:43:11.507" v="25" actId="20577"/>
          <ac:spMkLst>
            <pc:docMk/>
            <pc:sldMk cId="2009923557" sldId="270"/>
            <ac:spMk id="22" creationId="{9D4E289E-1D52-CBDD-E381-40963429D7F1}"/>
          </ac:spMkLst>
        </pc:spChg>
        <pc:spChg chg="mod">
          <ac:chgData name="Darcy Roach" userId="ba676ee9-e9b4-49e8-a515-8077106c948d" providerId="ADAL" clId="{4EB54854-7F56-4BC8-9B2E-0663547CE814}" dt="2025-05-13T00:15:04.188" v="600" actId="20577"/>
          <ac:spMkLst>
            <pc:docMk/>
            <pc:sldMk cId="2009923557" sldId="270"/>
            <ac:spMk id="26" creationId="{1A3D666D-00C8-D106-73C3-9FF300F8618C}"/>
          </ac:spMkLst>
        </pc:spChg>
        <pc:spChg chg="mod">
          <ac:chgData name="Darcy Roach" userId="ba676ee9-e9b4-49e8-a515-8077106c948d" providerId="ADAL" clId="{4EB54854-7F56-4BC8-9B2E-0663547CE814}" dt="2025-05-13T01:13:41.874" v="1662" actId="1036"/>
          <ac:spMkLst>
            <pc:docMk/>
            <pc:sldMk cId="2009923557" sldId="270"/>
            <ac:spMk id="28" creationId="{6059F888-3BDF-A1C0-65E5-CB6FDD43D97C}"/>
          </ac:spMkLst>
        </pc:spChg>
        <pc:spChg chg="mod">
          <ac:chgData name="Darcy Roach" userId="ba676ee9-e9b4-49e8-a515-8077106c948d" providerId="ADAL" clId="{4EB54854-7F56-4BC8-9B2E-0663547CE814}" dt="2025-05-13T00:36:44.048" v="671" actId="404"/>
          <ac:spMkLst>
            <pc:docMk/>
            <pc:sldMk cId="2009923557" sldId="270"/>
            <ac:spMk id="34" creationId="{43536914-D7FE-0F22-C18B-A5D89F6503CF}"/>
          </ac:spMkLst>
        </pc:spChg>
        <pc:spChg chg="del">
          <ac:chgData name="Darcy Roach" userId="ba676ee9-e9b4-49e8-a515-8077106c948d" providerId="ADAL" clId="{4EB54854-7F56-4BC8-9B2E-0663547CE814}" dt="2025-05-12T23:43:39.013" v="26" actId="478"/>
          <ac:spMkLst>
            <pc:docMk/>
            <pc:sldMk cId="2009923557" sldId="270"/>
            <ac:spMk id="36" creationId="{D342889C-40F5-2629-E6A3-817A5EECED67}"/>
          </ac:spMkLst>
        </pc:spChg>
        <pc:spChg chg="mod">
          <ac:chgData name="Darcy Roach" userId="ba676ee9-e9b4-49e8-a515-8077106c948d" providerId="ADAL" clId="{4EB54854-7F56-4BC8-9B2E-0663547CE814}" dt="2025-05-13T01:24:31.212" v="2012" actId="20577"/>
          <ac:spMkLst>
            <pc:docMk/>
            <pc:sldMk cId="2009923557" sldId="270"/>
            <ac:spMk id="38" creationId="{AB47A2EE-BF0B-DB05-8B7C-DB6594B2B3D5}"/>
          </ac:spMkLst>
        </pc:spChg>
        <pc:spChg chg="mod">
          <ac:chgData name="Darcy Roach" userId="ba676ee9-e9b4-49e8-a515-8077106c948d" providerId="ADAL" clId="{4EB54854-7F56-4BC8-9B2E-0663547CE814}" dt="2025-05-13T01:24:45.656" v="2013" actId="1076"/>
          <ac:spMkLst>
            <pc:docMk/>
            <pc:sldMk cId="2009923557" sldId="270"/>
            <ac:spMk id="39" creationId="{3EA81938-6A76-B850-B0E8-A5F905AEBA98}"/>
          </ac:spMkLst>
        </pc:spChg>
        <pc:spChg chg="add del">
          <ac:chgData name="Darcy Roach" userId="ba676ee9-e9b4-49e8-a515-8077106c948d" providerId="ADAL" clId="{4EB54854-7F56-4BC8-9B2E-0663547CE814}" dt="2025-05-13T00:47:58.441" v="961" actId="21"/>
          <ac:spMkLst>
            <pc:docMk/>
            <pc:sldMk cId="2009923557" sldId="270"/>
            <ac:spMk id="44" creationId="{71E8655A-9388-59BA-F0D8-754D1DA66332}"/>
          </ac:spMkLst>
        </pc:spChg>
        <pc:spChg chg="mod">
          <ac:chgData name="Darcy Roach" userId="ba676ee9-e9b4-49e8-a515-8077106c948d" providerId="ADAL" clId="{4EB54854-7F56-4BC8-9B2E-0663547CE814}" dt="2025-05-13T01:19:13.419" v="1791" actId="20577"/>
          <ac:spMkLst>
            <pc:docMk/>
            <pc:sldMk cId="2009923557" sldId="270"/>
            <ac:spMk id="175" creationId="{B9775FC7-7124-8CCA-9B1C-7CCD7D3DF384}"/>
          </ac:spMkLst>
        </pc:spChg>
        <pc:grpChg chg="add mod ord">
          <ac:chgData name="Darcy Roach" userId="ba676ee9-e9b4-49e8-a515-8077106c948d" providerId="ADAL" clId="{4EB54854-7F56-4BC8-9B2E-0663547CE814}" dt="2025-05-13T01:01:19.555" v="1128" actId="1035"/>
          <ac:grpSpMkLst>
            <pc:docMk/>
            <pc:sldMk cId="2009923557" sldId="270"/>
            <ac:grpSpMk id="2" creationId="{69CD73AD-37BE-CE99-424E-8286EA039856}"/>
          </ac:grpSpMkLst>
        </pc:grpChg>
        <pc:grpChg chg="mod">
          <ac:chgData name="Darcy Roach" userId="ba676ee9-e9b4-49e8-a515-8077106c948d" providerId="ADAL" clId="{4EB54854-7F56-4BC8-9B2E-0663547CE814}" dt="2025-05-13T01:24:45.656" v="2013" actId="1076"/>
          <ac:grpSpMkLst>
            <pc:docMk/>
            <pc:sldMk cId="2009923557" sldId="270"/>
            <ac:grpSpMk id="5" creationId="{980A06B1-0A2F-7DF6-91DB-0F6DFA896A23}"/>
          </ac:grpSpMkLst>
        </pc:grpChg>
        <pc:grpChg chg="mod">
          <ac:chgData name="Darcy Roach" userId="ba676ee9-e9b4-49e8-a515-8077106c948d" providerId="ADAL" clId="{4EB54854-7F56-4BC8-9B2E-0663547CE814}" dt="2025-05-13T01:13:41.874" v="1662" actId="1036"/>
          <ac:grpSpMkLst>
            <pc:docMk/>
            <pc:sldMk cId="2009923557" sldId="270"/>
            <ac:grpSpMk id="18" creationId="{E0B3FDFC-4A78-346F-E1D4-E183BEB90A60}"/>
          </ac:grpSpMkLst>
        </pc:grpChg>
        <pc:grpChg chg="add del">
          <ac:chgData name="Darcy Roach" userId="ba676ee9-e9b4-49e8-a515-8077106c948d" providerId="ADAL" clId="{4EB54854-7F56-4BC8-9B2E-0663547CE814}" dt="2025-05-13T00:47:58.441" v="961" actId="21"/>
          <ac:grpSpMkLst>
            <pc:docMk/>
            <pc:sldMk cId="2009923557" sldId="270"/>
            <ac:grpSpMk id="41" creationId="{69CD73AD-37BE-CE99-424E-8286EA039856}"/>
          </ac:grpSpMkLst>
        </pc:grpChg>
        <pc:cxnChg chg="mod">
          <ac:chgData name="Darcy Roach" userId="ba676ee9-e9b4-49e8-a515-8077106c948d" providerId="ADAL" clId="{4EB54854-7F56-4BC8-9B2E-0663547CE814}" dt="2025-05-13T00:51:18.114" v="1026" actId="1076"/>
          <ac:cxnSpMkLst>
            <pc:docMk/>
            <pc:sldMk cId="2009923557" sldId="270"/>
            <ac:cxnSpMk id="3" creationId="{67C34E10-2CF8-9BCA-1CC6-D78A3FF9CA80}"/>
          </ac:cxnSpMkLst>
        </pc:cxnChg>
        <pc:cxnChg chg="mod">
          <ac:chgData name="Darcy Roach" userId="ba676ee9-e9b4-49e8-a515-8077106c948d" providerId="ADAL" clId="{4EB54854-7F56-4BC8-9B2E-0663547CE814}" dt="2025-05-13T01:04:34.690" v="1258" actId="14100"/>
          <ac:cxnSpMkLst>
            <pc:docMk/>
            <pc:sldMk cId="2009923557" sldId="270"/>
            <ac:cxnSpMk id="10" creationId="{6260F2C2-2BAD-8746-08BD-953DBDF86432}"/>
          </ac:cxnSpMkLst>
        </pc:cxnChg>
        <pc:cxnChg chg="mod">
          <ac:chgData name="Darcy Roach" userId="ba676ee9-e9b4-49e8-a515-8077106c948d" providerId="ADAL" clId="{4EB54854-7F56-4BC8-9B2E-0663547CE814}" dt="2025-05-13T01:13:08.317" v="1644" actId="14100"/>
          <ac:cxnSpMkLst>
            <pc:docMk/>
            <pc:sldMk cId="2009923557" sldId="270"/>
            <ac:cxnSpMk id="21" creationId="{B0913DE4-461D-CE43-AABC-C4B3D7D22F4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749701C-9EBA-40CC-BD8B-4D7BF0D0B926}" type="datetimeFigureOut">
              <a:rPr lang="en-AU" smtClean="0"/>
              <a:t>12/05/2025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E10FD8D-36A7-4698-B581-E0FE1ADD2359}" type="slidenum">
              <a:rPr lang="en-AU" smtClean="0"/>
              <a:t>‹#›</a:t>
            </a:fld>
            <a:endParaRPr lang="en-AU"/>
          </a:p>
        </p:txBody>
      </p:sp>
    </p:spTree>
    <p:extLst>
      <p:ext uri="{BB962C8B-B14F-4D97-AF65-F5344CB8AC3E}">
        <p14:creationId xmlns:p14="http://schemas.microsoft.com/office/powerpoint/2010/main" val="411979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a:solidFill>
                  <a:srgbClr val="A93584"/>
                </a:solidFill>
                <a:latin typeface="Roboto" panose="02000000000000000000" pitchFamily="2" charset="0"/>
                <a:ea typeface="Roboto" panose="02000000000000000000" pitchFamily="2" charset="0"/>
              </a:rPr>
              <a:t>Security Exchange Organisation – Data Engineer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Worked initially on a Pilot program to demonstrate GCP platform abilities using different GCP services such as Dataflow,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ETL, Cloud Composer.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Analysed</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companies entire historical data and migrated almost 40 TB of data to GCP cloud storage using GCP Storage Transfer Service. Developed scheduled jobs to migrate the data.</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Developed Dataflow python ingestion logic to ingest batch data in CSV format and from MS SQL server database.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Developed the Composer Airflow data orchestration to design end-to-end workflows of dataflow ingestion,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transformation and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export jobs.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Developed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ETL scripts to transform/curate the ingested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data.</a:t>
            </a:r>
          </a:p>
          <a:p>
            <a:pPr marL="171450" indent="-171450">
              <a:buFont typeface="Arial" panose="020B0604020202020204" pitchFamily="34" charset="0"/>
              <a:buChar char="•"/>
            </a:pPr>
            <a:endParaRPr lang="en-AU"/>
          </a:p>
        </p:txBody>
      </p:sp>
      <p:sp>
        <p:nvSpPr>
          <p:cNvPr id="4" name="Slide Number Placeholder 3"/>
          <p:cNvSpPr>
            <a:spLocks noGrp="1"/>
          </p:cNvSpPr>
          <p:nvPr>
            <p:ph type="sldNum" sz="quarter" idx="5"/>
          </p:nvPr>
        </p:nvSpPr>
        <p:spPr/>
        <p:txBody>
          <a:bodyPr/>
          <a:lstStyle/>
          <a:p>
            <a:fld id="{9E10FD8D-36A7-4698-B581-E0FE1ADD2359}" type="slidenum">
              <a:rPr lang="en-AU" smtClean="0"/>
              <a:t>1</a:t>
            </a:fld>
            <a:endParaRPr lang="en-AU"/>
          </a:p>
        </p:txBody>
      </p:sp>
    </p:spTree>
    <p:extLst>
      <p:ext uri="{BB962C8B-B14F-4D97-AF65-F5344CB8AC3E}">
        <p14:creationId xmlns:p14="http://schemas.microsoft.com/office/powerpoint/2010/main" val="2580453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5/12/2025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5/12/2025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5/12/2025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CD73AD-37BE-CE99-424E-8286EA039856}"/>
              </a:ext>
            </a:extLst>
          </p:cNvPr>
          <p:cNvGrpSpPr/>
          <p:nvPr/>
        </p:nvGrpSpPr>
        <p:grpSpPr>
          <a:xfrm>
            <a:off x="3425115" y="4032431"/>
            <a:ext cx="4572309" cy="2277547"/>
            <a:chOff x="5030740" y="2225627"/>
            <a:chExt cx="4883932" cy="2277547"/>
          </a:xfrm>
        </p:grpSpPr>
        <p:sp>
          <p:nvSpPr>
            <p:cNvPr id="9" name="TextBox 8">
              <a:extLst>
                <a:ext uri="{FF2B5EF4-FFF2-40B4-BE49-F238E27FC236}">
                  <a16:creationId xmlns:a16="http://schemas.microsoft.com/office/drawing/2014/main" id="{8BF88D81-5535-9CA4-E956-E5A6096E59DC}"/>
                </a:ext>
              </a:extLst>
            </p:cNvPr>
            <p:cNvSpPr txBox="1"/>
            <p:nvPr/>
          </p:nvSpPr>
          <p:spPr>
            <a:xfrm>
              <a:off x="5059474" y="2225627"/>
              <a:ext cx="4855198" cy="227754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latin typeface="Roboto Light"/>
                  <a:ea typeface="Roboto Light"/>
                  <a:cs typeface="Roboto Light"/>
                </a:rPr>
                <a:t>Developed ETL pipelines using Azure Data Factory, Azure Databricks to orchestrate and transform data in Azure Data Lake and create Delta tables</a:t>
              </a:r>
            </a:p>
            <a:p>
              <a:r>
                <a:rPr lang="en-AU" sz="1000">
                  <a:latin typeface="Roboto Light"/>
                  <a:ea typeface="Roboto Light"/>
                  <a:cs typeface="Roboto Light"/>
                </a:rPr>
                <a:t>Developed and maintained data models and schemas to support complex analytics and reporting requirements, improving data accessibility</a:t>
              </a:r>
            </a:p>
            <a:p>
              <a:r>
                <a:rPr lang="en-AU" sz="1000">
                  <a:latin typeface="Roboto Light"/>
                  <a:ea typeface="Roboto Light"/>
                  <a:cs typeface="Roboto Light"/>
                </a:rPr>
                <a:t>Created and maintained detailed technical documentation for projects</a:t>
              </a:r>
            </a:p>
            <a:p>
              <a:r>
                <a:rPr lang="en-AU" sz="1000">
                  <a:latin typeface="Roboto Light"/>
                  <a:ea typeface="Roboto Light"/>
                  <a:cs typeface="Roboto Light"/>
                </a:rPr>
                <a:t>Designed and followed the best practices to support continuous process automation for data ingestion and data pipeline workflows</a:t>
              </a:r>
            </a:p>
            <a:p>
              <a:r>
                <a:rPr lang="en-AU" sz="1000">
                  <a:latin typeface="Roboto Light"/>
                  <a:ea typeface="Roboto Light"/>
                  <a:cs typeface="Roboto Light"/>
                </a:rPr>
                <a:t>Migrated legacy workloads from on-premises data centres to cloud platforms like Microsoft Azure</a:t>
              </a:r>
            </a:p>
            <a:p>
              <a:r>
                <a:rPr lang="en-AU" sz="1000">
                  <a:latin typeface="Roboto Light"/>
                  <a:ea typeface="Roboto Light"/>
                  <a:cs typeface="Roboto Light"/>
                </a:rPr>
                <a:t>Analysed code and corrected errors to optimize output. Exception handling implementation to increase program stability</a:t>
              </a:r>
            </a:p>
            <a:p>
              <a:r>
                <a:rPr lang="en-AU" sz="1000">
                  <a:latin typeface="Roboto Light"/>
                  <a:ea typeface="Roboto Light"/>
                  <a:cs typeface="Roboto Light"/>
                </a:rPr>
                <a:t>Mentored and coached junior team members</a:t>
              </a:r>
            </a:p>
            <a:p>
              <a:endParaRPr lang="en-AU" sz="1000">
                <a:latin typeface="Roboto Light"/>
                <a:ea typeface="Roboto Light"/>
                <a:cs typeface="Roboto Light"/>
              </a:endParaRPr>
            </a:p>
            <a:p>
              <a:endParaRPr lang="en-AU" sz="1000"/>
            </a:p>
          </p:txBody>
        </p:sp>
        <p:cxnSp>
          <p:nvCxnSpPr>
            <p:cNvPr id="10" name="Straight Connector 9">
              <a:extLst>
                <a:ext uri="{FF2B5EF4-FFF2-40B4-BE49-F238E27FC236}">
                  <a16:creationId xmlns:a16="http://schemas.microsoft.com/office/drawing/2014/main" id="{6260F2C2-2BAD-8746-08BD-953DBDF86432}"/>
                </a:ext>
              </a:extLst>
            </p:cNvPr>
            <p:cNvCxnSpPr>
              <a:cxnSpLocks/>
            </p:cNvCxnSpPr>
            <p:nvPr/>
          </p:nvCxnSpPr>
          <p:spPr>
            <a:xfrm>
              <a:off x="5030740" y="2294036"/>
              <a:ext cx="0" cy="178959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5" y="5987846"/>
            <a:ext cx="4782734" cy="461665"/>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US-based Retail Organisation – Azure Data Engineer (Cincinnati)  </a:t>
            </a:r>
          </a:p>
          <a:p>
            <a:endParaRPr lang="en-AU" sz="1200" b="1">
              <a:solidFill>
                <a:srgbClr val="A93584"/>
              </a:solidFill>
              <a:latin typeface="Roboto" panose="02000000000000000000" pitchFamily="2" charset="0"/>
              <a:ea typeface="Roboto" panose="02000000000000000000" pitchFamily="2" charset="0"/>
            </a:endParaRP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44516"/>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Oil &amp; Gas</a:t>
            </a:r>
          </a:p>
          <a:p>
            <a:pPr marL="0" indent="0">
              <a:lnSpc>
                <a:spcPct val="150000"/>
              </a:lnSpc>
              <a:buNone/>
            </a:pPr>
            <a:r>
              <a:rPr lang="en-GB" sz="1200">
                <a:solidFill>
                  <a:srgbClr val="00AB80"/>
                </a:solidFill>
              </a:rPr>
              <a:t>Energy</a:t>
            </a:r>
          </a:p>
          <a:p>
            <a:pPr marL="0" indent="0">
              <a:lnSpc>
                <a:spcPct val="150000"/>
              </a:lnSpc>
              <a:buNone/>
            </a:pPr>
            <a:r>
              <a:rPr lang="en-GB" sz="1200">
                <a:solidFill>
                  <a:srgbClr val="00AB80"/>
                </a:solidFill>
              </a:rPr>
              <a:t>Logistics</a:t>
            </a:r>
          </a:p>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Metals</a:t>
            </a: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Ambika Selvaraj</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a:ea typeface="Roboto Light"/>
                <a:cs typeface="Lato"/>
              </a:rPr>
              <a:t>Consultant</a:t>
            </a:r>
            <a:endParaRPr lang="en-US" sz="1400" spc="13" err="1">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892826"/>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Factory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DevOps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Synapse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MS 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R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GitHub</a:t>
            </a:r>
          </a:p>
          <a:p>
            <a:pPr marL="171450" indent="-171450">
              <a:buClr>
                <a:srgbClr val="00AB80"/>
              </a:buClr>
              <a:buFont typeface="Arial" panose="020B0604020202020204" pitchFamily="34" charset="0"/>
              <a:buChar char="•"/>
            </a:pPr>
            <a:r>
              <a:rPr lang="en-US" sz="900">
                <a:latin typeface="Roboto Light"/>
                <a:ea typeface="Roboto Light"/>
                <a:cs typeface="Roboto Light"/>
              </a:rPr>
              <a:t>Spark</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39454"/>
            <a:ext cx="0" cy="239253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85516"/>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45663"/>
            <a:ext cx="0" cy="639941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668612"/>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41584"/>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00960"/>
            <a:ext cx="1951941" cy="2492990"/>
            <a:chOff x="8106458" y="2681447"/>
            <a:chExt cx="1951941" cy="249299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492990"/>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Microsoft | Certified Azure Data Engineer Associate</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err="1">
                  <a:solidFill>
                    <a:srgbClr val="00AB80"/>
                  </a:solidFill>
                  <a:latin typeface="Roboto Light" panose="02000000000000000000" pitchFamily="2" charset="0"/>
                  <a:ea typeface="Calibri" panose="020F0502020204030204" pitchFamily="34" charset="0"/>
                </a:rPr>
                <a:t>HackerRank</a:t>
              </a:r>
              <a:r>
                <a:rPr lang="en-GB" sz="1200">
                  <a:solidFill>
                    <a:srgbClr val="00AB80"/>
                  </a:solidFill>
                  <a:latin typeface="Roboto Light" panose="02000000000000000000" pitchFamily="2" charset="0"/>
                  <a:ea typeface="Calibri" panose="020F0502020204030204" pitchFamily="34" charset="0"/>
                </a:rPr>
                <a:t> | SQL (Intermediate) Certificate</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a:t>
              </a:r>
              <a:r>
                <a:rPr lang="en-GB" sz="1200">
                  <a:solidFill>
                    <a:srgbClr val="00AB80"/>
                  </a:solidFill>
                  <a:latin typeface="Roboto Light" panose="02000000000000000000" pitchFamily="2" charset="0"/>
                  <a:ea typeface="Calibri" panose="020F0502020204030204" pitchFamily="34" charset="0"/>
                </a:rPr>
                <a:t> – Engineering, Electronics and Communications Engineering </a:t>
              </a: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RMK Engineering College, Chennai </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467504"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Microsoft Azure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70" y="1037384"/>
            <a:ext cx="4631164" cy="276999"/>
          </a:xfrm>
          <a:prstGeom prst="rect">
            <a:avLst/>
          </a:prstGeom>
          <a:noFill/>
        </p:spPr>
        <p:txBody>
          <a:bodyPr wrap="square" lIns="91440" tIns="45720" rIns="91440" bIns="45720" rtlCol="0" anchor="t">
            <a:spAutoFit/>
          </a:bodyPr>
          <a:lstStyle/>
          <a:p>
            <a:r>
              <a:rPr lang="en-US" sz="1200" b="1">
                <a:solidFill>
                  <a:srgbClr val="0059FF"/>
                </a:solidFill>
                <a:latin typeface="Roboto"/>
                <a:ea typeface="Roboto"/>
                <a:cs typeface="Roboto"/>
              </a:rPr>
              <a:t>Major Oil &amp; Gas </a:t>
            </a:r>
            <a:r>
              <a:rPr lang="en-US" sz="1200" b="1" err="1">
                <a:solidFill>
                  <a:srgbClr val="0059FF"/>
                </a:solidFill>
                <a:latin typeface="Roboto"/>
                <a:ea typeface="Roboto"/>
                <a:cs typeface="Roboto"/>
              </a:rPr>
              <a:t>Organisation</a:t>
            </a:r>
            <a:r>
              <a:rPr lang="en-AU" sz="1200" b="1">
                <a:solidFill>
                  <a:srgbClr val="0059FF"/>
                </a:solidFill>
                <a:latin typeface="Roboto"/>
                <a:ea typeface="Roboto"/>
                <a:cs typeface="Roboto"/>
              </a:rPr>
              <a:t> – Azure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4" y="1242846"/>
            <a:ext cx="4488473" cy="258532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a:solidFill>
                <a:schemeClr val="bg1"/>
              </a:solidFill>
            </a:endParaRPr>
          </a:p>
          <a:p>
            <a:r>
              <a:rPr lang="en-AU" sz="1000">
                <a:solidFill>
                  <a:schemeClr val="bg1"/>
                </a:solidFill>
              </a:rPr>
              <a:t>Developed and orchestrated pipelines using Azure Data Factory (ADF), including scheduling, monitoring, and troubleshooting data load issues</a:t>
            </a:r>
          </a:p>
          <a:p>
            <a:r>
              <a:rPr lang="en-AU" sz="1000">
                <a:solidFill>
                  <a:schemeClr val="bg1"/>
                </a:solidFill>
              </a:rPr>
              <a:t>Ingested data from on-premises and cloud sources using ADF; used </a:t>
            </a:r>
            <a:r>
              <a:rPr lang="en-AU" sz="1000" err="1">
                <a:solidFill>
                  <a:schemeClr val="bg1"/>
                </a:solidFill>
              </a:rPr>
              <a:t>PySpark</a:t>
            </a:r>
            <a:r>
              <a:rPr lang="en-AU" sz="1000">
                <a:solidFill>
                  <a:schemeClr val="bg1"/>
                </a:solidFill>
              </a:rPr>
              <a:t> and SQL in Azure Databricks to process data and store raw data</a:t>
            </a:r>
          </a:p>
          <a:p>
            <a:r>
              <a:rPr lang="en-AU" sz="1000">
                <a:solidFill>
                  <a:schemeClr val="bg1"/>
                </a:solidFill>
              </a:rPr>
              <a:t>Analysed source systems and gathered business requirements to design robust and scalable data pipelines</a:t>
            </a:r>
          </a:p>
          <a:p>
            <a:r>
              <a:rPr lang="en-AU" sz="1000">
                <a:solidFill>
                  <a:schemeClr val="bg1"/>
                </a:solidFill>
              </a:rPr>
              <a:t>Configured ADF integration with on-premises MySQL using Self-Hosted Integration Runtime, and with Azure SQL Database</a:t>
            </a:r>
          </a:p>
          <a:p>
            <a:r>
              <a:rPr lang="en-AU" sz="1000">
                <a:solidFill>
                  <a:schemeClr val="bg1"/>
                </a:solidFill>
              </a:rPr>
              <a:t>Implemented stored procedure execution via ADF to manage and update metadata tables</a:t>
            </a:r>
          </a:p>
          <a:p>
            <a:r>
              <a:rPr lang="en-AU" sz="1000">
                <a:solidFill>
                  <a:schemeClr val="bg1"/>
                </a:solidFill>
              </a:rPr>
              <a:t>Performed data cleaning, validation, and transformation to apply complex business rules</a:t>
            </a:r>
          </a:p>
          <a:p>
            <a:r>
              <a:rPr lang="en-AU" sz="1000">
                <a:solidFill>
                  <a:schemeClr val="bg1"/>
                </a:solidFill>
              </a:rPr>
              <a:t>Designed the Data Lake architecture using the Medallion model (Bronze, Silver, Gold) to ensure modularity and scalability</a:t>
            </a:r>
          </a:p>
          <a:p>
            <a:r>
              <a:rPr lang="en-AU" sz="1000">
                <a:solidFill>
                  <a:schemeClr val="bg1"/>
                </a:solidFill>
              </a:rPr>
              <a:t>Enabled downstream analytics - prepared gold layer data for Power BI consumption.</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7" y="6234947"/>
            <a:ext cx="4511892" cy="1323439"/>
            <a:chOff x="5023753" y="4247510"/>
            <a:chExt cx="4681691" cy="1323439"/>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5" y="4247510"/>
              <a:ext cx="4645969" cy="132343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Designed and created delta tables in Azure Data Lake storage location.</a:t>
              </a:r>
            </a:p>
            <a:p>
              <a:r>
                <a:rPr lang="en-AU" sz="1000"/>
                <a:t>Created and monitored ADF triggers and implemented fixes when required</a:t>
              </a:r>
            </a:p>
            <a:p>
              <a:r>
                <a:rPr lang="en-AU" sz="1000"/>
                <a:t>Weekly presentations to business stakeholders on the reports and their changes as required</a:t>
              </a:r>
            </a:p>
            <a:p>
              <a:r>
                <a:rPr lang="en-AU" sz="1000"/>
                <a:t>Partitioned data and performance improvements development using Azure Databricks</a:t>
              </a:r>
            </a:p>
            <a:p>
              <a:r>
                <a:rPr lang="en-AU" sz="1000"/>
                <a:t>Data validation using </a:t>
              </a:r>
              <a:r>
                <a:rPr lang="en-AU" sz="1000" err="1"/>
                <a:t>PySpark</a:t>
              </a:r>
              <a:r>
                <a:rPr lang="en-AU" sz="1000"/>
                <a:t> or </a:t>
              </a:r>
              <a:r>
                <a:rPr lang="en-AU" sz="1000" err="1"/>
                <a:t>SparkSQL</a:t>
              </a:r>
              <a:r>
                <a:rPr lang="en-AU" sz="1000"/>
                <a:t> in Azure Databricks</a:t>
              </a:r>
            </a:p>
            <a:p>
              <a:r>
                <a:rPr lang="en-AU" sz="1000"/>
                <a:t>Scheduled and monitored pipelines and resolved data load issues</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16416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43536914-D7FE-0F22-C18B-A5D89F6503CF}"/>
              </a:ext>
            </a:extLst>
          </p:cNvPr>
          <p:cNvSpPr txBox="1"/>
          <p:nvPr/>
        </p:nvSpPr>
        <p:spPr>
          <a:xfrm>
            <a:off x="259401" y="1530265"/>
            <a:ext cx="2864800" cy="3638817"/>
          </a:xfrm>
          <a:prstGeom prst="rect">
            <a:avLst/>
          </a:prstGeom>
          <a:noFill/>
        </p:spPr>
        <p:txBody>
          <a:bodyPr wrap="square" lIns="0" tIns="0" rIns="0" bIns="0" rtlCol="0" anchor="t">
            <a:spAutoFit/>
          </a:bodyPr>
          <a:lstStyle/>
          <a:p>
            <a:pPr>
              <a:lnSpc>
                <a:spcPts val="1500"/>
              </a:lnSpc>
            </a:pPr>
            <a:r>
              <a:rPr lang="en-AU" sz="1000" spc="13">
                <a:latin typeface="Roboto Light"/>
                <a:ea typeface="Roboto Light"/>
                <a:cs typeface="Lato"/>
              </a:rPr>
              <a:t>Ambika is a Data Engineer with over 11+ years of IT experience and 4+ years of hands-on experience across Data Engineering solutions.</a:t>
            </a:r>
          </a:p>
          <a:p>
            <a:pPr>
              <a:lnSpc>
                <a:spcPts val="1500"/>
              </a:lnSpc>
            </a:pPr>
            <a:endParaRPr lang="en-AU" sz="600" spc="13">
              <a:latin typeface="Roboto Light"/>
              <a:ea typeface="Roboto Light"/>
              <a:cs typeface="Lato"/>
            </a:endParaRPr>
          </a:p>
          <a:p>
            <a:pPr>
              <a:lnSpc>
                <a:spcPts val="1500"/>
              </a:lnSpc>
            </a:pPr>
            <a:r>
              <a:rPr lang="en-AU" sz="1000" spc="13">
                <a:latin typeface="Roboto Light"/>
                <a:ea typeface="Roboto Light"/>
                <a:cs typeface="Lato"/>
              </a:rPr>
              <a:t>Specialising in Microsoft Azure, Ambika’s core strengths lie in building scalable ETL pipelines with Azure Data Factory, Azure Databricks, ADLS Gen2, and Azure SQL. She has successfully migrated on-prem SQL databases to Azure platforms, and enabled data-driven insights for business reporting through Power BI integration. </a:t>
            </a:r>
          </a:p>
          <a:p>
            <a:pPr>
              <a:lnSpc>
                <a:spcPts val="1500"/>
              </a:lnSpc>
            </a:pPr>
            <a:endParaRPr lang="en-AU" sz="600" spc="13">
              <a:latin typeface="Roboto Light"/>
              <a:ea typeface="Roboto Light"/>
              <a:cs typeface="Lato"/>
            </a:endParaRPr>
          </a:p>
          <a:p>
            <a:pPr>
              <a:lnSpc>
                <a:spcPts val="1500"/>
              </a:lnSpc>
            </a:pPr>
            <a:r>
              <a:rPr lang="en-AU" sz="1000" spc="13">
                <a:latin typeface="Roboto Light"/>
                <a:ea typeface="Roboto Light"/>
                <a:cs typeface="Lato"/>
              </a:rPr>
              <a:t>Well-practised in translating complex business requirements into practical, functional solutions Ambika works closely with business analysts to design and implement tailored services and systems that meet client need and advises on data frameworks, governance, and quality to assist in ensuring successful delivery.</a:t>
            </a:r>
            <a:endParaRPr lang="en-US" sz="1000" spc="13">
              <a:latin typeface="Roboto Light"/>
              <a:ea typeface="Roboto Light"/>
              <a:cs typeface="Lato"/>
            </a:endParaRPr>
          </a:p>
        </p:txBody>
      </p:sp>
      <p:sp>
        <p:nvSpPr>
          <p:cNvPr id="12" name="TextBox 11">
            <a:extLst>
              <a:ext uri="{FF2B5EF4-FFF2-40B4-BE49-F238E27FC236}">
                <a16:creationId xmlns:a16="http://schemas.microsoft.com/office/drawing/2014/main" id="{71E8655A-9388-59BA-F0D8-754D1DA66332}"/>
              </a:ext>
            </a:extLst>
          </p:cNvPr>
          <p:cNvSpPr txBox="1"/>
          <p:nvPr/>
        </p:nvSpPr>
        <p:spPr>
          <a:xfrm>
            <a:off x="3332724" y="3805732"/>
            <a:ext cx="4591676" cy="276999"/>
          </a:xfrm>
          <a:prstGeom prst="rect">
            <a:avLst/>
          </a:prstGeom>
          <a:noFill/>
        </p:spPr>
        <p:txBody>
          <a:bodyPr wrap="square" lIns="91440" tIns="45720" rIns="91440" bIns="45720" rtlCol="0" anchor="t">
            <a:spAutoFit/>
          </a:bodyPr>
          <a:lstStyle/>
          <a:p>
            <a:r>
              <a:rPr lang="en-AU" sz="1200" b="1">
                <a:solidFill>
                  <a:srgbClr val="ED7D31"/>
                </a:solidFill>
                <a:latin typeface="Roboto"/>
                <a:ea typeface="Roboto"/>
                <a:cs typeface="Roboto"/>
              </a:rPr>
              <a:t>US-based FMCG Organisation – Azure Data Engineer (Chicago)</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34DEBD-EF7F-418D-BEA7-68DB4E53324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73751C5-9698-40F5-AD20-4BF57165A77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25800A5-016C-48F2-9776-20E979C4EE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2025-05-13T03:46:27Z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