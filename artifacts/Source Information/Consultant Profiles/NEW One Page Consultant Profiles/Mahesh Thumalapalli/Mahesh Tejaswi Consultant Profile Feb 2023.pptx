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3584"/>
    <a:srgbClr val="0F2B3F"/>
    <a:srgbClr val="0059FF"/>
    <a:srgbClr val="00AB80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B308C7-B7C6-4059-8EB7-378336FF30AA}" v="130" dt="2023-02-12T21:49:45.649"/>
    <p1510:client id="{56F49962-7656-4077-B36B-C58092D8A494}" v="2" dt="2023-02-08T04:20:38.333"/>
    <p1510:client id="{C0B8A6F4-CBEA-DB2F-DDA5-B145676B4FDC}" v="30" dt="2023-09-27T04:12:52.013"/>
    <p1510:client id="{C1CF7251-3016-85C3-65EE-B920CDD6583F}" v="69" dt="2023-02-08T05:43:21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2"/>
    <p:restoredTop sz="96357" autoAdjust="0"/>
  </p:normalViewPr>
  <p:slideViewPr>
    <p:cSldViewPr snapToGrid="0">
      <p:cViewPr varScale="1">
        <p:scale>
          <a:sx n="101" d="100"/>
          <a:sy n="101" d="100"/>
        </p:scale>
        <p:origin x="1176" y="-6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56F49962-7656-4077-B36B-C58092D8A494}"/>
    <pc:docChg chg="undo custSel modSld">
      <pc:chgData name="Darcy Roach" userId="ba676ee9-e9b4-49e8-a515-8077106c948d" providerId="ADAL" clId="{56F49962-7656-4077-B36B-C58092D8A494}" dt="2023-02-08T04:37:57.090" v="1518" actId="14100"/>
      <pc:docMkLst>
        <pc:docMk/>
      </pc:docMkLst>
      <pc:sldChg chg="addSp delSp modSp mod">
        <pc:chgData name="Darcy Roach" userId="ba676ee9-e9b4-49e8-a515-8077106c948d" providerId="ADAL" clId="{56F49962-7656-4077-B36B-C58092D8A494}" dt="2023-02-08T04:37:57.090" v="1518" actId="14100"/>
        <pc:sldMkLst>
          <pc:docMk/>
          <pc:sldMk cId="2009923557" sldId="270"/>
        </pc:sldMkLst>
        <pc:spChg chg="mod">
          <ac:chgData name="Darcy Roach" userId="ba676ee9-e9b4-49e8-a515-8077106c948d" providerId="ADAL" clId="{56F49962-7656-4077-B36B-C58092D8A494}" dt="2023-02-08T04:21:54.963" v="1101" actId="20577"/>
          <ac:spMkLst>
            <pc:docMk/>
            <pc:sldMk cId="2009923557" sldId="270"/>
            <ac:spMk id="2" creationId="{2FA774CA-3857-9308-4D38-9414B0CC2B95}"/>
          </ac:spMkLst>
        </pc:spChg>
        <pc:spChg chg="mod">
          <ac:chgData name="Darcy Roach" userId="ba676ee9-e9b4-49e8-a515-8077106c948d" providerId="ADAL" clId="{56F49962-7656-4077-B36B-C58092D8A494}" dt="2023-02-08T04:09:58.878" v="770" actId="20577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Darcy Roach" userId="ba676ee9-e9b4-49e8-a515-8077106c948d" providerId="ADAL" clId="{56F49962-7656-4077-B36B-C58092D8A494}" dt="2023-02-08T04:14:55.682" v="861" actId="20577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Darcy Roach" userId="ba676ee9-e9b4-49e8-a515-8077106c948d" providerId="ADAL" clId="{56F49962-7656-4077-B36B-C58092D8A494}" dt="2023-02-08T04:27:47.692" v="1298" actId="20577"/>
          <ac:spMkLst>
            <pc:docMk/>
            <pc:sldMk cId="2009923557" sldId="270"/>
            <ac:spMk id="12" creationId="{70DE989F-A988-8C86-5720-1FE5B119EB30}"/>
          </ac:spMkLst>
        </pc:spChg>
        <pc:spChg chg="mod">
          <ac:chgData name="Darcy Roach" userId="ba676ee9-e9b4-49e8-a515-8077106c948d" providerId="ADAL" clId="{56F49962-7656-4077-B36B-C58092D8A494}" dt="2023-02-08T00:46:56.825" v="15" actId="20577"/>
          <ac:spMkLst>
            <pc:docMk/>
            <pc:sldMk cId="2009923557" sldId="270"/>
            <ac:spMk id="13" creationId="{FD2720C9-A79F-BD7F-E179-674AD67D7892}"/>
          </ac:spMkLst>
        </pc:spChg>
        <pc:spChg chg="mod">
          <ac:chgData name="Darcy Roach" userId="ba676ee9-e9b4-49e8-a515-8077106c948d" providerId="ADAL" clId="{56F49962-7656-4077-B36B-C58092D8A494}" dt="2023-02-08T04:06:11.256" v="703" actId="20577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Darcy Roach" userId="ba676ee9-e9b4-49e8-a515-8077106c948d" providerId="ADAL" clId="{56F49962-7656-4077-B36B-C58092D8A494}" dt="2023-02-08T04:37:23.244" v="1517" actId="1076"/>
          <ac:spMkLst>
            <pc:docMk/>
            <pc:sldMk cId="2009923557" sldId="270"/>
            <ac:spMk id="19" creationId="{7513C49A-2DF2-8111-FED4-FC07A8EAD258}"/>
          </ac:spMkLst>
        </pc:spChg>
        <pc:spChg chg="del mod">
          <ac:chgData name="Darcy Roach" userId="ba676ee9-e9b4-49e8-a515-8077106c948d" providerId="ADAL" clId="{56F49962-7656-4077-B36B-C58092D8A494}" dt="2023-02-08T04:07:10.895" v="732" actId="21"/>
          <ac:spMkLst>
            <pc:docMk/>
            <pc:sldMk cId="2009923557" sldId="270"/>
            <ac:spMk id="24" creationId="{FCDB6750-668E-B3E9-076C-0C6B9CB18A0B}"/>
          </ac:spMkLst>
        </pc:spChg>
        <pc:spChg chg="mod">
          <ac:chgData name="Darcy Roach" userId="ba676ee9-e9b4-49e8-a515-8077106c948d" providerId="ADAL" clId="{56F49962-7656-4077-B36B-C58092D8A494}" dt="2023-02-08T04:12:50.566" v="821" actId="20577"/>
          <ac:spMkLst>
            <pc:docMk/>
            <pc:sldMk cId="2009923557" sldId="270"/>
            <ac:spMk id="26" creationId="{1A3D666D-00C8-D106-73C3-9FF300F8618C}"/>
          </ac:spMkLst>
        </pc:spChg>
        <pc:spChg chg="mod">
          <ac:chgData name="Darcy Roach" userId="ba676ee9-e9b4-49e8-a515-8077106c948d" providerId="ADAL" clId="{56F49962-7656-4077-B36B-C58092D8A494}" dt="2023-02-08T04:37:23.244" v="1517" actId="1076"/>
          <ac:spMkLst>
            <pc:docMk/>
            <pc:sldMk cId="2009923557" sldId="270"/>
            <ac:spMk id="28" creationId="{6059F888-3BDF-A1C0-65E5-CB6FDD43D97C}"/>
          </ac:spMkLst>
        </pc:spChg>
        <pc:spChg chg="mod">
          <ac:chgData name="Darcy Roach" userId="ba676ee9-e9b4-49e8-a515-8077106c948d" providerId="ADAL" clId="{56F49962-7656-4077-B36B-C58092D8A494}" dt="2023-02-08T04:28:47.441" v="1320" actId="20577"/>
          <ac:spMkLst>
            <pc:docMk/>
            <pc:sldMk cId="2009923557" sldId="270"/>
            <ac:spMk id="31" creationId="{5D644C1D-FE62-9752-27C7-42A94F729A86}"/>
          </ac:spMkLst>
        </pc:spChg>
        <pc:spChg chg="mod">
          <ac:chgData name="Darcy Roach" userId="ba676ee9-e9b4-49e8-a515-8077106c948d" providerId="ADAL" clId="{56F49962-7656-4077-B36B-C58092D8A494}" dt="2023-02-08T02:21:26.861" v="269" actId="20577"/>
          <ac:spMkLst>
            <pc:docMk/>
            <pc:sldMk cId="2009923557" sldId="270"/>
            <ac:spMk id="38" creationId="{AB47A2EE-BF0B-DB05-8B7C-DB6594B2B3D5}"/>
          </ac:spMkLst>
        </pc:spChg>
        <pc:spChg chg="mod">
          <ac:chgData name="Darcy Roach" userId="ba676ee9-e9b4-49e8-a515-8077106c948d" providerId="ADAL" clId="{56F49962-7656-4077-B36B-C58092D8A494}" dt="2023-02-08T04:07:36.677" v="735" actId="1076"/>
          <ac:spMkLst>
            <pc:docMk/>
            <pc:sldMk cId="2009923557" sldId="270"/>
            <ac:spMk id="39" creationId="{3EA81938-6A76-B850-B0E8-A5F905AEBA98}"/>
          </ac:spMkLst>
        </pc:spChg>
        <pc:spChg chg="add mod">
          <ac:chgData name="Darcy Roach" userId="ba676ee9-e9b4-49e8-a515-8077106c948d" providerId="ADAL" clId="{56F49962-7656-4077-B36B-C58092D8A494}" dt="2023-02-08T04:07:20.250" v="734"/>
          <ac:spMkLst>
            <pc:docMk/>
            <pc:sldMk cId="2009923557" sldId="270"/>
            <ac:spMk id="43" creationId="{2F7F9DCD-ABFD-3411-96C4-EDE25D98CDEB}"/>
          </ac:spMkLst>
        </pc:spChg>
        <pc:grpChg chg="mod">
          <ac:chgData name="Darcy Roach" userId="ba676ee9-e9b4-49e8-a515-8077106c948d" providerId="ADAL" clId="{56F49962-7656-4077-B36B-C58092D8A494}" dt="2023-02-08T04:07:36.677" v="735" actId="1076"/>
          <ac:grpSpMkLst>
            <pc:docMk/>
            <pc:sldMk cId="2009923557" sldId="270"/>
            <ac:grpSpMk id="5" creationId="{980A06B1-0A2F-7DF6-91DB-0F6DFA896A23}"/>
          </ac:grpSpMkLst>
        </pc:grpChg>
        <pc:grpChg chg="add mod">
          <ac:chgData name="Darcy Roach" userId="ba676ee9-e9b4-49e8-a515-8077106c948d" providerId="ADAL" clId="{56F49962-7656-4077-B36B-C58092D8A494}" dt="2023-02-08T04:20:38.332" v="1043" actId="164"/>
          <ac:grpSpMkLst>
            <pc:docMk/>
            <pc:sldMk cId="2009923557" sldId="270"/>
            <ac:grpSpMk id="45" creationId="{7C004A0F-26FD-81BE-0DC7-EDCD01D4194B}"/>
          </ac:grpSpMkLst>
        </pc:grpChg>
        <pc:cxnChg chg="mod">
          <ac:chgData name="Darcy Roach" userId="ba676ee9-e9b4-49e8-a515-8077106c948d" providerId="ADAL" clId="{56F49962-7656-4077-B36B-C58092D8A494}" dt="2023-02-08T04:20:07.051" v="1039" actId="14100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56F49962-7656-4077-B36B-C58092D8A494}" dt="2023-02-08T04:29:02.005" v="1321" actId="14100"/>
          <ac:cxnSpMkLst>
            <pc:docMk/>
            <pc:sldMk cId="2009923557" sldId="270"/>
            <ac:cxnSpMk id="15" creationId="{F87F05F2-DA4C-4F55-A5D0-1887110DF155}"/>
          </ac:cxnSpMkLst>
        </pc:cxnChg>
        <pc:cxnChg chg="mod">
          <ac:chgData name="Darcy Roach" userId="ba676ee9-e9b4-49e8-a515-8077106c948d" providerId="ADAL" clId="{56F49962-7656-4077-B36B-C58092D8A494}" dt="2023-02-08T04:37:57.090" v="1518" actId="14100"/>
          <ac:cxnSpMkLst>
            <pc:docMk/>
            <pc:sldMk cId="2009923557" sldId="270"/>
            <ac:cxnSpMk id="21" creationId="{B0913DE4-461D-CE43-AABC-C4B3D7D22F45}"/>
          </ac:cxnSpMkLst>
        </pc:cxnChg>
      </pc:sldChg>
    </pc:docChg>
  </pc:docChgLst>
  <pc:docChgLst>
    <pc:chgData name="Emilio Parente" userId="S::emilio.parente@intelia.com.au::01da3a18-a8c9-4a65-a55b-c6794ec7dcc4" providerId="AD" clId="Web-{C0B8A6F4-CBEA-DB2F-DDA5-B145676B4FDC}"/>
    <pc:docChg chg="modSld">
      <pc:chgData name="Emilio Parente" userId="S::emilio.parente@intelia.com.au::01da3a18-a8c9-4a65-a55b-c6794ec7dcc4" providerId="AD" clId="Web-{C0B8A6F4-CBEA-DB2F-DDA5-B145676B4FDC}" dt="2023-09-27T04:12:52.013" v="17"/>
      <pc:docMkLst>
        <pc:docMk/>
      </pc:docMkLst>
      <pc:sldChg chg="modSp">
        <pc:chgData name="Emilio Parente" userId="S::emilio.parente@intelia.com.au::01da3a18-a8c9-4a65-a55b-c6794ec7dcc4" providerId="AD" clId="Web-{C0B8A6F4-CBEA-DB2F-DDA5-B145676B4FDC}" dt="2023-09-27T04:12:52.013" v="17"/>
        <pc:sldMkLst>
          <pc:docMk/>
          <pc:sldMk cId="2009923557" sldId="270"/>
        </pc:sldMkLst>
        <pc:spChg chg="mod">
          <ac:chgData name="Emilio Parente" userId="S::emilio.parente@intelia.com.au::01da3a18-a8c9-4a65-a55b-c6794ec7dcc4" providerId="AD" clId="Web-{C0B8A6F4-CBEA-DB2F-DDA5-B145676B4FDC}" dt="2023-09-27T04:12:52.013" v="17"/>
          <ac:spMkLst>
            <pc:docMk/>
            <pc:sldMk cId="2009923557" sldId="270"/>
            <ac:spMk id="13" creationId="{FD2720C9-A79F-BD7F-E179-674AD67D7892}"/>
          </ac:spMkLst>
        </pc:spChg>
      </pc:sldChg>
    </pc:docChg>
  </pc:docChgLst>
  <pc:docChgLst>
    <pc:chgData name="Jonathan Adams" userId="S::jonathan.adams@intelia.com.au::46cab82c-f106-449b-886b-d644abe3a731" providerId="AD" clId="Web-{C1CF7251-3016-85C3-65EE-B920CDD6583F}"/>
    <pc:docChg chg="modSld">
      <pc:chgData name="Jonathan Adams" userId="S::jonathan.adams@intelia.com.au::46cab82c-f106-449b-886b-d644abe3a731" providerId="AD" clId="Web-{C1CF7251-3016-85C3-65EE-B920CDD6583F}" dt="2023-02-08T05:43:21.530" v="33" actId="20577"/>
      <pc:docMkLst>
        <pc:docMk/>
      </pc:docMkLst>
      <pc:sldChg chg="modSp">
        <pc:chgData name="Jonathan Adams" userId="S::jonathan.adams@intelia.com.au::46cab82c-f106-449b-886b-d644abe3a731" providerId="AD" clId="Web-{C1CF7251-3016-85C3-65EE-B920CDD6583F}" dt="2023-02-08T05:43:21.530" v="33" actId="20577"/>
        <pc:sldMkLst>
          <pc:docMk/>
          <pc:sldMk cId="2009923557" sldId="270"/>
        </pc:sldMkLst>
        <pc:spChg chg="mod">
          <ac:chgData name="Jonathan Adams" userId="S::jonathan.adams@intelia.com.au::46cab82c-f106-449b-886b-d644abe3a731" providerId="AD" clId="Web-{C1CF7251-3016-85C3-65EE-B920CDD6583F}" dt="2023-02-08T05:41:46.134" v="14" actId="20577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Jonathan Adams" userId="S::jonathan.adams@intelia.com.au::46cab82c-f106-449b-886b-d644abe3a731" providerId="AD" clId="Web-{C1CF7251-3016-85C3-65EE-B920CDD6583F}" dt="2023-02-08T05:43:21.530" v="33" actId="20577"/>
          <ac:spMkLst>
            <pc:docMk/>
            <pc:sldMk cId="2009923557" sldId="270"/>
            <ac:spMk id="12" creationId="{70DE989F-A988-8C86-5720-1FE5B119EB30}"/>
          </ac:spMkLst>
        </pc:spChg>
        <pc:spChg chg="mod">
          <ac:chgData name="Jonathan Adams" userId="S::jonathan.adams@intelia.com.au::46cab82c-f106-449b-886b-d644abe3a731" providerId="AD" clId="Web-{C1CF7251-3016-85C3-65EE-B920CDD6583F}" dt="2023-02-08T05:41:09.476" v="6" actId="20577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Jonathan Adams" userId="S::jonathan.adams@intelia.com.au::46cab82c-f106-449b-886b-d644abe3a731" providerId="AD" clId="Web-{C1CF7251-3016-85C3-65EE-B920CDD6583F}" dt="2023-02-08T05:41:59.869" v="18" actId="20577"/>
          <ac:spMkLst>
            <pc:docMk/>
            <pc:sldMk cId="2009923557" sldId="270"/>
            <ac:spMk id="19" creationId="{7513C49A-2DF2-8111-FED4-FC07A8EAD258}"/>
          </ac:spMkLst>
        </pc:spChg>
        <pc:spChg chg="mod">
          <ac:chgData name="Jonathan Adams" userId="S::jonathan.adams@intelia.com.au::46cab82c-f106-449b-886b-d644abe3a731" providerId="AD" clId="Web-{C1CF7251-3016-85C3-65EE-B920CDD6583F}" dt="2023-02-08T05:42:15.995" v="25" actId="20577"/>
          <ac:spMkLst>
            <pc:docMk/>
            <pc:sldMk cId="2009923557" sldId="270"/>
            <ac:spMk id="31" creationId="{5D644C1D-FE62-9752-27C7-42A94F729A86}"/>
          </ac:spMkLst>
        </pc:spChg>
      </pc:sldChg>
    </pc:docChg>
  </pc:docChgLst>
  <pc:docChgLst>
    <pc:chgData name="Jonathan Adams" userId="S::jonathan.adams@intelia.com.au::46cab82c-f106-449b-886b-d644abe3a731" providerId="AD" clId="Web-{42B308C7-B7C6-4059-8EB7-378336FF30AA}"/>
    <pc:docChg chg="modSld">
      <pc:chgData name="Jonathan Adams" userId="S::jonathan.adams@intelia.com.au::46cab82c-f106-449b-886b-d644abe3a731" providerId="AD" clId="Web-{42B308C7-B7C6-4059-8EB7-378336FF30AA}" dt="2023-02-12T21:49:45.649" v="68" actId="20577"/>
      <pc:docMkLst>
        <pc:docMk/>
      </pc:docMkLst>
      <pc:sldChg chg="modSp">
        <pc:chgData name="Jonathan Adams" userId="S::jonathan.adams@intelia.com.au::46cab82c-f106-449b-886b-d644abe3a731" providerId="AD" clId="Web-{42B308C7-B7C6-4059-8EB7-378336FF30AA}" dt="2023-02-12T21:49:45.649" v="68" actId="20577"/>
        <pc:sldMkLst>
          <pc:docMk/>
          <pc:sldMk cId="2009923557" sldId="270"/>
        </pc:sldMkLst>
        <pc:spChg chg="mod">
          <ac:chgData name="Jonathan Adams" userId="S::jonathan.adams@intelia.com.au::46cab82c-f106-449b-886b-d644abe3a731" providerId="AD" clId="Web-{42B308C7-B7C6-4059-8EB7-378336FF30AA}" dt="2023-02-12T21:48:45.226" v="41" actId="20577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Jonathan Adams" userId="S::jonathan.adams@intelia.com.au::46cab82c-f106-449b-886b-d644abe3a731" providerId="AD" clId="Web-{42B308C7-B7C6-4059-8EB7-378336FF30AA}" dt="2023-02-12T21:48:23.428" v="30" actId="20577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Jonathan Adams" userId="S::jonathan.adams@intelia.com.au::46cab82c-f106-449b-886b-d644abe3a731" providerId="AD" clId="Web-{42B308C7-B7C6-4059-8EB7-378336FF30AA}" dt="2023-02-12T21:49:45.649" v="68" actId="20577"/>
          <ac:spMkLst>
            <pc:docMk/>
            <pc:sldMk cId="2009923557" sldId="270"/>
            <ac:spMk id="26" creationId="{1A3D666D-00C8-D106-73C3-9FF300F861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168863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rgbClr val="00AB80"/>
                </a:solidFill>
                <a:latin typeface="Roboto"/>
                <a:ea typeface="Roboto"/>
                <a:cs typeface="Roboto"/>
              </a:rPr>
              <a:t>Mahesh </a:t>
            </a:r>
            <a:r>
              <a:rPr lang="en-US" sz="2400" b="1" dirty="0" err="1">
                <a:solidFill>
                  <a:srgbClr val="00AB80"/>
                </a:solidFill>
                <a:latin typeface="Roboto"/>
                <a:ea typeface="Roboto"/>
                <a:cs typeface="Roboto"/>
              </a:rPr>
              <a:t>Thummalapalli</a:t>
            </a:r>
            <a:endParaRPr lang="en-US" sz="2400" b="1" dirty="0" err="1">
              <a:solidFill>
                <a:srgbClr val="00AB8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50509" y="1500528"/>
            <a:ext cx="2868270" cy="40235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AU" sz="1000" spc="13" dirty="0">
                <a:latin typeface="Roboto Light"/>
                <a:ea typeface="Roboto Light"/>
                <a:cs typeface="Lato"/>
              </a:rPr>
              <a:t>Mahesh is an experienced Data Engineer with 11+ years of demonstrated experience working in the information technology and services industry. Strong technical skill in both AWS and GCP, coupled with a proactive ability to overcome technical challenges and excellent communication and interpersonal skills allow Mahesh to effectively solve complex business problems.</a:t>
            </a:r>
          </a:p>
          <a:p>
            <a:pPr algn="l"/>
            <a:endParaRPr lang="en-AU" sz="1000" spc="13" dirty="0">
              <a:latin typeface="Roboto Light"/>
              <a:ea typeface="Roboto Light"/>
              <a:cs typeface="Lato"/>
            </a:endParaRPr>
          </a:p>
          <a:p>
            <a:pPr algn="l"/>
            <a:r>
              <a:rPr lang="en-AU" sz="1000" spc="13" dirty="0">
                <a:latin typeface="Roboto Light"/>
                <a:ea typeface="Roboto Light"/>
                <a:cs typeface="Lato"/>
              </a:rPr>
              <a:t>Mahesh is a Certified GCP Google Cloud Professional Data Engineer and Cloud Architect who holds experience across a broad range of industries including Retail, Financial Services, Media, Automobile and Education. Mahesh has proven expertise in Data Engineering, Data Migration and Solution Design.</a:t>
            </a:r>
          </a:p>
          <a:p>
            <a:pPr algn="l"/>
            <a:endParaRPr lang="en-AU" sz="1000" spc="13" dirty="0">
              <a:latin typeface="Roboto Light"/>
              <a:ea typeface="Roboto Light"/>
              <a:cs typeface="Lato"/>
            </a:endParaRPr>
          </a:p>
          <a:p>
            <a:pPr algn="l"/>
            <a:r>
              <a:rPr lang="en-AU" sz="1000" spc="13" dirty="0">
                <a:latin typeface="Roboto Light"/>
                <a:ea typeface="Roboto Light"/>
                <a:cs typeface="Lato"/>
              </a:rPr>
              <a:t>Mahesh stands out as an innovative and creative thinker, possessing impressive problem-solving competencies and incisive analytical abilities. He has a solid work ethic and exceptional interpersonal skills, plus the capacity to tackle the most intricate software challenges.</a:t>
            </a:r>
          </a:p>
          <a:p>
            <a:pPr>
              <a:lnSpc>
                <a:spcPts val="1500"/>
              </a:lnSpc>
            </a:pPr>
            <a:endParaRPr lang="en-US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5050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16674" y="5693950"/>
            <a:ext cx="1510046" cy="2446824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Redshift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DMS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  <a:cs typeface="Roboto Light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Cloud Watch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  <a:cs typeface="Roboto Light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SAP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Cloud Composer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Kubernetes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Pubsub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Terraform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Linux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Unix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TensorFlow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Apache</a:t>
            </a:r>
          </a:p>
          <a:p>
            <a:pPr>
              <a:buClr>
                <a:srgbClr val="00AB80"/>
              </a:buClr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357163"/>
            <a:ext cx="0" cy="1932138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2981996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59287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197440"/>
            <a:ext cx="1951941" cy="3046988"/>
            <a:chOff x="8106458" y="2681447"/>
            <a:chExt cx="1951941" cy="304698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30469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Google Cloud Certified | Professional Data Engineer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Google Cloud Certified | Professional Cloud Architect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Microsoft Azure Certified |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Azure Data Associate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– Technology, Information Technology | </a:t>
              </a: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</a:rPr>
                <a:t>Pondicherry University,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 dirty="0" err="1">
                  <a:solidFill>
                    <a:srgbClr val="00AB80"/>
                  </a:solidFill>
                  <a:latin typeface="Roboto Light" panose="02000000000000000000" pitchFamily="2" charset="0"/>
                </a:rPr>
                <a:t>india</a:t>
              </a: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46651" y="5698493"/>
            <a:ext cx="1570024" cy="2169825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/>
                <a:ea typeface="Roboto Light"/>
                <a:cs typeface="Roboto Light"/>
              </a:rPr>
              <a:t>AWS</a:t>
            </a:r>
            <a:endParaRPr lang="en-US" dirty="0"/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/>
                <a:ea typeface="Roboto Light"/>
                <a:cs typeface="Roboto Light"/>
              </a:rPr>
              <a:t>Google Cloud Platform</a:t>
            </a:r>
            <a:endParaRPr lang="en-AU" dirty="0"/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/>
                <a:ea typeface="Roboto Light"/>
                <a:cs typeface="Roboto Light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Wrangling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Modelling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Visualisation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Azure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Strategic Planning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System 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Machine Learning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Deep Learning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7" y="1064814"/>
            <a:ext cx="463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Major Retail Company </a:t>
            </a:r>
            <a:r>
              <a:rPr lang="en-AU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– GCP Data Engineer</a:t>
            </a:r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lang="en-AU" sz="1200" b="1" dirty="0">
              <a:solidFill>
                <a:srgbClr val="0059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13C49A-2DF2-8111-FED4-FC07A8EAD258}"/>
              </a:ext>
            </a:extLst>
          </p:cNvPr>
          <p:cNvSpPr txBox="1"/>
          <p:nvPr/>
        </p:nvSpPr>
        <p:spPr>
          <a:xfrm>
            <a:off x="3462567" y="6497367"/>
            <a:ext cx="4560861" cy="1169551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indent="0">
              <a:buClr>
                <a:srgbClr val="00AB80"/>
              </a:buClr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>
                <a:latin typeface="Roboto Light"/>
                <a:ea typeface="Roboto Light"/>
                <a:cs typeface="Roboto Light"/>
              </a:rPr>
              <a:t>Requirements gathering and organising meetings with teams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>
                <a:latin typeface="Roboto Light"/>
                <a:ea typeface="Roboto Light"/>
                <a:cs typeface="Roboto Light"/>
              </a:rPr>
              <a:t>Built data pipelines to read data from files and load to staging tables in </a:t>
            </a:r>
            <a:r>
              <a:rPr lang="en-AU" dirty="0" err="1">
                <a:latin typeface="Roboto Light"/>
                <a:ea typeface="Roboto Light"/>
                <a:cs typeface="Roboto Light"/>
              </a:rPr>
              <a:t>BigQuery</a:t>
            </a:r>
            <a:r>
              <a:rPr lang="en-AU" dirty="0">
                <a:latin typeface="Roboto Light"/>
                <a:ea typeface="Roboto Light"/>
                <a:cs typeface="Roboto Light"/>
              </a:rPr>
              <a:t> as External tables.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>
                <a:latin typeface="Roboto Light"/>
                <a:ea typeface="Roboto Light"/>
                <a:cs typeface="Roboto Light"/>
              </a:rPr>
              <a:t>Built SQL scripts to load data to target tables and run them in pipeline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>
                <a:latin typeface="Roboto Light"/>
                <a:ea typeface="Roboto Light"/>
                <a:cs typeface="Roboto Light"/>
              </a:rPr>
              <a:t>Developed code to read data from streaming systems like Pub Sub and load to </a:t>
            </a:r>
            <a:r>
              <a:rPr lang="en-AU" dirty="0" err="1">
                <a:latin typeface="Roboto Light"/>
                <a:ea typeface="Roboto Light"/>
                <a:cs typeface="Roboto Light"/>
              </a:rPr>
              <a:t>BigQuery</a:t>
            </a:r>
            <a:endParaRPr lang="en-AU" dirty="0" err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>
                <a:latin typeface="Roboto Light"/>
                <a:ea typeface="Roboto Light"/>
                <a:cs typeface="Roboto Light"/>
              </a:rPr>
              <a:t>Scheduled jobs in cloud composer using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913DE4-461D-CE43-AABC-C4B3D7D22F45}"/>
              </a:ext>
            </a:extLst>
          </p:cNvPr>
          <p:cNvCxnSpPr>
            <a:cxnSpLocks/>
          </p:cNvCxnSpPr>
          <p:nvPr/>
        </p:nvCxnSpPr>
        <p:spPr>
          <a:xfrm>
            <a:off x="3428144" y="6562317"/>
            <a:ext cx="0" cy="1089252"/>
          </a:xfrm>
          <a:prstGeom prst="line">
            <a:avLst/>
          </a:prstGeom>
          <a:ln w="19050">
            <a:solidFill>
              <a:srgbClr val="A935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059F888-3BDF-A1C0-65E5-CB6FDD43D97C}"/>
              </a:ext>
            </a:extLst>
          </p:cNvPr>
          <p:cNvSpPr txBox="1"/>
          <p:nvPr/>
        </p:nvSpPr>
        <p:spPr>
          <a:xfrm>
            <a:off x="3335752" y="6220368"/>
            <a:ext cx="4782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Leading US Educational Provider – GCP Data Engineer</a:t>
            </a:r>
          </a:p>
          <a:p>
            <a:endParaRPr lang="en-AU" sz="1200" b="1" dirty="0">
              <a:solidFill>
                <a:srgbClr val="A9358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E989F-A988-8C86-5720-1FE5B119EB30}"/>
              </a:ext>
            </a:extLst>
          </p:cNvPr>
          <p:cNvSpPr txBox="1"/>
          <p:nvPr/>
        </p:nvSpPr>
        <p:spPr>
          <a:xfrm>
            <a:off x="3463961" y="1341540"/>
            <a:ext cx="4533549" cy="2277547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Company migrated existing Hadoop warehouse systems to Google </a:t>
            </a:r>
            <a:r>
              <a:rPr lang="en-AU" sz="1000" dirty="0" err="1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BigQuery</a:t>
            </a:r>
            <a:r>
              <a:rPr lang="en-AU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. ETL flows that were running on premise </a:t>
            </a:r>
            <a:r>
              <a:rPr lang="en-AU" sz="1000" dirty="0" err="1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PySpark</a:t>
            </a:r>
            <a:r>
              <a:rPr lang="en-AU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 was replaced with  DAGs and Pipelines in Airflow to read incremental data from </a:t>
            </a:r>
            <a:r>
              <a:rPr lang="en-AU" sz="1000" dirty="0" err="1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Siebel,CPRV</a:t>
            </a:r>
            <a:r>
              <a:rPr lang="en-AU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 to </a:t>
            </a:r>
            <a:r>
              <a:rPr lang="en-AU" sz="1000" dirty="0" err="1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BigQuery</a:t>
            </a:r>
            <a:r>
              <a:rPr lang="en-AU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. Roles and Responsibilities included:</a:t>
            </a:r>
          </a:p>
          <a:p>
            <a:r>
              <a:rPr lang="en-AU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Designed the framework that can be used to extract data from Siebel server and load to GCP bucket</a:t>
            </a:r>
          </a:p>
          <a:p>
            <a:r>
              <a:rPr lang="en-AU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Designed logical layers in </a:t>
            </a:r>
            <a:r>
              <a:rPr lang="en-AU" sz="1000" dirty="0" err="1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BigQuery</a:t>
            </a:r>
            <a:endParaRPr lang="en-AU" sz="1000" dirty="0" err="1">
              <a:solidFill>
                <a:schemeClr val="bg1"/>
              </a:solidFill>
            </a:endParaRPr>
          </a:p>
          <a:p>
            <a:r>
              <a:rPr lang="en-AU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Designed partitioning strategy for large tables</a:t>
            </a:r>
          </a:p>
          <a:p>
            <a:r>
              <a:rPr lang="en-AU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Designed and developed  data pipelines to read data from Siebel server, extract as file, load to staging tables in </a:t>
            </a:r>
            <a:r>
              <a:rPr lang="en-AU" sz="1000" dirty="0" err="1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BigQuery</a:t>
            </a:r>
            <a:endParaRPr lang="en-AU" sz="1000" dirty="0" err="1">
              <a:solidFill>
                <a:schemeClr val="bg1"/>
              </a:solidFill>
            </a:endParaRPr>
          </a:p>
          <a:p>
            <a:r>
              <a:rPr lang="en-AU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Built SQL scripts to load data from stage to target tables in </a:t>
            </a:r>
            <a:r>
              <a:rPr lang="en-AU" sz="1000" dirty="0" err="1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BigQuery</a:t>
            </a:r>
            <a:r>
              <a:rPr lang="en-AU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.</a:t>
            </a:r>
          </a:p>
          <a:p>
            <a:r>
              <a:rPr lang="en-AU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Created a semantic layer consisting of views on top of </a:t>
            </a:r>
            <a:r>
              <a:rPr lang="en-AU" sz="1000" dirty="0" err="1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datamart</a:t>
            </a:r>
            <a:r>
              <a:rPr lang="en-AU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 layer to expose to Looker</a:t>
            </a:r>
          </a:p>
          <a:p>
            <a:endParaRPr lang="en-US" sz="1000" dirty="0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C004A0F-26FD-81BE-0DC7-EDCD01D4194B}"/>
              </a:ext>
            </a:extLst>
          </p:cNvPr>
          <p:cNvGrpSpPr/>
          <p:nvPr/>
        </p:nvGrpSpPr>
        <p:grpSpPr>
          <a:xfrm>
            <a:off x="3335753" y="3451682"/>
            <a:ext cx="5029198" cy="3094354"/>
            <a:chOff x="3335753" y="3451682"/>
            <a:chExt cx="5029198" cy="3094354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7F05F2-DA4C-4F55-A5D0-1887110DF155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4" y="3790632"/>
              <a:ext cx="0" cy="2219643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A774CA-3857-9308-4D38-9414B0CC2B95}"/>
                </a:ext>
              </a:extLst>
            </p:cNvPr>
            <p:cNvSpPr txBox="1"/>
            <p:nvPr/>
          </p:nvSpPr>
          <p:spPr>
            <a:xfrm>
              <a:off x="3335753" y="3451682"/>
              <a:ext cx="50291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Leading US Media Giant – GCP Data Engineer</a:t>
              </a:r>
            </a:p>
            <a:p>
              <a:endPara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D644C1D-FE62-9752-27C7-42A94F729A86}"/>
                </a:ext>
              </a:extLst>
            </p:cNvPr>
            <p:cNvSpPr txBox="1"/>
            <p:nvPr/>
          </p:nvSpPr>
          <p:spPr>
            <a:xfrm>
              <a:off x="3455046" y="3652936"/>
              <a:ext cx="4423172" cy="2893100"/>
            </a:xfrm>
            <a:prstGeom prst="rect">
              <a:avLst/>
            </a:prstGeom>
            <a:noFill/>
          </p:spPr>
          <p:txBody>
            <a:bodyPr wrap="square" lIns="91440" tIns="45720" rIns="91440" bIns="45720" numCol="1" rtlCol="0" anchor="t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endParaRPr lang="en-US" sz="200" dirty="0"/>
            </a:p>
            <a:p>
              <a:pPr marL="0" indent="0">
                <a:buNone/>
              </a:pPr>
              <a:r>
                <a:rPr lang="en-AU" sz="1000" dirty="0">
                  <a:latin typeface="Roboto Light"/>
                  <a:ea typeface="Roboto Light"/>
                  <a:cs typeface="Roboto Light"/>
                </a:rPr>
                <a:t>Company migrated existing Teradata warehouse systems to Google </a:t>
              </a:r>
              <a:r>
                <a:rPr lang="en-AU" sz="1000" dirty="0" err="1">
                  <a:latin typeface="Roboto Light"/>
                  <a:ea typeface="Roboto Light"/>
                  <a:cs typeface="Roboto Light"/>
                </a:rPr>
                <a:t>BigQuery</a:t>
              </a:r>
              <a:r>
                <a:rPr lang="en-AU" sz="1000" dirty="0">
                  <a:latin typeface="Roboto Light"/>
                  <a:ea typeface="Roboto Light"/>
                  <a:cs typeface="Roboto Light"/>
                </a:rPr>
                <a:t>. ETL flows that were running on premise Informatica were replaced with DAGs and Pipelines in Airflow to read incremental data from SQL server to </a:t>
              </a:r>
              <a:r>
                <a:rPr lang="en-AU" sz="1000" dirty="0" err="1">
                  <a:latin typeface="Roboto Light"/>
                  <a:ea typeface="Roboto Light"/>
                  <a:cs typeface="Roboto Light"/>
                </a:rPr>
                <a:t>BigQuery</a:t>
              </a:r>
              <a:r>
                <a:rPr lang="en-AU" sz="1000" dirty="0">
                  <a:latin typeface="Roboto Light"/>
                  <a:ea typeface="Roboto Light"/>
                  <a:cs typeface="Roboto Light"/>
                </a:rPr>
                <a:t>. Roles and Responsibilities included:</a:t>
              </a:r>
            </a:p>
            <a:p>
              <a:r>
                <a:rPr lang="en-AU" sz="1000" dirty="0"/>
                <a:t>Developed Kubernetes image in the framework used to extract data from SQL server and load to GCP bucket</a:t>
              </a:r>
            </a:p>
            <a:p>
              <a:r>
                <a:rPr lang="en-AU" sz="1000" dirty="0">
                  <a:latin typeface="Roboto Light"/>
                  <a:ea typeface="Roboto Light"/>
                  <a:cs typeface="Roboto Light"/>
                </a:rPr>
                <a:t>Used Kube Secrets to securely access on premise SQL servers and extract data for incremental loads</a:t>
              </a:r>
            </a:p>
            <a:p>
              <a:r>
                <a:rPr lang="en-AU" sz="1000" dirty="0"/>
                <a:t>Designed partitioning strategy for large tables</a:t>
              </a:r>
            </a:p>
            <a:p>
              <a:r>
                <a:rPr lang="en-AU" sz="1000" dirty="0">
                  <a:latin typeface="Roboto Light"/>
                  <a:ea typeface="Roboto Light"/>
                  <a:cs typeface="Roboto Light"/>
                </a:rPr>
                <a:t>Designed and developed data pipelines to read data from SQL server extract as file, load to staging tables in </a:t>
              </a:r>
              <a:r>
                <a:rPr lang="en-AU" sz="1000" dirty="0" err="1">
                  <a:latin typeface="Roboto Light"/>
                  <a:ea typeface="Roboto Light"/>
                  <a:cs typeface="Roboto Light"/>
                </a:rPr>
                <a:t>BigQuery</a:t>
              </a:r>
              <a:r>
                <a:rPr lang="en-AU" sz="1000" dirty="0">
                  <a:latin typeface="Roboto Light"/>
                  <a:ea typeface="Roboto Light"/>
                  <a:cs typeface="Roboto Light"/>
                </a:rPr>
                <a:t>.</a:t>
              </a:r>
            </a:p>
            <a:p>
              <a:r>
                <a:rPr lang="en-AU" sz="1000" dirty="0">
                  <a:latin typeface="Roboto Light"/>
                  <a:ea typeface="Roboto Light"/>
                  <a:cs typeface="Roboto Light"/>
                </a:rPr>
                <a:t>Built SQL scripts to load data </a:t>
              </a:r>
              <a:r>
                <a:rPr lang="en-AU" sz="1000" dirty="0" err="1">
                  <a:latin typeface="Roboto Light"/>
                  <a:ea typeface="Roboto Light"/>
                  <a:cs typeface="Roboto Light"/>
                </a:rPr>
                <a:t>data</a:t>
              </a:r>
              <a:r>
                <a:rPr lang="en-AU" sz="1000" dirty="0">
                  <a:latin typeface="Roboto Light"/>
                  <a:ea typeface="Roboto Light"/>
                  <a:cs typeface="Roboto Light"/>
                </a:rPr>
                <a:t> from stage to target tables in </a:t>
              </a:r>
              <a:r>
                <a:rPr lang="en-AU" sz="1000" dirty="0" err="1">
                  <a:latin typeface="Roboto Light"/>
                  <a:ea typeface="Roboto Light"/>
                  <a:cs typeface="Roboto Light"/>
                </a:rPr>
                <a:t>BigQuery</a:t>
              </a:r>
              <a:r>
                <a:rPr lang="en-AU" sz="1000" dirty="0">
                  <a:latin typeface="Roboto Light"/>
                  <a:ea typeface="Roboto Light"/>
                  <a:cs typeface="Roboto Light"/>
                </a:rPr>
                <a:t>.</a:t>
              </a:r>
            </a:p>
            <a:p>
              <a:r>
                <a:rPr lang="en-AU" sz="1000" dirty="0"/>
                <a:t>Scheduled jobs in cloud composer using Airflow using various DAG operators and Python scripts</a:t>
              </a:r>
            </a:p>
            <a:p>
              <a:r>
                <a:rPr lang="en-AU" sz="1000" dirty="0"/>
                <a:t>Implemented file sensors, to handle intra environment dependency with Autosys.</a:t>
              </a:r>
            </a:p>
            <a:p>
              <a:endParaRPr lang="en-AU" sz="1000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2F7F9DCD-ABFD-3411-96C4-EDE25D98CDEB}"/>
              </a:ext>
            </a:extLst>
          </p:cNvPr>
          <p:cNvSpPr txBox="1"/>
          <p:nvPr/>
        </p:nvSpPr>
        <p:spPr>
          <a:xfrm>
            <a:off x="8118489" y="1456630"/>
            <a:ext cx="1951941" cy="144655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Media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Automobile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Education</a:t>
            </a:r>
          </a:p>
        </p:txBody>
      </p: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9DDFC6-124A-4859-BB62-4C7039BA48C0}">
  <ds:schemaRefs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e52cd9e7-35e5-4bd3-9cab-ca6a63c31e52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daf93972-1964-4522-aa34-640805a01c3a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670729B-8AC7-49D4-A0FA-0C169C13B19D}"/>
</file>

<file path=customXml/itemProps3.xml><?xml version="1.0" encoding="utf-8"?>
<ds:datastoreItem xmlns:ds="http://schemas.openxmlformats.org/officeDocument/2006/customXml" ds:itemID="{3EAAB431-6FA9-4678-BFEA-63CD1CAD6F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2407</TotalTime>
  <Words>592</Words>
  <Application>Microsoft Office PowerPoint</Application>
  <PresentationFormat>Custom</PresentationFormat>
  <Paragraphs>80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43</cp:revision>
  <dcterms:created xsi:type="dcterms:W3CDTF">2019-12-03T01:50:37Z</dcterms:created>
  <dcterms:modified xsi:type="dcterms:W3CDTF">2023-09-27T04:12:55Z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