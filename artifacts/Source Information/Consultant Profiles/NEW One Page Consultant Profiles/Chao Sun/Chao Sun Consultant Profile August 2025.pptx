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ED7D31"/>
    <a:srgbClr val="A93584"/>
    <a:srgbClr val="0059F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CBD084-3F93-FD8E-2F17-EE24F0899BC8}" v="79" dt="2025-08-10T22:09:47.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878" y="6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l Collins" userId="S::joel.collins@intelia.com.au::d3ae1526-77cd-4d01-b42b-68ae1cb060b9" providerId="AD" clId="Web-{36CBD084-3F93-FD8E-2F17-EE24F0899BC8}"/>
    <pc:docChg chg="modSld">
      <pc:chgData name="Joel Collins" userId="S::joel.collins@intelia.com.au::d3ae1526-77cd-4d01-b42b-68ae1cb060b9" providerId="AD" clId="Web-{36CBD084-3F93-FD8E-2F17-EE24F0899BC8}" dt="2025-08-10T22:09:46.368" v="37" actId="20577"/>
      <pc:docMkLst>
        <pc:docMk/>
      </pc:docMkLst>
      <pc:sldChg chg="modSp">
        <pc:chgData name="Joel Collins" userId="S::joel.collins@intelia.com.au::d3ae1526-77cd-4d01-b42b-68ae1cb060b9" providerId="AD" clId="Web-{36CBD084-3F93-FD8E-2F17-EE24F0899BC8}" dt="2025-08-10T22:09:46.368" v="37" actId="20577"/>
        <pc:sldMkLst>
          <pc:docMk/>
          <pc:sldMk cId="2009923557" sldId="270"/>
        </pc:sldMkLst>
        <pc:spChg chg="mod">
          <ac:chgData name="Joel Collins" userId="S::joel.collins@intelia.com.au::d3ae1526-77cd-4d01-b42b-68ae1cb060b9" providerId="AD" clId="Web-{36CBD084-3F93-FD8E-2F17-EE24F0899BC8}" dt="2025-08-10T22:09:46.368" v="37" actId="20577"/>
          <ac:spMkLst>
            <pc:docMk/>
            <pc:sldMk cId="2009923557" sldId="270"/>
            <ac:spMk id="34" creationId="{43536914-D7FE-0F22-C18B-A5D89F6503CF}"/>
          </ac:spMkLst>
        </pc:spChg>
      </pc:sldChg>
    </pc:docChg>
  </pc:docChgLst>
  <pc:docChgLst>
    <pc:chgData name="Darcy Roach" userId="ba676ee9-e9b4-49e8-a515-8077106c948d" providerId="ADAL" clId="{0A03B238-0F4C-4DCC-AFAC-0D2DA726630E}"/>
    <pc:docChg chg="undo custSel modSld">
      <pc:chgData name="Darcy Roach" userId="ba676ee9-e9b4-49e8-a515-8077106c948d" providerId="ADAL" clId="{0A03B238-0F4C-4DCC-AFAC-0D2DA726630E}" dt="2025-08-06T00:57:01.655" v="1038" actId="20577"/>
      <pc:docMkLst>
        <pc:docMk/>
      </pc:docMkLst>
      <pc:sldChg chg="delSp modSp mod modNotesTx">
        <pc:chgData name="Darcy Roach" userId="ba676ee9-e9b4-49e8-a515-8077106c948d" providerId="ADAL" clId="{0A03B238-0F4C-4DCC-AFAC-0D2DA726630E}" dt="2025-08-06T00:57:01.655" v="1038" actId="20577"/>
        <pc:sldMkLst>
          <pc:docMk/>
          <pc:sldMk cId="2009923557" sldId="270"/>
        </pc:sldMkLst>
        <pc:spChg chg="mod">
          <ac:chgData name="Darcy Roach" userId="ba676ee9-e9b4-49e8-a515-8077106c948d" providerId="ADAL" clId="{0A03B238-0F4C-4DCC-AFAC-0D2DA726630E}" dt="2025-08-06T00:45:10.729" v="833" actId="20577"/>
          <ac:spMkLst>
            <pc:docMk/>
            <pc:sldMk cId="2009923557" sldId="270"/>
            <ac:spMk id="4" creationId="{80F49B2F-21D4-F9EB-049F-717A10CB7D84}"/>
          </ac:spMkLst>
        </pc:spChg>
        <pc:spChg chg="mod">
          <ac:chgData name="Darcy Roach" userId="ba676ee9-e9b4-49e8-a515-8077106c948d" providerId="ADAL" clId="{0A03B238-0F4C-4DCC-AFAC-0D2DA726630E}" dt="2025-08-06T00:56:50.262" v="1010" actId="20577"/>
          <ac:spMkLst>
            <pc:docMk/>
            <pc:sldMk cId="2009923557" sldId="270"/>
            <ac:spMk id="6" creationId="{701E125D-B356-8A2A-B86B-AB6567CEABE1}"/>
          </ac:spMkLst>
        </pc:spChg>
        <pc:spChg chg="mod">
          <ac:chgData name="Darcy Roach" userId="ba676ee9-e9b4-49e8-a515-8077106c948d" providerId="ADAL" clId="{0A03B238-0F4C-4DCC-AFAC-0D2DA726630E}" dt="2025-08-06T00:44:11.564" v="799" actId="1076"/>
          <ac:spMkLst>
            <pc:docMk/>
            <pc:sldMk cId="2009923557" sldId="270"/>
            <ac:spMk id="8" creationId="{59FEB941-5146-6B10-4E4D-8A4ADE918AEF}"/>
          </ac:spMkLst>
        </pc:spChg>
        <pc:spChg chg="mod">
          <ac:chgData name="Darcy Roach" userId="ba676ee9-e9b4-49e8-a515-8077106c948d" providerId="ADAL" clId="{0A03B238-0F4C-4DCC-AFAC-0D2DA726630E}" dt="2025-08-06T00:35:45.289" v="602" actId="20577"/>
          <ac:spMkLst>
            <pc:docMk/>
            <pc:sldMk cId="2009923557" sldId="270"/>
            <ac:spMk id="9" creationId="{8BF88D81-5535-9CA4-E956-E5A6096E59DC}"/>
          </ac:spMkLst>
        </pc:spChg>
        <pc:spChg chg="mod">
          <ac:chgData name="Darcy Roach" userId="ba676ee9-e9b4-49e8-a515-8077106c948d" providerId="ADAL" clId="{0A03B238-0F4C-4DCC-AFAC-0D2DA726630E}" dt="2025-08-06T00:57:01.655" v="1038" actId="20577"/>
          <ac:spMkLst>
            <pc:docMk/>
            <pc:sldMk cId="2009923557" sldId="270"/>
            <ac:spMk id="12" creationId="{71E8655A-9388-59BA-F0D8-754D1DA66332}"/>
          </ac:spMkLst>
        </pc:spChg>
        <pc:spChg chg="mod">
          <ac:chgData name="Darcy Roach" userId="ba676ee9-e9b4-49e8-a515-8077106c948d" providerId="ADAL" clId="{0A03B238-0F4C-4DCC-AFAC-0D2DA726630E}" dt="2025-08-05T23:17:00.894" v="23" actId="20577"/>
          <ac:spMkLst>
            <pc:docMk/>
            <pc:sldMk cId="2009923557" sldId="270"/>
            <ac:spMk id="13" creationId="{FD2720C9-A79F-BD7F-E179-674AD67D7892}"/>
          </ac:spMkLst>
        </pc:spChg>
        <pc:spChg chg="mod">
          <ac:chgData name="Darcy Roach" userId="ba676ee9-e9b4-49e8-a515-8077106c948d" providerId="ADAL" clId="{0A03B238-0F4C-4DCC-AFAC-0D2DA726630E}" dt="2025-08-06T00:56:17.736" v="969" actId="1036"/>
          <ac:spMkLst>
            <pc:docMk/>
            <pc:sldMk cId="2009923557" sldId="270"/>
            <ac:spMk id="22" creationId="{9D4E289E-1D52-CBDD-E381-40963429D7F1}"/>
          </ac:spMkLst>
        </pc:spChg>
        <pc:spChg chg="mod">
          <ac:chgData name="Darcy Roach" userId="ba676ee9-e9b4-49e8-a515-8077106c948d" providerId="ADAL" clId="{0A03B238-0F4C-4DCC-AFAC-0D2DA726630E}" dt="2025-08-06T00:20:49.392" v="520" actId="20577"/>
          <ac:spMkLst>
            <pc:docMk/>
            <pc:sldMk cId="2009923557" sldId="270"/>
            <ac:spMk id="26" creationId="{1A3D666D-00C8-D106-73C3-9FF300F8618C}"/>
          </ac:spMkLst>
        </pc:spChg>
        <pc:spChg chg="mod">
          <ac:chgData name="Darcy Roach" userId="ba676ee9-e9b4-49e8-a515-8077106c948d" providerId="ADAL" clId="{0A03B238-0F4C-4DCC-AFAC-0D2DA726630E}" dt="2025-08-06T00:50:31.542" v="927" actId="20577"/>
          <ac:spMkLst>
            <pc:docMk/>
            <pc:sldMk cId="2009923557" sldId="270"/>
            <ac:spMk id="34" creationId="{43536914-D7FE-0F22-C18B-A5D89F6503CF}"/>
          </ac:spMkLst>
        </pc:spChg>
        <pc:spChg chg="mod">
          <ac:chgData name="Darcy Roach" userId="ba676ee9-e9b4-49e8-a515-8077106c948d" providerId="ADAL" clId="{0A03B238-0F4C-4DCC-AFAC-0D2DA726630E}" dt="2025-08-06T00:39:34.919" v="793" actId="20577"/>
          <ac:spMkLst>
            <pc:docMk/>
            <pc:sldMk cId="2009923557" sldId="270"/>
            <ac:spMk id="38" creationId="{AB47A2EE-BF0B-DB05-8B7C-DB6594B2B3D5}"/>
          </ac:spMkLst>
        </pc:spChg>
        <pc:spChg chg="mod">
          <ac:chgData name="Darcy Roach" userId="ba676ee9-e9b4-49e8-a515-8077106c948d" providerId="ADAL" clId="{0A03B238-0F4C-4DCC-AFAC-0D2DA726630E}" dt="2025-08-06T00:51:27.817" v="954" actId="1076"/>
          <ac:spMkLst>
            <pc:docMk/>
            <pc:sldMk cId="2009923557" sldId="270"/>
            <ac:spMk id="39" creationId="{3EA81938-6A76-B850-B0E8-A5F905AEBA98}"/>
          </ac:spMkLst>
        </pc:spChg>
        <pc:spChg chg="mod">
          <ac:chgData name="Darcy Roach" userId="ba676ee9-e9b4-49e8-a515-8077106c948d" providerId="ADAL" clId="{0A03B238-0F4C-4DCC-AFAC-0D2DA726630E}" dt="2025-08-06T00:51:41.429" v="957" actId="1076"/>
          <ac:spMkLst>
            <pc:docMk/>
            <pc:sldMk cId="2009923557" sldId="270"/>
            <ac:spMk id="173" creationId="{994303C8-DFEA-5175-3E9D-3727861435B6}"/>
          </ac:spMkLst>
        </pc:spChg>
        <pc:spChg chg="mod">
          <ac:chgData name="Darcy Roach" userId="ba676ee9-e9b4-49e8-a515-8077106c948d" providerId="ADAL" clId="{0A03B238-0F4C-4DCC-AFAC-0D2DA726630E}" dt="2025-08-06T00:56:35.459" v="982" actId="20577"/>
          <ac:spMkLst>
            <pc:docMk/>
            <pc:sldMk cId="2009923557" sldId="270"/>
            <ac:spMk id="175" creationId="{B9775FC7-7124-8CCA-9B1C-7CCD7D3DF384}"/>
          </ac:spMkLst>
        </pc:spChg>
        <pc:grpChg chg="mod">
          <ac:chgData name="Darcy Roach" userId="ba676ee9-e9b4-49e8-a515-8077106c948d" providerId="ADAL" clId="{0A03B238-0F4C-4DCC-AFAC-0D2DA726630E}" dt="2025-08-06T00:44:04.578" v="798" actId="1076"/>
          <ac:grpSpMkLst>
            <pc:docMk/>
            <pc:sldMk cId="2009923557" sldId="270"/>
            <ac:grpSpMk id="2" creationId="{69CD73AD-37BE-CE99-424E-8286EA039856}"/>
          </ac:grpSpMkLst>
        </pc:grpChg>
        <pc:grpChg chg="mod">
          <ac:chgData name="Darcy Roach" userId="ba676ee9-e9b4-49e8-a515-8077106c948d" providerId="ADAL" clId="{0A03B238-0F4C-4DCC-AFAC-0D2DA726630E}" dt="2025-08-06T00:51:27.817" v="954" actId="1076"/>
          <ac:grpSpMkLst>
            <pc:docMk/>
            <pc:sldMk cId="2009923557" sldId="270"/>
            <ac:grpSpMk id="5" creationId="{980A06B1-0A2F-7DF6-91DB-0F6DFA896A23}"/>
          </ac:grpSpMkLst>
        </pc:grpChg>
        <pc:cxnChg chg="mod">
          <ac:chgData name="Darcy Roach" userId="ba676ee9-e9b4-49e8-a515-8077106c948d" providerId="ADAL" clId="{0A03B238-0F4C-4DCC-AFAC-0D2DA726630E}" dt="2025-08-06T00:43:54.439" v="797" actId="1076"/>
          <ac:cxnSpMkLst>
            <pc:docMk/>
            <pc:sldMk cId="2009923557" sldId="270"/>
            <ac:cxnSpMk id="3" creationId="{67C34E10-2CF8-9BCA-1CC6-D78A3FF9CA80}"/>
          </ac:cxnSpMkLst>
        </pc:cxnChg>
        <pc:cxnChg chg="mod">
          <ac:chgData name="Darcy Roach" userId="ba676ee9-e9b4-49e8-a515-8077106c948d" providerId="ADAL" clId="{0A03B238-0F4C-4DCC-AFAC-0D2DA726630E}" dt="2025-08-06T00:35:53.427" v="603" actId="14100"/>
          <ac:cxnSpMkLst>
            <pc:docMk/>
            <pc:sldMk cId="2009923557" sldId="270"/>
            <ac:cxnSpMk id="10" creationId="{6260F2C2-2BAD-8746-08BD-953DBDF86432}"/>
          </ac:cxnSpMkLst>
        </pc:cxnChg>
        <pc:cxnChg chg="mod">
          <ac:chgData name="Darcy Roach" userId="ba676ee9-e9b4-49e8-a515-8077106c948d" providerId="ADAL" clId="{0A03B238-0F4C-4DCC-AFAC-0D2DA726630E}" dt="2025-08-06T00:51:41.429" v="957" actId="1076"/>
          <ac:cxnSpMkLst>
            <pc:docMk/>
            <pc:sldMk cId="2009923557" sldId="270"/>
            <ac:cxnSpMk id="25" creationId="{F7D64658-1F62-2EE9-AB01-2FD4F7E2D84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749701C-9EBA-40CC-BD8B-4D7BF0D0B926}" type="datetimeFigureOut">
              <a:rPr lang="en-AU" smtClean="0"/>
              <a:t>10/08/2025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E10FD8D-36A7-4698-B581-E0FE1ADD2359}" type="slidenum">
              <a:rPr lang="en-AU" smtClean="0"/>
              <a:t>‹#›</a:t>
            </a:fld>
            <a:endParaRPr lang="en-AU"/>
          </a:p>
        </p:txBody>
      </p:sp>
    </p:spTree>
    <p:extLst>
      <p:ext uri="{BB962C8B-B14F-4D97-AF65-F5344CB8AC3E}">
        <p14:creationId xmlns:p14="http://schemas.microsoft.com/office/powerpoint/2010/main" val="4119793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AU" dirty="0"/>
          </a:p>
        </p:txBody>
      </p:sp>
      <p:sp>
        <p:nvSpPr>
          <p:cNvPr id="4" name="Slide Number Placeholder 3"/>
          <p:cNvSpPr>
            <a:spLocks noGrp="1"/>
          </p:cNvSpPr>
          <p:nvPr>
            <p:ph type="sldNum" sz="quarter" idx="5"/>
          </p:nvPr>
        </p:nvSpPr>
        <p:spPr/>
        <p:txBody>
          <a:bodyPr/>
          <a:lstStyle/>
          <a:p>
            <a:fld id="{9E10FD8D-36A7-4698-B581-E0FE1ADD2359}" type="slidenum">
              <a:rPr lang="en-AU" smtClean="0"/>
              <a:t>1</a:t>
            </a:fld>
            <a:endParaRPr lang="en-AU"/>
          </a:p>
        </p:txBody>
      </p:sp>
    </p:spTree>
    <p:extLst>
      <p:ext uri="{BB962C8B-B14F-4D97-AF65-F5344CB8AC3E}">
        <p14:creationId xmlns:p14="http://schemas.microsoft.com/office/powerpoint/2010/main" val="2580453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8/10/2025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8/10/2025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8/10/2025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8/10/2025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9CD73AD-37BE-CE99-424E-8286EA039856}"/>
              </a:ext>
            </a:extLst>
          </p:cNvPr>
          <p:cNvGrpSpPr/>
          <p:nvPr/>
        </p:nvGrpSpPr>
        <p:grpSpPr>
          <a:xfrm>
            <a:off x="3425115" y="4028266"/>
            <a:ext cx="4572309" cy="3508653"/>
            <a:chOff x="5030740" y="2225627"/>
            <a:chExt cx="4883932" cy="3508653"/>
          </a:xfrm>
        </p:grpSpPr>
        <p:sp>
          <p:nvSpPr>
            <p:cNvPr id="9" name="TextBox 8">
              <a:extLst>
                <a:ext uri="{FF2B5EF4-FFF2-40B4-BE49-F238E27FC236}">
                  <a16:creationId xmlns:a16="http://schemas.microsoft.com/office/drawing/2014/main" id="{8BF88D81-5535-9CA4-E956-E5A6096E59DC}"/>
                </a:ext>
              </a:extLst>
            </p:cNvPr>
            <p:cNvSpPr txBox="1"/>
            <p:nvPr/>
          </p:nvSpPr>
          <p:spPr>
            <a:xfrm>
              <a:off x="5059474" y="2225627"/>
              <a:ext cx="4855198" cy="3508653"/>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latin typeface="Roboto Light"/>
                  <a:ea typeface="Roboto Light"/>
                  <a:cs typeface="Roboto Light"/>
                </a:rPr>
                <a:t>Containerised applications using Docker and published images to AWS Elastic Container Registry (ECR)</a:t>
              </a:r>
            </a:p>
            <a:p>
              <a:r>
                <a:rPr lang="en-AU" sz="1000" dirty="0">
                  <a:latin typeface="Roboto Light"/>
                  <a:ea typeface="Roboto Light"/>
                  <a:cs typeface="Roboto Light"/>
                </a:rPr>
                <a:t>Provisioned and managed virtual servers using Amazon EC2 for scalable infrastructure</a:t>
              </a:r>
            </a:p>
            <a:p>
              <a:r>
                <a:rPr lang="en-AU" sz="1000" dirty="0">
                  <a:latin typeface="Roboto Light"/>
                  <a:ea typeface="Roboto Light"/>
                  <a:cs typeface="Roboto Light"/>
                </a:rPr>
                <a:t>Deployed services with ECS </a:t>
              </a:r>
              <a:r>
                <a:rPr lang="en-AU" sz="1000" dirty="0" err="1">
                  <a:latin typeface="Roboto Light"/>
                  <a:ea typeface="Roboto Light"/>
                  <a:cs typeface="Roboto Light"/>
                </a:rPr>
                <a:t>Fargate</a:t>
              </a:r>
              <a:r>
                <a:rPr lang="en-AU" sz="1000" dirty="0">
                  <a:latin typeface="Roboto Light"/>
                  <a:ea typeface="Roboto Light"/>
                  <a:cs typeface="Roboto Light"/>
                </a:rPr>
                <a:t> and configured Auto Scaling policies to enhance availability and resource efficiency</a:t>
              </a:r>
            </a:p>
            <a:p>
              <a:r>
                <a:rPr lang="en-AU" sz="1000" dirty="0">
                  <a:latin typeface="Roboto Light"/>
                  <a:ea typeface="Roboto Light"/>
                  <a:cs typeface="Roboto Light"/>
                </a:rPr>
                <a:t>Strengthened web application security using AWS Secrets Manager, NAT gateways, Application Load Balancer (ALB), VPC, Network ACLs, and Security Groups</a:t>
              </a:r>
            </a:p>
            <a:p>
              <a:r>
                <a:rPr lang="en-AU" sz="1000" dirty="0">
                  <a:latin typeface="Roboto Light"/>
                  <a:ea typeface="Roboto Light"/>
                  <a:cs typeface="Roboto Light"/>
                </a:rPr>
                <a:t>Implemented ACM SSL certificates on ALB and CloudFront to enhance user trust and secure traffic with HTTPS</a:t>
              </a:r>
            </a:p>
            <a:p>
              <a:r>
                <a:rPr lang="en-AU" sz="1000" dirty="0">
                  <a:latin typeface="Roboto Light"/>
                  <a:ea typeface="Roboto Light"/>
                  <a:cs typeface="Roboto Light"/>
                </a:rPr>
                <a:t>Accelerated deployment cycles by building GitHub Actions workflows for automated CI/CD</a:t>
              </a:r>
            </a:p>
            <a:p>
              <a:r>
                <a:rPr lang="en-AU" sz="1000" dirty="0">
                  <a:latin typeface="Roboto Light"/>
                  <a:ea typeface="Roboto Light"/>
                  <a:cs typeface="Roboto Light"/>
                </a:rPr>
                <a:t>Enhanced pipeline security and compliance by introducing OIDC integration and incorporating Lint, </a:t>
              </a:r>
              <a:r>
                <a:rPr lang="en-AU" sz="1000" dirty="0" err="1">
                  <a:latin typeface="Roboto Light"/>
                  <a:ea typeface="Roboto Light"/>
                  <a:cs typeface="Roboto Light"/>
                </a:rPr>
                <a:t>CodeQL</a:t>
              </a:r>
              <a:r>
                <a:rPr lang="en-AU" sz="1000" dirty="0">
                  <a:latin typeface="Roboto Light"/>
                  <a:ea typeface="Roboto Light"/>
                  <a:cs typeface="Roboto Light"/>
                </a:rPr>
                <a:t>, and </a:t>
              </a:r>
              <a:r>
                <a:rPr lang="en-AU" sz="1000" dirty="0" err="1">
                  <a:latin typeface="Roboto Light"/>
                  <a:ea typeface="Roboto Light"/>
                  <a:cs typeface="Roboto Light"/>
                </a:rPr>
                <a:t>Trivy</a:t>
              </a:r>
              <a:r>
                <a:rPr lang="en-AU" sz="1000" dirty="0">
                  <a:latin typeface="Roboto Light"/>
                  <a:ea typeface="Roboto Light"/>
                  <a:cs typeface="Roboto Light"/>
                </a:rPr>
                <a:t> scans</a:t>
              </a:r>
            </a:p>
            <a:p>
              <a:r>
                <a:rPr lang="en-AU" sz="1000" dirty="0">
                  <a:latin typeface="Roboto Light"/>
                  <a:ea typeface="Roboto Light"/>
                  <a:cs typeface="Roboto Light"/>
                </a:rPr>
                <a:t>Improved infrastructure consistency and security by managing resources with Terraform, integrated into CI/CD pipelines with </a:t>
              </a:r>
              <a:r>
                <a:rPr lang="en-AU" sz="1000" dirty="0" err="1">
                  <a:latin typeface="Roboto Light"/>
                  <a:ea typeface="Roboto Light"/>
                  <a:cs typeface="Roboto Light"/>
                </a:rPr>
                <a:t>Terrascan</a:t>
              </a:r>
              <a:r>
                <a:rPr lang="en-AU" sz="1000" dirty="0">
                  <a:latin typeface="Roboto Light"/>
                  <a:ea typeface="Roboto Light"/>
                  <a:cs typeface="Roboto Light"/>
                </a:rPr>
                <a:t> for policy checks</a:t>
              </a:r>
            </a:p>
            <a:p>
              <a:r>
                <a:rPr lang="en-AU" sz="1000" dirty="0">
                  <a:latin typeface="Roboto Light"/>
                  <a:ea typeface="Roboto Light"/>
                  <a:cs typeface="Roboto Light"/>
                </a:rPr>
                <a:t>Built a centralised monitoring and alerting system using AWS CloudWatch, Grafana, and CloudTrail; collaborated with developers to troubleshoot issues using log insights</a:t>
              </a:r>
            </a:p>
            <a:p>
              <a:endParaRPr lang="en-AU" sz="1000" dirty="0"/>
            </a:p>
          </p:txBody>
        </p:sp>
        <p:cxnSp>
          <p:nvCxnSpPr>
            <p:cNvPr id="10" name="Straight Connector 9">
              <a:extLst>
                <a:ext uri="{FF2B5EF4-FFF2-40B4-BE49-F238E27FC236}">
                  <a16:creationId xmlns:a16="http://schemas.microsoft.com/office/drawing/2014/main" id="{6260F2C2-2BAD-8746-08BD-953DBDF86432}"/>
                </a:ext>
              </a:extLst>
            </p:cNvPr>
            <p:cNvCxnSpPr>
              <a:cxnSpLocks/>
            </p:cNvCxnSpPr>
            <p:nvPr/>
          </p:nvCxnSpPr>
          <p:spPr>
            <a:xfrm>
              <a:off x="5030740" y="2294036"/>
              <a:ext cx="0" cy="319380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75" name="TextBox 174">
            <a:extLst>
              <a:ext uri="{FF2B5EF4-FFF2-40B4-BE49-F238E27FC236}">
                <a16:creationId xmlns:a16="http://schemas.microsoft.com/office/drawing/2014/main" id="{B9775FC7-7124-8CCA-9B1C-7CCD7D3DF384}"/>
              </a:ext>
            </a:extLst>
          </p:cNvPr>
          <p:cNvSpPr txBox="1"/>
          <p:nvPr/>
        </p:nvSpPr>
        <p:spPr>
          <a:xfrm>
            <a:off x="8118489" y="1530265"/>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Education</a:t>
            </a:r>
          </a:p>
          <a:p>
            <a:pPr marL="0" indent="0">
              <a:lnSpc>
                <a:spcPct val="150000"/>
              </a:lnSpc>
              <a:buNone/>
            </a:pPr>
            <a:r>
              <a:rPr lang="en-GB" sz="1200" dirty="0">
                <a:solidFill>
                  <a:srgbClr val="00AB80"/>
                </a:solidFill>
              </a:rPr>
              <a:t>Media</a:t>
            </a:r>
          </a:p>
          <a:p>
            <a:pPr marL="0" indent="0">
              <a:lnSpc>
                <a:spcPct val="150000"/>
              </a:lnSpc>
              <a:buNone/>
            </a:pPr>
            <a:r>
              <a:rPr lang="en-GB" sz="1200" dirty="0">
                <a:solidFill>
                  <a:srgbClr val="00AB80"/>
                </a:solidFill>
              </a:rPr>
              <a:t>Entertainment</a:t>
            </a:r>
          </a:p>
          <a:p>
            <a:pPr marL="0" indent="0">
              <a:lnSpc>
                <a:spcPct val="150000"/>
              </a:lnSpc>
              <a:buNone/>
            </a:pPr>
            <a:r>
              <a:rPr lang="en-GB" sz="1200" dirty="0">
                <a:solidFill>
                  <a:srgbClr val="00AB80"/>
                </a:solidFill>
              </a:rPr>
              <a:t>Consulting</a:t>
            </a: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Chao </a:t>
            </a:r>
          </a:p>
          <a:p>
            <a:r>
              <a:rPr lang="en-US" sz="2800" b="1" dirty="0">
                <a:solidFill>
                  <a:srgbClr val="00AB80"/>
                </a:solidFill>
                <a:latin typeface="Roboto" panose="02000000000000000000" pitchFamily="2" charset="0"/>
                <a:ea typeface="Roboto" panose="02000000000000000000" pitchFamily="2" charset="0"/>
              </a:rPr>
              <a:t>Sun</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91123"/>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a:ea typeface="Roboto Light"/>
                <a:cs typeface="Lato"/>
              </a:rPr>
              <a:t>Senior Consultant</a:t>
            </a:r>
            <a:endPar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endParaRP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21698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CloudSQL</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Github</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Jenkins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Ansible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Bash</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Docker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Mongo DB</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78479"/>
            <a:ext cx="0" cy="208423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38803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45663"/>
            <a:ext cx="0" cy="639941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954361"/>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527333"/>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603479"/>
            <a:ext cx="1951941" cy="2123658"/>
            <a:chOff x="8106458" y="2681447"/>
            <a:chExt cx="1951941" cy="212365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12365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AWS | Certified Solutions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Masters | Business Administration and Management, General - University of Tasmania</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Accounting, La Trobe University</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47849"/>
            <a:ext cx="1467504"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AWS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Azure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DevOps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Cloud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Cloud Security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Cloud Monitoring</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70" y="1146052"/>
            <a:ext cx="4631164" cy="276999"/>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Australian Financial Services </a:t>
            </a:r>
            <a:r>
              <a:rPr lang="en-US" sz="1200" b="1" dirty="0" err="1">
                <a:solidFill>
                  <a:srgbClr val="0059FF"/>
                </a:solidFill>
                <a:latin typeface="Roboto"/>
                <a:ea typeface="Roboto"/>
                <a:cs typeface="Roboto"/>
              </a:rPr>
              <a:t>Organisation</a:t>
            </a:r>
            <a:r>
              <a:rPr lang="en-AU" sz="1200" b="1" dirty="0">
                <a:solidFill>
                  <a:srgbClr val="0059FF"/>
                </a:solidFill>
                <a:latin typeface="Roboto"/>
                <a:ea typeface="Roboto"/>
                <a:cs typeface="Roboto"/>
              </a:rPr>
              <a:t> – Cloud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4" y="1351514"/>
            <a:ext cx="4488473" cy="2277547"/>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Designed and managed reusable Terraform modules, leveraging both custom-built and official modules for provisioning AWS and GCP resources</a:t>
            </a:r>
          </a:p>
          <a:p>
            <a:r>
              <a:rPr lang="en-AU" sz="1000" dirty="0">
                <a:solidFill>
                  <a:schemeClr val="bg1"/>
                </a:solidFill>
              </a:rPr>
              <a:t>Managed and maintained Amazon EKS and Google GKE clusters across multiple environments</a:t>
            </a:r>
          </a:p>
          <a:p>
            <a:r>
              <a:rPr lang="en-AU" sz="1000" dirty="0">
                <a:solidFill>
                  <a:schemeClr val="bg1"/>
                </a:solidFill>
              </a:rPr>
              <a:t>Performed Kubernetes cluster upgrades (control plane &amp; node groups) and component upgrades (including AWS load-balancer-controller, Ingress Controller, Cert-manager, Prometheus, Grafana, </a:t>
            </a:r>
            <a:r>
              <a:rPr lang="en-AU" sz="1000" dirty="0" err="1">
                <a:solidFill>
                  <a:schemeClr val="bg1"/>
                </a:solidFill>
              </a:rPr>
              <a:t>Fluentd</a:t>
            </a:r>
            <a:r>
              <a:rPr lang="en-AU" sz="1000" dirty="0">
                <a:solidFill>
                  <a:schemeClr val="bg1"/>
                </a:solidFill>
              </a:rPr>
              <a:t>, External-DNS, Calico, Argo-workflows, AWS node-termination-handler)</a:t>
            </a:r>
          </a:p>
          <a:p>
            <a:r>
              <a:rPr lang="en-AU" sz="1000" dirty="0">
                <a:solidFill>
                  <a:schemeClr val="bg1"/>
                </a:solidFill>
              </a:rPr>
              <a:t>Responded to P1 and P2 incidents, ensuring rapid resolution and post-incident follow-ups</a:t>
            </a:r>
          </a:p>
          <a:p>
            <a:r>
              <a:rPr lang="en-AU" sz="1000" dirty="0">
                <a:solidFill>
                  <a:schemeClr val="bg1"/>
                </a:solidFill>
              </a:rPr>
              <a:t>Developed and maintained Helm charts and Docker images to standardise and streamline application deployment across Kubernetes clusters for internal teams</a:t>
            </a:r>
          </a:p>
        </p:txBody>
      </p:sp>
      <p:sp>
        <p:nvSpPr>
          <p:cNvPr id="34" name="TextBox 33">
            <a:extLst>
              <a:ext uri="{FF2B5EF4-FFF2-40B4-BE49-F238E27FC236}">
                <a16:creationId xmlns:a16="http://schemas.microsoft.com/office/drawing/2014/main" id="{43536914-D7FE-0F22-C18B-A5D89F6503CF}"/>
              </a:ext>
            </a:extLst>
          </p:cNvPr>
          <p:cNvSpPr txBox="1"/>
          <p:nvPr/>
        </p:nvSpPr>
        <p:spPr>
          <a:xfrm>
            <a:off x="259401" y="1530265"/>
            <a:ext cx="2935795" cy="3818353"/>
          </a:xfrm>
          <a:prstGeom prst="rect">
            <a:avLst/>
          </a:prstGeom>
          <a:noFill/>
        </p:spPr>
        <p:txBody>
          <a:bodyPr wrap="square" lIns="0" tIns="0" rIns="0" bIns="0" rtlCol="0" anchor="t">
            <a:spAutoFit/>
          </a:bodyPr>
          <a:lstStyle/>
          <a:p>
            <a:pPr>
              <a:lnSpc>
                <a:spcPts val="1500"/>
              </a:lnSpc>
            </a:pPr>
            <a:r>
              <a:rPr lang="en-AU" sz="1000" spc="13" dirty="0">
                <a:latin typeface="Roboto Light"/>
                <a:ea typeface="Roboto Light"/>
                <a:cs typeface="Lato"/>
              </a:rPr>
              <a:t>Chao is an experienced DevOps &amp; Cloud Engineer who specialises in automating, optimising, and supporting cloud-based deployments. Holding Google Cloud Engineer and AWS Certified Solutions Engineer certification, he leverages his expertise in configuration management, CI/CD pipelines, and DevOps best practices to streamline software delivery and improve operational efficiency. Chao has hands-on experience with a broad range of tools and technologies, including GCP, AWS, Docker, Ansible, and Jenkins, which he has utilised to manage cloud infrastructure, build robust deployment workflows, and drive automation across development lifecycles.</a:t>
            </a:r>
          </a:p>
          <a:p>
            <a:pPr>
              <a:lnSpc>
                <a:spcPts val="1500"/>
              </a:lnSpc>
            </a:pPr>
            <a:endParaRPr lang="en-AU" sz="1000" spc="13" dirty="0">
              <a:latin typeface="Roboto Light"/>
              <a:ea typeface="Roboto Light"/>
              <a:cs typeface="Lato"/>
            </a:endParaRPr>
          </a:p>
          <a:p>
            <a:pPr>
              <a:lnSpc>
                <a:spcPts val="1500"/>
              </a:lnSpc>
            </a:pPr>
            <a:r>
              <a:rPr lang="en-AU" sz="1000" spc="13" dirty="0">
                <a:latin typeface="Roboto Light"/>
                <a:ea typeface="Roboto Light"/>
                <a:cs typeface="Lato"/>
              </a:rPr>
              <a:t>Chao is dedicated to optimising the development lifecycle and continually seeks out new technologies and skills to help organisations achieve their strategic goals.</a:t>
            </a:r>
          </a:p>
          <a:p>
            <a:pPr>
              <a:lnSpc>
                <a:spcPts val="1500"/>
              </a:lnSpc>
            </a:pPr>
            <a:endParaRPr lang="en-AU" sz="600" spc="13" dirty="0">
              <a:latin typeface="Roboto Light"/>
              <a:ea typeface="Roboto Light"/>
              <a:cs typeface="Lato"/>
            </a:endParaRPr>
          </a:p>
        </p:txBody>
      </p:sp>
      <p:sp>
        <p:nvSpPr>
          <p:cNvPr id="12" name="TextBox 11">
            <a:extLst>
              <a:ext uri="{FF2B5EF4-FFF2-40B4-BE49-F238E27FC236}">
                <a16:creationId xmlns:a16="http://schemas.microsoft.com/office/drawing/2014/main" id="{71E8655A-9388-59BA-F0D8-754D1DA66332}"/>
              </a:ext>
            </a:extLst>
          </p:cNvPr>
          <p:cNvSpPr txBox="1"/>
          <p:nvPr/>
        </p:nvSpPr>
        <p:spPr>
          <a:xfrm>
            <a:off x="3332724" y="3801567"/>
            <a:ext cx="4591676" cy="276999"/>
          </a:xfrm>
          <a:prstGeom prst="rect">
            <a:avLst/>
          </a:prstGeom>
          <a:noFill/>
        </p:spPr>
        <p:txBody>
          <a:bodyPr wrap="square" lIns="91440" tIns="45720" rIns="91440" bIns="45720" rtlCol="0" anchor="t">
            <a:spAutoFit/>
          </a:bodyPr>
          <a:lstStyle/>
          <a:p>
            <a:r>
              <a:rPr lang="en-AU" sz="1200" b="1" dirty="0">
                <a:solidFill>
                  <a:srgbClr val="ED7D31"/>
                </a:solidFill>
                <a:latin typeface="Roboto"/>
                <a:ea typeface="Roboto"/>
                <a:cs typeface="Roboto"/>
              </a:rPr>
              <a:t>Australian Tertiary Education Organisation – DevOps Engineer</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34DEBD-EF7F-418D-BEA7-68DB4E533249}">
  <ds:schemaRefs>
    <ds:schemaRef ds:uri="http://schemas.microsoft.com/office/2006/documentManagement/types"/>
    <ds:schemaRef ds:uri="http://purl.org/dc/terms/"/>
    <ds:schemaRef ds:uri="http://purl.org/dc/elements/1.1/"/>
    <ds:schemaRef ds:uri="daf93972-1964-4522-aa34-640805a01c3a"/>
    <ds:schemaRef ds:uri="http://www.w3.org/XML/1998/namespace"/>
    <ds:schemaRef ds:uri="http://schemas.microsoft.com/office/infopath/2007/PartnerControls"/>
    <ds:schemaRef ds:uri="e52cd9e7-35e5-4bd3-9cab-ca6a63c31e52"/>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273751C5-9698-40F5-AD20-4BF57165A770}">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25800A5-016C-48F2-9776-20E979C4EE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100</TotalTime>
  <Words>488</Words>
  <Application>Microsoft Office PowerPoint</Application>
  <PresentationFormat>Custom</PresentationFormat>
  <Paragraphs>70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8</cp:revision>
  <dcterms:created xsi:type="dcterms:W3CDTF">2019-12-03T01:50:37Z</dcterms:created>
  <dcterms:modified xsi:type="dcterms:W3CDTF">2025-08-10T22:09:56Z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