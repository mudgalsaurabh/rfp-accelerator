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4"/>
  </p:sldMasterIdLst>
  <p:sldIdLst>
    <p:sldId id="256" r:id="rId5"/>
  </p:sldIdLst>
  <p:sldSz cx="18288000" cy="10287000"/>
  <p:notesSz cx="6858000" cy="9144000"/>
  <p:embeddedFontLst>
    <p:embeddedFont>
      <p:font typeface="Roboto" panose="02000000000000000000" pitchFamily="2" charset="0"/>
      <p:regular r:id="rId6"/>
      <p:bold r:id="rId7"/>
      <p:italic r:id="rId8"/>
      <p:boldItalic r:id="rId9"/>
    </p:embeddedFont>
    <p:embeddedFont>
      <p:font typeface="Roboto Bold" panose="02000000000000000000" charset="0"/>
      <p:regular r:id="rId10"/>
      <p:bold r:id="rId1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F2B3F"/>
    <a:srgbClr val="00AA7F"/>
    <a:srgbClr val="D77432"/>
    <a:srgbClr val="92337A"/>
    <a:srgbClr val="0059FF"/>
    <a:srgbClr val="EF9B6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67" d="100"/>
          <a:sy n="67" d="100"/>
        </p:scale>
        <p:origin x="84" y="7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font" Target="fonts/font3.fntdata"/><Relationship Id="rId13"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font" Target="fonts/font2.fntdata"/><Relationship Id="rId12" Type="http://schemas.openxmlformats.org/officeDocument/2006/relationships/presProps" Target="presProps.xml"/><Relationship Id="rId2" Type="http://schemas.openxmlformats.org/officeDocument/2006/relationships/customXml" Target="../customXml/item2.xml"/><Relationship Id="rId16"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font" Target="fonts/font1.fntdata"/><Relationship Id="rId11" Type="http://schemas.openxmlformats.org/officeDocument/2006/relationships/font" Target="fonts/font6.fntdata"/><Relationship Id="rId5" Type="http://schemas.openxmlformats.org/officeDocument/2006/relationships/slide" Target="slides/slide1.xml"/><Relationship Id="rId15" Type="http://schemas.openxmlformats.org/officeDocument/2006/relationships/tableStyles" Target="tableStyles.xml"/><Relationship Id="rId10" Type="http://schemas.openxmlformats.org/officeDocument/2006/relationships/font" Target="fonts/font5.fntdata"/><Relationship Id="rId4" Type="http://schemas.openxmlformats.org/officeDocument/2006/relationships/slideMaster" Target="slideMasters/slideMaster1.xml"/><Relationship Id="rId9" Type="http://schemas.openxmlformats.org/officeDocument/2006/relationships/font" Target="fonts/font4.fntdata"/><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arcy Roach" userId="ba676ee9-e9b4-49e8-a515-8077106c948d" providerId="ADAL" clId="{491076AF-459F-4660-98D1-05D43B79D51A}"/>
    <pc:docChg chg="custSel modSld">
      <pc:chgData name="Darcy Roach" userId="ba676ee9-e9b4-49e8-a515-8077106c948d" providerId="ADAL" clId="{491076AF-459F-4660-98D1-05D43B79D51A}" dt="2025-09-22T23:21:17.605" v="11" actId="20577"/>
      <pc:docMkLst>
        <pc:docMk/>
      </pc:docMkLst>
      <pc:sldChg chg="modSp mod">
        <pc:chgData name="Darcy Roach" userId="ba676ee9-e9b4-49e8-a515-8077106c948d" providerId="ADAL" clId="{491076AF-459F-4660-98D1-05D43B79D51A}" dt="2025-09-22T23:21:17.605" v="11" actId="20577"/>
        <pc:sldMkLst>
          <pc:docMk/>
          <pc:sldMk cId="0" sldId="256"/>
        </pc:sldMkLst>
        <pc:spChg chg="mod">
          <ac:chgData name="Darcy Roach" userId="ba676ee9-e9b4-49e8-a515-8077106c948d" providerId="ADAL" clId="{491076AF-459F-4660-98D1-05D43B79D51A}" dt="2025-09-22T23:21:17.605" v="11" actId="20577"/>
          <ac:spMkLst>
            <pc:docMk/>
            <pc:sldMk cId="0" sldId="256"/>
            <ac:spMk id="19" creationId="{00000000-0000-0000-0000-000000000000}"/>
          </ac:spMkLst>
        </pc:spChg>
        <pc:spChg chg="mod">
          <ac:chgData name="Darcy Roach" userId="ba676ee9-e9b4-49e8-a515-8077106c948d" providerId="ADAL" clId="{491076AF-459F-4660-98D1-05D43B79D51A}" dt="2025-09-22T23:20:59.333" v="0" actId="313"/>
          <ac:spMkLst>
            <pc:docMk/>
            <pc:sldMk cId="0" sldId="256"/>
            <ac:spMk id="27" creationId="{00000000-0000-0000-0000-000000000000}"/>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9/23/2025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9/23/2025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9/23/2025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9/23/2025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9/23/2025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9/23/2025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9/23/2025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9/23/2025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sv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9/23/2025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
        <p:nvSpPr>
          <p:cNvPr id="7" name="Freeform 2"/>
          <p:cNvSpPr/>
          <p:nvPr userDrawn="1"/>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13"/>
            <a:stretch>
              <a:fillRect t="-9675" b="-9675"/>
            </a:stretch>
          </a:blipFill>
        </p:spPr>
        <p:txBody>
          <a:bodyPr/>
          <a:lstStyle/>
          <a:p>
            <a:endParaRPr lang="en-AU"/>
          </a:p>
        </p:txBody>
      </p:sp>
      <p:sp>
        <p:nvSpPr>
          <p:cNvPr id="8" name="Freeform 7"/>
          <p:cNvSpPr/>
          <p:nvPr userDrawn="1"/>
        </p:nvSpPr>
        <p:spPr>
          <a:xfrm>
            <a:off x="16137869" y="7528219"/>
            <a:ext cx="2145775" cy="2770530"/>
          </a:xfrm>
          <a:custGeom>
            <a:avLst/>
            <a:gdLst/>
            <a:ahLst/>
            <a:cxnLst/>
            <a:rect l="l" t="t" r="r" b="b"/>
            <a:pathLst>
              <a:path w="2150131" h="2776154">
                <a:moveTo>
                  <a:pt x="0" y="0"/>
                </a:moveTo>
                <a:lnTo>
                  <a:pt x="2150131" y="0"/>
                </a:lnTo>
                <a:lnTo>
                  <a:pt x="2150131" y="2776154"/>
                </a:lnTo>
                <a:lnTo>
                  <a:pt x="0" y="2776154"/>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txBody>
          <a:bodyPr/>
          <a:lstStyle/>
          <a:p>
            <a:endParaRPr lang="en-AU"/>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utoShape 3"/>
          <p:cNvSpPr/>
          <p:nvPr/>
        </p:nvSpPr>
        <p:spPr>
          <a:xfrm flipV="1">
            <a:off x="200025" y="2552960"/>
            <a:ext cx="6493375" cy="0"/>
          </a:xfrm>
          <a:prstGeom prst="line">
            <a:avLst/>
          </a:prstGeom>
          <a:ln w="19050" cap="flat">
            <a:solidFill>
              <a:srgbClr val="0F2B3F"/>
            </a:solidFill>
            <a:prstDash val="sysDot"/>
            <a:headEnd type="none" w="sm" len="sm"/>
            <a:tailEnd type="none" w="sm" len="sm"/>
          </a:ln>
        </p:spPr>
        <p:txBody>
          <a:bodyPr/>
          <a:lstStyle/>
          <a:p>
            <a:endParaRPr lang="en-AU"/>
          </a:p>
        </p:txBody>
      </p:sp>
      <p:sp>
        <p:nvSpPr>
          <p:cNvPr id="4" name="AutoShape 4"/>
          <p:cNvSpPr/>
          <p:nvPr/>
        </p:nvSpPr>
        <p:spPr>
          <a:xfrm flipV="1">
            <a:off x="7231789" y="778751"/>
            <a:ext cx="7629610" cy="0"/>
          </a:xfrm>
          <a:prstGeom prst="line">
            <a:avLst/>
          </a:prstGeom>
          <a:ln w="19050" cap="flat">
            <a:solidFill>
              <a:srgbClr val="0F2B3F"/>
            </a:solidFill>
            <a:prstDash val="sysDot"/>
            <a:headEnd type="none" w="sm" len="sm"/>
            <a:tailEnd type="none" w="sm" len="sm"/>
          </a:ln>
        </p:spPr>
        <p:txBody>
          <a:bodyPr/>
          <a:lstStyle/>
          <a:p>
            <a:endParaRPr lang="en-AU"/>
          </a:p>
        </p:txBody>
      </p:sp>
      <p:sp>
        <p:nvSpPr>
          <p:cNvPr id="5" name="AutoShape 5"/>
          <p:cNvSpPr/>
          <p:nvPr/>
        </p:nvSpPr>
        <p:spPr>
          <a:xfrm flipV="1">
            <a:off x="6934200" y="345438"/>
            <a:ext cx="0" cy="9566935"/>
          </a:xfrm>
          <a:prstGeom prst="line">
            <a:avLst/>
          </a:prstGeom>
          <a:ln w="19050" cap="flat">
            <a:solidFill>
              <a:srgbClr val="00AA7F"/>
            </a:solidFill>
            <a:prstDash val="sysDot"/>
            <a:headEnd type="none" w="sm" len="sm"/>
            <a:tailEnd type="none" w="sm" len="sm"/>
          </a:ln>
        </p:spPr>
        <p:txBody>
          <a:bodyPr/>
          <a:lstStyle/>
          <a:p>
            <a:endParaRPr lang="en-AU"/>
          </a:p>
        </p:txBody>
      </p:sp>
      <p:sp>
        <p:nvSpPr>
          <p:cNvPr id="6" name="AutoShape 6"/>
          <p:cNvSpPr/>
          <p:nvPr/>
        </p:nvSpPr>
        <p:spPr>
          <a:xfrm flipV="1">
            <a:off x="15329903" y="899862"/>
            <a:ext cx="0" cy="9041700"/>
          </a:xfrm>
          <a:prstGeom prst="line">
            <a:avLst/>
          </a:prstGeom>
          <a:ln w="19050" cap="flat">
            <a:solidFill>
              <a:srgbClr val="00AA7F"/>
            </a:solidFill>
            <a:prstDash val="sysDot"/>
            <a:headEnd type="none" w="sm" len="sm"/>
            <a:tailEnd type="none" w="sm" len="sm"/>
          </a:ln>
        </p:spPr>
        <p:txBody>
          <a:bodyPr/>
          <a:lstStyle/>
          <a:p>
            <a:endParaRPr lang="en-AU"/>
          </a:p>
        </p:txBody>
      </p:sp>
      <p:sp>
        <p:nvSpPr>
          <p:cNvPr id="8" name="Freeform 8"/>
          <p:cNvSpPr/>
          <p:nvPr/>
        </p:nvSpPr>
        <p:spPr>
          <a:xfrm>
            <a:off x="15588910" y="204425"/>
            <a:ext cx="2048952" cy="474651"/>
          </a:xfrm>
          <a:custGeom>
            <a:avLst/>
            <a:gdLst/>
            <a:ahLst/>
            <a:cxnLst/>
            <a:rect l="l" t="t" r="r" b="b"/>
            <a:pathLst>
              <a:path w="2048952" h="474651">
                <a:moveTo>
                  <a:pt x="0" y="0"/>
                </a:moveTo>
                <a:lnTo>
                  <a:pt x="2048952" y="0"/>
                </a:lnTo>
                <a:lnTo>
                  <a:pt x="2048952" y="474651"/>
                </a:lnTo>
                <a:lnTo>
                  <a:pt x="0" y="474651"/>
                </a:lnTo>
                <a:lnTo>
                  <a:pt x="0" y="0"/>
                </a:lnTo>
                <a:close/>
              </a:path>
            </a:pathLst>
          </a:custGeom>
          <a:blipFill>
            <a:blip r:embed="rId2"/>
            <a:stretch>
              <a:fillRect/>
            </a:stretch>
          </a:blipFill>
        </p:spPr>
        <p:txBody>
          <a:bodyPr/>
          <a:lstStyle/>
          <a:p>
            <a:endParaRPr lang="en-AU"/>
          </a:p>
        </p:txBody>
      </p:sp>
      <p:sp>
        <p:nvSpPr>
          <p:cNvPr id="9" name="TextBox 9"/>
          <p:cNvSpPr txBox="1"/>
          <p:nvPr/>
        </p:nvSpPr>
        <p:spPr>
          <a:xfrm>
            <a:off x="15568937" y="4076700"/>
            <a:ext cx="2519031" cy="4084451"/>
          </a:xfrm>
          <a:prstGeom prst="rect">
            <a:avLst/>
          </a:prstGeom>
        </p:spPr>
        <p:txBody>
          <a:bodyPr wrap="square" lIns="0" tIns="0" rIns="0" bIns="0" rtlCol="0" anchor="t">
            <a:spAutoFit/>
          </a:bodyPr>
          <a:lstStyle/>
          <a:p>
            <a:pPr algn="l">
              <a:lnSpc>
                <a:spcPts val="1959"/>
              </a:lnSpc>
            </a:pPr>
            <a:r>
              <a:rPr lang="en-US" sz="1399" b="1" dirty="0">
                <a:solidFill>
                  <a:srgbClr val="00AA7F"/>
                </a:solidFill>
                <a:latin typeface="Roboto"/>
                <a:ea typeface="Roboto"/>
                <a:cs typeface="Roboto"/>
                <a:sym typeface="Roboto"/>
              </a:rPr>
              <a:t>Microsoft | Certified Cloud Solutions Expert &amp; Associate</a:t>
            </a:r>
          </a:p>
          <a:p>
            <a:pPr algn="l">
              <a:lnSpc>
                <a:spcPts val="1959"/>
              </a:lnSpc>
            </a:pPr>
            <a:endParaRPr lang="en-US" sz="1399" b="1" dirty="0">
              <a:solidFill>
                <a:srgbClr val="00AA7F"/>
              </a:solidFill>
              <a:latin typeface="Roboto"/>
              <a:ea typeface="Roboto"/>
              <a:cs typeface="Roboto"/>
              <a:sym typeface="Roboto"/>
            </a:endParaRPr>
          </a:p>
          <a:p>
            <a:pPr>
              <a:lnSpc>
                <a:spcPts val="1959"/>
              </a:lnSpc>
            </a:pPr>
            <a:r>
              <a:rPr lang="en-US" sz="1399" b="1" dirty="0">
                <a:solidFill>
                  <a:srgbClr val="00AA7F"/>
                </a:solidFill>
                <a:latin typeface="Roboto"/>
                <a:ea typeface="Roboto"/>
                <a:cs typeface="Roboto"/>
                <a:sym typeface="Roboto"/>
              </a:rPr>
              <a:t>Microsoft | Certified Azure Fundamentals</a:t>
            </a:r>
          </a:p>
          <a:p>
            <a:pPr algn="l">
              <a:lnSpc>
                <a:spcPts val="1959"/>
              </a:lnSpc>
            </a:pPr>
            <a:endParaRPr lang="en-US" sz="1399" b="1" dirty="0">
              <a:solidFill>
                <a:srgbClr val="00AA7F"/>
              </a:solidFill>
              <a:latin typeface="Roboto"/>
              <a:ea typeface="Roboto"/>
              <a:cs typeface="Roboto"/>
              <a:sym typeface="Roboto"/>
            </a:endParaRPr>
          </a:p>
          <a:p>
            <a:pPr algn="l">
              <a:lnSpc>
                <a:spcPts val="1959"/>
              </a:lnSpc>
            </a:pPr>
            <a:r>
              <a:rPr lang="en-US" sz="1399" b="1" dirty="0">
                <a:solidFill>
                  <a:srgbClr val="00AA7F"/>
                </a:solidFill>
                <a:latin typeface="Roboto"/>
                <a:ea typeface="Roboto"/>
                <a:cs typeface="Roboto"/>
                <a:sym typeface="Roboto"/>
              </a:rPr>
              <a:t>AWS | Certified Cloud Practitioner</a:t>
            </a:r>
          </a:p>
          <a:p>
            <a:pPr algn="l">
              <a:lnSpc>
                <a:spcPts val="1959"/>
              </a:lnSpc>
            </a:pPr>
            <a:endParaRPr lang="en-US" sz="1399" b="1" dirty="0">
              <a:solidFill>
                <a:srgbClr val="00AA7F"/>
              </a:solidFill>
              <a:latin typeface="Roboto"/>
              <a:ea typeface="Roboto"/>
              <a:cs typeface="Roboto"/>
              <a:sym typeface="Roboto"/>
            </a:endParaRPr>
          </a:p>
          <a:p>
            <a:pPr algn="l">
              <a:lnSpc>
                <a:spcPts val="1959"/>
              </a:lnSpc>
            </a:pPr>
            <a:r>
              <a:rPr lang="en-US" sz="1399" b="1" dirty="0">
                <a:solidFill>
                  <a:srgbClr val="00AA7F"/>
                </a:solidFill>
                <a:latin typeface="Roboto"/>
                <a:ea typeface="Roboto"/>
                <a:cs typeface="Roboto"/>
                <a:sym typeface="Roboto"/>
              </a:rPr>
              <a:t>Power Center | Data Integration Developer Specialist</a:t>
            </a:r>
          </a:p>
          <a:p>
            <a:pPr algn="l">
              <a:lnSpc>
                <a:spcPts val="1959"/>
              </a:lnSpc>
            </a:pPr>
            <a:endParaRPr lang="en-US" sz="1399" b="1" dirty="0">
              <a:solidFill>
                <a:srgbClr val="00AA7F"/>
              </a:solidFill>
              <a:latin typeface="Roboto"/>
              <a:ea typeface="Roboto"/>
              <a:cs typeface="Roboto"/>
              <a:sym typeface="Roboto"/>
            </a:endParaRPr>
          </a:p>
          <a:p>
            <a:pPr algn="l">
              <a:lnSpc>
                <a:spcPts val="1959"/>
              </a:lnSpc>
            </a:pPr>
            <a:r>
              <a:rPr lang="en-US" sz="1399" b="1" dirty="0">
                <a:solidFill>
                  <a:srgbClr val="00AA7F"/>
                </a:solidFill>
                <a:latin typeface="Roboto"/>
                <a:ea typeface="Roboto"/>
                <a:cs typeface="Roboto"/>
                <a:sym typeface="Roboto"/>
              </a:rPr>
              <a:t>Masters Degree | Computer Applications</a:t>
            </a:r>
          </a:p>
          <a:p>
            <a:pPr algn="l">
              <a:lnSpc>
                <a:spcPts val="1959"/>
              </a:lnSpc>
              <a:spcBef>
                <a:spcPct val="0"/>
              </a:spcBef>
            </a:pPr>
            <a:endParaRPr lang="en-US" sz="1399" b="1" dirty="0">
              <a:solidFill>
                <a:srgbClr val="00AA7F"/>
              </a:solidFill>
              <a:latin typeface="Roboto"/>
              <a:ea typeface="Roboto"/>
              <a:cs typeface="Roboto"/>
              <a:sym typeface="Roboto"/>
            </a:endParaRPr>
          </a:p>
          <a:p>
            <a:pPr algn="l">
              <a:lnSpc>
                <a:spcPts val="1959"/>
              </a:lnSpc>
              <a:spcBef>
                <a:spcPct val="0"/>
              </a:spcBef>
            </a:pPr>
            <a:endParaRPr lang="en-US" sz="1399" b="1" dirty="0">
              <a:solidFill>
                <a:srgbClr val="00AA7F"/>
              </a:solidFill>
              <a:latin typeface="Roboto"/>
              <a:ea typeface="Roboto"/>
              <a:cs typeface="Roboto"/>
              <a:sym typeface="Roboto"/>
            </a:endParaRPr>
          </a:p>
        </p:txBody>
      </p:sp>
      <p:sp>
        <p:nvSpPr>
          <p:cNvPr id="10" name="AutoShape 10"/>
          <p:cNvSpPr/>
          <p:nvPr/>
        </p:nvSpPr>
        <p:spPr>
          <a:xfrm>
            <a:off x="15568938" y="3970905"/>
            <a:ext cx="2273295" cy="0"/>
          </a:xfrm>
          <a:prstGeom prst="line">
            <a:avLst/>
          </a:prstGeom>
          <a:ln w="19050" cap="flat">
            <a:solidFill>
              <a:srgbClr val="0F2B3F"/>
            </a:solidFill>
            <a:prstDash val="sysDot"/>
            <a:headEnd type="none" w="sm" len="sm"/>
            <a:tailEnd type="none" w="sm" len="sm"/>
          </a:ln>
        </p:spPr>
        <p:txBody>
          <a:bodyPr/>
          <a:lstStyle/>
          <a:p>
            <a:endParaRPr lang="en-AU"/>
          </a:p>
        </p:txBody>
      </p:sp>
      <p:sp>
        <p:nvSpPr>
          <p:cNvPr id="11" name="AutoShape 11"/>
          <p:cNvSpPr/>
          <p:nvPr/>
        </p:nvSpPr>
        <p:spPr>
          <a:xfrm>
            <a:off x="15559425" y="1371012"/>
            <a:ext cx="2273295" cy="0"/>
          </a:xfrm>
          <a:prstGeom prst="line">
            <a:avLst/>
          </a:prstGeom>
          <a:ln w="19050" cap="flat">
            <a:solidFill>
              <a:srgbClr val="0F2B3F"/>
            </a:solidFill>
            <a:prstDash val="sysDot"/>
            <a:headEnd type="none" w="sm" len="sm"/>
            <a:tailEnd type="none" w="sm" len="sm"/>
          </a:ln>
        </p:spPr>
        <p:txBody>
          <a:bodyPr/>
          <a:lstStyle/>
          <a:p>
            <a:endParaRPr lang="en-AU"/>
          </a:p>
        </p:txBody>
      </p:sp>
      <p:sp>
        <p:nvSpPr>
          <p:cNvPr id="12" name="TextBox 12"/>
          <p:cNvSpPr txBox="1"/>
          <p:nvPr/>
        </p:nvSpPr>
        <p:spPr>
          <a:xfrm>
            <a:off x="15539453" y="876300"/>
            <a:ext cx="7840469" cy="358774"/>
          </a:xfrm>
          <a:prstGeom prst="rect">
            <a:avLst/>
          </a:prstGeom>
        </p:spPr>
        <p:txBody>
          <a:bodyPr lIns="0" tIns="0" rIns="0" bIns="0" rtlCol="0" anchor="t">
            <a:spAutoFit/>
          </a:bodyPr>
          <a:lstStyle/>
          <a:p>
            <a:pPr algn="l">
              <a:lnSpc>
                <a:spcPts val="2800"/>
              </a:lnSpc>
              <a:spcBef>
                <a:spcPct val="0"/>
              </a:spcBef>
            </a:pPr>
            <a:r>
              <a:rPr lang="en-US" sz="2000" b="1">
                <a:solidFill>
                  <a:srgbClr val="0F2B3F"/>
                </a:solidFill>
                <a:latin typeface="Roboto Bold"/>
                <a:ea typeface="Roboto Bold"/>
                <a:cs typeface="Roboto Bold"/>
                <a:sym typeface="Roboto Bold"/>
              </a:rPr>
              <a:t>Industry Experience</a:t>
            </a:r>
          </a:p>
        </p:txBody>
      </p:sp>
      <p:sp>
        <p:nvSpPr>
          <p:cNvPr id="13" name="TextBox 13"/>
          <p:cNvSpPr txBox="1"/>
          <p:nvPr/>
        </p:nvSpPr>
        <p:spPr>
          <a:xfrm>
            <a:off x="15539453" y="1437687"/>
            <a:ext cx="2293267" cy="1750479"/>
          </a:xfrm>
          <a:prstGeom prst="rect">
            <a:avLst/>
          </a:prstGeom>
        </p:spPr>
        <p:txBody>
          <a:bodyPr lIns="0" tIns="0" rIns="0" bIns="0" rtlCol="0" anchor="t">
            <a:spAutoFit/>
          </a:bodyPr>
          <a:lstStyle/>
          <a:p>
            <a:pPr>
              <a:lnSpc>
                <a:spcPts val="2800"/>
              </a:lnSpc>
            </a:pPr>
            <a:r>
              <a:rPr lang="en-AU" sz="1400" b="1" dirty="0">
                <a:solidFill>
                  <a:srgbClr val="00AA7F"/>
                </a:solidFill>
                <a:latin typeface="Roboto Bold"/>
                <a:ea typeface="Roboto Bold"/>
                <a:cs typeface="Roboto Bold"/>
                <a:sym typeface="Roboto Bold"/>
              </a:rPr>
              <a:t>Financial Services</a:t>
            </a:r>
          </a:p>
          <a:p>
            <a:pPr>
              <a:lnSpc>
                <a:spcPts val="2800"/>
              </a:lnSpc>
            </a:pPr>
            <a:r>
              <a:rPr lang="en-AU" sz="1400" b="1" dirty="0">
                <a:solidFill>
                  <a:srgbClr val="00AA7F"/>
                </a:solidFill>
                <a:latin typeface="Roboto Bold"/>
                <a:ea typeface="Roboto Bold"/>
                <a:cs typeface="Roboto Bold"/>
                <a:sym typeface="Roboto Bold"/>
              </a:rPr>
              <a:t>Big 4 Banks </a:t>
            </a:r>
          </a:p>
          <a:p>
            <a:pPr>
              <a:lnSpc>
                <a:spcPts val="2800"/>
              </a:lnSpc>
            </a:pPr>
            <a:r>
              <a:rPr lang="en-AU" sz="1400" b="1" dirty="0">
                <a:solidFill>
                  <a:srgbClr val="00AA7F"/>
                </a:solidFill>
                <a:latin typeface="Roboto Bold"/>
                <a:ea typeface="Roboto Bold"/>
                <a:cs typeface="Roboto Bold"/>
                <a:sym typeface="Roboto Bold"/>
              </a:rPr>
              <a:t>Insurance</a:t>
            </a:r>
          </a:p>
          <a:p>
            <a:pPr>
              <a:lnSpc>
                <a:spcPts val="2800"/>
              </a:lnSpc>
            </a:pPr>
            <a:r>
              <a:rPr lang="en-AU" sz="1400" b="1" dirty="0">
                <a:solidFill>
                  <a:srgbClr val="00AA7F"/>
                </a:solidFill>
                <a:latin typeface="Roboto Bold"/>
                <a:ea typeface="Roboto Bold"/>
                <a:cs typeface="Roboto Bold"/>
                <a:sym typeface="Roboto Bold"/>
              </a:rPr>
              <a:t>Healthcare </a:t>
            </a:r>
          </a:p>
          <a:p>
            <a:pPr>
              <a:lnSpc>
                <a:spcPts val="2800"/>
              </a:lnSpc>
            </a:pPr>
            <a:r>
              <a:rPr lang="en-AU" sz="1400" b="1" dirty="0">
                <a:solidFill>
                  <a:srgbClr val="00AA7F"/>
                </a:solidFill>
                <a:latin typeface="Roboto Bold"/>
                <a:ea typeface="Roboto Bold"/>
                <a:cs typeface="Roboto Bold"/>
                <a:sym typeface="Roboto Bold"/>
              </a:rPr>
              <a:t>Retail</a:t>
            </a:r>
            <a:endParaRPr lang="en-US" sz="1400" b="1" dirty="0">
              <a:solidFill>
                <a:srgbClr val="00AA7F"/>
              </a:solidFill>
              <a:latin typeface="Roboto Bold"/>
              <a:ea typeface="Roboto Bold"/>
              <a:cs typeface="Roboto Bold"/>
              <a:sym typeface="Roboto Bold"/>
            </a:endParaRPr>
          </a:p>
        </p:txBody>
      </p:sp>
      <p:sp>
        <p:nvSpPr>
          <p:cNvPr id="14" name="TextBox 14"/>
          <p:cNvSpPr txBox="1"/>
          <p:nvPr/>
        </p:nvSpPr>
        <p:spPr>
          <a:xfrm>
            <a:off x="15539453" y="3486196"/>
            <a:ext cx="2687031" cy="333425"/>
          </a:xfrm>
          <a:prstGeom prst="rect">
            <a:avLst/>
          </a:prstGeom>
        </p:spPr>
        <p:txBody>
          <a:bodyPr lIns="0" tIns="0" rIns="0" bIns="0" rtlCol="0" anchor="t">
            <a:spAutoFit/>
          </a:bodyPr>
          <a:lstStyle/>
          <a:p>
            <a:pPr algn="l">
              <a:lnSpc>
                <a:spcPts val="2800"/>
              </a:lnSpc>
              <a:spcBef>
                <a:spcPct val="0"/>
              </a:spcBef>
            </a:pPr>
            <a:r>
              <a:rPr lang="en-US" sz="2000" b="1" dirty="0">
                <a:solidFill>
                  <a:srgbClr val="0F2B3F"/>
                </a:solidFill>
                <a:latin typeface="Roboto Bold"/>
                <a:ea typeface="Roboto Bold"/>
                <a:cs typeface="Roboto Bold"/>
                <a:sym typeface="Roboto Bold"/>
              </a:rPr>
              <a:t>Certification</a:t>
            </a:r>
          </a:p>
        </p:txBody>
      </p:sp>
      <p:sp>
        <p:nvSpPr>
          <p:cNvPr id="15" name="TextBox 15"/>
          <p:cNvSpPr txBox="1"/>
          <p:nvPr/>
        </p:nvSpPr>
        <p:spPr>
          <a:xfrm>
            <a:off x="7211817" y="171689"/>
            <a:ext cx="7840469" cy="500137"/>
          </a:xfrm>
          <a:prstGeom prst="rect">
            <a:avLst/>
          </a:prstGeom>
        </p:spPr>
        <p:txBody>
          <a:bodyPr lIns="0" tIns="0" rIns="0" bIns="0" rtlCol="0" anchor="t">
            <a:spAutoFit/>
          </a:bodyPr>
          <a:lstStyle/>
          <a:p>
            <a:pPr algn="l">
              <a:lnSpc>
                <a:spcPts val="4200"/>
              </a:lnSpc>
              <a:spcBef>
                <a:spcPct val="0"/>
              </a:spcBef>
            </a:pPr>
            <a:r>
              <a:rPr lang="en-US" sz="3000" b="1" dirty="0">
                <a:solidFill>
                  <a:srgbClr val="0F2B3F"/>
                </a:solidFill>
                <a:latin typeface="Roboto Bold"/>
                <a:ea typeface="Roboto Bold"/>
                <a:cs typeface="Roboto Bold"/>
                <a:sym typeface="Roboto Bold"/>
              </a:rPr>
              <a:t>Selected Project Experience</a:t>
            </a:r>
          </a:p>
        </p:txBody>
      </p:sp>
      <p:sp>
        <p:nvSpPr>
          <p:cNvPr id="16" name="TextBox 16"/>
          <p:cNvSpPr txBox="1"/>
          <p:nvPr/>
        </p:nvSpPr>
        <p:spPr>
          <a:xfrm>
            <a:off x="222666" y="765476"/>
            <a:ext cx="6593800" cy="1384995"/>
          </a:xfrm>
          <a:prstGeom prst="rect">
            <a:avLst/>
          </a:prstGeom>
        </p:spPr>
        <p:txBody>
          <a:bodyPr wrap="square" lIns="0" tIns="0" rIns="0" bIns="0" rtlCol="0" anchor="t">
            <a:spAutoFit/>
          </a:bodyPr>
          <a:lstStyle/>
          <a:p>
            <a:pPr algn="l">
              <a:lnSpc>
                <a:spcPts val="5599"/>
              </a:lnSpc>
              <a:spcBef>
                <a:spcPct val="0"/>
              </a:spcBef>
            </a:pPr>
            <a:r>
              <a:rPr lang="en-US" sz="3999" b="1" dirty="0">
                <a:solidFill>
                  <a:srgbClr val="00AA7F"/>
                </a:solidFill>
                <a:latin typeface="Roboto Bold"/>
                <a:ea typeface="Roboto Bold"/>
                <a:cs typeface="Roboto Bold"/>
                <a:sym typeface="Roboto Bold"/>
              </a:rPr>
              <a:t>Karanjeet Singh</a:t>
            </a:r>
          </a:p>
          <a:p>
            <a:pPr algn="l">
              <a:lnSpc>
                <a:spcPts val="5599"/>
              </a:lnSpc>
              <a:spcBef>
                <a:spcPct val="0"/>
              </a:spcBef>
            </a:pPr>
            <a:endParaRPr lang="en-US" sz="3999" b="1" dirty="0">
              <a:solidFill>
                <a:srgbClr val="00AA7F"/>
              </a:solidFill>
              <a:latin typeface="Roboto Bold"/>
              <a:ea typeface="Roboto Bold"/>
              <a:cs typeface="Roboto Bold"/>
              <a:sym typeface="Roboto Bold"/>
            </a:endParaRPr>
          </a:p>
        </p:txBody>
      </p:sp>
      <p:sp>
        <p:nvSpPr>
          <p:cNvPr id="17" name="TextBox 17"/>
          <p:cNvSpPr txBox="1"/>
          <p:nvPr/>
        </p:nvSpPr>
        <p:spPr>
          <a:xfrm>
            <a:off x="222207" y="1427714"/>
            <a:ext cx="4631684" cy="533400"/>
          </a:xfrm>
          <a:prstGeom prst="rect">
            <a:avLst/>
          </a:prstGeom>
        </p:spPr>
        <p:txBody>
          <a:bodyPr lIns="0" tIns="0" rIns="0" bIns="0" rtlCol="0" anchor="t">
            <a:spAutoFit/>
          </a:bodyPr>
          <a:lstStyle/>
          <a:p>
            <a:pPr algn="l">
              <a:lnSpc>
                <a:spcPts val="4200"/>
              </a:lnSpc>
              <a:spcBef>
                <a:spcPct val="0"/>
              </a:spcBef>
            </a:pPr>
            <a:r>
              <a:rPr lang="en-US" sz="3000" dirty="0">
                <a:solidFill>
                  <a:srgbClr val="0F2B3F"/>
                </a:solidFill>
                <a:latin typeface="Roboto"/>
                <a:ea typeface="Roboto"/>
                <a:cs typeface="Roboto"/>
                <a:sym typeface="Roboto"/>
              </a:rPr>
              <a:t>Senior Consultant</a:t>
            </a:r>
          </a:p>
        </p:txBody>
      </p:sp>
      <p:sp>
        <p:nvSpPr>
          <p:cNvPr id="18" name="TextBox 18"/>
          <p:cNvSpPr txBox="1"/>
          <p:nvPr/>
        </p:nvSpPr>
        <p:spPr>
          <a:xfrm>
            <a:off x="222207" y="2020005"/>
            <a:ext cx="3072317" cy="533400"/>
          </a:xfrm>
          <a:prstGeom prst="rect">
            <a:avLst/>
          </a:prstGeom>
        </p:spPr>
        <p:txBody>
          <a:bodyPr lIns="0" tIns="0" rIns="0" bIns="0" rtlCol="0" anchor="t">
            <a:spAutoFit/>
          </a:bodyPr>
          <a:lstStyle/>
          <a:p>
            <a:pPr algn="l">
              <a:lnSpc>
                <a:spcPts val="4200"/>
              </a:lnSpc>
              <a:spcBef>
                <a:spcPct val="0"/>
              </a:spcBef>
            </a:pPr>
            <a:r>
              <a:rPr lang="en-US" sz="3000" b="1" dirty="0">
                <a:solidFill>
                  <a:srgbClr val="00AA7F"/>
                </a:solidFill>
                <a:latin typeface="Roboto Bold"/>
                <a:ea typeface="Roboto Bold"/>
                <a:cs typeface="Roboto Bold"/>
                <a:sym typeface="Roboto Bold"/>
              </a:rPr>
              <a:t>Summary</a:t>
            </a:r>
          </a:p>
        </p:txBody>
      </p:sp>
      <p:sp>
        <p:nvSpPr>
          <p:cNvPr id="19" name="TextBox 19"/>
          <p:cNvSpPr txBox="1"/>
          <p:nvPr/>
        </p:nvSpPr>
        <p:spPr>
          <a:xfrm>
            <a:off x="222207" y="2642704"/>
            <a:ext cx="6493375" cy="4206280"/>
          </a:xfrm>
          <a:prstGeom prst="rect">
            <a:avLst/>
          </a:prstGeom>
        </p:spPr>
        <p:txBody>
          <a:bodyPr wrap="square" lIns="0" tIns="0" rIns="0" bIns="0" rtlCol="0" anchor="t">
            <a:spAutoFit/>
          </a:bodyPr>
          <a:lstStyle/>
          <a:p>
            <a:pPr algn="l">
              <a:lnSpc>
                <a:spcPts val="2239"/>
              </a:lnSpc>
            </a:pPr>
            <a:r>
              <a:rPr lang="en-AU" sz="1400" dirty="0">
                <a:solidFill>
                  <a:srgbClr val="0F2B3F"/>
                </a:solidFill>
                <a:latin typeface="Roboto"/>
                <a:ea typeface="Roboto"/>
                <a:cs typeface="Roboto"/>
                <a:sym typeface="Roboto"/>
              </a:rPr>
              <a:t>Karanjeet is a highly accomplished Data Engineer with over 20 years of professional experience in designing and delivering high-impact business intelligence, data warehousing, and data migration solutions. His deep technical expertise and strategic vision empower clients to transform complex data into a critical asset that drives decision-making and business growth.</a:t>
            </a:r>
          </a:p>
          <a:p>
            <a:pPr algn="l">
              <a:lnSpc>
                <a:spcPts val="2239"/>
              </a:lnSpc>
            </a:pPr>
            <a:endParaRPr lang="en-AU" sz="1400" dirty="0">
              <a:solidFill>
                <a:srgbClr val="0F2B3F"/>
              </a:solidFill>
              <a:latin typeface="Roboto"/>
              <a:ea typeface="Roboto"/>
              <a:cs typeface="Roboto"/>
              <a:sym typeface="Roboto"/>
            </a:endParaRPr>
          </a:p>
          <a:p>
            <a:pPr>
              <a:lnSpc>
                <a:spcPts val="2239"/>
              </a:lnSpc>
            </a:pPr>
            <a:r>
              <a:rPr lang="en-AU" sz="1400" dirty="0">
                <a:solidFill>
                  <a:srgbClr val="0F2B3F"/>
                </a:solidFill>
                <a:latin typeface="Roboto"/>
                <a:ea typeface="Roboto"/>
              </a:rPr>
              <a:t>Karanjeet has a proven track record of successfully implementing end-to-end data projects across diverse industries, including healthcare, banking, retail, and finance. He is an expert in the complete Microsoft BI stack (SSRS, SSIS, Power BI), alongside Oracle, Informatica, and AWS, enabling him to architect robust and scalable solutions tailored to unique client needs. As a certified professional and proven team leader, Karanjeet effectively manages projects, mentors technical teams and builds strong client relationships to ensure successful outcomes.</a:t>
            </a:r>
            <a:endParaRPr lang="en-AU" sz="1400" dirty="0">
              <a:solidFill>
                <a:srgbClr val="0F2B3F"/>
              </a:solidFill>
              <a:latin typeface="Roboto"/>
              <a:ea typeface="Roboto"/>
              <a:sym typeface="Roboto"/>
            </a:endParaRPr>
          </a:p>
          <a:p>
            <a:pPr algn="l">
              <a:lnSpc>
                <a:spcPts val="2239"/>
              </a:lnSpc>
            </a:pPr>
            <a:endParaRPr lang="en-US" sz="1400" dirty="0">
              <a:solidFill>
                <a:srgbClr val="0F2B3F"/>
              </a:solidFill>
              <a:latin typeface="Roboto"/>
              <a:ea typeface="Roboto"/>
              <a:cs typeface="Roboto"/>
              <a:sym typeface="Roboto"/>
            </a:endParaRPr>
          </a:p>
          <a:p>
            <a:pPr algn="l">
              <a:lnSpc>
                <a:spcPts val="2239"/>
              </a:lnSpc>
            </a:pPr>
            <a:endParaRPr lang="en-US" sz="1400" dirty="0">
              <a:solidFill>
                <a:srgbClr val="0F2B3F"/>
              </a:solidFill>
              <a:latin typeface="Roboto"/>
              <a:ea typeface="Roboto"/>
              <a:cs typeface="Roboto"/>
              <a:sym typeface="Roboto"/>
            </a:endParaRPr>
          </a:p>
        </p:txBody>
      </p:sp>
      <p:sp>
        <p:nvSpPr>
          <p:cNvPr id="20" name="TextBox 20"/>
          <p:cNvSpPr txBox="1"/>
          <p:nvPr/>
        </p:nvSpPr>
        <p:spPr>
          <a:xfrm>
            <a:off x="7381790" y="6786633"/>
            <a:ext cx="7629610" cy="3315010"/>
          </a:xfrm>
          <a:prstGeom prst="rect">
            <a:avLst/>
          </a:prstGeom>
        </p:spPr>
        <p:txBody>
          <a:bodyPr lIns="0" tIns="0" rIns="0" bIns="0" rtlCol="0" anchor="t">
            <a:spAutoFit/>
          </a:bodyPr>
          <a:lstStyle/>
          <a:p>
            <a:pPr algn="just">
              <a:lnSpc>
                <a:spcPts val="1960"/>
              </a:lnSpc>
            </a:pPr>
            <a:r>
              <a:rPr lang="en-US" sz="1400" b="1" dirty="0">
                <a:solidFill>
                  <a:srgbClr val="92337A"/>
                </a:solidFill>
                <a:latin typeface="Roboto Bold"/>
                <a:ea typeface="Roboto Bold"/>
                <a:cs typeface="Roboto Bold"/>
                <a:sym typeface="Roboto Bold"/>
              </a:rPr>
              <a:t>Software &amp; Retail </a:t>
            </a:r>
            <a:r>
              <a:rPr lang="en-US" sz="1400" b="1" dirty="0" err="1">
                <a:solidFill>
                  <a:srgbClr val="92337A"/>
                </a:solidFill>
                <a:latin typeface="Roboto Bold"/>
                <a:ea typeface="Roboto Bold"/>
                <a:cs typeface="Roboto Bold"/>
                <a:sym typeface="Roboto Bold"/>
              </a:rPr>
              <a:t>Organisation</a:t>
            </a:r>
            <a:r>
              <a:rPr lang="en-US" sz="1400" b="1" dirty="0">
                <a:solidFill>
                  <a:srgbClr val="92337A"/>
                </a:solidFill>
                <a:latin typeface="Roboto Bold"/>
                <a:ea typeface="Roboto Bold"/>
                <a:cs typeface="Roboto Bold"/>
                <a:sym typeface="Roboto Bold"/>
              </a:rPr>
              <a:t> – Data/Cloud Engineer</a:t>
            </a:r>
          </a:p>
          <a:p>
            <a:pPr marL="302261" lvl="1" indent="-151130">
              <a:lnSpc>
                <a:spcPts val="1960"/>
              </a:lnSpc>
              <a:buFont typeface="Arial"/>
              <a:buChar char="•"/>
            </a:pPr>
            <a:r>
              <a:rPr lang="en-AU" sz="1400" dirty="0">
                <a:solidFill>
                  <a:srgbClr val="0F2B3F"/>
                </a:solidFill>
                <a:latin typeface="Roboto"/>
                <a:ea typeface="Roboto"/>
                <a:cs typeface="Roboto"/>
                <a:sym typeface="Roboto"/>
              </a:rPr>
              <a:t>Architected and developed ETL solutions using T-SQL for high-profile Australian facility management and PPP clients</a:t>
            </a:r>
          </a:p>
          <a:p>
            <a:pPr marL="302261" lvl="1" indent="-151130">
              <a:lnSpc>
                <a:spcPts val="1960"/>
              </a:lnSpc>
              <a:buFont typeface="Arial"/>
              <a:buChar char="•"/>
            </a:pPr>
            <a:r>
              <a:rPr lang="en-AU" sz="1400" dirty="0">
                <a:solidFill>
                  <a:srgbClr val="0F2B3F"/>
                </a:solidFill>
                <a:latin typeface="Roboto"/>
                <a:ea typeface="Roboto"/>
                <a:cs typeface="Roboto"/>
                <a:sym typeface="Roboto"/>
              </a:rPr>
              <a:t>Created complex data integration interfaces for several high-profile facilities management and PPP clients</a:t>
            </a:r>
          </a:p>
          <a:p>
            <a:pPr marL="302261" lvl="1" indent="-151130">
              <a:lnSpc>
                <a:spcPts val="1960"/>
              </a:lnSpc>
              <a:buFont typeface="Arial"/>
              <a:buChar char="•"/>
            </a:pPr>
            <a:r>
              <a:rPr lang="en-AU" sz="1400" dirty="0">
                <a:solidFill>
                  <a:srgbClr val="0F2B3F"/>
                </a:solidFill>
                <a:latin typeface="Roboto"/>
                <a:ea typeface="Roboto"/>
                <a:cs typeface="Roboto"/>
                <a:sym typeface="Roboto"/>
              </a:rPr>
              <a:t>Performance tuning</a:t>
            </a:r>
          </a:p>
          <a:p>
            <a:pPr marL="302261" lvl="1" indent="-151130">
              <a:lnSpc>
                <a:spcPts val="1960"/>
              </a:lnSpc>
              <a:buFont typeface="Arial"/>
              <a:buChar char="•"/>
            </a:pPr>
            <a:r>
              <a:rPr lang="en-AU" sz="1400" dirty="0">
                <a:solidFill>
                  <a:srgbClr val="0F2B3F"/>
                </a:solidFill>
                <a:latin typeface="Roboto"/>
                <a:ea typeface="Roboto"/>
                <a:cs typeface="Roboto"/>
                <a:sym typeface="Roboto"/>
              </a:rPr>
              <a:t>Designed business intelligence reports/dashboards using Crystal Reports</a:t>
            </a:r>
          </a:p>
          <a:p>
            <a:pPr marL="302261" lvl="1" indent="-151130">
              <a:lnSpc>
                <a:spcPts val="1960"/>
              </a:lnSpc>
              <a:buFont typeface="Arial"/>
              <a:buChar char="•"/>
            </a:pPr>
            <a:r>
              <a:rPr lang="en-AU" sz="1400" dirty="0">
                <a:solidFill>
                  <a:srgbClr val="0F2B3F"/>
                </a:solidFill>
                <a:latin typeface="Roboto"/>
                <a:ea typeface="Roboto"/>
                <a:cs typeface="Roboto"/>
                <a:sym typeface="Roboto"/>
              </a:rPr>
              <a:t>SQL &amp; T-SQL code development and optimisation</a:t>
            </a:r>
          </a:p>
          <a:p>
            <a:pPr marL="302261" lvl="1" indent="-151130">
              <a:lnSpc>
                <a:spcPts val="1960"/>
              </a:lnSpc>
              <a:buFont typeface="Arial"/>
              <a:buChar char="•"/>
            </a:pPr>
            <a:r>
              <a:rPr lang="en-AU" sz="1400" dirty="0">
                <a:solidFill>
                  <a:srgbClr val="0F2B3F"/>
                </a:solidFill>
                <a:latin typeface="Roboto"/>
                <a:ea typeface="Roboto"/>
                <a:cs typeface="Roboto"/>
                <a:sym typeface="Roboto"/>
              </a:rPr>
              <a:t>Resolution of client issues</a:t>
            </a:r>
          </a:p>
          <a:p>
            <a:pPr marL="302261" lvl="1" indent="-151130">
              <a:lnSpc>
                <a:spcPts val="1960"/>
              </a:lnSpc>
              <a:buFont typeface="Arial"/>
              <a:buChar char="•"/>
            </a:pPr>
            <a:r>
              <a:rPr lang="en-AU" sz="1400" dirty="0">
                <a:solidFill>
                  <a:srgbClr val="0F2B3F"/>
                </a:solidFill>
                <a:latin typeface="Roboto"/>
                <a:ea typeface="Roboto"/>
                <a:cs typeface="Roboto"/>
                <a:sym typeface="Roboto"/>
              </a:rPr>
              <a:t>Tested products and applications</a:t>
            </a:r>
          </a:p>
          <a:p>
            <a:pPr marL="302261" lvl="1" indent="-151130">
              <a:lnSpc>
                <a:spcPts val="1960"/>
              </a:lnSpc>
              <a:buFont typeface="Arial"/>
              <a:buChar char="•"/>
            </a:pPr>
            <a:r>
              <a:rPr lang="en-AU" sz="1400" dirty="0">
                <a:solidFill>
                  <a:srgbClr val="0F2B3F"/>
                </a:solidFill>
                <a:latin typeface="Roboto"/>
                <a:ea typeface="Roboto"/>
                <a:cs typeface="Roboto"/>
                <a:sym typeface="Roboto"/>
              </a:rPr>
              <a:t>Documented processes and application instructions</a:t>
            </a:r>
          </a:p>
          <a:p>
            <a:pPr marL="302261" lvl="1" indent="-151130">
              <a:lnSpc>
                <a:spcPts val="1960"/>
              </a:lnSpc>
              <a:buFont typeface="Arial"/>
              <a:buChar char="•"/>
            </a:pPr>
            <a:r>
              <a:rPr lang="en-AU" sz="1400" dirty="0">
                <a:solidFill>
                  <a:srgbClr val="0F2B3F"/>
                </a:solidFill>
                <a:latin typeface="Roboto"/>
                <a:ea typeface="Roboto"/>
                <a:cs typeface="Roboto"/>
                <a:sym typeface="Roboto"/>
              </a:rPr>
              <a:t>Provided support and troubleshooting for software issues</a:t>
            </a:r>
          </a:p>
          <a:p>
            <a:pPr marL="302261" lvl="1" indent="-151130">
              <a:lnSpc>
                <a:spcPts val="1960"/>
              </a:lnSpc>
              <a:buFont typeface="Arial"/>
              <a:buChar char="•"/>
            </a:pPr>
            <a:r>
              <a:rPr lang="en-AU" sz="1400" dirty="0">
                <a:solidFill>
                  <a:srgbClr val="0F2B3F"/>
                </a:solidFill>
                <a:latin typeface="Roboto"/>
                <a:ea typeface="Roboto"/>
                <a:cs typeface="Roboto"/>
                <a:sym typeface="Roboto"/>
              </a:rPr>
              <a:t>Attended meetings, sessions and other key company events</a:t>
            </a:r>
            <a:endParaRPr lang="en-US" sz="1400" dirty="0">
              <a:solidFill>
                <a:srgbClr val="0F2B3F"/>
              </a:solidFill>
              <a:latin typeface="Roboto"/>
              <a:ea typeface="Roboto"/>
              <a:cs typeface="Roboto"/>
              <a:sym typeface="Roboto"/>
            </a:endParaRPr>
          </a:p>
        </p:txBody>
      </p:sp>
      <p:sp>
        <p:nvSpPr>
          <p:cNvPr id="22" name="TextBox 22"/>
          <p:cNvSpPr txBox="1"/>
          <p:nvPr/>
        </p:nvSpPr>
        <p:spPr>
          <a:xfrm>
            <a:off x="7367529" y="3970905"/>
            <a:ext cx="7629610" cy="2545569"/>
          </a:xfrm>
          <a:prstGeom prst="rect">
            <a:avLst/>
          </a:prstGeom>
        </p:spPr>
        <p:txBody>
          <a:bodyPr lIns="0" tIns="0" rIns="0" bIns="0" rtlCol="0" anchor="t">
            <a:spAutoFit/>
          </a:bodyPr>
          <a:lstStyle/>
          <a:p>
            <a:pPr>
              <a:lnSpc>
                <a:spcPts val="1960"/>
              </a:lnSpc>
              <a:spcBef>
                <a:spcPct val="0"/>
              </a:spcBef>
            </a:pPr>
            <a:r>
              <a:rPr lang="en-AU" sz="1400" b="1" dirty="0">
                <a:solidFill>
                  <a:srgbClr val="D77432"/>
                </a:solidFill>
                <a:latin typeface="Roboto Bold"/>
                <a:ea typeface="Roboto Bold"/>
                <a:cs typeface="Roboto Bold"/>
                <a:sym typeface="Roboto Bold"/>
              </a:rPr>
              <a:t>Financial Services</a:t>
            </a:r>
            <a:r>
              <a:rPr lang="en-AU" sz="1400" b="1" u="none" strike="noStrike" dirty="0">
                <a:solidFill>
                  <a:srgbClr val="D77432"/>
                </a:solidFill>
                <a:latin typeface="Roboto Bold"/>
                <a:ea typeface="Roboto Bold"/>
                <a:cs typeface="Roboto Bold"/>
                <a:sym typeface="Roboto Bold"/>
              </a:rPr>
              <a:t> Organisation – BI &amp; Data Engineer</a:t>
            </a:r>
            <a:endParaRPr lang="en-US" sz="1400" b="1" u="none" strike="noStrike" dirty="0">
              <a:solidFill>
                <a:srgbClr val="D77432"/>
              </a:solidFill>
              <a:latin typeface="Roboto Bold"/>
              <a:ea typeface="Roboto Bold"/>
              <a:cs typeface="Roboto Bold"/>
              <a:sym typeface="Roboto Bold"/>
            </a:endParaRPr>
          </a:p>
          <a:p>
            <a:pPr marL="302261" lvl="1" indent="-151130">
              <a:lnSpc>
                <a:spcPts val="1960"/>
              </a:lnSpc>
              <a:spcBef>
                <a:spcPct val="0"/>
              </a:spcBef>
              <a:buFont typeface="Arial"/>
              <a:buChar char="•"/>
            </a:pPr>
            <a:r>
              <a:rPr lang="en-AU" sz="1400" u="none" strike="noStrike" dirty="0">
                <a:solidFill>
                  <a:srgbClr val="0F2B3F"/>
                </a:solidFill>
                <a:latin typeface="Roboto"/>
                <a:ea typeface="Roboto"/>
                <a:cs typeface="Roboto"/>
                <a:sym typeface="Roboto"/>
              </a:rPr>
              <a:t>Architected and developed business/ETL solutions using SSIS and T-SQL for the development of an in-house Hedge Accounting platform</a:t>
            </a:r>
          </a:p>
          <a:p>
            <a:pPr marL="302261" lvl="1" indent="-151130">
              <a:lnSpc>
                <a:spcPts val="1960"/>
              </a:lnSpc>
              <a:spcBef>
                <a:spcPct val="0"/>
              </a:spcBef>
              <a:buFont typeface="Arial"/>
              <a:buChar char="•"/>
            </a:pPr>
            <a:r>
              <a:rPr lang="en-AU" sz="1400" u="none" strike="noStrike" dirty="0">
                <a:solidFill>
                  <a:srgbClr val="0F2B3F"/>
                </a:solidFill>
                <a:latin typeface="Roboto"/>
                <a:ea typeface="Roboto"/>
                <a:cs typeface="Roboto"/>
                <a:sym typeface="Roboto"/>
              </a:rPr>
              <a:t>Built </a:t>
            </a:r>
            <a:r>
              <a:rPr lang="en-AU" sz="1400" dirty="0">
                <a:solidFill>
                  <a:srgbClr val="0F2B3F"/>
                </a:solidFill>
                <a:latin typeface="Roboto"/>
                <a:ea typeface="Roboto"/>
                <a:cs typeface="Roboto"/>
                <a:sym typeface="Roboto"/>
              </a:rPr>
              <a:t>i</a:t>
            </a:r>
            <a:r>
              <a:rPr lang="en-AU" sz="1400" u="none" strike="noStrike" dirty="0">
                <a:solidFill>
                  <a:srgbClr val="0F2B3F"/>
                </a:solidFill>
                <a:latin typeface="Roboto"/>
                <a:ea typeface="Roboto"/>
                <a:cs typeface="Roboto"/>
                <a:sym typeface="Roboto"/>
              </a:rPr>
              <a:t>nteractive reporting solutions using SSRS</a:t>
            </a:r>
          </a:p>
          <a:p>
            <a:pPr marL="302261" lvl="1" indent="-151130">
              <a:lnSpc>
                <a:spcPts val="1960"/>
              </a:lnSpc>
              <a:spcBef>
                <a:spcPct val="0"/>
              </a:spcBef>
              <a:buFont typeface="Arial"/>
              <a:buChar char="•"/>
            </a:pPr>
            <a:r>
              <a:rPr lang="en-AU" sz="1400" u="none" strike="noStrike" dirty="0">
                <a:solidFill>
                  <a:srgbClr val="0F2B3F"/>
                </a:solidFill>
                <a:latin typeface="Roboto"/>
                <a:ea typeface="Roboto"/>
                <a:cs typeface="Roboto"/>
                <a:sym typeface="Roboto"/>
              </a:rPr>
              <a:t>Worked closely with business analysts and business users during all phases of product development</a:t>
            </a:r>
          </a:p>
          <a:p>
            <a:pPr marL="302261" lvl="1" indent="-151130">
              <a:lnSpc>
                <a:spcPts val="1960"/>
              </a:lnSpc>
              <a:spcBef>
                <a:spcPct val="0"/>
              </a:spcBef>
              <a:buFont typeface="Arial"/>
              <a:buChar char="•"/>
            </a:pPr>
            <a:r>
              <a:rPr lang="en-AU" sz="1400" u="none" strike="noStrike" dirty="0">
                <a:solidFill>
                  <a:srgbClr val="0F2B3F"/>
                </a:solidFill>
                <a:latin typeface="Roboto"/>
                <a:ea typeface="Roboto"/>
                <a:cs typeface="Roboto"/>
                <a:sym typeface="Roboto"/>
              </a:rPr>
              <a:t>Provided build walkthrough before UAT</a:t>
            </a:r>
          </a:p>
          <a:p>
            <a:pPr marL="302261" lvl="1" indent="-151130">
              <a:lnSpc>
                <a:spcPts val="1960"/>
              </a:lnSpc>
              <a:spcBef>
                <a:spcPct val="0"/>
              </a:spcBef>
              <a:buFont typeface="Arial"/>
              <a:buChar char="•"/>
            </a:pPr>
            <a:r>
              <a:rPr lang="en-AU" sz="1400" u="none" strike="noStrike" dirty="0">
                <a:solidFill>
                  <a:srgbClr val="0F2B3F"/>
                </a:solidFill>
                <a:latin typeface="Roboto"/>
                <a:ea typeface="Roboto"/>
                <a:cs typeface="Roboto"/>
                <a:sym typeface="Roboto"/>
              </a:rPr>
              <a:t>Provided regression &amp; progression support</a:t>
            </a:r>
          </a:p>
          <a:p>
            <a:pPr marL="302261" lvl="1" indent="-151130">
              <a:lnSpc>
                <a:spcPts val="1960"/>
              </a:lnSpc>
              <a:spcBef>
                <a:spcPct val="0"/>
              </a:spcBef>
              <a:buFont typeface="Arial"/>
              <a:buChar char="•"/>
            </a:pPr>
            <a:r>
              <a:rPr lang="en-AU" sz="1400" u="none" strike="noStrike" dirty="0">
                <a:solidFill>
                  <a:srgbClr val="0F2B3F"/>
                </a:solidFill>
                <a:latin typeface="Roboto"/>
                <a:ea typeface="Roboto"/>
                <a:cs typeface="Roboto"/>
                <a:sym typeface="Roboto"/>
              </a:rPr>
              <a:t>Wrote testing procedures using </a:t>
            </a:r>
            <a:r>
              <a:rPr lang="en-AU" sz="1400" dirty="0">
                <a:solidFill>
                  <a:srgbClr val="0F2B3F"/>
                </a:solidFill>
                <a:latin typeface="Roboto"/>
                <a:ea typeface="Roboto"/>
                <a:cs typeface="Roboto"/>
                <a:sym typeface="Roboto"/>
              </a:rPr>
              <a:t>T-</a:t>
            </a:r>
            <a:r>
              <a:rPr lang="en-AU" sz="1400" u="none" strike="noStrike" dirty="0" err="1">
                <a:solidFill>
                  <a:srgbClr val="0F2B3F"/>
                </a:solidFill>
                <a:latin typeface="Roboto"/>
                <a:ea typeface="Roboto"/>
                <a:cs typeface="Roboto"/>
                <a:sym typeface="Roboto"/>
              </a:rPr>
              <a:t>SQLt</a:t>
            </a:r>
            <a:endParaRPr lang="en-AU" sz="1400" u="none" strike="noStrike" dirty="0">
              <a:solidFill>
                <a:srgbClr val="0F2B3F"/>
              </a:solidFill>
              <a:latin typeface="Roboto"/>
              <a:ea typeface="Roboto"/>
              <a:cs typeface="Roboto"/>
              <a:sym typeface="Roboto"/>
            </a:endParaRPr>
          </a:p>
          <a:p>
            <a:pPr marL="302261" lvl="1" indent="-151130">
              <a:lnSpc>
                <a:spcPts val="1960"/>
              </a:lnSpc>
              <a:spcBef>
                <a:spcPct val="0"/>
              </a:spcBef>
              <a:buFont typeface="Arial"/>
              <a:buChar char="•"/>
            </a:pPr>
            <a:r>
              <a:rPr lang="en-AU" sz="1400" u="none" strike="noStrike" dirty="0">
                <a:solidFill>
                  <a:srgbClr val="0F2B3F"/>
                </a:solidFill>
                <a:latin typeface="Roboto"/>
                <a:ea typeface="Roboto"/>
                <a:cs typeface="Roboto"/>
                <a:sym typeface="Roboto"/>
              </a:rPr>
              <a:t>Documented processes and application instructions</a:t>
            </a:r>
            <a:endParaRPr lang="en-US" sz="1400" u="none" strike="noStrike" dirty="0">
              <a:solidFill>
                <a:srgbClr val="0F2B3F"/>
              </a:solidFill>
              <a:latin typeface="Roboto"/>
              <a:ea typeface="Roboto"/>
              <a:cs typeface="Roboto"/>
              <a:sym typeface="Roboto"/>
            </a:endParaRPr>
          </a:p>
        </p:txBody>
      </p:sp>
      <p:sp>
        <p:nvSpPr>
          <p:cNvPr id="23" name="AutoShape 23"/>
          <p:cNvSpPr/>
          <p:nvPr/>
        </p:nvSpPr>
        <p:spPr>
          <a:xfrm>
            <a:off x="460616" y="7080882"/>
            <a:ext cx="3944578" cy="0"/>
          </a:xfrm>
          <a:prstGeom prst="line">
            <a:avLst/>
          </a:prstGeom>
          <a:ln w="19050" cap="flat">
            <a:solidFill>
              <a:srgbClr val="0F2B3F"/>
            </a:solidFill>
            <a:prstDash val="sysDot"/>
            <a:headEnd type="none" w="sm" len="sm"/>
            <a:tailEnd type="none" w="sm" len="sm"/>
          </a:ln>
        </p:spPr>
        <p:txBody>
          <a:bodyPr/>
          <a:lstStyle/>
          <a:p>
            <a:endParaRPr lang="en-AU"/>
          </a:p>
        </p:txBody>
      </p:sp>
      <p:grpSp>
        <p:nvGrpSpPr>
          <p:cNvPr id="24" name="Group 24"/>
          <p:cNvGrpSpPr/>
          <p:nvPr/>
        </p:nvGrpSpPr>
        <p:grpSpPr>
          <a:xfrm>
            <a:off x="200025" y="6502345"/>
            <a:ext cx="6493375" cy="3410028"/>
            <a:chOff x="0" y="0"/>
            <a:chExt cx="1710189" cy="898114"/>
          </a:xfrm>
        </p:grpSpPr>
        <p:sp>
          <p:nvSpPr>
            <p:cNvPr id="25" name="Freeform 25"/>
            <p:cNvSpPr/>
            <p:nvPr/>
          </p:nvSpPr>
          <p:spPr>
            <a:xfrm>
              <a:off x="0" y="0"/>
              <a:ext cx="1710189" cy="898114"/>
            </a:xfrm>
            <a:custGeom>
              <a:avLst/>
              <a:gdLst/>
              <a:ahLst/>
              <a:cxnLst/>
              <a:rect l="l" t="t" r="r" b="b"/>
              <a:pathLst>
                <a:path w="1710189" h="898114">
                  <a:moveTo>
                    <a:pt x="0" y="0"/>
                  </a:moveTo>
                  <a:lnTo>
                    <a:pt x="1710189" y="0"/>
                  </a:lnTo>
                  <a:lnTo>
                    <a:pt x="1710189" y="898114"/>
                  </a:lnTo>
                  <a:lnTo>
                    <a:pt x="0" y="898114"/>
                  </a:lnTo>
                  <a:close/>
                </a:path>
              </a:pathLst>
            </a:custGeom>
            <a:solidFill>
              <a:srgbClr val="0F2B3F"/>
            </a:solidFill>
          </p:spPr>
          <p:txBody>
            <a:bodyPr/>
            <a:lstStyle/>
            <a:p>
              <a:endParaRPr lang="en-AU"/>
            </a:p>
          </p:txBody>
        </p:sp>
        <p:sp>
          <p:nvSpPr>
            <p:cNvPr id="26" name="TextBox 26"/>
            <p:cNvSpPr txBox="1"/>
            <p:nvPr/>
          </p:nvSpPr>
          <p:spPr>
            <a:xfrm>
              <a:off x="0" y="-38100"/>
              <a:ext cx="1710189" cy="936214"/>
            </a:xfrm>
            <a:prstGeom prst="rect">
              <a:avLst/>
            </a:prstGeom>
          </p:spPr>
          <p:txBody>
            <a:bodyPr lIns="50800" tIns="50800" rIns="50800" bIns="50800" rtlCol="0" anchor="ctr"/>
            <a:lstStyle/>
            <a:p>
              <a:pPr algn="ctr">
                <a:lnSpc>
                  <a:spcPts val="2693"/>
                </a:lnSpc>
              </a:pPr>
              <a:endParaRPr/>
            </a:p>
          </p:txBody>
        </p:sp>
      </p:grpSp>
      <p:sp>
        <p:nvSpPr>
          <p:cNvPr id="27" name="TextBox 27"/>
          <p:cNvSpPr txBox="1"/>
          <p:nvPr/>
        </p:nvSpPr>
        <p:spPr>
          <a:xfrm>
            <a:off x="301927" y="7042716"/>
            <a:ext cx="2543313" cy="2818079"/>
          </a:xfrm>
          <a:prstGeom prst="rect">
            <a:avLst/>
          </a:prstGeom>
        </p:spPr>
        <p:txBody>
          <a:bodyPr lIns="0" tIns="0" rIns="0" bIns="0" rtlCol="0" anchor="t">
            <a:spAutoFit/>
          </a:bodyPr>
          <a:lstStyle/>
          <a:p>
            <a:pPr marL="259078" lvl="1" indent="-129539" algn="l">
              <a:lnSpc>
                <a:spcPts val="1679"/>
              </a:lnSpc>
              <a:buFont typeface="Arial"/>
              <a:buChar char="•"/>
            </a:pPr>
            <a:r>
              <a:rPr lang="en-US" sz="1199" dirty="0">
                <a:solidFill>
                  <a:srgbClr val="FFFFFF"/>
                </a:solidFill>
                <a:latin typeface="Roboto"/>
                <a:ea typeface="Roboto"/>
                <a:cs typeface="Roboto"/>
                <a:sym typeface="Roboto"/>
              </a:rPr>
              <a:t>Data Engineering</a:t>
            </a:r>
          </a:p>
          <a:p>
            <a:pPr marL="259078" lvl="1" indent="-129539" algn="l">
              <a:lnSpc>
                <a:spcPts val="1679"/>
              </a:lnSpc>
              <a:buFont typeface="Arial"/>
              <a:buChar char="•"/>
            </a:pPr>
            <a:r>
              <a:rPr lang="en-US" sz="1199" dirty="0">
                <a:solidFill>
                  <a:srgbClr val="FFFFFF"/>
                </a:solidFill>
                <a:latin typeface="Roboto"/>
                <a:ea typeface="Roboto"/>
                <a:cs typeface="Roboto"/>
                <a:sym typeface="Roboto"/>
              </a:rPr>
              <a:t>Data Architecture</a:t>
            </a:r>
          </a:p>
          <a:p>
            <a:pPr marL="259078" lvl="1" indent="-129539" algn="l">
              <a:lnSpc>
                <a:spcPts val="1679"/>
              </a:lnSpc>
              <a:buFont typeface="Arial"/>
              <a:buChar char="•"/>
            </a:pPr>
            <a:r>
              <a:rPr lang="en-US" sz="1199" dirty="0">
                <a:solidFill>
                  <a:srgbClr val="FFFFFF"/>
                </a:solidFill>
                <a:latin typeface="Roboto"/>
                <a:ea typeface="Roboto"/>
                <a:cs typeface="Roboto"/>
                <a:sym typeface="Roboto"/>
              </a:rPr>
              <a:t>Data Migration</a:t>
            </a:r>
          </a:p>
          <a:p>
            <a:pPr marL="259078" lvl="1" indent="-129539" algn="l">
              <a:lnSpc>
                <a:spcPts val="1679"/>
              </a:lnSpc>
              <a:buFont typeface="Arial"/>
              <a:buChar char="•"/>
            </a:pPr>
            <a:r>
              <a:rPr lang="en-US" sz="1199" dirty="0">
                <a:solidFill>
                  <a:srgbClr val="FFFFFF"/>
                </a:solidFill>
                <a:latin typeface="Roboto"/>
                <a:ea typeface="Roboto"/>
                <a:cs typeface="Roboto"/>
                <a:sym typeface="Roboto"/>
              </a:rPr>
              <a:t>Data Visualisation</a:t>
            </a:r>
          </a:p>
          <a:p>
            <a:pPr marL="259078" lvl="1" indent="-129539" algn="l">
              <a:lnSpc>
                <a:spcPts val="1679"/>
              </a:lnSpc>
              <a:buFont typeface="Arial"/>
              <a:buChar char="•"/>
            </a:pPr>
            <a:r>
              <a:rPr lang="en-US" sz="1199" dirty="0">
                <a:solidFill>
                  <a:srgbClr val="FFFFFF"/>
                </a:solidFill>
                <a:latin typeface="Roboto"/>
                <a:ea typeface="Roboto"/>
                <a:cs typeface="Roboto"/>
                <a:sym typeface="Roboto"/>
              </a:rPr>
              <a:t>Data Analytics</a:t>
            </a:r>
          </a:p>
          <a:p>
            <a:pPr marL="259078" lvl="1" indent="-129539" algn="l">
              <a:lnSpc>
                <a:spcPts val="1679"/>
              </a:lnSpc>
              <a:buFont typeface="Arial"/>
              <a:buChar char="•"/>
            </a:pPr>
            <a:r>
              <a:rPr lang="en-US" sz="1199" dirty="0">
                <a:solidFill>
                  <a:srgbClr val="FFFFFF"/>
                </a:solidFill>
                <a:latin typeface="Roboto"/>
                <a:ea typeface="Roboto"/>
                <a:cs typeface="Roboto"/>
                <a:sym typeface="Roboto"/>
              </a:rPr>
              <a:t>Data Leadership</a:t>
            </a:r>
          </a:p>
          <a:p>
            <a:pPr marL="259078" lvl="1" indent="-129539" algn="l">
              <a:lnSpc>
                <a:spcPts val="1679"/>
              </a:lnSpc>
              <a:buFont typeface="Arial"/>
              <a:buChar char="•"/>
            </a:pPr>
            <a:r>
              <a:rPr lang="en-US" sz="1199" dirty="0">
                <a:solidFill>
                  <a:srgbClr val="FFFFFF"/>
                </a:solidFill>
                <a:latin typeface="Roboto"/>
                <a:ea typeface="Roboto"/>
                <a:cs typeface="Roboto"/>
                <a:sym typeface="Roboto"/>
              </a:rPr>
              <a:t>Cloud Computing</a:t>
            </a:r>
          </a:p>
          <a:p>
            <a:pPr marL="259078" lvl="1" indent="-129539" algn="l">
              <a:lnSpc>
                <a:spcPts val="1679"/>
              </a:lnSpc>
              <a:buFont typeface="Arial"/>
              <a:buChar char="•"/>
            </a:pPr>
            <a:r>
              <a:rPr lang="en-US" sz="1199" dirty="0">
                <a:solidFill>
                  <a:srgbClr val="FFFFFF"/>
                </a:solidFill>
                <a:latin typeface="Roboto"/>
                <a:ea typeface="Roboto"/>
                <a:cs typeface="Roboto"/>
                <a:sym typeface="Roboto"/>
              </a:rPr>
              <a:t>ETL</a:t>
            </a:r>
          </a:p>
          <a:p>
            <a:pPr marL="259078" lvl="1" indent="-129539" algn="l">
              <a:lnSpc>
                <a:spcPts val="1679"/>
              </a:lnSpc>
              <a:buFont typeface="Arial"/>
              <a:buChar char="•"/>
            </a:pPr>
            <a:r>
              <a:rPr lang="en-US" sz="1199" dirty="0">
                <a:solidFill>
                  <a:srgbClr val="FFFFFF"/>
                </a:solidFill>
                <a:latin typeface="Roboto"/>
                <a:ea typeface="Roboto"/>
                <a:cs typeface="Roboto"/>
                <a:sym typeface="Roboto"/>
              </a:rPr>
              <a:t>AI/ML</a:t>
            </a:r>
          </a:p>
          <a:p>
            <a:pPr marL="259078" lvl="1" indent="-129539" algn="l">
              <a:lnSpc>
                <a:spcPts val="1679"/>
              </a:lnSpc>
              <a:buFont typeface="Arial"/>
              <a:buChar char="•"/>
            </a:pPr>
            <a:r>
              <a:rPr lang="en-US" sz="1199" dirty="0">
                <a:solidFill>
                  <a:srgbClr val="FFFFFF"/>
                </a:solidFill>
                <a:latin typeface="Roboto"/>
                <a:ea typeface="Roboto"/>
                <a:cs typeface="Roboto"/>
                <a:sym typeface="Roboto"/>
              </a:rPr>
              <a:t>Business Intelligence</a:t>
            </a:r>
          </a:p>
          <a:p>
            <a:pPr marL="259078" lvl="1" indent="-129539" algn="l">
              <a:lnSpc>
                <a:spcPts val="1679"/>
              </a:lnSpc>
              <a:buFont typeface="Arial"/>
              <a:buChar char="•"/>
            </a:pPr>
            <a:r>
              <a:rPr lang="en-US" sz="1199" dirty="0">
                <a:solidFill>
                  <a:srgbClr val="FFFFFF"/>
                </a:solidFill>
                <a:latin typeface="Roboto"/>
                <a:ea typeface="Roboto"/>
                <a:cs typeface="Roboto"/>
                <a:sym typeface="Roboto"/>
              </a:rPr>
              <a:t>Mentoring</a:t>
            </a:r>
          </a:p>
          <a:p>
            <a:pPr marL="259078" lvl="1" indent="-129539" algn="l">
              <a:lnSpc>
                <a:spcPts val="1679"/>
              </a:lnSpc>
              <a:buFont typeface="Arial"/>
              <a:buChar char="•"/>
            </a:pPr>
            <a:r>
              <a:rPr lang="en-US" sz="1199" dirty="0">
                <a:solidFill>
                  <a:srgbClr val="FFFFFF"/>
                </a:solidFill>
                <a:latin typeface="Roboto"/>
                <a:ea typeface="Roboto"/>
                <a:cs typeface="Roboto"/>
                <a:sym typeface="Roboto"/>
              </a:rPr>
              <a:t>SSRS</a:t>
            </a:r>
          </a:p>
          <a:p>
            <a:pPr marL="259078" lvl="1" indent="-129539" algn="l">
              <a:lnSpc>
                <a:spcPts val="1679"/>
              </a:lnSpc>
              <a:buFont typeface="Arial"/>
              <a:buChar char="•"/>
            </a:pPr>
            <a:r>
              <a:rPr lang="en-US" sz="1199" dirty="0">
                <a:solidFill>
                  <a:srgbClr val="FFFFFF"/>
                </a:solidFill>
                <a:latin typeface="Roboto"/>
                <a:ea typeface="Roboto"/>
                <a:cs typeface="Roboto"/>
                <a:sym typeface="Roboto"/>
              </a:rPr>
              <a:t>SSIS</a:t>
            </a:r>
          </a:p>
        </p:txBody>
      </p:sp>
      <p:sp>
        <p:nvSpPr>
          <p:cNvPr id="28" name="TextBox 28"/>
          <p:cNvSpPr txBox="1"/>
          <p:nvPr/>
        </p:nvSpPr>
        <p:spPr>
          <a:xfrm>
            <a:off x="2945632" y="6690454"/>
            <a:ext cx="1957414" cy="3036088"/>
          </a:xfrm>
          <a:prstGeom prst="rect">
            <a:avLst/>
          </a:prstGeom>
        </p:spPr>
        <p:txBody>
          <a:bodyPr wrap="square" lIns="0" tIns="0" rIns="0" bIns="0" rtlCol="0" anchor="t">
            <a:spAutoFit/>
          </a:bodyPr>
          <a:lstStyle/>
          <a:p>
            <a:pPr algn="l">
              <a:lnSpc>
                <a:spcPts val="1679"/>
              </a:lnSpc>
            </a:pPr>
            <a:r>
              <a:rPr lang="en-US" sz="1199" b="1" dirty="0">
                <a:solidFill>
                  <a:srgbClr val="00AA7F"/>
                </a:solidFill>
                <a:latin typeface="Roboto Bold"/>
                <a:ea typeface="Roboto Bold"/>
                <a:cs typeface="Roboto Bold"/>
                <a:sym typeface="Roboto Bold"/>
              </a:rPr>
              <a:t>Platforms​</a:t>
            </a:r>
          </a:p>
          <a:p>
            <a:pPr marL="259078" lvl="1" indent="-129539" algn="l">
              <a:lnSpc>
                <a:spcPts val="1679"/>
              </a:lnSpc>
              <a:buFont typeface="Arial"/>
              <a:buChar char="•"/>
            </a:pPr>
            <a:r>
              <a:rPr lang="en-US" sz="1199" dirty="0">
                <a:solidFill>
                  <a:srgbClr val="FFFFFF"/>
                </a:solidFill>
                <a:latin typeface="Roboto"/>
                <a:ea typeface="Roboto"/>
                <a:cs typeface="Roboto"/>
                <a:sym typeface="Roboto"/>
              </a:rPr>
              <a:t>Microsoft Azure​</a:t>
            </a:r>
          </a:p>
          <a:p>
            <a:pPr marL="259078" lvl="1" indent="-129539" algn="l">
              <a:lnSpc>
                <a:spcPts val="1679"/>
              </a:lnSpc>
              <a:buFont typeface="Arial"/>
              <a:buChar char="•"/>
            </a:pPr>
            <a:r>
              <a:rPr lang="en-US" sz="1199" dirty="0">
                <a:solidFill>
                  <a:srgbClr val="FFFFFF"/>
                </a:solidFill>
                <a:latin typeface="Roboto"/>
                <a:ea typeface="Roboto"/>
                <a:cs typeface="Roboto"/>
                <a:sym typeface="Roboto"/>
              </a:rPr>
              <a:t>AWS​</a:t>
            </a:r>
          </a:p>
          <a:p>
            <a:pPr marL="259078" lvl="1" indent="-129539">
              <a:lnSpc>
                <a:spcPts val="1679"/>
              </a:lnSpc>
              <a:buFont typeface="Arial"/>
              <a:buChar char="•"/>
            </a:pPr>
            <a:r>
              <a:rPr lang="en-US" sz="1199" dirty="0">
                <a:solidFill>
                  <a:srgbClr val="FFFFFF"/>
                </a:solidFill>
                <a:latin typeface="Roboto"/>
                <a:ea typeface="Roboto"/>
                <a:sym typeface="Roboto Bold"/>
              </a:rPr>
              <a:t>Windows</a:t>
            </a:r>
          </a:p>
          <a:p>
            <a:pPr marL="259078" lvl="1" indent="-129539">
              <a:lnSpc>
                <a:spcPts val="1679"/>
              </a:lnSpc>
              <a:buFont typeface="Arial"/>
              <a:buChar char="•"/>
            </a:pPr>
            <a:r>
              <a:rPr lang="en-US" sz="1199" dirty="0">
                <a:solidFill>
                  <a:srgbClr val="FFFFFF"/>
                </a:solidFill>
                <a:latin typeface="Roboto"/>
                <a:ea typeface="Roboto"/>
                <a:sym typeface="Roboto Bold"/>
              </a:rPr>
              <a:t>LINUX</a:t>
            </a:r>
          </a:p>
          <a:p>
            <a:pPr marL="259078" lvl="1" indent="-129539">
              <a:lnSpc>
                <a:spcPts val="1679"/>
              </a:lnSpc>
              <a:buFont typeface="Arial"/>
              <a:buChar char="•"/>
            </a:pPr>
            <a:r>
              <a:rPr lang="en-US" sz="1199" dirty="0">
                <a:solidFill>
                  <a:srgbClr val="FFFFFF"/>
                </a:solidFill>
                <a:latin typeface="Roboto"/>
                <a:ea typeface="Roboto"/>
                <a:sym typeface="Roboto Bold"/>
              </a:rPr>
              <a:t>SQL Server</a:t>
            </a:r>
          </a:p>
          <a:p>
            <a:pPr marL="259078" lvl="1" indent="-129539">
              <a:lnSpc>
                <a:spcPts val="1679"/>
              </a:lnSpc>
              <a:buFont typeface="Arial"/>
              <a:buChar char="•"/>
            </a:pPr>
            <a:r>
              <a:rPr lang="en-US" sz="1199" dirty="0">
                <a:solidFill>
                  <a:srgbClr val="FFFFFF"/>
                </a:solidFill>
                <a:latin typeface="Roboto"/>
                <a:ea typeface="Roboto"/>
                <a:sym typeface="Roboto Bold"/>
              </a:rPr>
              <a:t>Sybase</a:t>
            </a:r>
          </a:p>
          <a:p>
            <a:pPr marL="259078" lvl="1" indent="-129539">
              <a:lnSpc>
                <a:spcPts val="1679"/>
              </a:lnSpc>
              <a:buFont typeface="Arial"/>
              <a:buChar char="•"/>
            </a:pPr>
            <a:r>
              <a:rPr lang="en-US" sz="1199" dirty="0">
                <a:solidFill>
                  <a:srgbClr val="FFFFFF"/>
                </a:solidFill>
                <a:latin typeface="Roboto"/>
                <a:ea typeface="Roboto"/>
                <a:sym typeface="Roboto Bold"/>
              </a:rPr>
              <a:t>Oracle</a:t>
            </a:r>
          </a:p>
          <a:p>
            <a:pPr>
              <a:lnSpc>
                <a:spcPts val="1679"/>
              </a:lnSpc>
            </a:pPr>
            <a:r>
              <a:rPr lang="en-AU" sz="1199" b="1" dirty="0">
                <a:solidFill>
                  <a:srgbClr val="00AA7F"/>
                </a:solidFill>
                <a:latin typeface="Roboto Bold"/>
                <a:ea typeface="Roboto Bold"/>
              </a:rPr>
              <a:t>Programming</a:t>
            </a:r>
            <a:endParaRPr lang="en-US" sz="1199" b="1" dirty="0">
              <a:solidFill>
                <a:srgbClr val="00AA7F"/>
              </a:solidFill>
              <a:latin typeface="Roboto Bold"/>
              <a:ea typeface="Roboto Bold"/>
              <a:sym typeface="Roboto Bold"/>
            </a:endParaRPr>
          </a:p>
          <a:p>
            <a:pPr marL="259078" lvl="1" indent="-129539">
              <a:lnSpc>
                <a:spcPts val="1679"/>
              </a:lnSpc>
              <a:buFont typeface="Arial"/>
              <a:buChar char="•"/>
            </a:pPr>
            <a:r>
              <a:rPr lang="en-US" sz="1199" dirty="0">
                <a:solidFill>
                  <a:srgbClr val="FFFFFF"/>
                </a:solidFill>
                <a:latin typeface="Roboto"/>
                <a:ea typeface="Roboto"/>
                <a:cs typeface="Roboto"/>
                <a:sym typeface="Roboto"/>
              </a:rPr>
              <a:t>R</a:t>
            </a:r>
          </a:p>
          <a:p>
            <a:pPr marL="259078" lvl="1" indent="-129539">
              <a:lnSpc>
                <a:spcPts val="1679"/>
              </a:lnSpc>
              <a:buFont typeface="Arial"/>
              <a:buChar char="•"/>
            </a:pPr>
            <a:r>
              <a:rPr lang="en-US" sz="1199" dirty="0">
                <a:solidFill>
                  <a:srgbClr val="FFFFFF"/>
                </a:solidFill>
                <a:latin typeface="Roboto"/>
                <a:ea typeface="Roboto"/>
                <a:cs typeface="Roboto"/>
                <a:sym typeface="Roboto"/>
              </a:rPr>
              <a:t>Python</a:t>
            </a:r>
          </a:p>
          <a:p>
            <a:pPr marL="259078" lvl="1" indent="-129539" algn="l">
              <a:lnSpc>
                <a:spcPts val="1679"/>
              </a:lnSpc>
              <a:buFont typeface="Arial"/>
              <a:buChar char="•"/>
            </a:pPr>
            <a:r>
              <a:rPr lang="en-US" sz="1199" dirty="0">
                <a:solidFill>
                  <a:srgbClr val="FFFFFF"/>
                </a:solidFill>
                <a:latin typeface="Roboto"/>
                <a:ea typeface="Roboto"/>
                <a:cs typeface="Roboto"/>
                <a:sym typeface="Roboto"/>
              </a:rPr>
              <a:t>C#</a:t>
            </a:r>
          </a:p>
          <a:p>
            <a:pPr marL="259078" lvl="1" indent="-129539" algn="l">
              <a:lnSpc>
                <a:spcPts val="1679"/>
              </a:lnSpc>
              <a:buFont typeface="Arial"/>
              <a:buChar char="•"/>
            </a:pPr>
            <a:r>
              <a:rPr lang="en-US" sz="1199" dirty="0" err="1">
                <a:solidFill>
                  <a:srgbClr val="FFFFFF"/>
                </a:solidFill>
                <a:latin typeface="Roboto"/>
                <a:ea typeface="Roboto"/>
                <a:cs typeface="Roboto"/>
                <a:sym typeface="Roboto"/>
              </a:rPr>
              <a:t>Vb.Net</a:t>
            </a:r>
            <a:endParaRPr lang="en-US" sz="1199" dirty="0">
              <a:solidFill>
                <a:srgbClr val="FFFFFF"/>
              </a:solidFill>
              <a:latin typeface="Roboto"/>
              <a:ea typeface="Roboto"/>
              <a:cs typeface="Roboto"/>
              <a:sym typeface="Roboto"/>
            </a:endParaRPr>
          </a:p>
          <a:p>
            <a:pPr marL="259078" lvl="1" indent="-129539" algn="l">
              <a:lnSpc>
                <a:spcPts val="1679"/>
              </a:lnSpc>
              <a:buFont typeface="Arial"/>
              <a:buChar char="•"/>
            </a:pPr>
            <a:r>
              <a:rPr lang="en-US" sz="1199" dirty="0">
                <a:solidFill>
                  <a:srgbClr val="FFFFFF"/>
                </a:solidFill>
                <a:latin typeface="Roboto"/>
                <a:ea typeface="Roboto"/>
                <a:cs typeface="Roboto"/>
                <a:sym typeface="Roboto"/>
              </a:rPr>
              <a:t>VBAR</a:t>
            </a:r>
          </a:p>
        </p:txBody>
      </p:sp>
      <p:sp>
        <p:nvSpPr>
          <p:cNvPr id="29" name="TextBox 29"/>
          <p:cNvSpPr txBox="1"/>
          <p:nvPr/>
        </p:nvSpPr>
        <p:spPr>
          <a:xfrm>
            <a:off x="387699" y="6632364"/>
            <a:ext cx="3823490" cy="358775"/>
          </a:xfrm>
          <a:prstGeom prst="rect">
            <a:avLst/>
          </a:prstGeom>
        </p:spPr>
        <p:txBody>
          <a:bodyPr lIns="0" tIns="0" rIns="0" bIns="0" rtlCol="0" anchor="t">
            <a:spAutoFit/>
          </a:bodyPr>
          <a:lstStyle/>
          <a:p>
            <a:pPr algn="l">
              <a:lnSpc>
                <a:spcPts val="2800"/>
              </a:lnSpc>
              <a:spcBef>
                <a:spcPct val="0"/>
              </a:spcBef>
            </a:pPr>
            <a:r>
              <a:rPr lang="en-US" sz="2000" b="1" dirty="0">
                <a:solidFill>
                  <a:srgbClr val="F18018"/>
                </a:solidFill>
                <a:latin typeface="Roboto Bold"/>
                <a:ea typeface="Roboto Bold"/>
                <a:cs typeface="Roboto Bold"/>
                <a:sym typeface="Roboto Bold"/>
              </a:rPr>
              <a:t>Key Skills &amp; Tech</a:t>
            </a:r>
          </a:p>
        </p:txBody>
      </p:sp>
      <p:sp>
        <p:nvSpPr>
          <p:cNvPr id="30" name="TextBox 30"/>
          <p:cNvSpPr txBox="1"/>
          <p:nvPr/>
        </p:nvSpPr>
        <p:spPr>
          <a:xfrm>
            <a:off x="4752033" y="6689595"/>
            <a:ext cx="1752557" cy="1946046"/>
          </a:xfrm>
          <a:prstGeom prst="rect">
            <a:avLst/>
          </a:prstGeom>
        </p:spPr>
        <p:txBody>
          <a:bodyPr lIns="0" tIns="0" rIns="0" bIns="0" rtlCol="0" anchor="t">
            <a:spAutoFit/>
          </a:bodyPr>
          <a:lstStyle/>
          <a:p>
            <a:pPr indent="-327661">
              <a:lnSpc>
                <a:spcPts val="1679"/>
              </a:lnSpc>
            </a:pPr>
            <a:r>
              <a:rPr lang="en-US" sz="1199" b="1" dirty="0">
                <a:solidFill>
                  <a:srgbClr val="00AA7F"/>
                </a:solidFill>
                <a:latin typeface="Roboto Bold"/>
                <a:ea typeface="Roboto Bold"/>
                <a:cs typeface="Roboto Bold"/>
                <a:sym typeface="Roboto Bold"/>
              </a:rPr>
              <a:t>BI Tools</a:t>
            </a:r>
            <a:r>
              <a:rPr lang="en-US" sz="1199" b="1" dirty="0">
                <a:solidFill>
                  <a:srgbClr val="0F2B3F"/>
                </a:solidFill>
                <a:latin typeface="Roboto Bold"/>
                <a:ea typeface="Roboto Bold"/>
                <a:cs typeface="Roboto Bold"/>
                <a:sym typeface="Roboto Bold"/>
              </a:rPr>
              <a:t>​</a:t>
            </a:r>
          </a:p>
          <a:p>
            <a:pPr marL="259078" lvl="1" indent="-129539" algn="l">
              <a:lnSpc>
                <a:spcPts val="1679"/>
              </a:lnSpc>
              <a:buFont typeface="Arial"/>
              <a:buChar char="•"/>
            </a:pPr>
            <a:r>
              <a:rPr lang="en-US" sz="1199" dirty="0">
                <a:solidFill>
                  <a:srgbClr val="FFFFFF"/>
                </a:solidFill>
                <a:latin typeface="Roboto"/>
                <a:ea typeface="Roboto"/>
                <a:cs typeface="Roboto"/>
                <a:sym typeface="Roboto"/>
              </a:rPr>
              <a:t>Power BI</a:t>
            </a:r>
          </a:p>
          <a:p>
            <a:pPr marL="259078" lvl="1" indent="-129539" algn="l">
              <a:lnSpc>
                <a:spcPts val="1679"/>
              </a:lnSpc>
              <a:buFont typeface="Arial"/>
              <a:buChar char="•"/>
            </a:pPr>
            <a:r>
              <a:rPr lang="en-US" sz="1199" dirty="0">
                <a:solidFill>
                  <a:srgbClr val="FFFFFF"/>
                </a:solidFill>
                <a:latin typeface="Roboto"/>
                <a:ea typeface="Roboto"/>
                <a:cs typeface="Roboto"/>
                <a:sym typeface="Roboto"/>
              </a:rPr>
              <a:t>QlikView</a:t>
            </a:r>
          </a:p>
          <a:p>
            <a:pPr marL="259078" lvl="1" indent="-129539" algn="l">
              <a:lnSpc>
                <a:spcPts val="1679"/>
              </a:lnSpc>
              <a:buFont typeface="Arial"/>
              <a:buChar char="•"/>
            </a:pPr>
            <a:r>
              <a:rPr lang="en-US" sz="1199" dirty="0">
                <a:solidFill>
                  <a:srgbClr val="FFFFFF"/>
                </a:solidFill>
                <a:latin typeface="Roboto"/>
                <a:ea typeface="Roboto"/>
                <a:cs typeface="Roboto"/>
                <a:sym typeface="Roboto"/>
              </a:rPr>
              <a:t>SAP Crystal Reports</a:t>
            </a:r>
          </a:p>
          <a:p>
            <a:pPr marL="259078" lvl="1" indent="-129539" algn="l">
              <a:lnSpc>
                <a:spcPts val="1679"/>
              </a:lnSpc>
              <a:buFont typeface="Arial"/>
              <a:buChar char="•"/>
            </a:pPr>
            <a:r>
              <a:rPr lang="en-US" sz="1199" dirty="0">
                <a:solidFill>
                  <a:srgbClr val="FFFFFF"/>
                </a:solidFill>
                <a:latin typeface="Roboto"/>
                <a:ea typeface="Roboto"/>
                <a:cs typeface="Roboto"/>
                <a:sym typeface="Roboto"/>
              </a:rPr>
              <a:t>SQL</a:t>
            </a:r>
          </a:p>
          <a:p>
            <a:pPr marL="259078" lvl="1" indent="-129539">
              <a:lnSpc>
                <a:spcPts val="1679"/>
              </a:lnSpc>
              <a:buFont typeface="Arial"/>
              <a:buChar char="•"/>
            </a:pPr>
            <a:r>
              <a:rPr lang="en-US" sz="1199" dirty="0">
                <a:solidFill>
                  <a:srgbClr val="FFFFFF"/>
                </a:solidFill>
                <a:latin typeface="Roboto"/>
                <a:ea typeface="Roboto"/>
                <a:sym typeface="Roboto"/>
              </a:rPr>
              <a:t>MS Office</a:t>
            </a:r>
          </a:p>
          <a:p>
            <a:pPr marL="259078" lvl="1" indent="-129539">
              <a:lnSpc>
                <a:spcPts val="1679"/>
              </a:lnSpc>
              <a:buFont typeface="Arial"/>
              <a:buChar char="•"/>
            </a:pPr>
            <a:r>
              <a:rPr lang="en-US" sz="1199" dirty="0">
                <a:solidFill>
                  <a:srgbClr val="FFFFFF"/>
                </a:solidFill>
                <a:latin typeface="Roboto"/>
                <a:ea typeface="Roboto"/>
                <a:sym typeface="Roboto"/>
              </a:rPr>
              <a:t>Informatica</a:t>
            </a:r>
          </a:p>
          <a:p>
            <a:pPr marL="259078" lvl="1" indent="-129539">
              <a:lnSpc>
                <a:spcPts val="1679"/>
              </a:lnSpc>
              <a:buFont typeface="Arial"/>
              <a:buChar char="•"/>
            </a:pPr>
            <a:r>
              <a:rPr lang="en-US" sz="1199" dirty="0">
                <a:solidFill>
                  <a:srgbClr val="FFFFFF"/>
                </a:solidFill>
                <a:latin typeface="Roboto"/>
                <a:ea typeface="Roboto"/>
                <a:sym typeface="Roboto"/>
              </a:rPr>
              <a:t>PowerCenter</a:t>
            </a:r>
          </a:p>
          <a:p>
            <a:pPr marL="259078" lvl="1" indent="-129539">
              <a:lnSpc>
                <a:spcPts val="1679"/>
              </a:lnSpc>
              <a:buFont typeface="Arial"/>
              <a:buChar char="•"/>
            </a:pPr>
            <a:r>
              <a:rPr lang="en-US" sz="1199" dirty="0">
                <a:solidFill>
                  <a:srgbClr val="FFFFFF"/>
                </a:solidFill>
                <a:latin typeface="Roboto"/>
                <a:ea typeface="Roboto"/>
                <a:sym typeface="Roboto"/>
              </a:rPr>
              <a:t>MS Visio</a:t>
            </a:r>
          </a:p>
        </p:txBody>
      </p:sp>
      <p:sp>
        <p:nvSpPr>
          <p:cNvPr id="31" name="Freeform 31"/>
          <p:cNvSpPr/>
          <p:nvPr/>
        </p:nvSpPr>
        <p:spPr>
          <a:xfrm>
            <a:off x="140042" y="-24175"/>
            <a:ext cx="774435" cy="824275"/>
          </a:xfrm>
          <a:custGeom>
            <a:avLst/>
            <a:gdLst/>
            <a:ahLst/>
            <a:cxnLst/>
            <a:rect l="l" t="t" r="r" b="b"/>
            <a:pathLst>
              <a:path w="774435" h="824275">
                <a:moveTo>
                  <a:pt x="0" y="0"/>
                </a:moveTo>
                <a:lnTo>
                  <a:pt x="774435" y="0"/>
                </a:lnTo>
                <a:lnTo>
                  <a:pt x="774435" y="824275"/>
                </a:lnTo>
                <a:lnTo>
                  <a:pt x="0" y="824275"/>
                </a:lnTo>
                <a:lnTo>
                  <a:pt x="0" y="0"/>
                </a:lnTo>
                <a:close/>
              </a:path>
            </a:pathLst>
          </a:custGeom>
          <a:blipFill>
            <a:blip r:embed="rId3"/>
            <a:stretch>
              <a:fillRect/>
            </a:stretch>
          </a:blipFill>
        </p:spPr>
        <p:txBody>
          <a:bodyPr/>
          <a:lstStyle/>
          <a:p>
            <a:endParaRPr lang="en-AU"/>
          </a:p>
        </p:txBody>
      </p:sp>
      <p:sp>
        <p:nvSpPr>
          <p:cNvPr id="32" name="TextBox 32"/>
          <p:cNvSpPr txBox="1"/>
          <p:nvPr/>
        </p:nvSpPr>
        <p:spPr>
          <a:xfrm>
            <a:off x="1001693" y="103852"/>
            <a:ext cx="3570307" cy="556895"/>
          </a:xfrm>
          <a:prstGeom prst="rect">
            <a:avLst/>
          </a:prstGeom>
        </p:spPr>
        <p:txBody>
          <a:bodyPr lIns="0" tIns="0" rIns="0" bIns="0" rtlCol="0" anchor="t">
            <a:spAutoFit/>
          </a:bodyPr>
          <a:lstStyle/>
          <a:p>
            <a:pPr algn="l">
              <a:lnSpc>
                <a:spcPts val="4479"/>
              </a:lnSpc>
              <a:spcBef>
                <a:spcPct val="0"/>
              </a:spcBef>
            </a:pPr>
            <a:r>
              <a:rPr lang="en-US" sz="3199" b="1" dirty="0">
                <a:solidFill>
                  <a:srgbClr val="0F2B3F"/>
                </a:solidFill>
                <a:latin typeface="Roboto Bold"/>
                <a:ea typeface="Roboto Bold"/>
                <a:cs typeface="Roboto Bold"/>
                <a:sym typeface="Roboto Bold"/>
              </a:rPr>
              <a:t>Consultant Profile</a:t>
            </a:r>
          </a:p>
        </p:txBody>
      </p:sp>
      <p:sp>
        <p:nvSpPr>
          <p:cNvPr id="33" name="TextBox 21"/>
          <p:cNvSpPr txBox="1"/>
          <p:nvPr/>
        </p:nvSpPr>
        <p:spPr>
          <a:xfrm>
            <a:off x="7367528" y="898697"/>
            <a:ext cx="7962369" cy="2802049"/>
          </a:xfrm>
          <a:prstGeom prst="rect">
            <a:avLst/>
          </a:prstGeom>
        </p:spPr>
        <p:txBody>
          <a:bodyPr wrap="square" lIns="0" tIns="0" rIns="0" bIns="0" rtlCol="0" anchor="t">
            <a:spAutoFit/>
          </a:bodyPr>
          <a:lstStyle/>
          <a:p>
            <a:pPr>
              <a:lnSpc>
                <a:spcPts val="1960"/>
              </a:lnSpc>
              <a:spcBef>
                <a:spcPct val="0"/>
              </a:spcBef>
            </a:pPr>
            <a:r>
              <a:rPr lang="en-US" sz="1400" b="1" u="none" strike="noStrike" dirty="0">
                <a:solidFill>
                  <a:srgbClr val="0059FF"/>
                </a:solidFill>
                <a:latin typeface="Roboto Bold"/>
                <a:ea typeface="Roboto Bold"/>
                <a:cs typeface="Roboto Bold"/>
                <a:sym typeface="Roboto Bold"/>
              </a:rPr>
              <a:t>Financial Services </a:t>
            </a:r>
            <a:r>
              <a:rPr lang="en-US" sz="1400" b="1" u="none" strike="noStrike" dirty="0" err="1">
                <a:solidFill>
                  <a:srgbClr val="0059FF"/>
                </a:solidFill>
                <a:latin typeface="Roboto Bold"/>
                <a:ea typeface="Roboto Bold"/>
                <a:cs typeface="Roboto Bold"/>
                <a:sym typeface="Roboto Bold"/>
              </a:rPr>
              <a:t>Organisation</a:t>
            </a:r>
            <a:r>
              <a:rPr lang="en-US" sz="1400" b="1" u="none" strike="noStrike" dirty="0">
                <a:solidFill>
                  <a:srgbClr val="0059FF"/>
                </a:solidFill>
                <a:latin typeface="Roboto Bold"/>
                <a:ea typeface="Roboto Bold"/>
                <a:cs typeface="Roboto Bold"/>
                <a:sym typeface="Roboto Bold"/>
              </a:rPr>
              <a:t> – BI &amp; Data Engineer</a:t>
            </a:r>
          </a:p>
          <a:p>
            <a:pPr marL="302261" lvl="1" indent="-151130">
              <a:lnSpc>
                <a:spcPts val="1960"/>
              </a:lnSpc>
              <a:spcBef>
                <a:spcPct val="0"/>
              </a:spcBef>
              <a:buFont typeface="Arial"/>
              <a:buChar char="•"/>
            </a:pPr>
            <a:r>
              <a:rPr lang="en-AU" sz="1400" u="none" strike="noStrike" dirty="0">
                <a:solidFill>
                  <a:srgbClr val="0F2B3F"/>
                </a:solidFill>
                <a:latin typeface="Roboto"/>
                <a:ea typeface="Roboto"/>
                <a:cs typeface="Roboto"/>
                <a:sym typeface="Roboto"/>
              </a:rPr>
              <a:t>Lead a team of consultants and Sr. consultants on a data migration project, for both construction and deployment activities</a:t>
            </a:r>
          </a:p>
          <a:p>
            <a:pPr marL="302261" lvl="1" indent="-151130">
              <a:lnSpc>
                <a:spcPts val="1960"/>
              </a:lnSpc>
              <a:spcBef>
                <a:spcPct val="0"/>
              </a:spcBef>
              <a:buFont typeface="Arial"/>
              <a:buChar char="•"/>
            </a:pPr>
            <a:r>
              <a:rPr lang="en-AU" sz="1400" u="none" strike="noStrike" dirty="0">
                <a:solidFill>
                  <a:srgbClr val="0F2B3F"/>
                </a:solidFill>
                <a:latin typeface="Roboto"/>
                <a:ea typeface="Roboto"/>
                <a:cs typeface="Roboto"/>
                <a:sym typeface="Roboto"/>
              </a:rPr>
              <a:t>Worked closely with the client to understand the scope and deliver the same over a 3-week cycle</a:t>
            </a:r>
          </a:p>
          <a:p>
            <a:pPr marL="302261" lvl="1" indent="-151130">
              <a:lnSpc>
                <a:spcPts val="1960"/>
              </a:lnSpc>
              <a:spcBef>
                <a:spcPct val="0"/>
              </a:spcBef>
              <a:buFont typeface="Arial"/>
              <a:buChar char="•"/>
            </a:pPr>
            <a:r>
              <a:rPr lang="en-AU" sz="1400" u="none" strike="noStrike" dirty="0">
                <a:solidFill>
                  <a:srgbClr val="0F2B3F"/>
                </a:solidFill>
                <a:latin typeface="Roboto"/>
                <a:ea typeface="Roboto"/>
                <a:cs typeface="Roboto"/>
                <a:sym typeface="Roboto"/>
              </a:rPr>
              <a:t>Architected and developed business/ETL solutions using </a:t>
            </a:r>
            <a:r>
              <a:rPr lang="en-AU" sz="1400" u="none" strike="noStrike" dirty="0" err="1">
                <a:solidFill>
                  <a:srgbClr val="0F2B3F"/>
                </a:solidFill>
                <a:latin typeface="Roboto"/>
                <a:ea typeface="Roboto"/>
                <a:cs typeface="Roboto"/>
                <a:sym typeface="Roboto"/>
              </a:rPr>
              <a:t>CloverDx</a:t>
            </a:r>
            <a:r>
              <a:rPr lang="en-AU" sz="1400" u="none" strike="noStrike" dirty="0">
                <a:solidFill>
                  <a:srgbClr val="0F2B3F"/>
                </a:solidFill>
                <a:latin typeface="Roboto"/>
                <a:ea typeface="Roboto"/>
                <a:cs typeface="Roboto"/>
                <a:sym typeface="Roboto"/>
              </a:rPr>
              <a:t> and T-SQL</a:t>
            </a:r>
          </a:p>
          <a:p>
            <a:pPr marL="302261" lvl="1" indent="-151130">
              <a:lnSpc>
                <a:spcPts val="1960"/>
              </a:lnSpc>
              <a:spcBef>
                <a:spcPct val="0"/>
              </a:spcBef>
              <a:buFont typeface="Arial"/>
              <a:buChar char="•"/>
            </a:pPr>
            <a:r>
              <a:rPr lang="en-AU" sz="1400" u="none" strike="noStrike" dirty="0">
                <a:solidFill>
                  <a:srgbClr val="0F2B3F"/>
                </a:solidFill>
                <a:latin typeface="Roboto"/>
                <a:ea typeface="Roboto"/>
                <a:cs typeface="Roboto"/>
                <a:sym typeface="Roboto"/>
              </a:rPr>
              <a:t>Built Interactive reporting solutions using Microsoft Power BI and Excel</a:t>
            </a:r>
          </a:p>
          <a:p>
            <a:pPr marL="302261" lvl="1" indent="-151130">
              <a:lnSpc>
                <a:spcPts val="1960"/>
              </a:lnSpc>
              <a:spcBef>
                <a:spcPct val="0"/>
              </a:spcBef>
              <a:buFont typeface="Arial"/>
              <a:buChar char="•"/>
            </a:pPr>
            <a:r>
              <a:rPr lang="en-AU" sz="1400" u="none" strike="noStrike" dirty="0">
                <a:solidFill>
                  <a:srgbClr val="0F2B3F"/>
                </a:solidFill>
                <a:latin typeface="Roboto"/>
                <a:ea typeface="Roboto"/>
                <a:cs typeface="Roboto"/>
                <a:sym typeface="Roboto"/>
              </a:rPr>
              <a:t>Built scripts using PowerShell and Python to automate manual processes</a:t>
            </a:r>
          </a:p>
          <a:p>
            <a:pPr marL="302261" lvl="1" indent="-151130">
              <a:lnSpc>
                <a:spcPts val="1960"/>
              </a:lnSpc>
              <a:spcBef>
                <a:spcPct val="0"/>
              </a:spcBef>
              <a:buFont typeface="Arial"/>
              <a:buChar char="•"/>
            </a:pPr>
            <a:r>
              <a:rPr lang="en-AU" sz="1400" u="none" strike="noStrike" dirty="0">
                <a:solidFill>
                  <a:srgbClr val="0F2B3F"/>
                </a:solidFill>
                <a:latin typeface="Roboto"/>
                <a:ea typeface="Roboto"/>
                <a:cs typeface="Roboto"/>
                <a:sym typeface="Roboto"/>
              </a:rPr>
              <a:t>Worked closely with business analysts &amp; business users during all phases</a:t>
            </a:r>
          </a:p>
          <a:p>
            <a:pPr marL="302261" lvl="1" indent="-151130">
              <a:lnSpc>
                <a:spcPts val="1960"/>
              </a:lnSpc>
              <a:spcBef>
                <a:spcPct val="0"/>
              </a:spcBef>
              <a:buFont typeface="Arial"/>
              <a:buChar char="•"/>
            </a:pPr>
            <a:r>
              <a:rPr lang="en-AU" sz="1400" u="none" strike="noStrike" dirty="0">
                <a:solidFill>
                  <a:srgbClr val="0F2B3F"/>
                </a:solidFill>
                <a:latin typeface="Roboto"/>
                <a:ea typeface="Roboto"/>
                <a:cs typeface="Roboto"/>
                <a:sym typeface="Roboto"/>
              </a:rPr>
              <a:t>Performance tuning</a:t>
            </a:r>
          </a:p>
          <a:p>
            <a:pPr marL="302261" lvl="1" indent="-151130">
              <a:lnSpc>
                <a:spcPts val="1960"/>
              </a:lnSpc>
              <a:spcBef>
                <a:spcPct val="0"/>
              </a:spcBef>
              <a:buFont typeface="Arial"/>
              <a:buChar char="•"/>
            </a:pPr>
            <a:r>
              <a:rPr lang="en-AU" sz="1400" u="none" strike="noStrike" dirty="0">
                <a:solidFill>
                  <a:srgbClr val="0F2B3F"/>
                </a:solidFill>
                <a:latin typeface="Roboto"/>
                <a:ea typeface="Roboto"/>
                <a:cs typeface="Roboto"/>
                <a:sym typeface="Roboto"/>
              </a:rPr>
              <a:t>Provided a build walkthrough before TSR</a:t>
            </a:r>
          </a:p>
          <a:p>
            <a:pPr marL="302261" lvl="1" indent="-151130">
              <a:lnSpc>
                <a:spcPts val="1960"/>
              </a:lnSpc>
              <a:spcBef>
                <a:spcPct val="0"/>
              </a:spcBef>
              <a:buFont typeface="Arial"/>
              <a:buChar char="•"/>
            </a:pPr>
            <a:r>
              <a:rPr lang="en-AU" sz="1400" u="none" strike="noStrike" dirty="0">
                <a:solidFill>
                  <a:srgbClr val="0F2B3F"/>
                </a:solidFill>
                <a:latin typeface="Roboto"/>
                <a:ea typeface="Roboto"/>
                <a:cs typeface="Roboto"/>
                <a:sym typeface="Roboto"/>
              </a:rPr>
              <a:t>Documented processes and application instructions</a:t>
            </a:r>
            <a:endParaRPr lang="en-US" sz="1400" u="none" strike="noStrike" dirty="0">
              <a:solidFill>
                <a:srgbClr val="0F2B3F"/>
              </a:solidFill>
              <a:latin typeface="Roboto"/>
              <a:ea typeface="Roboto"/>
              <a:cs typeface="Roboto"/>
              <a:sym typeface="Roboto"/>
            </a:endParaRPr>
          </a:p>
        </p:txBody>
      </p:sp>
      <p:cxnSp>
        <p:nvCxnSpPr>
          <p:cNvPr id="49" name="Straight Connector 48">
            <a:extLst>
              <a:ext uri="{FF2B5EF4-FFF2-40B4-BE49-F238E27FC236}">
                <a16:creationId xmlns:a16="http://schemas.microsoft.com/office/drawing/2014/main" id="{AB2A0672-5AF0-5438-8D24-87E280881A20}"/>
              </a:ext>
            </a:extLst>
          </p:cNvPr>
          <p:cNvCxnSpPr>
            <a:cxnSpLocks/>
          </p:cNvCxnSpPr>
          <p:nvPr/>
        </p:nvCxnSpPr>
        <p:spPr>
          <a:xfrm>
            <a:off x="7239000" y="1235074"/>
            <a:ext cx="0" cy="2384426"/>
          </a:xfrm>
          <a:prstGeom prst="line">
            <a:avLst/>
          </a:prstGeom>
          <a:ln w="19050">
            <a:solidFill>
              <a:srgbClr val="0059FF"/>
            </a:solidFill>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65ABFD3B-85BE-9F1D-EBDE-61B80D7CD5F7}"/>
              </a:ext>
            </a:extLst>
          </p:cNvPr>
          <p:cNvCxnSpPr>
            <a:cxnSpLocks/>
          </p:cNvCxnSpPr>
          <p:nvPr/>
        </p:nvCxnSpPr>
        <p:spPr>
          <a:xfrm>
            <a:off x="7239000" y="4229100"/>
            <a:ext cx="0" cy="2171435"/>
          </a:xfrm>
          <a:prstGeom prst="line">
            <a:avLst/>
          </a:prstGeom>
          <a:ln w="19050">
            <a:solidFill>
              <a:srgbClr val="D77432"/>
            </a:solidFill>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06FA25F3-F5B1-ADB7-8671-CA98D693BF24}"/>
              </a:ext>
            </a:extLst>
          </p:cNvPr>
          <p:cNvCxnSpPr>
            <a:cxnSpLocks/>
          </p:cNvCxnSpPr>
          <p:nvPr/>
        </p:nvCxnSpPr>
        <p:spPr>
          <a:xfrm>
            <a:off x="7239000" y="7099720"/>
            <a:ext cx="0" cy="2626822"/>
          </a:xfrm>
          <a:prstGeom prst="line">
            <a:avLst/>
          </a:prstGeom>
          <a:ln w="19050">
            <a:solidFill>
              <a:srgbClr val="92337A"/>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81F5EC79307BDF4295C10AC82BCAE190" ma:contentTypeVersion="12" ma:contentTypeDescription="Create a new document." ma:contentTypeScope="" ma:versionID="0f0308aefe13974c65752fd3353aedfb">
  <xsd:schema xmlns:xsd="http://www.w3.org/2001/XMLSchema" xmlns:xs="http://www.w3.org/2001/XMLSchema" xmlns:p="http://schemas.microsoft.com/office/2006/metadata/properties" xmlns:ns2="daf93972-1964-4522-aa34-640805a01c3a" xmlns:ns3="e52cd9e7-35e5-4bd3-9cab-ca6a63c31e52" targetNamespace="http://schemas.microsoft.com/office/2006/metadata/properties" ma:root="true" ma:fieldsID="aba3c788a807feaf6f638ceb175dbe8c" ns2:_="" ns3:_="">
    <xsd:import namespace="daf93972-1964-4522-aa34-640805a01c3a"/>
    <xsd:import namespace="e52cd9e7-35e5-4bd3-9cab-ca6a63c31e52"/>
    <xsd:element name="properties">
      <xsd:complexType>
        <xsd:sequence>
          <xsd:element name="documentManagement">
            <xsd:complexType>
              <xsd:all>
                <xsd:element ref="ns2:MediaServiceMetadata" minOccurs="0"/>
                <xsd:element ref="ns2:MediaServiceFastMetadata"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AutoTags" minOccurs="0"/>
                <xsd:element ref="ns2:MediaServiceOCR"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af93972-1964-4522-aa34-640805a01c3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EventHashCode" ma:index="10" nillable="true" ma:displayName="MediaServiceEventHashCode" ma:hidden="true" ma:internalName="MediaServiceEventHashCode" ma:readOnly="true">
      <xsd:simpleType>
        <xsd:restriction base="dms:Text"/>
      </xsd:simpleType>
    </xsd:element>
    <xsd:element name="MediaServiceGenerationTime" ma:index="11" nillable="true" ma:displayName="MediaServiceGenerationTime" ma:hidden="true" ma:internalName="MediaServiceGenerationTime" ma:readOnly="true">
      <xsd:simpleType>
        <xsd:restriction base="dms:Text"/>
      </xsd:simpleType>
    </xsd:element>
    <xsd:element name="MediaServiceAutoKeyPoints" ma:index="14" nillable="true" ma:displayName="MediaServiceAutoKeyPoints" ma:hidden="true" ma:internalName="MediaServiceAutoKeyPoints" ma:readOnly="true">
      <xsd:simpleType>
        <xsd:restriction base="dms:Note"/>
      </xsd:simpleType>
    </xsd:element>
    <xsd:element name="MediaServiceKeyPoints" ma:index="15" nillable="true" ma:displayName="KeyPoints" ma:internalName="MediaServiceKeyPoints" ma:readOnly="true">
      <xsd:simpleType>
        <xsd:restriction base="dms:Note">
          <xsd:maxLength value="255"/>
        </xsd:restriction>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ObjectDetectorVersions" ma:index="18" nillable="true" ma:displayName="MediaServiceObjectDetectorVersions" ma:hidden="true" ma:indexed="true" ma:internalName="MediaServiceObjectDetectorVersions" ma:readOnly="true">
      <xsd:simpleType>
        <xsd:restriction base="dms:Text"/>
      </xsd:simpleType>
    </xsd:element>
    <xsd:element name="MediaServiceSearchProperties" ma:index="19"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e52cd9e7-35e5-4bd3-9cab-ca6a63c31e52"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D053BB11-9B0B-4B23-AF46-3EF6EDB3D910}">
  <ds:schemaRefs>
    <ds:schemaRef ds:uri="http://purl.org/dc/dcmitype/"/>
    <ds:schemaRef ds:uri="http://schemas.microsoft.com/office/2006/metadata/properties"/>
    <ds:schemaRef ds:uri="http://www.w3.org/XML/1998/namespace"/>
    <ds:schemaRef ds:uri="daf93972-1964-4522-aa34-640805a01c3a"/>
    <ds:schemaRef ds:uri="http://schemas.microsoft.com/office/2006/documentManagement/types"/>
    <ds:schemaRef ds:uri="http://purl.org/dc/elements/1.1/"/>
    <ds:schemaRef ds:uri="http://schemas.microsoft.com/office/infopath/2007/PartnerControls"/>
    <ds:schemaRef ds:uri="http://schemas.openxmlformats.org/package/2006/metadata/core-properties"/>
    <ds:schemaRef ds:uri="e52cd9e7-35e5-4bd3-9cab-ca6a63c31e52"/>
    <ds:schemaRef ds:uri="http://purl.org/dc/terms/"/>
  </ds:schemaRefs>
</ds:datastoreItem>
</file>

<file path=customXml/itemProps2.xml><?xml version="1.0" encoding="utf-8"?>
<ds:datastoreItem xmlns:ds="http://schemas.openxmlformats.org/officeDocument/2006/customXml" ds:itemID="{E612659E-03A5-4842-A7C6-85123373213D}">
  <ds:schemaRefs>
    <ds:schemaRef ds:uri="http://schemas.microsoft.com/sharepoint/v3/contenttype/forms"/>
  </ds:schemaRefs>
</ds:datastoreItem>
</file>

<file path=customXml/itemProps3.xml><?xml version="1.0" encoding="utf-8"?>
<ds:datastoreItem xmlns:ds="http://schemas.openxmlformats.org/officeDocument/2006/customXml" ds:itemID="{BEF87E9F-C2C1-42D9-BD8F-8DDA5D68CEE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daf93972-1964-4522-aa34-640805a01c3a"/>
    <ds:schemaRef ds:uri="e52cd9e7-35e5-4bd3-9cab-ca6a63c31e5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2851</TotalTime>
  <Words>516</Words>
  <Application>Microsoft Office PowerPoint</Application>
  <PresentationFormat>Custom</PresentationFormat>
  <Paragraphs>90</Paragraphs>
  <Slides>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Calibri</vt:lpstr>
      <vt:lpstr>Arial</vt:lpstr>
      <vt:lpstr>Roboto</vt:lpstr>
      <vt:lpstr>Roboto Bold</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Consultant profile templates (Presentation)</dc:title>
  <dc:creator>Darcy Roach</dc:creator>
  <cp:lastModifiedBy>Darcy Roach</cp:lastModifiedBy>
  <cp:revision>4</cp:revision>
  <dcterms:created xsi:type="dcterms:W3CDTF">2006-08-16T00:00:00Z</dcterms:created>
  <dcterms:modified xsi:type="dcterms:W3CDTF">2025-09-22T23:21:22Z</dcterms:modified>
  <dc:identifier>DAGrzN_SXAE</dc:identifie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0x01010081F5EC79307BDF4295C10AC82BCAE190</vt:lpwstr>
  </property>
</Properties>
</file>