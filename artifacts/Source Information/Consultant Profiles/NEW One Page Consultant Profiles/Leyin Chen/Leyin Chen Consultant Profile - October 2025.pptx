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0059FF"/>
    <a:srgbClr val="ED7D31"/>
    <a:srgbClr val="A93584"/>
    <a:srgbClr val="0F2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F2073-EB22-AE4A-92F7-0ECC386A37F4}" v="319" dt="2025-10-21T02:11:33.835"/>
    <p1510:client id="{F602DD60-0E1B-417C-8B2D-39E0D07AA582}" v="54" dt="2025-10-21T01:41:51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491076AF-459F-4660-98D1-05D43B79D51A}"/>
    <pc:docChg chg="undo custSel modSld">
      <pc:chgData name="Darcy Roach" userId="ba676ee9-e9b4-49e8-a515-8077106c948d" providerId="ADAL" clId="{491076AF-459F-4660-98D1-05D43B79D51A}" dt="2025-10-21T01:57:21.265" v="298" actId="20577"/>
      <pc:docMkLst>
        <pc:docMk/>
      </pc:docMkLst>
      <pc:sldChg chg="modSp mod">
        <pc:chgData name="Darcy Roach" userId="ba676ee9-e9b4-49e8-a515-8077106c948d" providerId="ADAL" clId="{491076AF-459F-4660-98D1-05D43B79D51A}" dt="2025-10-21T01:57:21.265" v="298" actId="20577"/>
        <pc:sldMkLst>
          <pc:docMk/>
          <pc:sldMk cId="2009923557" sldId="270"/>
        </pc:sldMkLst>
        <pc:spChg chg="mod">
          <ac:chgData name="Darcy Roach" userId="ba676ee9-e9b4-49e8-a515-8077106c948d" providerId="ADAL" clId="{491076AF-459F-4660-98D1-05D43B79D51A}" dt="2025-10-21T01:40:21.153" v="175" actId="1076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491076AF-459F-4660-98D1-05D43B79D51A}" dt="2025-10-21T01:40:47.994" v="181" actId="1076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491076AF-459F-4660-98D1-05D43B79D51A}" dt="2025-10-21T00:53:22.351" v="131" actId="1076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491076AF-459F-4660-98D1-05D43B79D51A}" dt="2025-10-21T01:57:21.265" v="298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491076AF-459F-4660-98D1-05D43B79D51A}" dt="2025-10-21T01:40:39.327" v="180" actId="1076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491076AF-459F-4660-98D1-05D43B79D51A}" dt="2025-10-21T00:53:34.023" v="137" actId="1038"/>
          <ac:spMkLst>
            <pc:docMk/>
            <pc:sldMk cId="2009923557" sldId="270"/>
            <ac:spMk id="20" creationId="{716A87E2-F657-C1C6-3715-B7C8A7F1E050}"/>
          </ac:spMkLst>
        </pc:spChg>
        <pc:spChg chg="mod">
          <ac:chgData name="Darcy Roach" userId="ba676ee9-e9b4-49e8-a515-8077106c948d" providerId="ADAL" clId="{491076AF-459F-4660-98D1-05D43B79D51A}" dt="2025-10-21T00:53:22.351" v="131" actId="1076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491076AF-459F-4660-98D1-05D43B79D51A}" dt="2025-10-21T01:40:30.072" v="179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491076AF-459F-4660-98D1-05D43B79D51A}" dt="2025-10-21T01:41:14.184" v="185" actId="1076"/>
          <ac:spMkLst>
            <pc:docMk/>
            <pc:sldMk cId="2009923557" sldId="270"/>
            <ac:spMk id="36" creationId="{087CAC3D-5B47-AD6C-2C6E-137F87E0B5F1}"/>
          </ac:spMkLst>
        </pc:spChg>
        <pc:spChg chg="mod">
          <ac:chgData name="Darcy Roach" userId="ba676ee9-e9b4-49e8-a515-8077106c948d" providerId="ADAL" clId="{491076AF-459F-4660-98D1-05D43B79D51A}" dt="2025-10-21T01:41:26.804" v="186" actId="1076"/>
          <ac:spMkLst>
            <pc:docMk/>
            <pc:sldMk cId="2009923557" sldId="270"/>
            <ac:spMk id="37" creationId="{7AC6B740-BC76-4586-9E2F-95601A4EF15A}"/>
          </ac:spMkLst>
        </pc:spChg>
        <pc:spChg chg="mod">
          <ac:chgData name="Darcy Roach" userId="ba676ee9-e9b4-49e8-a515-8077106c948d" providerId="ADAL" clId="{491076AF-459F-4660-98D1-05D43B79D51A}" dt="2025-10-21T01:40:02.908" v="174" actId="404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491076AF-459F-4660-98D1-05D43B79D51A}" dt="2025-10-21T01:38:52.213" v="140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491076AF-459F-4660-98D1-05D43B79D51A}" dt="2025-10-21T01:38:45.152" v="139" actId="1076"/>
          <ac:spMkLst>
            <pc:docMk/>
            <pc:sldMk cId="2009923557" sldId="270"/>
            <ac:spMk id="173" creationId="{994303C8-DFEA-5175-3E9D-3727861435B6}"/>
          </ac:spMkLst>
        </pc:spChg>
        <pc:spChg chg="mod">
          <ac:chgData name="Darcy Roach" userId="ba676ee9-e9b4-49e8-a515-8077106c948d" providerId="ADAL" clId="{491076AF-459F-4660-98D1-05D43B79D51A}" dt="2025-10-21T01:38:45.152" v="139" actId="1076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491076AF-459F-4660-98D1-05D43B79D51A}" dt="2025-10-21T01:38:52.213" v="140" actId="1076"/>
          <ac:grpSpMkLst>
            <pc:docMk/>
            <pc:sldMk cId="2009923557" sldId="270"/>
            <ac:grpSpMk id="5" creationId="{980A06B1-0A2F-7DF6-91DB-0F6DFA896A23}"/>
          </ac:grpSpMkLst>
        </pc:grpChg>
        <pc:grpChg chg="ord">
          <ac:chgData name="Darcy Roach" userId="ba676ee9-e9b4-49e8-a515-8077106c948d" providerId="ADAL" clId="{491076AF-459F-4660-98D1-05D43B79D51A}" dt="2025-10-21T01:40:52.460" v="182" actId="167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491076AF-459F-4660-98D1-05D43B79D51A}" dt="2025-10-21T01:41:42.471" v="191" actId="103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491076AF-459F-4660-98D1-05D43B79D51A}" dt="2025-10-21T01:41:37.551" v="189" actId="1036"/>
          <ac:grpSpMkLst>
            <pc:docMk/>
            <pc:sldMk cId="2009923557" sldId="270"/>
            <ac:grpSpMk id="32" creationId="{6AB69F4D-1B1F-5018-6237-E2A330883809}"/>
          </ac:grpSpMkLst>
        </pc:grpChg>
        <pc:cxnChg chg="mod">
          <ac:chgData name="Darcy Roach" userId="ba676ee9-e9b4-49e8-a515-8077106c948d" providerId="ADAL" clId="{491076AF-459F-4660-98D1-05D43B79D51A}" dt="2025-10-21T01:40:22.857" v="178" actId="1035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491076AF-459F-4660-98D1-05D43B79D51A}" dt="2025-10-21T01:41:07.464" v="184" actId="1076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491076AF-459F-4660-98D1-05D43B79D51A}" dt="2025-10-21T01:41:51.095" v="192" actId="14100"/>
          <ac:cxnSpMkLst>
            <pc:docMk/>
            <pc:sldMk cId="2009923557" sldId="270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491076AF-459F-4660-98D1-05D43B79D51A}" dt="2025-10-21T01:38:45.152" v="139" actId="1076"/>
          <ac:cxnSpMkLst>
            <pc:docMk/>
            <pc:sldMk cId="2009923557" sldId="270"/>
            <ac:cxnSpMk id="25" creationId="{F7D64658-1F62-2EE9-AB01-2FD4F7E2D84D}"/>
          </ac:cxnSpMkLst>
        </pc:cxnChg>
        <pc:cxnChg chg="mod">
          <ac:chgData name="Darcy Roach" userId="ba676ee9-e9b4-49e8-a515-8077106c948d" providerId="ADAL" clId="{491076AF-459F-4660-98D1-05D43B79D51A}" dt="2025-10-21T01:41:31.007" v="187" actId="1076"/>
          <ac:cxnSpMkLst>
            <pc:docMk/>
            <pc:sldMk cId="2009923557" sldId="270"/>
            <ac:cxnSpMk id="41" creationId="{F116958F-8831-1601-097B-63AEB928DB85}"/>
          </ac:cxnSpMkLst>
        </pc:cxnChg>
      </pc:sldChg>
    </pc:docChg>
  </pc:docChgLst>
  <pc:docChgLst>
    <pc:chgData name="Direnc Uysal" userId="2a92f630-07d4-4511-a559-74d281fb5860" providerId="ADAL" clId="{22C53117-4B23-55F6-8AC3-958B6BAA1360}"/>
    <pc:docChg chg="custSel modSld">
      <pc:chgData name="Direnc Uysal" userId="2a92f630-07d4-4511-a559-74d281fb5860" providerId="ADAL" clId="{22C53117-4B23-55F6-8AC3-958B6BAA1360}" dt="2025-10-21T02:11:33.835" v="318" actId="20577"/>
      <pc:docMkLst>
        <pc:docMk/>
      </pc:docMkLst>
      <pc:sldChg chg="modSp mod">
        <pc:chgData name="Direnc Uysal" userId="2a92f630-07d4-4511-a559-74d281fb5860" providerId="ADAL" clId="{22C53117-4B23-55F6-8AC3-958B6BAA1360}" dt="2025-10-21T02:11:33.835" v="318" actId="20577"/>
        <pc:sldMkLst>
          <pc:docMk/>
          <pc:sldMk cId="2009923557" sldId="270"/>
        </pc:sldMkLst>
        <pc:spChg chg="mod">
          <ac:chgData name="Direnc Uysal" userId="2a92f630-07d4-4511-a559-74d281fb5860" providerId="ADAL" clId="{22C53117-4B23-55F6-8AC3-958B6BAA1360}" dt="2025-10-21T02:11:33.835" v="318" actId="20577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irenc Uysal" userId="2a92f630-07d4-4511-a559-74d281fb5860" providerId="ADAL" clId="{22C53117-4B23-55F6-8AC3-958B6BAA1360}" dt="2025-10-21T01:38:21.742" v="246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irenc Uysal" userId="2a92f630-07d4-4511-a559-74d281fb5860" providerId="ADAL" clId="{22C53117-4B23-55F6-8AC3-958B6BAA1360}" dt="2025-10-21T01:34:53.945" v="190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irenc Uysal" userId="2a92f630-07d4-4511-a559-74d281fb5860" providerId="ADAL" clId="{22C53117-4B23-55F6-8AC3-958B6BAA1360}" dt="2025-10-21T01:38:14.789" v="245" actId="20577"/>
          <ac:spMkLst>
            <pc:docMk/>
            <pc:sldMk cId="2009923557" sldId="270"/>
            <ac:spMk id="38" creationId="{AB47A2EE-BF0B-DB05-8B7C-DB6594B2B3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DF5DE-CD12-4DC8-8600-3B3C540EC07D}" type="datetimeFigureOut">
              <a:rPr lang="en-AU" smtClean="0"/>
              <a:t>20/10/2025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EA82A-1A27-41A4-9870-7AB0FB23B0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40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Financial Services </a:t>
            </a:r>
            <a:r>
              <a:rPr lang="en-US" err="1"/>
              <a:t>Organisation</a:t>
            </a:r>
            <a:r>
              <a:rPr lang="en-US"/>
              <a:t> – Data Engineer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Ran spikes and proof of concepts to support the solution design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Created comprehensive documentation to have the design endorsed by both the engineering team and architect team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Implemented the solution design in a non-prod environment and performed testing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Provided support documentation and guidance to the client tech team and clarified anything required relating to GCP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Developed streaming data pipeline using </a:t>
            </a:r>
            <a:r>
              <a:rPr lang="en-AU" sz="1200" err="1">
                <a:solidFill>
                  <a:schemeClr val="bg1"/>
                </a:solidFill>
              </a:rPr>
              <a:t>apache</a:t>
            </a:r>
            <a:r>
              <a:rPr lang="en-AU" sz="1200">
                <a:solidFill>
                  <a:schemeClr val="bg1"/>
                </a:solidFill>
              </a:rPr>
              <a:t>-beam (GCP Dataflow) and Confluent Kafka &amp;batch data pipeline using GCP Composer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Built platform infrastructures using Terraform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Developed CICD pipeline for application deployment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>
              <a:solidFill>
                <a:schemeClr val="bg1"/>
              </a:solidFill>
            </a:endParaRP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>
              <a:solidFill>
                <a:schemeClr val="bg1"/>
              </a:solidFill>
            </a:endParaRP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Major Aus supermarket – Sen DE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>
              <a:solidFill>
                <a:schemeClr val="bg1"/>
              </a:solidFill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Designed and developed Python ingestion pipelines using Azure DevOps, loading data from Azure Storage to Snowflake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Migrated historical data using COPY INTO in Snowflake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Converted on-prem SQL stored procedures and CTEs into DBT models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Built data products with row-level access policies for security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Provided solutions to complex data challenges while ensuring data quality, accuracy, and regulatory compliance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Streamlined the work process with Python scripts to generate configuration files in YAML and JSON formats, saved time and reduced manual effort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>
                <a:solidFill>
                  <a:schemeClr val="bg1"/>
                </a:solidFill>
              </a:rPr>
              <a:t>Developed testing scripts to ensure data quality at ingestion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>
              <a:solidFill>
                <a:schemeClr val="bg1"/>
              </a:solidFill>
            </a:endParaRP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EA82A-1A27-41A4-9870-7AB0FB23B0A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46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54982" y="3281161"/>
            <a:ext cx="4683934" cy="1681939"/>
            <a:chOff x="3303046" y="6171495"/>
            <a:chExt cx="4709988" cy="178583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71495"/>
              <a:ext cx="4427756" cy="490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Big 4 Bank – Senior Data Engineer</a:t>
              </a:r>
            </a:p>
            <a:p>
              <a:endPara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388746"/>
              <a:ext cx="4584890" cy="1568588"/>
              <a:chOff x="5023753" y="4441904"/>
              <a:chExt cx="4757437" cy="156858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41904"/>
                <a:ext cx="4721716" cy="156858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/>
                  <a:t>Designed and implemented end to end solution for data storage and processing in Databricks - across ~430 tables  in conformance layer for region-based separation</a:t>
                </a:r>
              </a:p>
              <a:p>
                <a:r>
                  <a:rPr lang="en-AU" sz="1000"/>
                  <a:t>Modified data manipulation languages to transform data into structured formats</a:t>
                </a:r>
              </a:p>
              <a:p>
                <a:r>
                  <a:rPr lang="en-AU" sz="1000"/>
                  <a:t>Troubleshot and resolved issues with the SCD2 process via redesign</a:t>
                </a:r>
              </a:p>
              <a:p>
                <a:r>
                  <a:rPr lang="en-AU" sz="1000"/>
                  <a:t>Designed and executed unit tests to ensure functionality and compliance</a:t>
                </a:r>
              </a:p>
              <a:p>
                <a:r>
                  <a:rPr lang="en-AU" sz="1000"/>
                  <a:t>Collaborated with cross-functional teams to derive insights and support business decisions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26486"/>
                <a:ext cx="0" cy="1388567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292762"/>
            <a:ext cx="2991223" cy="23588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63339" y="5612935"/>
            <a:ext cx="1708621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 algn="l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 algn="l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Microsoft </a:t>
            </a:r>
            <a:r>
              <a:rPr lang="en-AU" sz="90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Reports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Mining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Artificial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Engagement</a:t>
            </a:r>
          </a:p>
          <a:p>
            <a:pPr>
              <a:buClr>
                <a:srgbClr val="00AB80"/>
              </a:buClr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293603"/>
            <a:ext cx="1951941" cy="22775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Big 4 Banks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Sporting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Healthcare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2027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Leyin</a:t>
            </a:r>
            <a:endParaRPr lang="en-US" sz="2800" b="1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60973" y="1560956"/>
            <a:ext cx="3058282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Leyin</a:t>
            </a:r>
            <a:r>
              <a:rPr lang="en-AU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an experienced Data &amp; Visualisation Engineer with strong expertise in data engineering, reporting, and analytics across industries, including Financial Services, Energy, Retail and Telecommunications. With over a decade of IT experience, </a:t>
            </a:r>
            <a:r>
              <a:rPr lang="en-AU" sz="1000" spc="13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Leyin</a:t>
            </a:r>
            <a:r>
              <a:rPr lang="en-AU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specialises in designing and optimising data pipelines on Cloud Data platforms to deliver scalable, high-performance analytics solutions. </a:t>
            </a:r>
          </a:p>
          <a:p>
            <a:pPr>
              <a:lnSpc>
                <a:spcPts val="1500"/>
              </a:lnSpc>
            </a:pPr>
            <a:endParaRPr lang="en-AU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Highly skilled in DBT, SQL, Python, and the Microsoft BI Stack, and proficient in leading data visualisation tools such as Tableau and Power BI, enabling data-driven decision-making through clear, actionable reporting. Her background in data modelling, transformation, and self-service analytics allows her to bridge the gap between technical complexity and business insight, ensuring alignment between data outcomes and organisational goals.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69532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67382" y="978708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/>
                <a:ea typeface="Roboto Light"/>
                <a:cs typeface="Lato"/>
              </a:rPr>
              <a:t>Senior Consultant</a:t>
            </a:r>
            <a:endParaRPr lang="en-US" sz="1400" spc="13">
              <a:solidFill>
                <a:schemeClr val="bg1">
                  <a:lumMod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86077" y="550340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AU"/>
          </a:p>
          <a:p>
            <a:r>
              <a:rPr lang="en-AU"/>
              <a:t>AWS</a:t>
            </a:r>
          </a:p>
          <a:p>
            <a:r>
              <a:rPr lang="en-AU"/>
              <a:t>Snowflake</a:t>
            </a:r>
          </a:p>
          <a:p>
            <a:r>
              <a:rPr lang="en-AU"/>
              <a:t>Tableau</a:t>
            </a:r>
          </a:p>
          <a:p>
            <a:r>
              <a:rPr lang="en-AU"/>
              <a:t>Power BI</a:t>
            </a:r>
          </a:p>
          <a:p>
            <a:r>
              <a:rPr lang="en-AU"/>
              <a:t>Oracle</a:t>
            </a:r>
          </a:p>
          <a:p>
            <a:r>
              <a:rPr lang="en-AU"/>
              <a:t>SQL</a:t>
            </a:r>
          </a:p>
          <a:p>
            <a:r>
              <a:rPr lang="en-AU"/>
              <a:t>Python</a:t>
            </a:r>
          </a:p>
          <a:p>
            <a:r>
              <a:rPr lang="en-AU"/>
              <a:t>DBT</a:t>
            </a:r>
          </a:p>
          <a:p>
            <a:r>
              <a:rPr lang="en-AU"/>
              <a:t>GIT/</a:t>
            </a:r>
            <a:r>
              <a:rPr lang="en-AU" err="1"/>
              <a:t>Github</a:t>
            </a:r>
            <a:endParaRPr lang="en-AU"/>
          </a:p>
          <a:p>
            <a:r>
              <a:rPr lang="en-AU"/>
              <a:t>Linux</a:t>
            </a:r>
          </a:p>
          <a:p>
            <a:r>
              <a:rPr lang="en-AU"/>
              <a:t>Microsoft BI (SSIS)</a:t>
            </a:r>
          </a:p>
          <a:p>
            <a:r>
              <a:rPr lang="en-AU"/>
              <a:t>IBM Cognos BI </a:t>
            </a:r>
          </a:p>
          <a:p>
            <a:r>
              <a:rPr lang="en-AU"/>
              <a:t>Redshift</a:t>
            </a:r>
            <a:endParaRPr lang="en-US"/>
          </a:p>
          <a:p>
            <a:endParaRPr lang="en-US"/>
          </a:p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9351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14782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666651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56977" y="957777"/>
            <a:ext cx="0" cy="61766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717699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290671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886200"/>
            <a:ext cx="1963972" cy="3462486"/>
            <a:chOff x="8106458" y="2681447"/>
            <a:chExt cx="1963972" cy="346248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4624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Certified Data Engineer Professional (exam ’Nov 25)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0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Lakehouse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0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Microsoft</a:t>
              </a:r>
              <a:r>
                <a:rPr lang="en-GB" sz="115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</a:t>
              </a: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Azure</a:t>
              </a:r>
              <a:r>
                <a:rPr lang="en-GB" sz="115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Data Engineer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0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GCP | </a:t>
              </a: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Professional Data Engineer</a:t>
              </a:r>
              <a:endParaRPr lang="en-GB" sz="115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0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 - Business Information Systems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0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15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Computer Science and Technology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97875" y="4734553"/>
            <a:ext cx="4673655" cy="1250320"/>
            <a:chOff x="3335753" y="4934276"/>
            <a:chExt cx="4673655" cy="1250320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17258" y="5168933"/>
              <a:ext cx="4592150" cy="1015663"/>
              <a:chOff x="5019112" y="2067911"/>
              <a:chExt cx="4905126" cy="101566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067911"/>
                <a:ext cx="4864764" cy="1015663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endParaRPr lang="en-AU" sz="100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Analysed big data and transformed insights into actionable Tableau reports using Kimball modelling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Reconciled financial billing and KPI metrics for accurate Salesforce transactions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Supported marketing teams with high-quality customer journey reports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9112" y="2294919"/>
                <a:ext cx="0" cy="700548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4934276"/>
              <a:ext cx="4651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AU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Telecommunications Organisation – BI Specialist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21625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982605"/>
            <a:ext cx="4759026" cy="2334224"/>
            <a:chOff x="3321267" y="1094557"/>
            <a:chExt cx="4759026" cy="233422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373281"/>
              <a:ext cx="0" cy="1955206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372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Energy </a:t>
              </a:r>
              <a:r>
                <a:rPr lang="en-US" sz="1200" b="1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Senior Data Engineer</a:t>
              </a:r>
            </a:p>
            <a:p>
              <a:endParaRPr lang="en-AU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35900"/>
              <a:ext cx="4616332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lvl="0" indent="0">
                <a:buSzPts val="1000"/>
                <a:buNone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Migrated enterprise reports to Power BI to modernise the reporting environment, improve maintainability, and integrate analytics within the Power BI Service.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Successfully migrated 42 SSRS reports to Power BI Paginated Reports with full functional and visual consistency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Enhanced report performance through SQL query optimisation and streamlined data source design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Implemented report migration, optimisation, and validation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Rebuilt and optimised complex SQL queries and stored procedures for a paginated report dataset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Collaborated with business users to ensure accuracy of data logic and compliance with reporting standards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Support transition and documentation developed for report maintenance and future improvement by operations team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B69F4D-1B1F-5018-6237-E2A330883809}"/>
              </a:ext>
            </a:extLst>
          </p:cNvPr>
          <p:cNvGrpSpPr/>
          <p:nvPr/>
        </p:nvGrpSpPr>
        <p:grpSpPr>
          <a:xfrm>
            <a:off x="3402944" y="5783864"/>
            <a:ext cx="4673655" cy="1932317"/>
            <a:chOff x="3335753" y="4896689"/>
            <a:chExt cx="4673655" cy="193231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3FAB44C-8B4C-2A44-D7D8-AC1C18F5CE5A}"/>
                </a:ext>
              </a:extLst>
            </p:cNvPr>
            <p:cNvGrpSpPr/>
            <p:nvPr/>
          </p:nvGrpSpPr>
          <p:grpSpPr>
            <a:xfrm>
              <a:off x="3417258" y="5197790"/>
              <a:ext cx="4592150" cy="1631216"/>
              <a:chOff x="5019112" y="2096768"/>
              <a:chExt cx="4905126" cy="163121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C6B740-BC76-4586-9E2F-95601A4EF15A}"/>
                  </a:ext>
                </a:extLst>
              </p:cNvPr>
              <p:cNvSpPr txBox="1"/>
              <p:nvPr/>
            </p:nvSpPr>
            <p:spPr>
              <a:xfrm>
                <a:off x="5059474" y="2096768"/>
                <a:ext cx="4864764" cy="1631216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endParaRPr lang="en-AU" sz="100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Developed change strategies and optimised technology investments through planning and stakeholder collaboration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Established governance for information lifecycle management, data stewardship, and security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Migrated data from legacy systems, integrating with APIs such as BigCommerce, Salesforce, and </a:t>
                </a:r>
                <a:r>
                  <a:rPr lang="en-AU" sz="1000" err="1"/>
                  <a:t>Skyvia</a:t>
                </a:r>
                <a:endParaRPr lang="en-AU" sz="100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Designed and implemented large-scale data pipelines using SSIS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Built data capabilities enabling rapid consumption on Sisense reports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/>
                  <a:t>Maintained documentation on Confluence for knowledge sharing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116958F-8831-1601-097B-63AEB928DB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9112" y="2345422"/>
                <a:ext cx="0" cy="1249218"/>
              </a:xfrm>
              <a:prstGeom prst="line">
                <a:avLst/>
              </a:prstGeom>
              <a:ln w="19050">
                <a:solidFill>
                  <a:srgbClr val="00AB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7CAC3D-5B47-AD6C-2C6E-137F87E0B5F1}"/>
                </a:ext>
              </a:extLst>
            </p:cNvPr>
            <p:cNvSpPr txBox="1"/>
            <p:nvPr/>
          </p:nvSpPr>
          <p:spPr>
            <a:xfrm>
              <a:off x="3335753" y="4896689"/>
              <a:ext cx="4651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sz="12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AU" sz="1200" b="1">
                  <a:solidFill>
                    <a:srgbClr val="00AB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Sports Software Organisation – Data Engineer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90AB415-6E59-4D12-8947-2EB135D6AA59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1</cp:revision>
  <dcterms:created xsi:type="dcterms:W3CDTF">2019-12-03T01:50:37Z</dcterms:created>
  <dcterms:modified xsi:type="dcterms:W3CDTF">2025-10-21T02:11:35Z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