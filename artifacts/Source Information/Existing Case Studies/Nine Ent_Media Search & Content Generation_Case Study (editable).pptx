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omments/modernComment_100_18305D18.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82B2662-50AF-F4D7-7ABD-AC3275FE50FC}" name="Tara Pourhabibi" initials="TP" userId="S::tara.pourhabibi@intelia.com.au::af5b7939-e589-4ee8-9ec0-45a6029cecb6" providerId="AD"/>
  <p188:author id="{3C8FFC7B-B751-6835-E7BB-D6560D87650F}" name="Sara Boguszewicz" initials="SB" userId="S::sara.boguszewicz@intelia.com.au::c345c470-6aaa-435a-8a7a-d0b20e638233" providerId="AD"/>
  <p188:author id="{B3EF4D7E-7C49-7CC5-1F98-C9B775396EEF}" name="Sara Boguszewicz" initials="SB" userId="S::Sara.Boguszewicz@intelia.com.au::c345c470-6aaa-435a-8a7a-d0b20e638233" providerId="AD"/>
  <p188:author id="{9C442EE2-9746-93F4-2A63-B6BF0D63C0D6}" name="Direnc Uysal" initials="DU" userId="S::direnc.uysal@intelia.com.au::2a92f630-07d4-4511-a559-74d281fb5860"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AA7E"/>
    <a:srgbClr val="FAFAF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3267406-1679-938D-15A3-ACA7C98AB752}" v="2" dt="2025-03-12T01:16:07.063"/>
    <p1510:client id="{AE887B91-2771-F814-18AF-098CB2CE1ADC}" v="2" dt="2025-03-12T00:50:59.25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2" d="100"/>
          <a:sy n="102" d="100"/>
        </p:scale>
        <p:origin x="834" y="10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12" Type="http://schemas.microsoft.com/office/2018/10/relationships/authors" Target="author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11" Type="http://schemas.microsoft.com/office/2015/10/relationships/revisionInfo" Target="revisionInfo.xml"/><Relationship Id="rId5" Type="http://schemas.openxmlformats.org/officeDocument/2006/relationships/slide" Target="slides/slide1.xml"/><Relationship Id="rId1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 Boguszewicz" userId="S::sara.boguszewicz@intelia.com.au::c345c470-6aaa-435a-8a7a-d0b20e638233" providerId="AD" clId="Web-{53267406-1679-938D-15A3-ACA7C98AB752}"/>
    <pc:docChg chg="mod">
      <pc:chgData name="Sara Boguszewicz" userId="S::sara.boguszewicz@intelia.com.au::c345c470-6aaa-435a-8a7a-d0b20e638233" providerId="AD" clId="Web-{53267406-1679-938D-15A3-ACA7C98AB752}" dt="2025-03-12T01:16:07.063" v="0"/>
      <pc:docMkLst>
        <pc:docMk/>
      </pc:docMkLst>
    </pc:docChg>
  </pc:docChgLst>
  <pc:docChgLst>
    <pc:chgData name="Direnc Uysal" userId="S::direnc.uysal@intelia.com.au::2a92f630-07d4-4511-a559-74d281fb5860" providerId="AD" clId="Web-{AE887B91-2771-F814-18AF-098CB2CE1ADC}"/>
    <pc:docChg chg="mod">
      <pc:chgData name="Direnc Uysal" userId="S::direnc.uysal@intelia.com.au::2a92f630-07d4-4511-a559-74d281fb5860" providerId="AD" clId="Web-{AE887B91-2771-F814-18AF-098CB2CE1ADC}" dt="2025-03-12T00:50:59.255" v="0"/>
      <pc:docMkLst>
        <pc:docMk/>
      </pc:docMkLst>
    </pc:docChg>
  </pc:docChgLst>
</pc:chgInfo>
</file>

<file path=ppt/comments/modernComment_100_18305D18.xml><?xml version="1.0" encoding="utf-8"?>
<p188:cmLst xmlns:a="http://schemas.openxmlformats.org/drawingml/2006/main" xmlns:r="http://schemas.openxmlformats.org/officeDocument/2006/relationships" xmlns:p188="http://schemas.microsoft.com/office/powerpoint/2018/8/main">
  <p188:cm id="{40EE0AFB-4C66-46E7-9D8B-8E3EB3B2BC6C}" authorId="{9C442EE2-9746-93F4-2A63-B6BF0D63C0D6}" created="2025-03-12T00:50:59.255">
    <pc:sldMkLst xmlns:pc="http://schemas.microsoft.com/office/powerpoint/2013/main/command">
      <pc:docMk/>
      <pc:sldMk cId="405822744" sldId="256"/>
    </pc:sldMkLst>
    <p188:replyLst>
      <p188:reply id="{15F74CFC-378C-4E0C-9B94-C570B6CC510E}" authorId="{3C8FFC7B-B751-6835-E7BB-D6560D87650F}" created="2025-03-12T01:16:07.063">
        <p188:txBody>
          <a:bodyPr/>
          <a:lstStyle/>
          <a:p>
            <a:r>
              <a:rPr lang="en-US"/>
              <a:t>No worries, could you please share the link from the presentation ?</a:t>
            </a:r>
          </a:p>
        </p188:txBody>
      </p188:reply>
    </p188:replyLst>
    <p188:txBody>
      <a:bodyPr/>
      <a:lstStyle/>
      <a:p>
        <a:r>
          <a:rPr lang="en-US"/>
          <a:t>[@Direnc Uysal] inmclude the metrics from thje Google presentation</a:t>
        </a:r>
      </a:p>
    </p188:txBody>
  </p188:cm>
</p188:cmLst>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06B8C7-C31B-EA93-C25A-D05D59DA85B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97764816-39A8-B8D9-8702-E66CD7488BF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A8B9A866-5501-8BEE-4686-7B98EEBDE785}"/>
              </a:ext>
            </a:extLst>
          </p:cNvPr>
          <p:cNvSpPr>
            <a:spLocks noGrp="1"/>
          </p:cNvSpPr>
          <p:nvPr>
            <p:ph type="dt" sz="half" idx="10"/>
          </p:nvPr>
        </p:nvSpPr>
        <p:spPr/>
        <p:txBody>
          <a:bodyPr/>
          <a:lstStyle/>
          <a:p>
            <a:fld id="{23B745D6-BD15-46F4-8F61-5B76DC6813A2}" type="datetimeFigureOut">
              <a:rPr lang="en-AU" smtClean="0"/>
              <a:t>11/03/2025</a:t>
            </a:fld>
            <a:endParaRPr lang="en-AU"/>
          </a:p>
        </p:txBody>
      </p:sp>
      <p:sp>
        <p:nvSpPr>
          <p:cNvPr id="5" name="Footer Placeholder 4">
            <a:extLst>
              <a:ext uri="{FF2B5EF4-FFF2-40B4-BE49-F238E27FC236}">
                <a16:creationId xmlns:a16="http://schemas.microsoft.com/office/drawing/2014/main" id="{E16724CB-0C18-F1D2-363B-7B28B575C97F}"/>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1DD70DE3-8418-4D97-6BC6-AE135200418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260002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21491A-5D76-336C-9759-9938EB44B842}"/>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D759AE5-2FC2-F159-F5BE-81537148906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51EAAD9-3D44-AF7E-7A7F-F9CD4159D95F}"/>
              </a:ext>
            </a:extLst>
          </p:cNvPr>
          <p:cNvSpPr>
            <a:spLocks noGrp="1"/>
          </p:cNvSpPr>
          <p:nvPr>
            <p:ph type="dt" sz="half" idx="10"/>
          </p:nvPr>
        </p:nvSpPr>
        <p:spPr/>
        <p:txBody>
          <a:bodyPr/>
          <a:lstStyle/>
          <a:p>
            <a:fld id="{23B745D6-BD15-46F4-8F61-5B76DC6813A2}" type="datetimeFigureOut">
              <a:rPr lang="en-AU" smtClean="0"/>
              <a:t>11/03/2025</a:t>
            </a:fld>
            <a:endParaRPr lang="en-AU"/>
          </a:p>
        </p:txBody>
      </p:sp>
      <p:sp>
        <p:nvSpPr>
          <p:cNvPr id="5" name="Footer Placeholder 4">
            <a:extLst>
              <a:ext uri="{FF2B5EF4-FFF2-40B4-BE49-F238E27FC236}">
                <a16:creationId xmlns:a16="http://schemas.microsoft.com/office/drawing/2014/main" id="{537259BA-2DDC-453B-3CFA-FBC059A9936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4434620-F20B-9C76-A750-8839942E0AA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661456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1A0102-CBF0-D843-369D-B5B0888AD1F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74873907-1245-B3E1-B551-4544EF3DBFD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165BEF4-E1D4-2AD0-5F9F-BA93B5DF32DC}"/>
              </a:ext>
            </a:extLst>
          </p:cNvPr>
          <p:cNvSpPr>
            <a:spLocks noGrp="1"/>
          </p:cNvSpPr>
          <p:nvPr>
            <p:ph type="dt" sz="half" idx="10"/>
          </p:nvPr>
        </p:nvSpPr>
        <p:spPr/>
        <p:txBody>
          <a:bodyPr/>
          <a:lstStyle/>
          <a:p>
            <a:fld id="{23B745D6-BD15-46F4-8F61-5B76DC6813A2}" type="datetimeFigureOut">
              <a:rPr lang="en-AU" smtClean="0"/>
              <a:t>11/03/2025</a:t>
            </a:fld>
            <a:endParaRPr lang="en-AU"/>
          </a:p>
        </p:txBody>
      </p:sp>
      <p:sp>
        <p:nvSpPr>
          <p:cNvPr id="5" name="Footer Placeholder 4">
            <a:extLst>
              <a:ext uri="{FF2B5EF4-FFF2-40B4-BE49-F238E27FC236}">
                <a16:creationId xmlns:a16="http://schemas.microsoft.com/office/drawing/2014/main" id="{17E2E788-017F-6F13-54DD-1E52E1AE08EB}"/>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7E7DEF14-4604-513B-A851-69578D66C237}"/>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5456227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C406C-0E11-A439-6365-CA35F62757B3}"/>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E0254C9C-351D-2880-FACD-D6F50600EE70}"/>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689A863F-F3E1-1117-CDC1-2D16E76C656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8A6BA5F7-508C-204F-3300-40F111799652}"/>
              </a:ext>
            </a:extLst>
          </p:cNvPr>
          <p:cNvSpPr>
            <a:spLocks noGrp="1"/>
          </p:cNvSpPr>
          <p:nvPr>
            <p:ph type="dt" sz="half" idx="10"/>
          </p:nvPr>
        </p:nvSpPr>
        <p:spPr/>
        <p:txBody>
          <a:bodyPr/>
          <a:lstStyle/>
          <a:p>
            <a:fld id="{23B745D6-BD15-46F4-8F61-5B76DC6813A2}" type="datetimeFigureOut">
              <a:rPr lang="en-AU" smtClean="0"/>
              <a:t>11/03/2025</a:t>
            </a:fld>
            <a:endParaRPr lang="en-AU"/>
          </a:p>
        </p:txBody>
      </p:sp>
      <p:sp>
        <p:nvSpPr>
          <p:cNvPr id="6" name="Footer Placeholder 5">
            <a:extLst>
              <a:ext uri="{FF2B5EF4-FFF2-40B4-BE49-F238E27FC236}">
                <a16:creationId xmlns:a16="http://schemas.microsoft.com/office/drawing/2014/main" id="{630523C9-553E-3DA4-B45A-3127E7F25257}"/>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3305383-37DA-C93A-D22A-BBCB1FFDCACF}"/>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8113245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4F650-1A3A-FB0D-6B99-51A9CEB651DF}"/>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0F4CE073-89B8-917C-7986-01451B9C45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06DAE6D-9EB9-D9FF-04FC-4CAF5F0C17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2210CC00-36C5-7482-E885-2DC8197CE0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5EEEFCE-B2E5-064D-2E85-A5A7C357F07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AE3BC028-8045-73F5-14E5-D2549F1C87EB}"/>
              </a:ext>
            </a:extLst>
          </p:cNvPr>
          <p:cNvSpPr>
            <a:spLocks noGrp="1"/>
          </p:cNvSpPr>
          <p:nvPr>
            <p:ph type="dt" sz="half" idx="10"/>
          </p:nvPr>
        </p:nvSpPr>
        <p:spPr/>
        <p:txBody>
          <a:bodyPr/>
          <a:lstStyle/>
          <a:p>
            <a:fld id="{23B745D6-BD15-46F4-8F61-5B76DC6813A2}" type="datetimeFigureOut">
              <a:rPr lang="en-AU" smtClean="0"/>
              <a:t>11/03/2025</a:t>
            </a:fld>
            <a:endParaRPr lang="en-AU"/>
          </a:p>
        </p:txBody>
      </p:sp>
      <p:sp>
        <p:nvSpPr>
          <p:cNvPr id="8" name="Footer Placeholder 7">
            <a:extLst>
              <a:ext uri="{FF2B5EF4-FFF2-40B4-BE49-F238E27FC236}">
                <a16:creationId xmlns:a16="http://schemas.microsoft.com/office/drawing/2014/main" id="{306C4AB4-3BE0-AB67-0718-D1A68AB2776C}"/>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EC97BBBE-7B81-A400-ACE5-ECD2477E891A}"/>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802951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CD1856-B1CF-90EA-B782-4811DB7B17BF}"/>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43EBF581-0D70-407B-53B9-8153E2EAAB3F}"/>
              </a:ext>
            </a:extLst>
          </p:cNvPr>
          <p:cNvSpPr>
            <a:spLocks noGrp="1"/>
          </p:cNvSpPr>
          <p:nvPr>
            <p:ph type="dt" sz="half" idx="10"/>
          </p:nvPr>
        </p:nvSpPr>
        <p:spPr/>
        <p:txBody>
          <a:bodyPr/>
          <a:lstStyle/>
          <a:p>
            <a:fld id="{23B745D6-BD15-46F4-8F61-5B76DC6813A2}" type="datetimeFigureOut">
              <a:rPr lang="en-AU" smtClean="0"/>
              <a:t>11/03/2025</a:t>
            </a:fld>
            <a:endParaRPr lang="en-AU"/>
          </a:p>
        </p:txBody>
      </p:sp>
      <p:sp>
        <p:nvSpPr>
          <p:cNvPr id="4" name="Footer Placeholder 3">
            <a:extLst>
              <a:ext uri="{FF2B5EF4-FFF2-40B4-BE49-F238E27FC236}">
                <a16:creationId xmlns:a16="http://schemas.microsoft.com/office/drawing/2014/main" id="{FB1548F0-5D0F-2C95-5915-1C244C9BD253}"/>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FED8EDBD-8AEB-1CF8-3458-C8C26CFACF6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4061047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D72DFA-CF95-6F45-0C81-C76BB33B15AA}"/>
              </a:ext>
            </a:extLst>
          </p:cNvPr>
          <p:cNvSpPr>
            <a:spLocks noGrp="1"/>
          </p:cNvSpPr>
          <p:nvPr>
            <p:ph type="dt" sz="half" idx="10"/>
          </p:nvPr>
        </p:nvSpPr>
        <p:spPr/>
        <p:txBody>
          <a:bodyPr/>
          <a:lstStyle/>
          <a:p>
            <a:fld id="{23B745D6-BD15-46F4-8F61-5B76DC6813A2}" type="datetimeFigureOut">
              <a:rPr lang="en-AU" smtClean="0"/>
              <a:t>11/03/2025</a:t>
            </a:fld>
            <a:endParaRPr lang="en-AU"/>
          </a:p>
        </p:txBody>
      </p:sp>
      <p:sp>
        <p:nvSpPr>
          <p:cNvPr id="3" name="Footer Placeholder 2">
            <a:extLst>
              <a:ext uri="{FF2B5EF4-FFF2-40B4-BE49-F238E27FC236}">
                <a16:creationId xmlns:a16="http://schemas.microsoft.com/office/drawing/2014/main" id="{3A41ABBF-E37B-A334-896D-AC3D737A37C7}"/>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0369ADC4-277E-6936-D0F0-CDAE8CF7D316}"/>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40259714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40AF14-DB75-0CB2-9679-44B3312C910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76B5469A-D73A-848D-FA3B-2DEF825D34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6242080A-A7A1-ED5A-0786-848EB52C3E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4C2B081-067F-4EB4-48C8-898D12FE3A95}"/>
              </a:ext>
            </a:extLst>
          </p:cNvPr>
          <p:cNvSpPr>
            <a:spLocks noGrp="1"/>
          </p:cNvSpPr>
          <p:nvPr>
            <p:ph type="dt" sz="half" idx="10"/>
          </p:nvPr>
        </p:nvSpPr>
        <p:spPr/>
        <p:txBody>
          <a:bodyPr/>
          <a:lstStyle/>
          <a:p>
            <a:fld id="{23B745D6-BD15-46F4-8F61-5B76DC6813A2}" type="datetimeFigureOut">
              <a:rPr lang="en-AU" smtClean="0"/>
              <a:t>11/03/2025</a:t>
            </a:fld>
            <a:endParaRPr lang="en-AU"/>
          </a:p>
        </p:txBody>
      </p:sp>
      <p:sp>
        <p:nvSpPr>
          <p:cNvPr id="6" name="Footer Placeholder 5">
            <a:extLst>
              <a:ext uri="{FF2B5EF4-FFF2-40B4-BE49-F238E27FC236}">
                <a16:creationId xmlns:a16="http://schemas.microsoft.com/office/drawing/2014/main" id="{B1B9DB5D-2FD5-66A6-DA58-25747D4D2D3A}"/>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A2F9C774-F79D-24D1-9ABF-603E3B30FE0E}"/>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8484747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5A743-6A46-0AAF-B7C5-6E2B0E87AF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C92989FF-5850-18D2-AB3F-9056C5685B2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FD651E8F-FF7C-6985-295D-EC7E4994E12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C957EB6-FA17-1918-DA46-2FC41FD76FFF}"/>
              </a:ext>
            </a:extLst>
          </p:cNvPr>
          <p:cNvSpPr>
            <a:spLocks noGrp="1"/>
          </p:cNvSpPr>
          <p:nvPr>
            <p:ph type="dt" sz="half" idx="10"/>
          </p:nvPr>
        </p:nvSpPr>
        <p:spPr/>
        <p:txBody>
          <a:bodyPr/>
          <a:lstStyle/>
          <a:p>
            <a:fld id="{23B745D6-BD15-46F4-8F61-5B76DC6813A2}" type="datetimeFigureOut">
              <a:rPr lang="en-AU" smtClean="0"/>
              <a:t>11/03/2025</a:t>
            </a:fld>
            <a:endParaRPr lang="en-AU"/>
          </a:p>
        </p:txBody>
      </p:sp>
      <p:sp>
        <p:nvSpPr>
          <p:cNvPr id="6" name="Footer Placeholder 5">
            <a:extLst>
              <a:ext uri="{FF2B5EF4-FFF2-40B4-BE49-F238E27FC236}">
                <a16:creationId xmlns:a16="http://schemas.microsoft.com/office/drawing/2014/main" id="{EC0294D8-4894-D6A0-6131-FB93D61CE710}"/>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C6483919-BFA3-F826-E6F5-F4FC68AAEC52}"/>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100619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144B3D-2126-5F91-B55A-F61DEED799C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2B7CF0A9-CCF6-C245-D658-4B0F5460C28E}"/>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6E3559A2-FC84-8761-C9A3-3833C32C7D1F}"/>
              </a:ext>
            </a:extLst>
          </p:cNvPr>
          <p:cNvSpPr>
            <a:spLocks noGrp="1"/>
          </p:cNvSpPr>
          <p:nvPr>
            <p:ph type="dt" sz="half" idx="10"/>
          </p:nvPr>
        </p:nvSpPr>
        <p:spPr/>
        <p:txBody>
          <a:bodyPr/>
          <a:lstStyle/>
          <a:p>
            <a:fld id="{23B745D6-BD15-46F4-8F61-5B76DC6813A2}" type="datetimeFigureOut">
              <a:rPr lang="en-AU" smtClean="0"/>
              <a:t>11/03/2025</a:t>
            </a:fld>
            <a:endParaRPr lang="en-AU"/>
          </a:p>
        </p:txBody>
      </p:sp>
      <p:sp>
        <p:nvSpPr>
          <p:cNvPr id="5" name="Footer Placeholder 4">
            <a:extLst>
              <a:ext uri="{FF2B5EF4-FFF2-40B4-BE49-F238E27FC236}">
                <a16:creationId xmlns:a16="http://schemas.microsoft.com/office/drawing/2014/main" id="{4FF58D60-1729-7ACF-29F0-6F9117990FD5}"/>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D5C1282-B0FE-9DB9-1046-41680730E620}"/>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2658700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9285CCD-0CA2-FC23-9DEF-60C27B2C9E7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5DA3091C-AD3B-5C92-2C49-AC2E4C693B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8558B523-BA5B-0AA6-7EDA-BE283BE9C512}"/>
              </a:ext>
            </a:extLst>
          </p:cNvPr>
          <p:cNvSpPr>
            <a:spLocks noGrp="1"/>
          </p:cNvSpPr>
          <p:nvPr>
            <p:ph type="dt" sz="half" idx="10"/>
          </p:nvPr>
        </p:nvSpPr>
        <p:spPr/>
        <p:txBody>
          <a:bodyPr/>
          <a:lstStyle/>
          <a:p>
            <a:fld id="{23B745D6-BD15-46F4-8F61-5B76DC6813A2}" type="datetimeFigureOut">
              <a:rPr lang="en-AU" smtClean="0"/>
              <a:t>11/03/2025</a:t>
            </a:fld>
            <a:endParaRPr lang="en-AU"/>
          </a:p>
        </p:txBody>
      </p:sp>
      <p:sp>
        <p:nvSpPr>
          <p:cNvPr id="5" name="Footer Placeholder 4">
            <a:extLst>
              <a:ext uri="{FF2B5EF4-FFF2-40B4-BE49-F238E27FC236}">
                <a16:creationId xmlns:a16="http://schemas.microsoft.com/office/drawing/2014/main" id="{F1A9D627-0CF5-2E8B-2FAC-86772E4D0316}"/>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38003FB6-991A-6E88-18E5-9F5DD0418AFB}"/>
              </a:ext>
            </a:extLst>
          </p:cNvPr>
          <p:cNvSpPr>
            <a:spLocks noGrp="1"/>
          </p:cNvSpPr>
          <p:nvPr>
            <p:ph type="sldNum" sz="quarter" idx="12"/>
          </p:nvPr>
        </p:nvSpPr>
        <p:spPr/>
        <p:txBody>
          <a:bodyPr/>
          <a:lstStyle/>
          <a:p>
            <a:fld id="{8656EAF8-6659-4771-8BB2-799448F6FC8E}" type="slidenum">
              <a:rPr lang="en-AU" smtClean="0"/>
              <a:t>‹#›</a:t>
            </a:fld>
            <a:endParaRPr lang="en-AU"/>
          </a:p>
        </p:txBody>
      </p:sp>
    </p:spTree>
    <p:extLst>
      <p:ext uri="{BB962C8B-B14F-4D97-AF65-F5344CB8AC3E}">
        <p14:creationId xmlns:p14="http://schemas.microsoft.com/office/powerpoint/2010/main" val="33636076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11" name="Picture 2">
            <a:extLst>
              <a:ext uri="{FF2B5EF4-FFF2-40B4-BE49-F238E27FC236}">
                <a16:creationId xmlns:a16="http://schemas.microsoft.com/office/drawing/2014/main" id="{0188D05B-C9B1-9F8E-E8F8-58E8F8AA3A0E}"/>
              </a:ext>
            </a:extLst>
          </p:cNvPr>
          <p:cNvPicPr>
            <a:picLocks noChangeAspect="1"/>
          </p:cNvPicPr>
          <p:nvPr userDrawn="1"/>
        </p:nvPicPr>
        <p:blipFill>
          <a:blip r:embed="rId13">
            <a:alphaModFix amt="70000"/>
          </a:blip>
          <a:srcRect t="20571" r="13865" b="6706"/>
          <a:stretch>
            <a:fillRect/>
          </a:stretch>
        </p:blipFill>
        <p:spPr>
          <a:xfrm>
            <a:off x="0" y="893"/>
            <a:ext cx="12192000" cy="6856214"/>
          </a:xfrm>
          <a:prstGeom prst="rect">
            <a:avLst/>
          </a:prstGeom>
        </p:spPr>
      </p:pic>
      <p:sp>
        <p:nvSpPr>
          <p:cNvPr id="2" name="Title Placeholder 1">
            <a:extLst>
              <a:ext uri="{FF2B5EF4-FFF2-40B4-BE49-F238E27FC236}">
                <a16:creationId xmlns:a16="http://schemas.microsoft.com/office/drawing/2014/main" id="{A214F7C2-ACAC-9218-ADFF-A96CC3ECA3C8}"/>
              </a:ext>
            </a:extLst>
          </p:cNvPr>
          <p:cNvSpPr>
            <a:spLocks noGrp="1"/>
          </p:cNvSpPr>
          <p:nvPr>
            <p:ph type="title"/>
          </p:nvPr>
        </p:nvSpPr>
        <p:spPr>
          <a:xfrm>
            <a:off x="838200" y="365125"/>
            <a:ext cx="10515600" cy="883647"/>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304291D6-18A1-75A2-0433-A613EEEDBE8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3DB3AEE-24A0-9046-27B2-6B77D57DAB3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745D6-BD15-46F4-8F61-5B76DC6813A2}" type="datetimeFigureOut">
              <a:rPr lang="en-AU" smtClean="0"/>
              <a:t>11/03/2025</a:t>
            </a:fld>
            <a:endParaRPr lang="en-AU"/>
          </a:p>
        </p:txBody>
      </p:sp>
      <p:sp>
        <p:nvSpPr>
          <p:cNvPr id="5" name="Footer Placeholder 4">
            <a:extLst>
              <a:ext uri="{FF2B5EF4-FFF2-40B4-BE49-F238E27FC236}">
                <a16:creationId xmlns:a16="http://schemas.microsoft.com/office/drawing/2014/main" id="{AF4FADA7-7278-A9BE-3200-452300DDD935}"/>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a:extLst>
              <a:ext uri="{FF2B5EF4-FFF2-40B4-BE49-F238E27FC236}">
                <a16:creationId xmlns:a16="http://schemas.microsoft.com/office/drawing/2014/main" id="{CD4787B9-44F7-ABCA-9067-AA1D31CD22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656EAF8-6659-4771-8BB2-799448F6FC8E}" type="slidenum">
              <a:rPr lang="en-AU" smtClean="0"/>
              <a:t>‹#›</a:t>
            </a:fld>
            <a:endParaRPr lang="en-AU"/>
          </a:p>
        </p:txBody>
      </p:sp>
      <p:pic>
        <p:nvPicPr>
          <p:cNvPr id="7" name="bg object 21">
            <a:extLst>
              <a:ext uri="{FF2B5EF4-FFF2-40B4-BE49-F238E27FC236}">
                <a16:creationId xmlns:a16="http://schemas.microsoft.com/office/drawing/2014/main" id="{93A3F3C9-669E-C711-876F-3DBFCBD16E8C}"/>
              </a:ext>
            </a:extLst>
          </p:cNvPr>
          <p:cNvPicPr/>
          <p:nvPr userDrawn="1"/>
        </p:nvPicPr>
        <p:blipFill>
          <a:blip r:embed="rId14" cstate="print"/>
          <a:stretch>
            <a:fillRect/>
          </a:stretch>
        </p:blipFill>
        <p:spPr>
          <a:xfrm>
            <a:off x="-1" y="-4682"/>
            <a:ext cx="12191999" cy="1338183"/>
          </a:xfrm>
          <a:prstGeom prst="rect">
            <a:avLst/>
          </a:prstGeom>
        </p:spPr>
      </p:pic>
      <p:pic>
        <p:nvPicPr>
          <p:cNvPr id="8" name="Picture 7">
            <a:extLst>
              <a:ext uri="{FF2B5EF4-FFF2-40B4-BE49-F238E27FC236}">
                <a16:creationId xmlns:a16="http://schemas.microsoft.com/office/drawing/2014/main" id="{A68CFD8C-1D1A-A751-3387-EEECA19420BD}"/>
              </a:ext>
            </a:extLst>
          </p:cNvPr>
          <p:cNvPicPr>
            <a:picLocks noChangeAspect="1"/>
          </p:cNvPicPr>
          <p:nvPr userDrawn="1"/>
        </p:nvPicPr>
        <p:blipFill rotWithShape="1">
          <a:blip r:embed="rId15"/>
          <a:srcRect l="4899"/>
          <a:stretch/>
        </p:blipFill>
        <p:spPr>
          <a:xfrm>
            <a:off x="0" y="-4681"/>
            <a:ext cx="12192000" cy="1338182"/>
          </a:xfrm>
          <a:prstGeom prst="rect">
            <a:avLst/>
          </a:prstGeom>
        </p:spPr>
      </p:pic>
    </p:spTree>
    <p:extLst>
      <p:ext uri="{BB962C8B-B14F-4D97-AF65-F5344CB8AC3E}">
        <p14:creationId xmlns:p14="http://schemas.microsoft.com/office/powerpoint/2010/main" val="297677583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png"/><Relationship Id="rId7" Type="http://schemas.microsoft.com/office/2007/relationships/hdphoto" Target="../media/hdphoto1.wdp"/><Relationship Id="rId2" Type="http://schemas.microsoft.com/office/2018/10/relationships/comments" Target="../comments/modernComment_100_18305D18.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Group 46">
            <a:extLst>
              <a:ext uri="{FF2B5EF4-FFF2-40B4-BE49-F238E27FC236}">
                <a16:creationId xmlns:a16="http://schemas.microsoft.com/office/drawing/2014/main" id="{FF06217B-3145-6D21-94AC-E634370CF8FF}"/>
              </a:ext>
            </a:extLst>
          </p:cNvPr>
          <p:cNvGrpSpPr/>
          <p:nvPr/>
        </p:nvGrpSpPr>
        <p:grpSpPr>
          <a:xfrm>
            <a:off x="3099050" y="5809543"/>
            <a:ext cx="4465706" cy="735929"/>
            <a:chOff x="91266" y="8196071"/>
            <a:chExt cx="2498725" cy="2218184"/>
          </a:xfrm>
        </p:grpSpPr>
        <p:sp>
          <p:nvSpPr>
            <p:cNvPr id="48" name="object 41">
              <a:extLst>
                <a:ext uri="{FF2B5EF4-FFF2-40B4-BE49-F238E27FC236}">
                  <a16:creationId xmlns:a16="http://schemas.microsoft.com/office/drawing/2014/main" id="{CB9CDF36-C1E7-9DC5-C072-8FE9940570F8}"/>
                </a:ext>
              </a:extLst>
            </p:cNvPr>
            <p:cNvSpPr txBox="1"/>
            <p:nvPr/>
          </p:nvSpPr>
          <p:spPr>
            <a:xfrm>
              <a:off x="1572087" y="9811086"/>
              <a:ext cx="987213" cy="502491"/>
            </a:xfrm>
            <a:prstGeom prst="rect">
              <a:avLst/>
            </a:prstGeom>
          </p:spPr>
          <p:txBody>
            <a:bodyPr vert="horz" wrap="square" lIns="0" tIns="12700" rIns="0" bIns="0" rtlCol="0">
              <a:spAutoFit/>
            </a:bodyPr>
            <a:lstStyle/>
            <a:p>
              <a:pPr marL="12700" algn="r">
                <a:lnSpc>
                  <a:spcPct val="100000"/>
                </a:lnSpc>
                <a:spcBef>
                  <a:spcPts val="100"/>
                </a:spcBef>
              </a:pPr>
              <a:r>
                <a:rPr lang="en-US" sz="1000">
                  <a:latin typeface="Roboto" panose="02000000000000000000" pitchFamily="2" charset="0"/>
                  <a:ea typeface="Roboto" panose="02000000000000000000" pitchFamily="2" charset="0"/>
                  <a:cs typeface="Tahoma"/>
                </a:rPr>
                <a:t>Project sponsor</a:t>
              </a:r>
              <a:endParaRPr sz="1000">
                <a:latin typeface="Roboto" panose="02000000000000000000" pitchFamily="2" charset="0"/>
                <a:ea typeface="Roboto" panose="02000000000000000000" pitchFamily="2" charset="0"/>
                <a:cs typeface="Tahoma"/>
              </a:endParaRPr>
            </a:p>
          </p:txBody>
        </p:sp>
        <p:sp>
          <p:nvSpPr>
            <p:cNvPr id="50" name="Rectangle 49">
              <a:extLst>
                <a:ext uri="{FF2B5EF4-FFF2-40B4-BE49-F238E27FC236}">
                  <a16:creationId xmlns:a16="http://schemas.microsoft.com/office/drawing/2014/main" id="{8C318E8E-FF15-FFA8-A833-1E97C3047EE1}"/>
                </a:ext>
              </a:extLst>
            </p:cNvPr>
            <p:cNvSpPr/>
            <p:nvPr/>
          </p:nvSpPr>
          <p:spPr>
            <a:xfrm>
              <a:off x="91266" y="8196071"/>
              <a:ext cx="2498725" cy="2218184"/>
            </a:xfrm>
            <a:prstGeom prst="rect">
              <a:avLst/>
            </a:prstGeom>
            <a:noFill/>
            <a:ln>
              <a:solidFill>
                <a:srgbClr val="0E2A3F"/>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49" name="object 42">
              <a:extLst>
                <a:ext uri="{FF2B5EF4-FFF2-40B4-BE49-F238E27FC236}">
                  <a16:creationId xmlns:a16="http://schemas.microsoft.com/office/drawing/2014/main" id="{675A7C81-6A86-C5DE-4101-842DAD62F0C6}"/>
                </a:ext>
              </a:extLst>
            </p:cNvPr>
            <p:cNvSpPr txBox="1"/>
            <p:nvPr/>
          </p:nvSpPr>
          <p:spPr>
            <a:xfrm>
              <a:off x="226466" y="8549414"/>
              <a:ext cx="2228324" cy="1212165"/>
            </a:xfrm>
            <a:prstGeom prst="rect">
              <a:avLst/>
            </a:prstGeom>
          </p:spPr>
          <p:txBody>
            <a:bodyPr vert="horz" wrap="square" lIns="0" tIns="12700" rIns="0" bIns="0" rtlCol="0" anchor="t">
              <a:spAutoFit/>
            </a:bodyPr>
            <a:lstStyle/>
            <a:p>
              <a:pPr marL="12700" marR="5080" algn="ctr">
                <a:lnSpc>
                  <a:spcPct val="132100"/>
                </a:lnSpc>
                <a:spcBef>
                  <a:spcPts val="100"/>
                </a:spcBef>
              </a:pPr>
              <a:r>
                <a:rPr lang="en-AU" sz="1000" i="1" err="1">
                  <a:ea typeface="+mn-lt"/>
                  <a:cs typeface="+mn-lt"/>
                </a:rPr>
                <a:t>intelia's</a:t>
              </a:r>
              <a:r>
                <a:rPr lang="en-AU" sz="1000" i="1">
                  <a:ea typeface="+mn-lt"/>
                  <a:cs typeface="+mn-lt"/>
                </a:rPr>
                <a:t> solution has truly unlocked the value of our archive, allowing us to search through millions of datapoints and find the right content in seconds!</a:t>
              </a:r>
              <a:endParaRPr lang="en-US"/>
            </a:p>
          </p:txBody>
        </p:sp>
      </p:grpSp>
      <p:cxnSp>
        <p:nvCxnSpPr>
          <p:cNvPr id="75" name="Straight Connector 74">
            <a:extLst>
              <a:ext uri="{FF2B5EF4-FFF2-40B4-BE49-F238E27FC236}">
                <a16:creationId xmlns:a16="http://schemas.microsoft.com/office/drawing/2014/main" id="{7594B3FF-E945-5D47-0FA3-057E4E7A6C97}"/>
              </a:ext>
            </a:extLst>
          </p:cNvPr>
          <p:cNvCxnSpPr>
            <a:cxnSpLocks/>
          </p:cNvCxnSpPr>
          <p:nvPr/>
        </p:nvCxnSpPr>
        <p:spPr>
          <a:xfrm>
            <a:off x="7726294" y="1611330"/>
            <a:ext cx="0" cy="3738219"/>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15" name="object 37">
            <a:extLst>
              <a:ext uri="{FF2B5EF4-FFF2-40B4-BE49-F238E27FC236}">
                <a16:creationId xmlns:a16="http://schemas.microsoft.com/office/drawing/2014/main" id="{CD324C2E-9ED2-FD3D-F0AA-E97D44868E6C}"/>
              </a:ext>
            </a:extLst>
          </p:cNvPr>
          <p:cNvSpPr txBox="1">
            <a:spLocks/>
          </p:cNvSpPr>
          <p:nvPr/>
        </p:nvSpPr>
        <p:spPr>
          <a:xfrm>
            <a:off x="316834" y="552282"/>
            <a:ext cx="11544632" cy="443711"/>
          </a:xfrm>
          <a:prstGeom prst="rect">
            <a:avLst/>
          </a:prstGeom>
        </p:spPr>
        <p:txBody>
          <a:bodyPr vert="horz" wrap="square" lIns="0" tIns="12700" rIns="0" bIns="0" rtlCol="0" anchor="t">
            <a:spAutoFit/>
          </a:bodyPr>
          <a:lstStyle>
            <a:lvl1pPr>
              <a:defRPr sz="4200" b="1" i="0">
                <a:solidFill>
                  <a:schemeClr val="bg1"/>
                </a:solidFill>
                <a:latin typeface="Roboto"/>
                <a:ea typeface="+mj-ea"/>
                <a:cs typeface="Roboto"/>
              </a:defRPr>
            </a:lvl1pPr>
          </a:lstStyle>
          <a:p>
            <a:pPr marL="12700">
              <a:spcBef>
                <a:spcPts val="100"/>
              </a:spcBef>
              <a:defRPr/>
            </a:pPr>
            <a:r>
              <a:rPr kumimoji="0" lang="en-AU" sz="2800" b="1" i="0" u="none" strike="noStrike" kern="0" cap="none" spc="0" normalizeH="0" baseline="0" noProof="0">
                <a:ln>
                  <a:noFill/>
                </a:ln>
                <a:effectLst/>
                <a:uLnTx/>
                <a:uFillTx/>
                <a:latin typeface="Roboto"/>
                <a:ea typeface="+mj-ea"/>
              </a:rPr>
              <a:t>Nine Entertainment – Media Search and Content Generation </a:t>
            </a:r>
            <a:endParaRPr kumimoji="0" lang="en-AU" sz="2800" b="1" i="0" u="none" strike="noStrike" kern="0" cap="none" spc="-10" normalizeH="0" baseline="0" noProof="0">
              <a:ln>
                <a:noFill/>
              </a:ln>
              <a:solidFill>
                <a:sysClr val="window" lastClr="FFFFFF"/>
              </a:solidFill>
              <a:effectLst/>
              <a:uLnTx/>
              <a:uFillTx/>
              <a:latin typeface="Roboto"/>
              <a:ea typeface="+mj-ea"/>
            </a:endParaRPr>
          </a:p>
        </p:txBody>
      </p:sp>
      <p:pic>
        <p:nvPicPr>
          <p:cNvPr id="16" name="bg object 23">
            <a:extLst>
              <a:ext uri="{FF2B5EF4-FFF2-40B4-BE49-F238E27FC236}">
                <a16:creationId xmlns:a16="http://schemas.microsoft.com/office/drawing/2014/main" id="{1F963E9B-BB0D-444B-59F4-E587E16A2F55}"/>
              </a:ext>
            </a:extLst>
          </p:cNvPr>
          <p:cNvPicPr/>
          <p:nvPr/>
        </p:nvPicPr>
        <p:blipFill>
          <a:blip r:embed="rId3" cstate="print"/>
          <a:stretch>
            <a:fillRect/>
          </a:stretch>
        </p:blipFill>
        <p:spPr>
          <a:xfrm>
            <a:off x="273542" y="156801"/>
            <a:ext cx="1368092" cy="361961"/>
          </a:xfrm>
          <a:prstGeom prst="rect">
            <a:avLst/>
          </a:prstGeom>
        </p:spPr>
      </p:pic>
      <p:pic>
        <p:nvPicPr>
          <p:cNvPr id="17" name="Picture 16" descr="A group of colorful symbols&#10;&#10;Description automatically generated with medium confidence">
            <a:extLst>
              <a:ext uri="{FF2B5EF4-FFF2-40B4-BE49-F238E27FC236}">
                <a16:creationId xmlns:a16="http://schemas.microsoft.com/office/drawing/2014/main" id="{865152CC-7651-C287-3FEF-D7C2C715E40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663341" y="70998"/>
            <a:ext cx="1394557" cy="563411"/>
          </a:xfrm>
          <a:prstGeom prst="rect">
            <a:avLst/>
          </a:prstGeom>
        </p:spPr>
      </p:pic>
      <p:sp>
        <p:nvSpPr>
          <p:cNvPr id="18" name="object 27">
            <a:extLst>
              <a:ext uri="{FF2B5EF4-FFF2-40B4-BE49-F238E27FC236}">
                <a16:creationId xmlns:a16="http://schemas.microsoft.com/office/drawing/2014/main" id="{1759BADB-DBF3-5EEA-C278-C70AE3057212}"/>
              </a:ext>
            </a:extLst>
          </p:cNvPr>
          <p:cNvSpPr txBox="1"/>
          <p:nvPr/>
        </p:nvSpPr>
        <p:spPr>
          <a:xfrm>
            <a:off x="10860567" y="249594"/>
            <a:ext cx="1331433" cy="197233"/>
          </a:xfrm>
          <a:prstGeom prst="rect">
            <a:avLst/>
          </a:prstGeom>
        </p:spPr>
        <p:txBody>
          <a:bodyPr vert="horz" wrap="square" lIns="0" tIns="12700" rIns="0" bIns="0" rtlCol="0">
            <a:spAutoFit/>
          </a:bodyPr>
          <a:lstStyle/>
          <a:p>
            <a:pPr marL="12700" marR="5080" algn="ctr">
              <a:lnSpc>
                <a:spcPct val="132100"/>
              </a:lnSpc>
              <a:spcBef>
                <a:spcPts val="365"/>
              </a:spcBef>
            </a:pPr>
            <a:r>
              <a:rPr lang="en-US" sz="1000" kern="0" spc="35">
                <a:solidFill>
                  <a:prstClr val="white"/>
                </a:solidFill>
                <a:latin typeface="Roboto" panose="02000000000000000000" pitchFamily="2" charset="0"/>
                <a:ea typeface="Roboto" panose="02000000000000000000" pitchFamily="2" charset="0"/>
                <a:cs typeface="Tahoma"/>
              </a:rPr>
              <a:t>www.intelia.ai</a:t>
            </a:r>
            <a:endParaRPr sz="1000" kern="0">
              <a:solidFill>
                <a:prstClr val="white"/>
              </a:solidFill>
              <a:latin typeface="Roboto" panose="02000000000000000000" pitchFamily="2" charset="0"/>
              <a:ea typeface="Roboto" panose="02000000000000000000" pitchFamily="2" charset="0"/>
              <a:cs typeface="Tahoma"/>
            </a:endParaRPr>
          </a:p>
        </p:txBody>
      </p:sp>
      <p:cxnSp>
        <p:nvCxnSpPr>
          <p:cNvPr id="20" name="Straight Connector 19">
            <a:extLst>
              <a:ext uri="{FF2B5EF4-FFF2-40B4-BE49-F238E27FC236}">
                <a16:creationId xmlns:a16="http://schemas.microsoft.com/office/drawing/2014/main" id="{BE0D2C8A-B3B2-2928-7B96-948A4BD3F81C}"/>
              </a:ext>
            </a:extLst>
          </p:cNvPr>
          <p:cNvCxnSpPr>
            <a:cxnSpLocks/>
          </p:cNvCxnSpPr>
          <p:nvPr/>
        </p:nvCxnSpPr>
        <p:spPr>
          <a:xfrm>
            <a:off x="2994406" y="2129318"/>
            <a:ext cx="0" cy="3114274"/>
          </a:xfrm>
          <a:prstGeom prst="line">
            <a:avLst/>
          </a:prstGeom>
          <a:ln>
            <a:solidFill>
              <a:srgbClr val="0E2A3F"/>
            </a:solidFill>
          </a:ln>
        </p:spPr>
        <p:style>
          <a:lnRef idx="1">
            <a:schemeClr val="accent1"/>
          </a:lnRef>
          <a:fillRef idx="0">
            <a:schemeClr val="accent1"/>
          </a:fillRef>
          <a:effectRef idx="0">
            <a:schemeClr val="accent1"/>
          </a:effectRef>
          <a:fontRef idx="minor">
            <a:schemeClr val="tx1"/>
          </a:fontRef>
        </p:style>
      </p:cxnSp>
      <p:sp>
        <p:nvSpPr>
          <p:cNvPr id="21" name="Oval 20">
            <a:extLst>
              <a:ext uri="{FF2B5EF4-FFF2-40B4-BE49-F238E27FC236}">
                <a16:creationId xmlns:a16="http://schemas.microsoft.com/office/drawing/2014/main" id="{883365EC-7DB8-AD71-8EC5-1ADBB2192780}"/>
              </a:ext>
            </a:extLst>
          </p:cNvPr>
          <p:cNvSpPr/>
          <p:nvPr/>
        </p:nvSpPr>
        <p:spPr>
          <a:xfrm>
            <a:off x="7424956" y="1588697"/>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22" name="bg object 16">
            <a:extLst>
              <a:ext uri="{FF2B5EF4-FFF2-40B4-BE49-F238E27FC236}">
                <a16:creationId xmlns:a16="http://schemas.microsoft.com/office/drawing/2014/main" id="{E338DC0E-B0F1-63C8-F4A1-7A91E83C02F5}"/>
              </a:ext>
            </a:extLst>
          </p:cNvPr>
          <p:cNvSpPr/>
          <p:nvPr/>
        </p:nvSpPr>
        <p:spPr>
          <a:xfrm>
            <a:off x="0" y="3989522"/>
            <a:ext cx="2616199" cy="2792525"/>
          </a:xfrm>
          <a:custGeom>
            <a:avLst/>
            <a:gdLst/>
            <a:ahLst/>
            <a:cxnLst/>
            <a:rect l="l" t="t" r="r" b="b"/>
            <a:pathLst>
              <a:path w="2695575" h="3548379">
                <a:moveTo>
                  <a:pt x="2424390" y="3547959"/>
                </a:moveTo>
                <a:lnTo>
                  <a:pt x="0" y="3547959"/>
                </a:lnTo>
                <a:lnTo>
                  <a:pt x="0" y="0"/>
                </a:lnTo>
                <a:lnTo>
                  <a:pt x="2424385" y="0"/>
                </a:lnTo>
                <a:lnTo>
                  <a:pt x="2472939" y="4371"/>
                </a:lnTo>
                <a:lnTo>
                  <a:pt x="2518675" y="16970"/>
                </a:lnTo>
                <a:lnTo>
                  <a:pt x="2560820" y="37023"/>
                </a:lnTo>
                <a:lnTo>
                  <a:pt x="2598602" y="63759"/>
                </a:lnTo>
                <a:lnTo>
                  <a:pt x="2631247" y="96404"/>
                </a:lnTo>
                <a:lnTo>
                  <a:pt x="2657982" y="134185"/>
                </a:lnTo>
                <a:lnTo>
                  <a:pt x="2678036" y="176330"/>
                </a:lnTo>
                <a:lnTo>
                  <a:pt x="2690635" y="222066"/>
                </a:lnTo>
                <a:lnTo>
                  <a:pt x="2695006" y="270620"/>
                </a:lnTo>
                <a:lnTo>
                  <a:pt x="2695006" y="3277339"/>
                </a:lnTo>
                <a:lnTo>
                  <a:pt x="2690635" y="3325892"/>
                </a:lnTo>
                <a:lnTo>
                  <a:pt x="2678036" y="3371628"/>
                </a:lnTo>
                <a:lnTo>
                  <a:pt x="2657982" y="3413774"/>
                </a:lnTo>
                <a:lnTo>
                  <a:pt x="2631247" y="3451555"/>
                </a:lnTo>
                <a:lnTo>
                  <a:pt x="2598602" y="3484200"/>
                </a:lnTo>
                <a:lnTo>
                  <a:pt x="2560820" y="3510935"/>
                </a:lnTo>
                <a:lnTo>
                  <a:pt x="2518675" y="3530989"/>
                </a:lnTo>
                <a:lnTo>
                  <a:pt x="2472939" y="3543588"/>
                </a:lnTo>
                <a:lnTo>
                  <a:pt x="2424390" y="3547959"/>
                </a:lnTo>
                <a:close/>
              </a:path>
            </a:pathLst>
          </a:custGeom>
          <a:solidFill>
            <a:srgbClr val="00AA7E"/>
          </a:solidFill>
        </p:spPr>
        <p:txBody>
          <a:bodyPr wrap="square" lIns="0" tIns="0" rIns="0" bIns="0" rtlCol="0"/>
          <a:lstStyle/>
          <a:p>
            <a:endParaRPr/>
          </a:p>
        </p:txBody>
      </p:sp>
      <p:sp>
        <p:nvSpPr>
          <p:cNvPr id="25" name="object 34">
            <a:extLst>
              <a:ext uri="{FF2B5EF4-FFF2-40B4-BE49-F238E27FC236}">
                <a16:creationId xmlns:a16="http://schemas.microsoft.com/office/drawing/2014/main" id="{EA7C1E8D-2B3C-F2D1-E212-1AF5BADCD60C}"/>
              </a:ext>
            </a:extLst>
          </p:cNvPr>
          <p:cNvSpPr txBox="1"/>
          <p:nvPr/>
        </p:nvSpPr>
        <p:spPr>
          <a:xfrm>
            <a:off x="252559" y="4158877"/>
            <a:ext cx="2116944" cy="1561966"/>
          </a:xfrm>
          <a:prstGeom prst="rect">
            <a:avLst/>
          </a:prstGeom>
        </p:spPr>
        <p:txBody>
          <a:bodyPr vert="horz" wrap="square" lIns="0" tIns="12700" rIns="0" bIns="0" rtlCol="0" anchor="t">
            <a:spAutoFit/>
          </a:bodyPr>
          <a:lstStyle/>
          <a:p>
            <a:pPr marL="12700">
              <a:lnSpc>
                <a:spcPct val="100000"/>
              </a:lnSpc>
              <a:spcBef>
                <a:spcPts val="100"/>
              </a:spcBef>
            </a:pPr>
            <a:r>
              <a:rPr lang="en-AU" sz="1500" b="1" spc="-10">
                <a:solidFill>
                  <a:srgbClr val="FFFFFF"/>
                </a:solidFill>
                <a:latin typeface="Roboto"/>
                <a:cs typeface="Roboto"/>
              </a:rPr>
              <a:t>Nine Entertainment</a:t>
            </a:r>
          </a:p>
          <a:p>
            <a:pPr marL="12700">
              <a:lnSpc>
                <a:spcPct val="100000"/>
              </a:lnSpc>
              <a:spcBef>
                <a:spcPts val="100"/>
              </a:spcBef>
            </a:pPr>
            <a:r>
              <a:rPr lang="en-AU" sz="1200">
                <a:latin typeface="Roboto"/>
                <a:cs typeface="Roboto"/>
              </a:rPr>
              <a:t> </a:t>
            </a:r>
            <a:endParaRPr lang="en-AU" sz="1200" dirty="0">
              <a:latin typeface="Roboto"/>
              <a:ea typeface="Roboto"/>
              <a:cs typeface="Roboto"/>
            </a:endParaRPr>
          </a:p>
          <a:p>
            <a:pPr marL="12700">
              <a:spcBef>
                <a:spcPts val="100"/>
              </a:spcBef>
            </a:pPr>
            <a:r>
              <a:rPr lang="en-AU" sz="1200">
                <a:solidFill>
                  <a:schemeClr val="bg1"/>
                </a:solidFill>
                <a:latin typeface="Roboto"/>
                <a:cs typeface="Roboto"/>
              </a:rPr>
              <a:t>Nine is a publicly listed Australian media company that provides news, entertainment, and sports content across television, radio, and digital platforms</a:t>
            </a:r>
            <a:r>
              <a:rPr lang="en-AU" sz="1200" dirty="0">
                <a:solidFill>
                  <a:schemeClr val="bg1"/>
                </a:solidFill>
                <a:latin typeface="Roboto"/>
                <a:cs typeface="Roboto"/>
              </a:rPr>
              <a:t>.</a:t>
            </a:r>
            <a:endParaRPr lang="en-AU" sz="1200">
              <a:latin typeface="Roboto"/>
              <a:cs typeface="Roboto"/>
            </a:endParaRPr>
          </a:p>
        </p:txBody>
      </p:sp>
      <p:sp>
        <p:nvSpPr>
          <p:cNvPr id="26" name="object 38">
            <a:extLst>
              <a:ext uri="{FF2B5EF4-FFF2-40B4-BE49-F238E27FC236}">
                <a16:creationId xmlns:a16="http://schemas.microsoft.com/office/drawing/2014/main" id="{C66AC46E-2735-98D6-F6F0-4163DEF07545}"/>
              </a:ext>
            </a:extLst>
          </p:cNvPr>
          <p:cNvSpPr txBox="1"/>
          <p:nvPr/>
        </p:nvSpPr>
        <p:spPr>
          <a:xfrm>
            <a:off x="170943" y="1578114"/>
            <a:ext cx="2821000" cy="2326278"/>
          </a:xfrm>
          <a:prstGeom prst="rect">
            <a:avLst/>
          </a:prstGeom>
          <a:ln w="19050" cmpd="sng">
            <a:noFill/>
            <a:prstDash val="solid"/>
          </a:ln>
        </p:spPr>
        <p:txBody>
          <a:bodyPr vert="horz" wrap="square" lIns="0" tIns="12700" rIns="0" bIns="0" rtlCol="0" anchor="t">
            <a:spAutoFit/>
          </a:bodyPr>
          <a:lstStyle/>
          <a:p>
            <a:pPr marL="12700">
              <a:lnSpc>
                <a:spcPct val="100000"/>
              </a:lnSpc>
              <a:spcBef>
                <a:spcPts val="100"/>
              </a:spcBef>
            </a:pPr>
            <a:r>
              <a:rPr lang="en-AU" sz="1600" b="1">
                <a:solidFill>
                  <a:srgbClr val="0E2A3F"/>
                </a:solidFill>
                <a:latin typeface="Roboto"/>
                <a:cs typeface="Roboto"/>
              </a:rPr>
              <a:t>Skills</a:t>
            </a:r>
          </a:p>
          <a:p>
            <a:pPr marL="184150" indent="-171450">
              <a:spcBef>
                <a:spcPts val="100"/>
              </a:spcBef>
              <a:buFont typeface="Arial" panose="020B0604020202020204" pitchFamily="34" charset="0"/>
              <a:buChar char="•"/>
            </a:pPr>
            <a:r>
              <a:rPr lang="en-AU" sz="1000">
                <a:solidFill>
                  <a:srgbClr val="0E2A3F"/>
                </a:solidFill>
                <a:latin typeface="Roboto"/>
                <a:ea typeface="Roboto"/>
                <a:cs typeface="Roboto"/>
              </a:rPr>
              <a:t>System Design and Integration</a:t>
            </a:r>
          </a:p>
          <a:p>
            <a:pPr marL="184150" indent="-171450">
              <a:spcBef>
                <a:spcPts val="100"/>
              </a:spcBef>
              <a:buFont typeface="Arial" panose="020B0604020202020204" pitchFamily="34" charset="0"/>
              <a:buChar char="•"/>
            </a:pPr>
            <a:r>
              <a:rPr lang="en-AU" sz="1000">
                <a:solidFill>
                  <a:srgbClr val="0E2A3F"/>
                </a:solidFill>
                <a:latin typeface="Roboto"/>
                <a:cs typeface="Roboto"/>
              </a:rPr>
              <a:t>Data Modelling</a:t>
            </a:r>
            <a:endParaRPr lang="en-AU" sz="1000">
              <a:solidFill>
                <a:srgbClr val="0E2A3F"/>
              </a:solidFill>
              <a:latin typeface="Roboto"/>
              <a:ea typeface="Roboto"/>
              <a:cs typeface="Roboto"/>
            </a:endParaRPr>
          </a:p>
          <a:p>
            <a:pPr marL="184150" indent="-171450">
              <a:lnSpc>
                <a:spcPct val="100000"/>
              </a:lnSpc>
              <a:spcBef>
                <a:spcPts val="100"/>
              </a:spcBef>
              <a:buFont typeface="Arial" panose="020B0604020202020204" pitchFamily="34" charset="0"/>
              <a:buChar char="•"/>
            </a:pPr>
            <a:r>
              <a:rPr lang="en-AU" sz="1000">
                <a:solidFill>
                  <a:srgbClr val="0E2A3F"/>
                </a:solidFill>
                <a:latin typeface="Roboto"/>
                <a:cs typeface="Roboto"/>
              </a:rPr>
              <a:t>DevOps</a:t>
            </a:r>
            <a:endParaRPr lang="en-AU" sz="1000"/>
          </a:p>
          <a:p>
            <a:pPr marL="184150" indent="-171450">
              <a:spcBef>
                <a:spcPts val="100"/>
              </a:spcBef>
              <a:buFont typeface="Arial" panose="020B0604020202020204" pitchFamily="34" charset="0"/>
              <a:buChar char="•"/>
            </a:pPr>
            <a:r>
              <a:rPr lang="en-AU" sz="1000">
                <a:solidFill>
                  <a:srgbClr val="0E2A3F"/>
                </a:solidFill>
                <a:latin typeface="Roboto"/>
                <a:cs typeface="Roboto"/>
              </a:rPr>
              <a:t>Generative AI and Machine Learning (ML)</a:t>
            </a:r>
            <a:endParaRPr lang="en-AU" sz="1000">
              <a:solidFill>
                <a:srgbClr val="0E2A3F"/>
              </a:solidFill>
              <a:latin typeface="Roboto"/>
              <a:ea typeface="Roboto"/>
              <a:cs typeface="Roboto"/>
            </a:endParaRPr>
          </a:p>
          <a:p>
            <a:pPr marL="184150" indent="-171450">
              <a:spcBef>
                <a:spcPts val="100"/>
              </a:spcBef>
              <a:buFont typeface="Arial" panose="020B0604020202020204" pitchFamily="34" charset="0"/>
              <a:buChar char="•"/>
            </a:pPr>
            <a:r>
              <a:rPr lang="en-AU" sz="1000">
                <a:solidFill>
                  <a:srgbClr val="0E2A3F"/>
                </a:solidFill>
                <a:latin typeface="Roboto"/>
                <a:ea typeface="Roboto"/>
                <a:cs typeface="Roboto"/>
              </a:rPr>
              <a:t>Data Engineering</a:t>
            </a:r>
          </a:p>
          <a:p>
            <a:pPr marL="12700">
              <a:spcBef>
                <a:spcPts val="100"/>
              </a:spcBef>
            </a:pPr>
            <a:r>
              <a:rPr lang="en-AU" sz="1600" b="1">
                <a:solidFill>
                  <a:srgbClr val="0E2A3F"/>
                </a:solidFill>
                <a:latin typeface="Roboto"/>
                <a:cs typeface="Roboto"/>
              </a:rPr>
              <a:t>Tools</a:t>
            </a:r>
          </a:p>
          <a:p>
            <a:pPr marL="177800" indent="-165100">
              <a:spcBef>
                <a:spcPts val="100"/>
              </a:spcBef>
              <a:buClr>
                <a:srgbClr val="00AA7F"/>
              </a:buClr>
              <a:buFont typeface="Arial"/>
              <a:buChar char="•"/>
            </a:pPr>
            <a:r>
              <a:rPr lang="en-AU" sz="1000">
                <a:solidFill>
                  <a:srgbClr val="0E2A3F"/>
                </a:solidFill>
                <a:latin typeface="Roboto"/>
                <a:cs typeface="Roboto"/>
              </a:rPr>
              <a:t>Vertex AI (Gemini, Text &amp; Multimodal Embedding)</a:t>
            </a:r>
          </a:p>
          <a:p>
            <a:pPr marL="177800" indent="-165100">
              <a:spcBef>
                <a:spcPts val="100"/>
              </a:spcBef>
              <a:buClr>
                <a:srgbClr val="00AA7F"/>
              </a:buClr>
              <a:buFont typeface="Arial"/>
              <a:buChar char="•"/>
            </a:pPr>
            <a:r>
              <a:rPr lang="en-AU" sz="1000">
                <a:solidFill>
                  <a:srgbClr val="0E2A3F"/>
                </a:solidFill>
                <a:latin typeface="Roboto"/>
                <a:cs typeface="Roboto"/>
              </a:rPr>
              <a:t>GCP (</a:t>
            </a:r>
            <a:r>
              <a:rPr lang="en-AU" sz="1000" err="1">
                <a:solidFill>
                  <a:srgbClr val="0E2A3F"/>
                </a:solidFill>
                <a:latin typeface="Roboto"/>
                <a:cs typeface="Roboto"/>
              </a:rPr>
              <a:t>BigQuery</a:t>
            </a:r>
            <a:r>
              <a:rPr lang="en-AU" sz="1000">
                <a:solidFill>
                  <a:srgbClr val="0E2A3F"/>
                </a:solidFill>
                <a:latin typeface="Roboto"/>
                <a:cs typeface="Roboto"/>
              </a:rPr>
              <a:t>, </a:t>
            </a:r>
            <a:r>
              <a:rPr lang="en-AU" sz="1000" err="1">
                <a:solidFill>
                  <a:srgbClr val="0E2A3F"/>
                </a:solidFill>
                <a:latin typeface="Roboto"/>
                <a:cs typeface="Roboto"/>
              </a:rPr>
              <a:t>BigQuery</a:t>
            </a:r>
            <a:r>
              <a:rPr lang="en-AU" sz="1000">
                <a:solidFill>
                  <a:srgbClr val="0E2A3F"/>
                </a:solidFill>
                <a:latin typeface="Roboto"/>
                <a:cs typeface="Roboto"/>
              </a:rPr>
              <a:t> ML, Workflows, Batch, and Cloud Functions on Cloud Run)</a:t>
            </a:r>
          </a:p>
          <a:p>
            <a:pPr marL="177800" indent="-165100">
              <a:spcBef>
                <a:spcPts val="100"/>
              </a:spcBef>
              <a:buClr>
                <a:srgbClr val="00AA7F"/>
              </a:buClr>
              <a:buFont typeface="Arial"/>
              <a:buChar char="•"/>
            </a:pPr>
            <a:r>
              <a:rPr lang="en-AU" sz="1000" err="1">
                <a:solidFill>
                  <a:srgbClr val="0E2A3F"/>
                </a:solidFill>
                <a:latin typeface="Roboto"/>
                <a:cs typeface="Roboto"/>
              </a:rPr>
              <a:t>LangChain</a:t>
            </a:r>
            <a:endParaRPr lang="en-AU" sz="1000">
              <a:solidFill>
                <a:srgbClr val="0E2A3F"/>
              </a:solidFill>
              <a:latin typeface="Roboto"/>
              <a:ea typeface="Roboto"/>
              <a:cs typeface="Roboto"/>
            </a:endParaRPr>
          </a:p>
          <a:p>
            <a:pPr marL="177800" indent="-165100">
              <a:spcBef>
                <a:spcPts val="100"/>
              </a:spcBef>
              <a:buClr>
                <a:srgbClr val="00AA7F"/>
              </a:buClr>
              <a:buFont typeface="Arial"/>
              <a:buChar char="•"/>
            </a:pPr>
            <a:r>
              <a:rPr lang="en-AU" sz="1000">
                <a:solidFill>
                  <a:srgbClr val="0E2A3F"/>
                </a:solidFill>
                <a:latin typeface="Roboto"/>
                <a:cs typeface="Roboto"/>
              </a:rPr>
              <a:t>Terraform</a:t>
            </a:r>
            <a:endParaRPr lang="en-AU" sz="1000">
              <a:solidFill>
                <a:srgbClr val="0E2A3F"/>
              </a:solidFill>
              <a:latin typeface="Roboto"/>
              <a:ea typeface="Roboto"/>
              <a:cs typeface="Roboto"/>
            </a:endParaRPr>
          </a:p>
        </p:txBody>
      </p:sp>
      <p:sp>
        <p:nvSpPr>
          <p:cNvPr id="28" name="object 31">
            <a:extLst>
              <a:ext uri="{FF2B5EF4-FFF2-40B4-BE49-F238E27FC236}">
                <a16:creationId xmlns:a16="http://schemas.microsoft.com/office/drawing/2014/main" id="{1762D708-DDFE-CFAB-4EBA-820BC48A4944}"/>
              </a:ext>
            </a:extLst>
          </p:cNvPr>
          <p:cNvSpPr txBox="1"/>
          <p:nvPr/>
        </p:nvSpPr>
        <p:spPr>
          <a:xfrm>
            <a:off x="8093673" y="1875425"/>
            <a:ext cx="3953857" cy="2295500"/>
          </a:xfrm>
          <a:prstGeom prst="rect">
            <a:avLst/>
          </a:prstGeom>
        </p:spPr>
        <p:txBody>
          <a:bodyPr vert="horz" wrap="square" lIns="0" tIns="12700" rIns="0" bIns="0" rtlCol="0">
            <a:spAutoFit/>
          </a:bodyPr>
          <a:lstStyle/>
          <a:p>
            <a:pPr>
              <a:lnSpc>
                <a:spcPct val="150000"/>
              </a:lnSpc>
            </a:pPr>
            <a:r>
              <a:rPr lang="en-AU" sz="1000" spc="50" dirty="0">
                <a:solidFill>
                  <a:srgbClr val="212121"/>
                </a:solidFill>
                <a:latin typeface="Roboto" panose="02000000000000000000" pitchFamily="2" charset="0"/>
                <a:ea typeface="Roboto" panose="02000000000000000000" pitchFamily="2" charset="0"/>
                <a:cs typeface="Tahoma"/>
              </a:rPr>
              <a:t>Using GenAI, intelia designed and implemented a bespoke </a:t>
            </a:r>
            <a:r>
              <a:rPr lang="en-AU" sz="1000" b="1" spc="50" dirty="0">
                <a:solidFill>
                  <a:srgbClr val="212121"/>
                </a:solidFill>
                <a:latin typeface="Roboto" panose="02000000000000000000" pitchFamily="2" charset="0"/>
                <a:ea typeface="Roboto" panose="02000000000000000000" pitchFamily="2" charset="0"/>
                <a:cs typeface="Tahoma"/>
              </a:rPr>
              <a:t>Media Search and Content Generation </a:t>
            </a:r>
            <a:r>
              <a:rPr lang="en-AU" sz="1000" spc="50" dirty="0">
                <a:solidFill>
                  <a:srgbClr val="212121"/>
                </a:solidFill>
                <a:latin typeface="Roboto" panose="02000000000000000000" pitchFamily="2" charset="0"/>
                <a:ea typeface="Roboto" panose="02000000000000000000" pitchFamily="2" charset="0"/>
                <a:cs typeface="Tahoma"/>
              </a:rPr>
              <a:t>platform. The platform delivered:</a:t>
            </a:r>
          </a:p>
          <a:p>
            <a:pPr marL="171450" indent="-171450">
              <a:lnSpc>
                <a:spcPct val="150000"/>
              </a:lnSpc>
              <a:buFont typeface="Arial" panose="020B0604020202020204" pitchFamily="34" charset="0"/>
              <a:buChar char="•"/>
            </a:pPr>
            <a:r>
              <a:rPr lang="en-AU" sz="1000" b="1" spc="50" dirty="0">
                <a:solidFill>
                  <a:srgbClr val="212121"/>
                </a:solidFill>
                <a:latin typeface="Roboto" panose="02000000000000000000" pitchFamily="2" charset="0"/>
                <a:ea typeface="Roboto" panose="02000000000000000000" pitchFamily="2" charset="0"/>
                <a:cs typeface="Tahoma"/>
              </a:rPr>
              <a:t>Seamless content search </a:t>
            </a:r>
            <a:r>
              <a:rPr lang="en-AU" sz="1000" spc="50" dirty="0">
                <a:solidFill>
                  <a:srgbClr val="212121"/>
                </a:solidFill>
                <a:latin typeface="Roboto" panose="02000000000000000000" pitchFamily="2" charset="0"/>
                <a:ea typeface="Roboto" panose="02000000000000000000" pitchFamily="2" charset="0"/>
                <a:cs typeface="Tahoma"/>
              </a:rPr>
              <a:t>– replacing traditional keyword search with semantic search, enabling users to explore extensive archives using intuitive natural language queries</a:t>
            </a:r>
          </a:p>
          <a:p>
            <a:pPr marL="171450" indent="-171450">
              <a:lnSpc>
                <a:spcPct val="150000"/>
              </a:lnSpc>
              <a:buFont typeface="Arial" panose="020B0604020202020204" pitchFamily="34" charset="0"/>
              <a:buChar char="•"/>
            </a:pPr>
            <a:r>
              <a:rPr lang="en-AU" sz="1000" b="1" spc="50" dirty="0">
                <a:solidFill>
                  <a:srgbClr val="212121"/>
                </a:solidFill>
                <a:latin typeface="Roboto" panose="02000000000000000000" pitchFamily="2" charset="0"/>
                <a:ea typeface="Roboto" panose="02000000000000000000" pitchFamily="2" charset="0"/>
                <a:cs typeface="Tahoma"/>
              </a:rPr>
              <a:t>Automated content generation </a:t>
            </a:r>
            <a:r>
              <a:rPr lang="en-AU" sz="1000" spc="50" dirty="0">
                <a:solidFill>
                  <a:srgbClr val="212121"/>
                </a:solidFill>
                <a:latin typeface="Roboto" panose="02000000000000000000" pitchFamily="2" charset="0"/>
                <a:ea typeface="Roboto" panose="02000000000000000000" pitchFamily="2" charset="0"/>
                <a:cs typeface="Tahoma"/>
              </a:rPr>
              <a:t>– allowing users to create summaries, headlines, translations, podcasts, and more</a:t>
            </a:r>
          </a:p>
          <a:p>
            <a:pPr marL="171450" indent="-171450">
              <a:lnSpc>
                <a:spcPct val="150000"/>
              </a:lnSpc>
              <a:buFont typeface="Arial" panose="020B0604020202020204" pitchFamily="34" charset="0"/>
              <a:buChar char="•"/>
            </a:pPr>
            <a:r>
              <a:rPr lang="en-AU" sz="1000" b="1" spc="50" dirty="0">
                <a:solidFill>
                  <a:srgbClr val="212121"/>
                </a:solidFill>
                <a:latin typeface="Roboto" panose="02000000000000000000" pitchFamily="2" charset="0"/>
                <a:ea typeface="Roboto" panose="02000000000000000000" pitchFamily="2" charset="0"/>
                <a:cs typeface="Tahoma"/>
              </a:rPr>
              <a:t>Simplified commercialisation </a:t>
            </a:r>
            <a:r>
              <a:rPr lang="en-AU" sz="1000" spc="50" dirty="0">
                <a:solidFill>
                  <a:srgbClr val="212121"/>
                </a:solidFill>
                <a:latin typeface="Roboto" panose="02000000000000000000" pitchFamily="2" charset="0"/>
                <a:ea typeface="Roboto" panose="02000000000000000000" pitchFamily="2" charset="0"/>
                <a:cs typeface="Tahoma"/>
              </a:rPr>
              <a:t>– enabling secure, scalable third-party access to drive new revenue and opportunities</a:t>
            </a:r>
          </a:p>
        </p:txBody>
      </p:sp>
      <p:sp>
        <p:nvSpPr>
          <p:cNvPr id="29" name="Freeform 30">
            <a:extLst>
              <a:ext uri="{FF2B5EF4-FFF2-40B4-BE49-F238E27FC236}">
                <a16:creationId xmlns:a16="http://schemas.microsoft.com/office/drawing/2014/main" id="{1F995815-1FE3-293D-DC1F-AAEB999DF020}"/>
              </a:ext>
            </a:extLst>
          </p:cNvPr>
          <p:cNvSpPr>
            <a:spLocks/>
          </p:cNvSpPr>
          <p:nvPr/>
        </p:nvSpPr>
        <p:spPr bwMode="auto">
          <a:xfrm>
            <a:off x="5354487" y="1573917"/>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id-ID" b="0">
              <a:solidFill>
                <a:prstClr val="black"/>
              </a:solidFill>
              <a:latin typeface="Lato Light"/>
              <a:ea typeface="Helvetica Neue"/>
              <a:cs typeface="Helvetica Neue"/>
              <a:sym typeface="Helvetica Neue Medium"/>
            </a:endParaRPr>
          </a:p>
        </p:txBody>
      </p:sp>
      <p:sp>
        <p:nvSpPr>
          <p:cNvPr id="30" name="Freeform 31">
            <a:extLst>
              <a:ext uri="{FF2B5EF4-FFF2-40B4-BE49-F238E27FC236}">
                <a16:creationId xmlns:a16="http://schemas.microsoft.com/office/drawing/2014/main" id="{C18F2289-1AA9-8CA2-79F2-700DDCEDBB63}"/>
              </a:ext>
            </a:extLst>
          </p:cNvPr>
          <p:cNvSpPr>
            <a:spLocks/>
          </p:cNvSpPr>
          <p:nvPr/>
        </p:nvSpPr>
        <p:spPr bwMode="auto">
          <a:xfrm>
            <a:off x="5497655" y="1666264"/>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id-ID" b="0">
              <a:solidFill>
                <a:prstClr val="black"/>
              </a:solidFill>
              <a:latin typeface="Lato Light"/>
              <a:ea typeface="Helvetica Neue"/>
              <a:cs typeface="Helvetica Neue"/>
              <a:sym typeface="Helvetica Neue Medium"/>
            </a:endParaRPr>
          </a:p>
        </p:txBody>
      </p:sp>
      <p:grpSp>
        <p:nvGrpSpPr>
          <p:cNvPr id="31" name="Group 30">
            <a:extLst>
              <a:ext uri="{FF2B5EF4-FFF2-40B4-BE49-F238E27FC236}">
                <a16:creationId xmlns:a16="http://schemas.microsoft.com/office/drawing/2014/main" id="{EFDBFCB3-F3ED-B667-53B1-2F85A1D95499}"/>
              </a:ext>
            </a:extLst>
          </p:cNvPr>
          <p:cNvGrpSpPr/>
          <p:nvPr/>
        </p:nvGrpSpPr>
        <p:grpSpPr>
          <a:xfrm>
            <a:off x="2720833" y="3391465"/>
            <a:ext cx="4540498" cy="579760"/>
            <a:chOff x="2825502" y="4403946"/>
            <a:chExt cx="4540498" cy="579760"/>
          </a:xfrm>
        </p:grpSpPr>
        <p:sp>
          <p:nvSpPr>
            <p:cNvPr id="32" name="object 6">
              <a:extLst>
                <a:ext uri="{FF2B5EF4-FFF2-40B4-BE49-F238E27FC236}">
                  <a16:creationId xmlns:a16="http://schemas.microsoft.com/office/drawing/2014/main" id="{551197A2-F607-E6BD-ADFF-3451399F376E}"/>
                </a:ext>
              </a:extLst>
            </p:cNvPr>
            <p:cNvSpPr/>
            <p:nvPr/>
          </p:nvSpPr>
          <p:spPr>
            <a:xfrm flipV="1">
              <a:off x="3350807" y="46537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pic>
          <p:nvPicPr>
            <p:cNvPr id="33" name="object 23">
              <a:extLst>
                <a:ext uri="{FF2B5EF4-FFF2-40B4-BE49-F238E27FC236}">
                  <a16:creationId xmlns:a16="http://schemas.microsoft.com/office/drawing/2014/main" id="{134B9576-5C77-18EF-390C-0443EB6C6672}"/>
                </a:ext>
              </a:extLst>
            </p:cNvPr>
            <p:cNvPicPr/>
            <p:nvPr/>
          </p:nvPicPr>
          <p:blipFill>
            <a:blip r:embed="rId5" cstate="print"/>
            <a:stretch>
              <a:fillRect/>
            </a:stretch>
          </p:blipFill>
          <p:spPr>
            <a:xfrm>
              <a:off x="7156293" y="4473100"/>
              <a:ext cx="162060" cy="103902"/>
            </a:xfrm>
            <a:prstGeom prst="rect">
              <a:avLst/>
            </a:prstGeom>
          </p:spPr>
        </p:pic>
        <p:sp>
          <p:nvSpPr>
            <p:cNvPr id="34" name="object 32">
              <a:extLst>
                <a:ext uri="{FF2B5EF4-FFF2-40B4-BE49-F238E27FC236}">
                  <a16:creationId xmlns:a16="http://schemas.microsoft.com/office/drawing/2014/main" id="{32371B57-4C21-0400-EF5B-D687E89FCAC4}"/>
                </a:ext>
              </a:extLst>
            </p:cNvPr>
            <p:cNvSpPr txBox="1"/>
            <p:nvPr/>
          </p:nvSpPr>
          <p:spPr>
            <a:xfrm>
              <a:off x="3498831" y="4403946"/>
              <a:ext cx="2033903" cy="259045"/>
            </a:xfrm>
            <a:prstGeom prst="rect">
              <a:avLst/>
            </a:prstGeom>
          </p:spPr>
          <p:txBody>
            <a:bodyPr vert="horz" wrap="square" lIns="0" tIns="12700" rIns="0" bIns="0" rtlCol="0">
              <a:spAutoFit/>
            </a:bodyPr>
            <a:lstStyle/>
            <a:p>
              <a:pPr marL="12700">
                <a:lnSpc>
                  <a:spcPct val="100000"/>
                </a:lnSpc>
                <a:spcBef>
                  <a:spcPts val="100"/>
                </a:spcBef>
              </a:pPr>
              <a:r>
                <a:rPr lang="en-AU" sz="1600" b="1" err="1">
                  <a:solidFill>
                    <a:srgbClr val="0E2A3F"/>
                  </a:solidFill>
                  <a:latin typeface="Roboto"/>
                  <a:cs typeface="Roboto"/>
                </a:rPr>
                <a:t>intelia’s</a:t>
              </a:r>
              <a:r>
                <a:rPr lang="en-AU" sz="1600" b="1">
                  <a:solidFill>
                    <a:srgbClr val="0E2A3F"/>
                  </a:solidFill>
                  <a:latin typeface="Roboto"/>
                  <a:cs typeface="Roboto"/>
                </a:rPr>
                <a:t> Approach</a:t>
              </a:r>
              <a:endParaRPr sz="1600">
                <a:solidFill>
                  <a:srgbClr val="0E2A3F"/>
                </a:solidFill>
                <a:latin typeface="Roboto"/>
                <a:cs typeface="Roboto"/>
              </a:endParaRPr>
            </a:p>
          </p:txBody>
        </p:sp>
        <p:grpSp>
          <p:nvGrpSpPr>
            <p:cNvPr id="35" name="Group 34">
              <a:extLst>
                <a:ext uri="{FF2B5EF4-FFF2-40B4-BE49-F238E27FC236}">
                  <a16:creationId xmlns:a16="http://schemas.microsoft.com/office/drawing/2014/main" id="{BDCAFD0A-22F5-6D89-8BA5-4F040D4BE9C7}"/>
                </a:ext>
              </a:extLst>
            </p:cNvPr>
            <p:cNvGrpSpPr/>
            <p:nvPr/>
          </p:nvGrpSpPr>
          <p:grpSpPr>
            <a:xfrm>
              <a:off x="2825502" y="4466181"/>
              <a:ext cx="565150" cy="517525"/>
              <a:chOff x="2880896" y="4105275"/>
              <a:chExt cx="565150" cy="517525"/>
            </a:xfrm>
          </p:grpSpPr>
          <p:sp>
            <p:nvSpPr>
              <p:cNvPr id="36" name="Oval 35">
                <a:extLst>
                  <a:ext uri="{FF2B5EF4-FFF2-40B4-BE49-F238E27FC236}">
                    <a16:creationId xmlns:a16="http://schemas.microsoft.com/office/drawing/2014/main" id="{D08FA88A-18FD-8FDF-6283-1A3B8A0276BD}"/>
                  </a:ext>
                </a:extLst>
              </p:cNvPr>
              <p:cNvSpPr/>
              <p:nvPr/>
            </p:nvSpPr>
            <p:spPr>
              <a:xfrm>
                <a:off x="2880896" y="4105275"/>
                <a:ext cx="565150" cy="517525"/>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37" name="Freeform 30">
                <a:extLst>
                  <a:ext uri="{FF2B5EF4-FFF2-40B4-BE49-F238E27FC236}">
                    <a16:creationId xmlns:a16="http://schemas.microsoft.com/office/drawing/2014/main" id="{92224B68-3FBD-5EE3-74E8-59D8E35A15E1}"/>
                  </a:ext>
                </a:extLst>
              </p:cNvPr>
              <p:cNvSpPr>
                <a:spLocks noEditPoints="1"/>
              </p:cNvSpPr>
              <p:nvPr/>
            </p:nvSpPr>
            <p:spPr bwMode="auto">
              <a:xfrm rot="2700000">
                <a:off x="3029023" y="4139633"/>
                <a:ext cx="261322" cy="435932"/>
              </a:xfrm>
              <a:custGeom>
                <a:avLst/>
                <a:gdLst>
                  <a:gd name="T0" fmla="*/ 50 w 184"/>
                  <a:gd name="T1" fmla="*/ 310 h 310"/>
                  <a:gd name="T2" fmla="*/ 32 w 184"/>
                  <a:gd name="T3" fmla="*/ 282 h 310"/>
                  <a:gd name="T4" fmla="*/ 10 w 184"/>
                  <a:gd name="T5" fmla="*/ 199 h 310"/>
                  <a:gd name="T6" fmla="*/ 39 w 184"/>
                  <a:gd name="T7" fmla="*/ 171 h 310"/>
                  <a:gd name="T8" fmla="*/ 30 w 184"/>
                  <a:gd name="T9" fmla="*/ 116 h 310"/>
                  <a:gd name="T10" fmla="*/ 36 w 184"/>
                  <a:gd name="T11" fmla="*/ 73 h 310"/>
                  <a:gd name="T12" fmla="*/ 36 w 184"/>
                  <a:gd name="T13" fmla="*/ 72 h 310"/>
                  <a:gd name="T14" fmla="*/ 92 w 184"/>
                  <a:gd name="T15" fmla="*/ 0 h 310"/>
                  <a:gd name="T16" fmla="*/ 148 w 184"/>
                  <a:gd name="T17" fmla="*/ 72 h 310"/>
                  <a:gd name="T18" fmla="*/ 148 w 184"/>
                  <a:gd name="T19" fmla="*/ 73 h 310"/>
                  <a:gd name="T20" fmla="*/ 155 w 184"/>
                  <a:gd name="T21" fmla="*/ 116 h 310"/>
                  <a:gd name="T22" fmla="*/ 145 w 184"/>
                  <a:gd name="T23" fmla="*/ 171 h 310"/>
                  <a:gd name="T24" fmla="*/ 174 w 184"/>
                  <a:gd name="T25" fmla="*/ 199 h 310"/>
                  <a:gd name="T26" fmla="*/ 153 w 184"/>
                  <a:gd name="T27" fmla="*/ 282 h 310"/>
                  <a:gd name="T28" fmla="*/ 134 w 184"/>
                  <a:gd name="T29" fmla="*/ 310 h 310"/>
                  <a:gd name="T30" fmla="*/ 134 w 184"/>
                  <a:gd name="T31" fmla="*/ 276 h 310"/>
                  <a:gd name="T32" fmla="*/ 118 w 184"/>
                  <a:gd name="T33" fmla="*/ 239 h 310"/>
                  <a:gd name="T34" fmla="*/ 118 w 184"/>
                  <a:gd name="T35" fmla="*/ 240 h 310"/>
                  <a:gd name="T36" fmla="*/ 115 w 184"/>
                  <a:gd name="T37" fmla="*/ 246 h 310"/>
                  <a:gd name="T38" fmla="*/ 108 w 184"/>
                  <a:gd name="T39" fmla="*/ 245 h 310"/>
                  <a:gd name="T40" fmla="*/ 76 w 184"/>
                  <a:gd name="T41" fmla="*/ 245 h 310"/>
                  <a:gd name="T42" fmla="*/ 69 w 184"/>
                  <a:gd name="T43" fmla="*/ 246 h 310"/>
                  <a:gd name="T44" fmla="*/ 66 w 184"/>
                  <a:gd name="T45" fmla="*/ 240 h 310"/>
                  <a:gd name="T46" fmla="*/ 66 w 184"/>
                  <a:gd name="T47" fmla="*/ 239 h 310"/>
                  <a:gd name="T48" fmla="*/ 50 w 184"/>
                  <a:gd name="T49" fmla="*/ 276 h 310"/>
                  <a:gd name="T50" fmla="*/ 50 w 184"/>
                  <a:gd name="T51" fmla="*/ 310 h 310"/>
                  <a:gd name="T52" fmla="*/ 55 w 184"/>
                  <a:gd name="T53" fmla="*/ 79 h 310"/>
                  <a:gd name="T54" fmla="*/ 50 w 184"/>
                  <a:gd name="T55" fmla="*/ 116 h 310"/>
                  <a:gd name="T56" fmla="*/ 61 w 184"/>
                  <a:gd name="T57" fmla="*/ 174 h 310"/>
                  <a:gd name="T58" fmla="*/ 64 w 184"/>
                  <a:gd name="T59" fmla="*/ 184 h 310"/>
                  <a:gd name="T60" fmla="*/ 54 w 184"/>
                  <a:gd name="T61" fmla="*/ 187 h 310"/>
                  <a:gd name="T62" fmla="*/ 29 w 184"/>
                  <a:gd name="T63" fmla="*/ 205 h 310"/>
                  <a:gd name="T64" fmla="*/ 36 w 184"/>
                  <a:gd name="T65" fmla="*/ 247 h 310"/>
                  <a:gd name="T66" fmla="*/ 65 w 184"/>
                  <a:gd name="T67" fmla="*/ 215 h 310"/>
                  <a:gd name="T68" fmla="*/ 74 w 184"/>
                  <a:gd name="T69" fmla="*/ 209 h 310"/>
                  <a:gd name="T70" fmla="*/ 79 w 184"/>
                  <a:gd name="T71" fmla="*/ 219 h 310"/>
                  <a:gd name="T72" fmla="*/ 82 w 184"/>
                  <a:gd name="T73" fmla="*/ 225 h 310"/>
                  <a:gd name="T74" fmla="*/ 103 w 184"/>
                  <a:gd name="T75" fmla="*/ 225 h 310"/>
                  <a:gd name="T76" fmla="*/ 105 w 184"/>
                  <a:gd name="T77" fmla="*/ 219 h 310"/>
                  <a:gd name="T78" fmla="*/ 110 w 184"/>
                  <a:gd name="T79" fmla="*/ 209 h 310"/>
                  <a:gd name="T80" fmla="*/ 120 w 184"/>
                  <a:gd name="T81" fmla="*/ 215 h 310"/>
                  <a:gd name="T82" fmla="*/ 148 w 184"/>
                  <a:gd name="T83" fmla="*/ 247 h 310"/>
                  <a:gd name="T84" fmla="*/ 155 w 184"/>
                  <a:gd name="T85" fmla="*/ 205 h 310"/>
                  <a:gd name="T86" fmla="*/ 130 w 184"/>
                  <a:gd name="T87" fmla="*/ 187 h 310"/>
                  <a:gd name="T88" fmla="*/ 120 w 184"/>
                  <a:gd name="T89" fmla="*/ 184 h 310"/>
                  <a:gd name="T90" fmla="*/ 123 w 184"/>
                  <a:gd name="T91" fmla="*/ 174 h 310"/>
                  <a:gd name="T92" fmla="*/ 135 w 184"/>
                  <a:gd name="T93" fmla="*/ 116 h 310"/>
                  <a:gd name="T94" fmla="*/ 129 w 184"/>
                  <a:gd name="T95" fmla="*/ 79 h 310"/>
                  <a:gd name="T96" fmla="*/ 92 w 184"/>
                  <a:gd name="T97" fmla="*/ 21 h 310"/>
                  <a:gd name="T98" fmla="*/ 55 w 184"/>
                  <a:gd name="T99" fmla="*/ 79 h 3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84" h="310">
                    <a:moveTo>
                      <a:pt x="50" y="310"/>
                    </a:moveTo>
                    <a:cubicBezTo>
                      <a:pt x="32" y="282"/>
                      <a:pt x="32" y="282"/>
                      <a:pt x="32" y="282"/>
                    </a:cubicBezTo>
                    <a:cubicBezTo>
                      <a:pt x="28" y="276"/>
                      <a:pt x="0" y="230"/>
                      <a:pt x="10" y="199"/>
                    </a:cubicBezTo>
                    <a:cubicBezTo>
                      <a:pt x="14" y="187"/>
                      <a:pt x="24" y="178"/>
                      <a:pt x="39" y="171"/>
                    </a:cubicBezTo>
                    <a:cubicBezTo>
                      <a:pt x="33" y="151"/>
                      <a:pt x="30" y="132"/>
                      <a:pt x="30" y="116"/>
                    </a:cubicBezTo>
                    <a:cubicBezTo>
                      <a:pt x="30" y="102"/>
                      <a:pt x="32" y="87"/>
                      <a:pt x="36" y="73"/>
                    </a:cubicBezTo>
                    <a:cubicBezTo>
                      <a:pt x="36" y="72"/>
                      <a:pt x="36" y="72"/>
                      <a:pt x="36" y="72"/>
                    </a:cubicBezTo>
                    <a:cubicBezTo>
                      <a:pt x="50" y="35"/>
                      <a:pt x="77" y="0"/>
                      <a:pt x="92" y="0"/>
                    </a:cubicBezTo>
                    <a:cubicBezTo>
                      <a:pt x="107" y="0"/>
                      <a:pt x="134" y="35"/>
                      <a:pt x="148" y="72"/>
                    </a:cubicBezTo>
                    <a:cubicBezTo>
                      <a:pt x="148" y="73"/>
                      <a:pt x="148" y="73"/>
                      <a:pt x="148" y="73"/>
                    </a:cubicBezTo>
                    <a:cubicBezTo>
                      <a:pt x="152" y="87"/>
                      <a:pt x="155" y="102"/>
                      <a:pt x="155" y="116"/>
                    </a:cubicBezTo>
                    <a:cubicBezTo>
                      <a:pt x="155" y="132"/>
                      <a:pt x="152" y="151"/>
                      <a:pt x="145" y="171"/>
                    </a:cubicBezTo>
                    <a:cubicBezTo>
                      <a:pt x="160" y="178"/>
                      <a:pt x="170" y="187"/>
                      <a:pt x="174" y="199"/>
                    </a:cubicBezTo>
                    <a:cubicBezTo>
                      <a:pt x="184" y="230"/>
                      <a:pt x="156" y="276"/>
                      <a:pt x="153" y="282"/>
                    </a:cubicBezTo>
                    <a:cubicBezTo>
                      <a:pt x="134" y="310"/>
                      <a:pt x="134" y="310"/>
                      <a:pt x="134" y="310"/>
                    </a:cubicBezTo>
                    <a:cubicBezTo>
                      <a:pt x="134" y="276"/>
                      <a:pt x="134" y="276"/>
                      <a:pt x="134" y="276"/>
                    </a:cubicBezTo>
                    <a:cubicBezTo>
                      <a:pt x="134" y="262"/>
                      <a:pt x="128" y="248"/>
                      <a:pt x="118" y="239"/>
                    </a:cubicBezTo>
                    <a:cubicBezTo>
                      <a:pt x="118" y="239"/>
                      <a:pt x="118" y="239"/>
                      <a:pt x="118" y="240"/>
                    </a:cubicBezTo>
                    <a:cubicBezTo>
                      <a:pt x="115" y="246"/>
                      <a:pt x="115" y="246"/>
                      <a:pt x="115" y="246"/>
                    </a:cubicBezTo>
                    <a:cubicBezTo>
                      <a:pt x="108" y="245"/>
                      <a:pt x="108" y="245"/>
                      <a:pt x="108" y="245"/>
                    </a:cubicBezTo>
                    <a:cubicBezTo>
                      <a:pt x="98" y="245"/>
                      <a:pt x="87" y="245"/>
                      <a:pt x="76" y="245"/>
                    </a:cubicBezTo>
                    <a:cubicBezTo>
                      <a:pt x="69" y="246"/>
                      <a:pt x="69" y="246"/>
                      <a:pt x="69" y="246"/>
                    </a:cubicBezTo>
                    <a:cubicBezTo>
                      <a:pt x="66" y="240"/>
                      <a:pt x="66" y="240"/>
                      <a:pt x="66" y="240"/>
                    </a:cubicBezTo>
                    <a:cubicBezTo>
                      <a:pt x="66" y="239"/>
                      <a:pt x="66" y="239"/>
                      <a:pt x="66" y="239"/>
                    </a:cubicBezTo>
                    <a:cubicBezTo>
                      <a:pt x="56" y="249"/>
                      <a:pt x="50" y="262"/>
                      <a:pt x="50" y="276"/>
                    </a:cubicBezTo>
                    <a:lnTo>
                      <a:pt x="50" y="310"/>
                    </a:lnTo>
                    <a:close/>
                    <a:moveTo>
                      <a:pt x="55" y="79"/>
                    </a:moveTo>
                    <a:cubicBezTo>
                      <a:pt x="52" y="91"/>
                      <a:pt x="50" y="104"/>
                      <a:pt x="50" y="116"/>
                    </a:cubicBezTo>
                    <a:cubicBezTo>
                      <a:pt x="50" y="132"/>
                      <a:pt x="53" y="152"/>
                      <a:pt x="61" y="174"/>
                    </a:cubicBezTo>
                    <a:cubicBezTo>
                      <a:pt x="64" y="184"/>
                      <a:pt x="64" y="184"/>
                      <a:pt x="64" y="184"/>
                    </a:cubicBezTo>
                    <a:cubicBezTo>
                      <a:pt x="54" y="187"/>
                      <a:pt x="54" y="187"/>
                      <a:pt x="54" y="187"/>
                    </a:cubicBezTo>
                    <a:cubicBezTo>
                      <a:pt x="45" y="190"/>
                      <a:pt x="33" y="196"/>
                      <a:pt x="29" y="205"/>
                    </a:cubicBezTo>
                    <a:cubicBezTo>
                      <a:pt x="26" y="216"/>
                      <a:pt x="30" y="233"/>
                      <a:pt x="36" y="247"/>
                    </a:cubicBezTo>
                    <a:cubicBezTo>
                      <a:pt x="42" y="234"/>
                      <a:pt x="52" y="223"/>
                      <a:pt x="65" y="215"/>
                    </a:cubicBezTo>
                    <a:cubicBezTo>
                      <a:pt x="74" y="209"/>
                      <a:pt x="74" y="209"/>
                      <a:pt x="74" y="209"/>
                    </a:cubicBezTo>
                    <a:cubicBezTo>
                      <a:pt x="79" y="219"/>
                      <a:pt x="79" y="219"/>
                      <a:pt x="79" y="219"/>
                    </a:cubicBezTo>
                    <a:cubicBezTo>
                      <a:pt x="80" y="221"/>
                      <a:pt x="81" y="223"/>
                      <a:pt x="82" y="225"/>
                    </a:cubicBezTo>
                    <a:cubicBezTo>
                      <a:pt x="89" y="225"/>
                      <a:pt x="96" y="225"/>
                      <a:pt x="103" y="225"/>
                    </a:cubicBezTo>
                    <a:cubicBezTo>
                      <a:pt x="104" y="223"/>
                      <a:pt x="105" y="221"/>
                      <a:pt x="105" y="219"/>
                    </a:cubicBezTo>
                    <a:cubicBezTo>
                      <a:pt x="110" y="209"/>
                      <a:pt x="110" y="209"/>
                      <a:pt x="110" y="209"/>
                    </a:cubicBezTo>
                    <a:cubicBezTo>
                      <a:pt x="120" y="215"/>
                      <a:pt x="120" y="215"/>
                      <a:pt x="120" y="215"/>
                    </a:cubicBezTo>
                    <a:cubicBezTo>
                      <a:pt x="133" y="223"/>
                      <a:pt x="142" y="234"/>
                      <a:pt x="148" y="247"/>
                    </a:cubicBezTo>
                    <a:cubicBezTo>
                      <a:pt x="154" y="233"/>
                      <a:pt x="159" y="216"/>
                      <a:pt x="155" y="205"/>
                    </a:cubicBezTo>
                    <a:cubicBezTo>
                      <a:pt x="152" y="196"/>
                      <a:pt x="140" y="190"/>
                      <a:pt x="130" y="187"/>
                    </a:cubicBezTo>
                    <a:cubicBezTo>
                      <a:pt x="120" y="184"/>
                      <a:pt x="120" y="184"/>
                      <a:pt x="120" y="184"/>
                    </a:cubicBezTo>
                    <a:cubicBezTo>
                      <a:pt x="123" y="174"/>
                      <a:pt x="123" y="174"/>
                      <a:pt x="123" y="174"/>
                    </a:cubicBezTo>
                    <a:cubicBezTo>
                      <a:pt x="131" y="152"/>
                      <a:pt x="135" y="132"/>
                      <a:pt x="135" y="116"/>
                    </a:cubicBezTo>
                    <a:cubicBezTo>
                      <a:pt x="135" y="104"/>
                      <a:pt x="133" y="91"/>
                      <a:pt x="129" y="79"/>
                    </a:cubicBezTo>
                    <a:cubicBezTo>
                      <a:pt x="117" y="47"/>
                      <a:pt x="99" y="26"/>
                      <a:pt x="92" y="21"/>
                    </a:cubicBezTo>
                    <a:cubicBezTo>
                      <a:pt x="85" y="26"/>
                      <a:pt x="67" y="47"/>
                      <a:pt x="55" y="79"/>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38" name="Freeform 32">
                <a:extLst>
                  <a:ext uri="{FF2B5EF4-FFF2-40B4-BE49-F238E27FC236}">
                    <a16:creationId xmlns:a16="http://schemas.microsoft.com/office/drawing/2014/main" id="{21D8F4D2-8B53-8BDF-B4F3-F11CD1DCA96D}"/>
                  </a:ext>
                </a:extLst>
              </p:cNvPr>
              <p:cNvSpPr>
                <a:spLocks noEditPoints="1"/>
              </p:cNvSpPr>
              <p:nvPr/>
            </p:nvSpPr>
            <p:spPr bwMode="auto">
              <a:xfrm rot="2700000">
                <a:off x="3014273" y="4394936"/>
                <a:ext cx="83765" cy="133316"/>
              </a:xfrm>
              <a:custGeom>
                <a:avLst/>
                <a:gdLst>
                  <a:gd name="T0" fmla="*/ 29 w 59"/>
                  <a:gd name="T1" fmla="*/ 95 h 95"/>
                  <a:gd name="T2" fmla="*/ 24 w 59"/>
                  <a:gd name="T3" fmla="*/ 85 h 95"/>
                  <a:gd name="T4" fmla="*/ 0 w 59"/>
                  <a:gd name="T5" fmla="*/ 26 h 95"/>
                  <a:gd name="T6" fmla="*/ 29 w 59"/>
                  <a:gd name="T7" fmla="*/ 0 h 95"/>
                  <a:gd name="T8" fmla="*/ 59 w 59"/>
                  <a:gd name="T9" fmla="*/ 26 h 95"/>
                  <a:gd name="T10" fmla="*/ 34 w 59"/>
                  <a:gd name="T11" fmla="*/ 85 h 95"/>
                  <a:gd name="T12" fmla="*/ 29 w 59"/>
                  <a:gd name="T13" fmla="*/ 95 h 95"/>
                  <a:gd name="T14" fmla="*/ 29 w 59"/>
                  <a:gd name="T15" fmla="*/ 12 h 95"/>
                  <a:gd name="T16" fmla="*/ 12 w 59"/>
                  <a:gd name="T17" fmla="*/ 26 h 95"/>
                  <a:gd name="T18" fmla="*/ 29 w 59"/>
                  <a:gd name="T19" fmla="*/ 69 h 95"/>
                  <a:gd name="T20" fmla="*/ 47 w 59"/>
                  <a:gd name="T21" fmla="*/ 26 h 95"/>
                  <a:gd name="T22" fmla="*/ 29 w 59"/>
                  <a:gd name="T23" fmla="*/ 12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9" h="95">
                    <a:moveTo>
                      <a:pt x="29" y="95"/>
                    </a:moveTo>
                    <a:cubicBezTo>
                      <a:pt x="24" y="85"/>
                      <a:pt x="24" y="85"/>
                      <a:pt x="24" y="85"/>
                    </a:cubicBezTo>
                    <a:cubicBezTo>
                      <a:pt x="20" y="77"/>
                      <a:pt x="0" y="38"/>
                      <a:pt x="0" y="26"/>
                    </a:cubicBezTo>
                    <a:cubicBezTo>
                      <a:pt x="0" y="12"/>
                      <a:pt x="13" y="0"/>
                      <a:pt x="29" y="0"/>
                    </a:cubicBezTo>
                    <a:cubicBezTo>
                      <a:pt x="45" y="0"/>
                      <a:pt x="59" y="12"/>
                      <a:pt x="59" y="26"/>
                    </a:cubicBezTo>
                    <a:cubicBezTo>
                      <a:pt x="59" y="38"/>
                      <a:pt x="39" y="77"/>
                      <a:pt x="34" y="85"/>
                    </a:cubicBezTo>
                    <a:lnTo>
                      <a:pt x="29" y="95"/>
                    </a:lnTo>
                    <a:close/>
                    <a:moveTo>
                      <a:pt x="29" y="12"/>
                    </a:moveTo>
                    <a:cubicBezTo>
                      <a:pt x="19" y="12"/>
                      <a:pt x="12" y="18"/>
                      <a:pt x="12" y="26"/>
                    </a:cubicBezTo>
                    <a:cubicBezTo>
                      <a:pt x="12" y="31"/>
                      <a:pt x="20" y="50"/>
                      <a:pt x="29" y="69"/>
                    </a:cubicBezTo>
                    <a:cubicBezTo>
                      <a:pt x="38" y="50"/>
                      <a:pt x="47" y="31"/>
                      <a:pt x="47" y="26"/>
                    </a:cubicBezTo>
                    <a:cubicBezTo>
                      <a:pt x="47" y="18"/>
                      <a:pt x="39" y="12"/>
                      <a:pt x="29" y="12"/>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grpSp>
      <p:sp>
        <p:nvSpPr>
          <p:cNvPr id="39" name="object 31">
            <a:extLst>
              <a:ext uri="{FF2B5EF4-FFF2-40B4-BE49-F238E27FC236}">
                <a16:creationId xmlns:a16="http://schemas.microsoft.com/office/drawing/2014/main" id="{B0A14E16-6211-D3B5-C236-8D6E6A379CB9}"/>
              </a:ext>
            </a:extLst>
          </p:cNvPr>
          <p:cNvSpPr txBox="1"/>
          <p:nvPr/>
        </p:nvSpPr>
        <p:spPr>
          <a:xfrm>
            <a:off x="8107864" y="4556972"/>
            <a:ext cx="3902849" cy="2025426"/>
          </a:xfrm>
          <a:prstGeom prst="rect">
            <a:avLst/>
          </a:prstGeom>
        </p:spPr>
        <p:txBody>
          <a:bodyPr vert="horz" wrap="square" lIns="0" tIns="12700" rIns="0" bIns="0" rtlCol="0">
            <a:spAutoFit/>
          </a:bodyPr>
          <a:lstStyle/>
          <a:p>
            <a:pPr marL="12700" marR="5080">
              <a:lnSpc>
                <a:spcPct val="132100"/>
              </a:lnSpc>
              <a:spcBef>
                <a:spcPts val="100"/>
              </a:spcBef>
            </a:pPr>
            <a:r>
              <a:rPr lang="en-AU" sz="1000" spc="50">
                <a:solidFill>
                  <a:srgbClr val="212121"/>
                </a:solidFill>
                <a:latin typeface="Roboto" panose="02000000000000000000" pitchFamily="2" charset="0"/>
                <a:ea typeface="Roboto" panose="02000000000000000000" pitchFamily="2" charset="0"/>
                <a:cs typeface="Tahoma"/>
              </a:rPr>
              <a:t>This solution tackled critical business challenges by enhancing content accessibility, improving operational efficiency, and unlocking new revenue opportunities. This solution is Australia's largest and most complex enterprise-level Generative AI deployment on Google Cloud. As a lighthouse project, it demonstrates the power of GenAI to reshape industries. It has positioned Nine Entertainment as a leader in AI-powered media innovation, with its success attracting interest from other media companies, further reinforcing its industry-wide impact.</a:t>
            </a:r>
          </a:p>
        </p:txBody>
      </p:sp>
      <p:grpSp>
        <p:nvGrpSpPr>
          <p:cNvPr id="40" name="Group 39">
            <a:extLst>
              <a:ext uri="{FF2B5EF4-FFF2-40B4-BE49-F238E27FC236}">
                <a16:creationId xmlns:a16="http://schemas.microsoft.com/office/drawing/2014/main" id="{8E5AC439-79DA-E440-79C8-A9EDED65B305}"/>
              </a:ext>
            </a:extLst>
          </p:cNvPr>
          <p:cNvGrpSpPr/>
          <p:nvPr/>
        </p:nvGrpSpPr>
        <p:grpSpPr>
          <a:xfrm>
            <a:off x="7426839" y="4247162"/>
            <a:ext cx="4533074" cy="558587"/>
            <a:chOff x="2832926" y="8434440"/>
            <a:chExt cx="4533074" cy="558587"/>
          </a:xfrm>
        </p:grpSpPr>
        <p:sp>
          <p:nvSpPr>
            <p:cNvPr id="41" name="object 6">
              <a:extLst>
                <a:ext uri="{FF2B5EF4-FFF2-40B4-BE49-F238E27FC236}">
                  <a16:creationId xmlns:a16="http://schemas.microsoft.com/office/drawing/2014/main" id="{F0660766-C7E2-198A-510D-FB47BA3785BD}"/>
                </a:ext>
              </a:extLst>
            </p:cNvPr>
            <p:cNvSpPr/>
            <p:nvPr/>
          </p:nvSpPr>
          <p:spPr>
            <a:xfrm flipV="1">
              <a:off x="3371321" y="8691162"/>
              <a:ext cx="3994679" cy="45719"/>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pic>
          <p:nvPicPr>
            <p:cNvPr id="42" name="object 23">
              <a:extLst>
                <a:ext uri="{FF2B5EF4-FFF2-40B4-BE49-F238E27FC236}">
                  <a16:creationId xmlns:a16="http://schemas.microsoft.com/office/drawing/2014/main" id="{4AE8F55D-6743-1891-D55D-B8CA1A744126}"/>
                </a:ext>
              </a:extLst>
            </p:cNvPr>
            <p:cNvPicPr/>
            <p:nvPr/>
          </p:nvPicPr>
          <p:blipFill>
            <a:blip r:embed="rId5" cstate="print"/>
            <a:stretch>
              <a:fillRect/>
            </a:stretch>
          </p:blipFill>
          <p:spPr>
            <a:xfrm>
              <a:off x="7105493" y="8539106"/>
              <a:ext cx="162060" cy="103902"/>
            </a:xfrm>
            <a:prstGeom prst="rect">
              <a:avLst/>
            </a:prstGeom>
          </p:spPr>
        </p:pic>
        <p:sp>
          <p:nvSpPr>
            <p:cNvPr id="43" name="object 32">
              <a:extLst>
                <a:ext uri="{FF2B5EF4-FFF2-40B4-BE49-F238E27FC236}">
                  <a16:creationId xmlns:a16="http://schemas.microsoft.com/office/drawing/2014/main" id="{209DAB07-BC1C-9636-6150-68D736197C39}"/>
                </a:ext>
              </a:extLst>
            </p:cNvPr>
            <p:cNvSpPr txBox="1"/>
            <p:nvPr/>
          </p:nvSpPr>
          <p:spPr>
            <a:xfrm>
              <a:off x="3513951" y="8434440"/>
              <a:ext cx="2033903" cy="259045"/>
            </a:xfrm>
            <a:prstGeom prst="rect">
              <a:avLst/>
            </a:prstGeom>
          </p:spPr>
          <p:txBody>
            <a:bodyPr vert="horz" wrap="square" lIns="0" tIns="12700" rIns="0" bIns="0" rtlCol="0">
              <a:spAutoFit/>
            </a:bodyPr>
            <a:lstStyle/>
            <a:p>
              <a:pPr marL="12700">
                <a:lnSpc>
                  <a:spcPct val="100000"/>
                </a:lnSpc>
                <a:spcBef>
                  <a:spcPts val="100"/>
                </a:spcBef>
              </a:pPr>
              <a:r>
                <a:rPr lang="en-AU" sz="1600" b="1">
                  <a:solidFill>
                    <a:srgbClr val="0E2A3F"/>
                  </a:solidFill>
                  <a:latin typeface="Roboto"/>
                  <a:cs typeface="Roboto"/>
                </a:rPr>
                <a:t>Outcome </a:t>
              </a:r>
              <a:endParaRPr sz="1600">
                <a:solidFill>
                  <a:srgbClr val="0E2A3F"/>
                </a:solidFill>
                <a:latin typeface="Roboto"/>
                <a:cs typeface="Roboto"/>
              </a:endParaRPr>
            </a:p>
          </p:txBody>
        </p:sp>
        <p:grpSp>
          <p:nvGrpSpPr>
            <p:cNvPr id="44" name="Group 43">
              <a:extLst>
                <a:ext uri="{FF2B5EF4-FFF2-40B4-BE49-F238E27FC236}">
                  <a16:creationId xmlns:a16="http://schemas.microsoft.com/office/drawing/2014/main" id="{A94BFE55-B71C-8458-1CDA-C5CDF5D0C2BC}"/>
                </a:ext>
              </a:extLst>
            </p:cNvPr>
            <p:cNvGrpSpPr/>
            <p:nvPr/>
          </p:nvGrpSpPr>
          <p:grpSpPr>
            <a:xfrm>
              <a:off x="2832926" y="8475039"/>
              <a:ext cx="574768" cy="517988"/>
              <a:chOff x="2910256" y="7805799"/>
              <a:chExt cx="574768" cy="517988"/>
            </a:xfrm>
          </p:grpSpPr>
          <p:sp>
            <p:nvSpPr>
              <p:cNvPr id="45" name="Oval 44">
                <a:extLst>
                  <a:ext uri="{FF2B5EF4-FFF2-40B4-BE49-F238E27FC236}">
                    <a16:creationId xmlns:a16="http://schemas.microsoft.com/office/drawing/2014/main" id="{A0B375ED-5B17-C556-17A5-4D9467D58521}"/>
                  </a:ext>
                </a:extLst>
              </p:cNvPr>
              <p:cNvSpPr/>
              <p:nvPr/>
            </p:nvSpPr>
            <p:spPr>
              <a:xfrm>
                <a:off x="2910256" y="7805799"/>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pic>
            <p:nvPicPr>
              <p:cNvPr id="46" name="Picture 2" descr="Handshake - Free hands and gestures icons">
                <a:extLst>
                  <a:ext uri="{FF2B5EF4-FFF2-40B4-BE49-F238E27FC236}">
                    <a16:creationId xmlns:a16="http://schemas.microsoft.com/office/drawing/2014/main" id="{53D9A795-AAEB-18A8-48D1-9A8B412C708B}"/>
                  </a:ext>
                </a:extLst>
              </p:cNvPr>
              <p:cNvPicPr>
                <a:picLocks noChangeAspect="1" noChangeArrowheads="1"/>
              </p:cNvPicPr>
              <p:nvPr/>
            </p:nvPicPr>
            <p:blipFill>
              <a:blip r:embed="rId6" cstate="print">
                <a:lum bright="70000" contrast="-70000"/>
                <a:extLst>
                  <a:ext uri="{BEBA8EAE-BF5A-486C-A8C5-ECC9F3942E4B}">
                    <a14:imgProps xmlns:a14="http://schemas.microsoft.com/office/drawing/2010/main">
                      <a14:imgLayer r:embed="rId7">
                        <a14:imgEffect>
                          <a14:artisticPhotocopy/>
                        </a14:imgEffect>
                      </a14:imgLayer>
                    </a14:imgProps>
                  </a:ext>
                  <a:ext uri="{28A0092B-C50C-407E-A947-70E740481C1C}">
                    <a14:useLocalDpi xmlns:a14="http://schemas.microsoft.com/office/drawing/2010/main" val="0"/>
                  </a:ext>
                </a:extLst>
              </a:blip>
              <a:srcRect/>
              <a:stretch>
                <a:fillRect/>
              </a:stretch>
            </p:blipFill>
            <p:spPr bwMode="auto">
              <a:xfrm>
                <a:off x="3003967" y="7884155"/>
                <a:ext cx="407854" cy="407854"/>
              </a:xfrm>
              <a:prstGeom prst="rect">
                <a:avLst/>
              </a:prstGeom>
              <a:noFill/>
              <a:extLst>
                <a:ext uri="{909E8E84-426E-40dd-AFC4-6F175D3DCCD1}">
                  <a14:hiddenFill xmlns:a14="http://schemas.microsoft.com/office/drawing/2010/main" xmlns="">
                    <a:solidFill>
                      <a:srgbClr val="FFFFFF"/>
                    </a:solidFill>
                  </a14:hiddenFill>
                </a:ext>
              </a:extLst>
            </p:spPr>
          </p:pic>
        </p:grpSp>
      </p:grpSp>
      <p:sp>
        <p:nvSpPr>
          <p:cNvPr id="53" name="TextBox 52">
            <a:extLst>
              <a:ext uri="{FF2B5EF4-FFF2-40B4-BE49-F238E27FC236}">
                <a16:creationId xmlns:a16="http://schemas.microsoft.com/office/drawing/2014/main" id="{6E4EAC1C-0A9E-A326-9FAC-F0EE18A9117D}"/>
              </a:ext>
            </a:extLst>
          </p:cNvPr>
          <p:cNvSpPr txBox="1"/>
          <p:nvPr/>
        </p:nvSpPr>
        <p:spPr>
          <a:xfrm>
            <a:off x="2588861" y="6663162"/>
            <a:ext cx="9589146" cy="207749"/>
          </a:xfrm>
          <a:prstGeom prst="rect">
            <a:avLst/>
          </a:prstGeom>
          <a:noFill/>
        </p:spPr>
        <p:txBody>
          <a:bodyPr wrap="square" rtlCol="0">
            <a:spAutoFit/>
          </a:bodyPr>
          <a:lstStyle/>
          <a:p>
            <a:pPr algn="ctr"/>
            <a:r>
              <a:rPr lang="en-US" sz="750" dirty="0">
                <a:solidFill>
                  <a:schemeClr val="tx1"/>
                </a:solidFill>
                <a:latin typeface="Roboto Light" panose="02000000000000000000" pitchFamily="2" charset="0"/>
                <a:ea typeface="Roboto Light" panose="02000000000000000000" pitchFamily="2" charset="0"/>
              </a:rPr>
              <a:t>With offices in Melbourne and Sydney, intelia is a technology consultancy </a:t>
            </a:r>
            <a:r>
              <a:rPr lang="en-US" sz="750" dirty="0" err="1">
                <a:solidFill>
                  <a:schemeClr val="tx1"/>
                </a:solidFill>
                <a:latin typeface="Roboto Light" panose="02000000000000000000" pitchFamily="2" charset="0"/>
                <a:ea typeface="Roboto Light" panose="02000000000000000000" pitchFamily="2" charset="0"/>
              </a:rPr>
              <a:t>specialising</a:t>
            </a:r>
            <a:r>
              <a:rPr lang="en-US" sz="750" dirty="0">
                <a:solidFill>
                  <a:schemeClr val="tx1"/>
                </a:solidFill>
                <a:latin typeface="Roboto Light" panose="02000000000000000000" pitchFamily="2" charset="0"/>
                <a:ea typeface="Roboto Light" panose="02000000000000000000" pitchFamily="2" charset="0"/>
              </a:rPr>
              <a:t> in all things data (strategy, architecture, governance, analytics, modern cloud data platforms and intelligent automation)</a:t>
            </a:r>
            <a:endParaRPr lang="en-AU" sz="750" dirty="0">
              <a:solidFill>
                <a:schemeClr val="tx1"/>
              </a:solidFill>
              <a:latin typeface="Roboto Light" panose="02000000000000000000" pitchFamily="2" charset="0"/>
              <a:ea typeface="Roboto Light" panose="02000000000000000000" pitchFamily="2" charset="0"/>
            </a:endParaRPr>
          </a:p>
        </p:txBody>
      </p:sp>
      <p:grpSp>
        <p:nvGrpSpPr>
          <p:cNvPr id="54" name="Group 53">
            <a:extLst>
              <a:ext uri="{FF2B5EF4-FFF2-40B4-BE49-F238E27FC236}">
                <a16:creationId xmlns:a16="http://schemas.microsoft.com/office/drawing/2014/main" id="{62FA0344-63B8-FA85-9673-CAE06602E31E}"/>
              </a:ext>
            </a:extLst>
          </p:cNvPr>
          <p:cNvGrpSpPr/>
          <p:nvPr/>
        </p:nvGrpSpPr>
        <p:grpSpPr>
          <a:xfrm>
            <a:off x="2707022" y="1528543"/>
            <a:ext cx="4579709" cy="600775"/>
            <a:chOff x="2811691" y="2317395"/>
            <a:chExt cx="4579709" cy="600775"/>
          </a:xfrm>
        </p:grpSpPr>
        <p:pic>
          <p:nvPicPr>
            <p:cNvPr id="55" name="object 22">
              <a:extLst>
                <a:ext uri="{FF2B5EF4-FFF2-40B4-BE49-F238E27FC236}">
                  <a16:creationId xmlns:a16="http://schemas.microsoft.com/office/drawing/2014/main" id="{7C441AE6-669F-489C-6CA8-575B3418D532}"/>
                </a:ext>
              </a:extLst>
            </p:cNvPr>
            <p:cNvPicPr/>
            <p:nvPr/>
          </p:nvPicPr>
          <p:blipFill>
            <a:blip r:embed="rId8" cstate="print"/>
            <a:stretch>
              <a:fillRect/>
            </a:stretch>
          </p:blipFill>
          <p:spPr>
            <a:xfrm>
              <a:off x="7168993" y="2372549"/>
              <a:ext cx="162060" cy="103902"/>
            </a:xfrm>
            <a:prstGeom prst="rect">
              <a:avLst/>
            </a:prstGeom>
          </p:spPr>
        </p:pic>
        <p:sp>
          <p:nvSpPr>
            <p:cNvPr id="56" name="object 30">
              <a:extLst>
                <a:ext uri="{FF2B5EF4-FFF2-40B4-BE49-F238E27FC236}">
                  <a16:creationId xmlns:a16="http://schemas.microsoft.com/office/drawing/2014/main" id="{EB93F986-1D5D-4B85-38B2-589E3EF0BE8C}"/>
                </a:ext>
              </a:extLst>
            </p:cNvPr>
            <p:cNvSpPr txBox="1"/>
            <p:nvPr/>
          </p:nvSpPr>
          <p:spPr>
            <a:xfrm>
              <a:off x="3489852" y="2317395"/>
              <a:ext cx="2237103" cy="259045"/>
            </a:xfrm>
            <a:prstGeom prst="rect">
              <a:avLst/>
            </a:prstGeom>
          </p:spPr>
          <p:txBody>
            <a:bodyPr vert="horz" wrap="square" lIns="0" tIns="12700" rIns="0" bIns="0" rtlCol="0">
              <a:spAutoFit/>
            </a:bodyPr>
            <a:lstStyle/>
            <a:p>
              <a:pPr marL="12700">
                <a:lnSpc>
                  <a:spcPct val="100000"/>
                </a:lnSpc>
                <a:spcBef>
                  <a:spcPts val="100"/>
                </a:spcBef>
              </a:pPr>
              <a:r>
                <a:rPr lang="en-AU" sz="1600" b="1">
                  <a:solidFill>
                    <a:srgbClr val="0E2A3F"/>
                  </a:solidFill>
                  <a:latin typeface="Roboto"/>
                  <a:cs typeface="Roboto"/>
                </a:rPr>
                <a:t>Problem </a:t>
              </a:r>
              <a:endParaRPr sz="1600">
                <a:solidFill>
                  <a:srgbClr val="0E2A3F"/>
                </a:solidFill>
                <a:latin typeface="Roboto"/>
                <a:cs typeface="Roboto"/>
              </a:endParaRPr>
            </a:p>
          </p:txBody>
        </p:sp>
        <p:grpSp>
          <p:nvGrpSpPr>
            <p:cNvPr id="57" name="Group 56">
              <a:extLst>
                <a:ext uri="{FF2B5EF4-FFF2-40B4-BE49-F238E27FC236}">
                  <a16:creationId xmlns:a16="http://schemas.microsoft.com/office/drawing/2014/main" id="{82782396-1318-3797-A305-CA956384A3F3}"/>
                </a:ext>
              </a:extLst>
            </p:cNvPr>
            <p:cNvGrpSpPr/>
            <p:nvPr/>
          </p:nvGrpSpPr>
          <p:grpSpPr>
            <a:xfrm>
              <a:off x="2811691" y="2400182"/>
              <a:ext cx="574768" cy="517988"/>
              <a:chOff x="2947478" y="2453812"/>
              <a:chExt cx="574768" cy="517988"/>
            </a:xfrm>
          </p:grpSpPr>
          <p:sp>
            <p:nvSpPr>
              <p:cNvPr id="59" name="Oval 58">
                <a:extLst>
                  <a:ext uri="{FF2B5EF4-FFF2-40B4-BE49-F238E27FC236}">
                    <a16:creationId xmlns:a16="http://schemas.microsoft.com/office/drawing/2014/main" id="{A76EA8AC-FBE4-A906-6DD2-A62A137B55AA}"/>
                  </a:ext>
                </a:extLst>
              </p:cNvPr>
              <p:cNvSpPr/>
              <p:nvPr/>
            </p:nvSpPr>
            <p:spPr>
              <a:xfrm>
                <a:off x="2947478" y="2453812"/>
                <a:ext cx="574768" cy="517988"/>
              </a:xfrm>
              <a:prstGeom prst="ellipse">
                <a:avLst/>
              </a:prstGeom>
              <a:solidFill>
                <a:srgbClr val="212B40"/>
              </a:solidFill>
              <a:ln w="25400" cap="flat">
                <a:noFill/>
                <a:prstDash val="solid"/>
                <a:round/>
              </a:ln>
              <a:effectLst/>
              <a:sp3d/>
            </p:spPr>
            <p:txBody>
              <a:bodyPr rot="0" spcFirstLastPara="1" vertOverflow="overflow" horzOverflow="overflow" vert="horz" wrap="square" lIns="50800" tIns="50800" rIns="50800" bIns="50800" numCol="1" spcCol="3810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AU" sz="1800" b="0" i="0" u="none" strike="noStrike" kern="0" cap="none" spc="0" normalizeH="0" baseline="0" noProof="0">
                  <a:ln>
                    <a:noFill/>
                  </a:ln>
                  <a:solidFill>
                    <a:srgbClr val="000000"/>
                  </a:solidFill>
                  <a:effectLst/>
                  <a:uLnTx/>
                  <a:uFillTx/>
                  <a:latin typeface="Helvetica Neue Medium"/>
                  <a:ea typeface="Helvetica Neue Medium"/>
                  <a:cs typeface="Helvetica Neue Medium"/>
                  <a:sym typeface="Helvetica Neue Medium"/>
                </a:endParaRPr>
              </a:p>
            </p:txBody>
          </p:sp>
          <p:sp>
            <p:nvSpPr>
              <p:cNvPr id="60" name="Freeform 30">
                <a:extLst>
                  <a:ext uri="{FF2B5EF4-FFF2-40B4-BE49-F238E27FC236}">
                    <a16:creationId xmlns:a16="http://schemas.microsoft.com/office/drawing/2014/main" id="{305E174D-2C0E-5C48-ACC3-0161C36BF988}"/>
                  </a:ext>
                </a:extLst>
              </p:cNvPr>
              <p:cNvSpPr>
                <a:spLocks/>
              </p:cNvSpPr>
              <p:nvPr/>
            </p:nvSpPr>
            <p:spPr bwMode="auto">
              <a:xfrm>
                <a:off x="3023845" y="2543825"/>
                <a:ext cx="391078" cy="261545"/>
              </a:xfrm>
              <a:custGeom>
                <a:avLst/>
                <a:gdLst>
                  <a:gd name="T0" fmla="*/ 193 w 264"/>
                  <a:gd name="T1" fmla="*/ 176 h 176"/>
                  <a:gd name="T2" fmla="*/ 184 w 264"/>
                  <a:gd name="T3" fmla="*/ 167 h 176"/>
                  <a:gd name="T4" fmla="*/ 193 w 264"/>
                  <a:gd name="T5" fmla="*/ 159 h 176"/>
                  <a:gd name="T6" fmla="*/ 211 w 264"/>
                  <a:gd name="T7" fmla="*/ 158 h 176"/>
                  <a:gd name="T8" fmla="*/ 212 w 264"/>
                  <a:gd name="T9" fmla="*/ 158 h 176"/>
                  <a:gd name="T10" fmla="*/ 212 w 264"/>
                  <a:gd name="T11" fmla="*/ 158 h 176"/>
                  <a:gd name="T12" fmla="*/ 246 w 264"/>
                  <a:gd name="T13" fmla="*/ 123 h 176"/>
                  <a:gd name="T14" fmla="*/ 211 w 264"/>
                  <a:gd name="T15" fmla="*/ 88 h 176"/>
                  <a:gd name="T16" fmla="*/ 203 w 264"/>
                  <a:gd name="T17" fmla="*/ 89 h 176"/>
                  <a:gd name="T18" fmla="*/ 195 w 264"/>
                  <a:gd name="T19" fmla="*/ 87 h 176"/>
                  <a:gd name="T20" fmla="*/ 193 w 264"/>
                  <a:gd name="T21" fmla="*/ 79 h 176"/>
                  <a:gd name="T22" fmla="*/ 194 w 264"/>
                  <a:gd name="T23" fmla="*/ 70 h 176"/>
                  <a:gd name="T24" fmla="*/ 141 w 264"/>
                  <a:gd name="T25" fmla="*/ 18 h 176"/>
                  <a:gd name="T26" fmla="*/ 88 w 264"/>
                  <a:gd name="T27" fmla="*/ 66 h 176"/>
                  <a:gd name="T28" fmla="*/ 84 w 264"/>
                  <a:gd name="T29" fmla="*/ 72 h 176"/>
                  <a:gd name="T30" fmla="*/ 77 w 264"/>
                  <a:gd name="T31" fmla="*/ 73 h 176"/>
                  <a:gd name="T32" fmla="*/ 62 w 264"/>
                  <a:gd name="T33" fmla="*/ 70 h 176"/>
                  <a:gd name="T34" fmla="*/ 18 w 264"/>
                  <a:gd name="T35" fmla="*/ 114 h 176"/>
                  <a:gd name="T36" fmla="*/ 60 w 264"/>
                  <a:gd name="T37" fmla="*/ 158 h 176"/>
                  <a:gd name="T38" fmla="*/ 61 w 264"/>
                  <a:gd name="T39" fmla="*/ 158 h 176"/>
                  <a:gd name="T40" fmla="*/ 65 w 264"/>
                  <a:gd name="T41" fmla="*/ 159 h 176"/>
                  <a:gd name="T42" fmla="*/ 80 w 264"/>
                  <a:gd name="T43" fmla="*/ 159 h 176"/>
                  <a:gd name="T44" fmla="*/ 88 w 264"/>
                  <a:gd name="T45" fmla="*/ 167 h 176"/>
                  <a:gd name="T46" fmla="*/ 80 w 264"/>
                  <a:gd name="T47" fmla="*/ 176 h 176"/>
                  <a:gd name="T48" fmla="*/ 63 w 264"/>
                  <a:gd name="T49" fmla="*/ 176 h 176"/>
                  <a:gd name="T50" fmla="*/ 62 w 264"/>
                  <a:gd name="T51" fmla="*/ 176 h 176"/>
                  <a:gd name="T52" fmla="*/ 0 w 264"/>
                  <a:gd name="T53" fmla="*/ 114 h 176"/>
                  <a:gd name="T54" fmla="*/ 62 w 264"/>
                  <a:gd name="T55" fmla="*/ 53 h 176"/>
                  <a:gd name="T56" fmla="*/ 73 w 264"/>
                  <a:gd name="T57" fmla="*/ 54 h 176"/>
                  <a:gd name="T58" fmla="*/ 141 w 264"/>
                  <a:gd name="T59" fmla="*/ 0 h 176"/>
                  <a:gd name="T60" fmla="*/ 211 w 264"/>
                  <a:gd name="T61" fmla="*/ 70 h 176"/>
                  <a:gd name="T62" fmla="*/ 211 w 264"/>
                  <a:gd name="T63" fmla="*/ 70 h 176"/>
                  <a:gd name="T64" fmla="*/ 211 w 264"/>
                  <a:gd name="T65" fmla="*/ 70 h 176"/>
                  <a:gd name="T66" fmla="*/ 264 w 264"/>
                  <a:gd name="T67" fmla="*/ 123 h 176"/>
                  <a:gd name="T68" fmla="*/ 211 w 264"/>
                  <a:gd name="T69" fmla="*/ 176 h 176"/>
                  <a:gd name="T70" fmla="*/ 210 w 264"/>
                  <a:gd name="T71" fmla="*/ 176 h 176"/>
                  <a:gd name="T72" fmla="*/ 193 w 264"/>
                  <a:gd name="T73" fmla="*/ 176 h 1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4" h="176">
                    <a:moveTo>
                      <a:pt x="193" y="176"/>
                    </a:moveTo>
                    <a:cubicBezTo>
                      <a:pt x="188" y="176"/>
                      <a:pt x="184" y="172"/>
                      <a:pt x="184" y="167"/>
                    </a:cubicBezTo>
                    <a:cubicBezTo>
                      <a:pt x="184" y="162"/>
                      <a:pt x="188" y="159"/>
                      <a:pt x="193" y="159"/>
                    </a:cubicBezTo>
                    <a:cubicBezTo>
                      <a:pt x="211" y="158"/>
                      <a:pt x="211" y="158"/>
                      <a:pt x="211" y="158"/>
                    </a:cubicBezTo>
                    <a:cubicBezTo>
                      <a:pt x="211" y="158"/>
                      <a:pt x="212" y="158"/>
                      <a:pt x="212" y="158"/>
                    </a:cubicBezTo>
                    <a:cubicBezTo>
                      <a:pt x="212" y="158"/>
                      <a:pt x="212" y="158"/>
                      <a:pt x="212" y="158"/>
                    </a:cubicBezTo>
                    <a:cubicBezTo>
                      <a:pt x="231" y="158"/>
                      <a:pt x="246" y="142"/>
                      <a:pt x="246" y="123"/>
                    </a:cubicBezTo>
                    <a:cubicBezTo>
                      <a:pt x="246" y="104"/>
                      <a:pt x="231" y="88"/>
                      <a:pt x="211" y="88"/>
                    </a:cubicBezTo>
                    <a:cubicBezTo>
                      <a:pt x="209" y="88"/>
                      <a:pt x="206" y="88"/>
                      <a:pt x="203" y="89"/>
                    </a:cubicBezTo>
                    <a:cubicBezTo>
                      <a:pt x="201" y="90"/>
                      <a:pt x="198" y="89"/>
                      <a:pt x="195" y="87"/>
                    </a:cubicBezTo>
                    <a:cubicBezTo>
                      <a:pt x="193" y="85"/>
                      <a:pt x="192" y="82"/>
                      <a:pt x="193" y="79"/>
                    </a:cubicBezTo>
                    <a:cubicBezTo>
                      <a:pt x="193" y="76"/>
                      <a:pt x="194" y="73"/>
                      <a:pt x="194" y="70"/>
                    </a:cubicBezTo>
                    <a:cubicBezTo>
                      <a:pt x="194" y="41"/>
                      <a:pt x="170" y="18"/>
                      <a:pt x="141" y="18"/>
                    </a:cubicBezTo>
                    <a:cubicBezTo>
                      <a:pt x="113" y="18"/>
                      <a:pt x="91" y="38"/>
                      <a:pt x="88" y="66"/>
                    </a:cubicBezTo>
                    <a:cubicBezTo>
                      <a:pt x="88" y="68"/>
                      <a:pt x="87" y="71"/>
                      <a:pt x="84" y="72"/>
                    </a:cubicBezTo>
                    <a:cubicBezTo>
                      <a:pt x="82" y="74"/>
                      <a:pt x="79" y="74"/>
                      <a:pt x="77" y="73"/>
                    </a:cubicBezTo>
                    <a:cubicBezTo>
                      <a:pt x="71" y="71"/>
                      <a:pt x="67" y="70"/>
                      <a:pt x="62" y="70"/>
                    </a:cubicBezTo>
                    <a:cubicBezTo>
                      <a:pt x="37" y="70"/>
                      <a:pt x="18" y="90"/>
                      <a:pt x="18" y="114"/>
                    </a:cubicBezTo>
                    <a:cubicBezTo>
                      <a:pt x="18" y="138"/>
                      <a:pt x="37" y="158"/>
                      <a:pt x="60" y="158"/>
                    </a:cubicBezTo>
                    <a:cubicBezTo>
                      <a:pt x="61" y="158"/>
                      <a:pt x="61" y="158"/>
                      <a:pt x="61" y="158"/>
                    </a:cubicBezTo>
                    <a:cubicBezTo>
                      <a:pt x="65" y="159"/>
                      <a:pt x="65" y="159"/>
                      <a:pt x="65" y="159"/>
                    </a:cubicBezTo>
                    <a:cubicBezTo>
                      <a:pt x="80" y="159"/>
                      <a:pt x="80" y="159"/>
                      <a:pt x="80" y="159"/>
                    </a:cubicBezTo>
                    <a:cubicBezTo>
                      <a:pt x="85" y="159"/>
                      <a:pt x="88" y="162"/>
                      <a:pt x="88" y="167"/>
                    </a:cubicBezTo>
                    <a:cubicBezTo>
                      <a:pt x="88" y="172"/>
                      <a:pt x="85" y="176"/>
                      <a:pt x="80" y="176"/>
                    </a:cubicBezTo>
                    <a:cubicBezTo>
                      <a:pt x="63" y="176"/>
                      <a:pt x="63" y="176"/>
                      <a:pt x="63" y="176"/>
                    </a:cubicBezTo>
                    <a:cubicBezTo>
                      <a:pt x="62" y="176"/>
                      <a:pt x="62" y="176"/>
                      <a:pt x="62" y="176"/>
                    </a:cubicBezTo>
                    <a:cubicBezTo>
                      <a:pt x="28" y="176"/>
                      <a:pt x="0" y="148"/>
                      <a:pt x="0" y="114"/>
                    </a:cubicBezTo>
                    <a:cubicBezTo>
                      <a:pt x="0" y="80"/>
                      <a:pt x="28" y="53"/>
                      <a:pt x="62" y="53"/>
                    </a:cubicBezTo>
                    <a:cubicBezTo>
                      <a:pt x="65" y="53"/>
                      <a:pt x="69" y="53"/>
                      <a:pt x="73" y="54"/>
                    </a:cubicBezTo>
                    <a:cubicBezTo>
                      <a:pt x="80" y="23"/>
                      <a:pt x="108" y="0"/>
                      <a:pt x="141" y="0"/>
                    </a:cubicBezTo>
                    <a:cubicBezTo>
                      <a:pt x="180" y="0"/>
                      <a:pt x="211" y="32"/>
                      <a:pt x="211" y="70"/>
                    </a:cubicBezTo>
                    <a:cubicBezTo>
                      <a:pt x="211" y="70"/>
                      <a:pt x="211" y="70"/>
                      <a:pt x="211" y="70"/>
                    </a:cubicBezTo>
                    <a:cubicBezTo>
                      <a:pt x="211" y="70"/>
                      <a:pt x="211" y="70"/>
                      <a:pt x="211" y="70"/>
                    </a:cubicBezTo>
                    <a:cubicBezTo>
                      <a:pt x="240" y="70"/>
                      <a:pt x="264" y="94"/>
                      <a:pt x="264" y="123"/>
                    </a:cubicBezTo>
                    <a:cubicBezTo>
                      <a:pt x="264" y="152"/>
                      <a:pt x="240" y="176"/>
                      <a:pt x="211" y="176"/>
                    </a:cubicBezTo>
                    <a:cubicBezTo>
                      <a:pt x="211" y="176"/>
                      <a:pt x="211" y="176"/>
                      <a:pt x="210" y="176"/>
                    </a:cubicBezTo>
                    <a:lnTo>
                      <a:pt x="193" y="17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1" name="Freeform 31">
                <a:extLst>
                  <a:ext uri="{FF2B5EF4-FFF2-40B4-BE49-F238E27FC236}">
                    <a16:creationId xmlns:a16="http://schemas.microsoft.com/office/drawing/2014/main" id="{0936550C-5551-F20D-516B-4026E912ECB8}"/>
                  </a:ext>
                </a:extLst>
              </p:cNvPr>
              <p:cNvSpPr>
                <a:spLocks/>
              </p:cNvSpPr>
              <p:nvPr/>
            </p:nvSpPr>
            <p:spPr bwMode="auto">
              <a:xfrm>
                <a:off x="3167013" y="2610772"/>
                <a:ext cx="130772" cy="220640"/>
              </a:xfrm>
              <a:custGeom>
                <a:avLst/>
                <a:gdLst>
                  <a:gd name="T0" fmla="*/ 211 w 211"/>
                  <a:gd name="T1" fmla="*/ 146 h 356"/>
                  <a:gd name="T2" fmla="*/ 127 w 211"/>
                  <a:gd name="T3" fmla="*/ 146 h 356"/>
                  <a:gd name="T4" fmla="*/ 127 w 211"/>
                  <a:gd name="T5" fmla="*/ 0 h 356"/>
                  <a:gd name="T6" fmla="*/ 0 w 211"/>
                  <a:gd name="T7" fmla="*/ 210 h 356"/>
                  <a:gd name="T8" fmla="*/ 84 w 211"/>
                  <a:gd name="T9" fmla="*/ 210 h 356"/>
                  <a:gd name="T10" fmla="*/ 84 w 211"/>
                  <a:gd name="T11" fmla="*/ 356 h 356"/>
                  <a:gd name="T12" fmla="*/ 211 w 211"/>
                  <a:gd name="T13" fmla="*/ 146 h 356"/>
                </a:gdLst>
                <a:ahLst/>
                <a:cxnLst>
                  <a:cxn ang="0">
                    <a:pos x="T0" y="T1"/>
                  </a:cxn>
                  <a:cxn ang="0">
                    <a:pos x="T2" y="T3"/>
                  </a:cxn>
                  <a:cxn ang="0">
                    <a:pos x="T4" y="T5"/>
                  </a:cxn>
                  <a:cxn ang="0">
                    <a:pos x="T6" y="T7"/>
                  </a:cxn>
                  <a:cxn ang="0">
                    <a:pos x="T8" y="T9"/>
                  </a:cxn>
                  <a:cxn ang="0">
                    <a:pos x="T10" y="T11"/>
                  </a:cxn>
                  <a:cxn ang="0">
                    <a:pos x="T12" y="T13"/>
                  </a:cxn>
                </a:cxnLst>
                <a:rect l="0" t="0" r="r" b="b"/>
                <a:pathLst>
                  <a:path w="211" h="356">
                    <a:moveTo>
                      <a:pt x="211" y="146"/>
                    </a:moveTo>
                    <a:lnTo>
                      <a:pt x="127" y="146"/>
                    </a:lnTo>
                    <a:lnTo>
                      <a:pt x="127" y="0"/>
                    </a:lnTo>
                    <a:lnTo>
                      <a:pt x="0" y="210"/>
                    </a:lnTo>
                    <a:lnTo>
                      <a:pt x="84" y="210"/>
                    </a:lnTo>
                    <a:lnTo>
                      <a:pt x="84" y="356"/>
                    </a:lnTo>
                    <a:lnTo>
                      <a:pt x="211" y="146"/>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58" name="object 6">
              <a:extLst>
                <a:ext uri="{FF2B5EF4-FFF2-40B4-BE49-F238E27FC236}">
                  <a16:creationId xmlns:a16="http://schemas.microsoft.com/office/drawing/2014/main" id="{66080398-0508-3EEB-5FD4-19C7476A78B8}"/>
                </a:ext>
              </a:extLst>
            </p:cNvPr>
            <p:cNvSpPr/>
            <p:nvPr/>
          </p:nvSpPr>
          <p:spPr>
            <a:xfrm flipV="1">
              <a:off x="3376207" y="2570904"/>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grpSp>
      <p:grpSp>
        <p:nvGrpSpPr>
          <p:cNvPr id="62" name="Group 61">
            <a:extLst>
              <a:ext uri="{FF2B5EF4-FFF2-40B4-BE49-F238E27FC236}">
                <a16:creationId xmlns:a16="http://schemas.microsoft.com/office/drawing/2014/main" id="{B7648D23-386E-773E-A17A-37C34272BAE7}"/>
              </a:ext>
            </a:extLst>
          </p:cNvPr>
          <p:cNvGrpSpPr/>
          <p:nvPr/>
        </p:nvGrpSpPr>
        <p:grpSpPr>
          <a:xfrm>
            <a:off x="7509048" y="1548157"/>
            <a:ext cx="4501665" cy="424565"/>
            <a:chOff x="2915135" y="6239199"/>
            <a:chExt cx="4501665" cy="424565"/>
          </a:xfrm>
        </p:grpSpPr>
        <p:pic>
          <p:nvPicPr>
            <p:cNvPr id="63" name="object 23">
              <a:extLst>
                <a:ext uri="{FF2B5EF4-FFF2-40B4-BE49-F238E27FC236}">
                  <a16:creationId xmlns:a16="http://schemas.microsoft.com/office/drawing/2014/main" id="{BCFE86E4-2D92-39FF-F2AD-A1D9974EE878}"/>
                </a:ext>
              </a:extLst>
            </p:cNvPr>
            <p:cNvPicPr/>
            <p:nvPr/>
          </p:nvPicPr>
          <p:blipFill>
            <a:blip r:embed="rId5" cstate="print"/>
            <a:stretch>
              <a:fillRect/>
            </a:stretch>
          </p:blipFill>
          <p:spPr>
            <a:xfrm>
              <a:off x="7168993" y="6318644"/>
              <a:ext cx="162060" cy="103902"/>
            </a:xfrm>
            <a:prstGeom prst="rect">
              <a:avLst/>
            </a:prstGeom>
          </p:spPr>
        </p:pic>
        <p:sp>
          <p:nvSpPr>
            <p:cNvPr id="64" name="object 32">
              <a:extLst>
                <a:ext uri="{FF2B5EF4-FFF2-40B4-BE49-F238E27FC236}">
                  <a16:creationId xmlns:a16="http://schemas.microsoft.com/office/drawing/2014/main" id="{2B4844E5-96CE-0FD0-3809-592B5EC28501}"/>
                </a:ext>
              </a:extLst>
            </p:cNvPr>
            <p:cNvSpPr txBox="1"/>
            <p:nvPr/>
          </p:nvSpPr>
          <p:spPr>
            <a:xfrm>
              <a:off x="3498830" y="6239199"/>
              <a:ext cx="2033903" cy="259045"/>
            </a:xfrm>
            <a:prstGeom prst="rect">
              <a:avLst/>
            </a:prstGeom>
          </p:spPr>
          <p:txBody>
            <a:bodyPr vert="horz" wrap="square" lIns="0" tIns="12700" rIns="0" bIns="0" rtlCol="0">
              <a:spAutoFit/>
            </a:bodyPr>
            <a:lstStyle/>
            <a:p>
              <a:pPr marL="12700">
                <a:lnSpc>
                  <a:spcPct val="100000"/>
                </a:lnSpc>
                <a:spcBef>
                  <a:spcPts val="100"/>
                </a:spcBef>
              </a:pPr>
              <a:r>
                <a:rPr lang="en-AU" sz="1600" b="1">
                  <a:solidFill>
                    <a:srgbClr val="0E2A3F"/>
                  </a:solidFill>
                  <a:latin typeface="Roboto"/>
                  <a:cs typeface="Roboto"/>
                </a:rPr>
                <a:t>Solution</a:t>
              </a:r>
              <a:endParaRPr sz="1600">
                <a:solidFill>
                  <a:srgbClr val="0E2A3F"/>
                </a:solidFill>
                <a:latin typeface="Roboto"/>
                <a:cs typeface="Roboto"/>
              </a:endParaRPr>
            </a:p>
          </p:txBody>
        </p:sp>
        <p:grpSp>
          <p:nvGrpSpPr>
            <p:cNvPr id="65" name="Group 64">
              <a:extLst>
                <a:ext uri="{FF2B5EF4-FFF2-40B4-BE49-F238E27FC236}">
                  <a16:creationId xmlns:a16="http://schemas.microsoft.com/office/drawing/2014/main" id="{DD53A769-EEF1-BF1C-F502-3A9935413C86}"/>
                </a:ext>
              </a:extLst>
            </p:cNvPr>
            <p:cNvGrpSpPr/>
            <p:nvPr/>
          </p:nvGrpSpPr>
          <p:grpSpPr>
            <a:xfrm>
              <a:off x="2915135" y="6368440"/>
              <a:ext cx="404366" cy="295324"/>
              <a:chOff x="2943269" y="5969255"/>
              <a:chExt cx="404366" cy="295324"/>
            </a:xfrm>
          </p:grpSpPr>
          <p:sp>
            <p:nvSpPr>
              <p:cNvPr id="67" name="Freeform 11">
                <a:extLst>
                  <a:ext uri="{FF2B5EF4-FFF2-40B4-BE49-F238E27FC236}">
                    <a16:creationId xmlns:a16="http://schemas.microsoft.com/office/drawing/2014/main" id="{E3C68016-9401-4746-15CC-6C4AD1139919}"/>
                  </a:ext>
                </a:extLst>
              </p:cNvPr>
              <p:cNvSpPr>
                <a:spLocks noEditPoints="1"/>
              </p:cNvSpPr>
              <p:nvPr/>
            </p:nvSpPr>
            <p:spPr bwMode="auto">
              <a:xfrm rot="21036247">
                <a:off x="3009452" y="6097694"/>
                <a:ext cx="101444" cy="101444"/>
              </a:xfrm>
              <a:custGeom>
                <a:avLst/>
                <a:gdLst>
                  <a:gd name="T0" fmla="*/ 28 w 56"/>
                  <a:gd name="T1" fmla="*/ 0 h 56"/>
                  <a:gd name="T2" fmla="*/ 0 w 56"/>
                  <a:gd name="T3" fmla="*/ 28 h 56"/>
                  <a:gd name="T4" fmla="*/ 28 w 56"/>
                  <a:gd name="T5" fmla="*/ 56 h 56"/>
                  <a:gd name="T6" fmla="*/ 56 w 56"/>
                  <a:gd name="T7" fmla="*/ 28 h 56"/>
                  <a:gd name="T8" fmla="*/ 28 w 56"/>
                  <a:gd name="T9" fmla="*/ 0 h 56"/>
                  <a:gd name="T10" fmla="*/ 28 w 56"/>
                  <a:gd name="T11" fmla="*/ 53 h 56"/>
                  <a:gd name="T12" fmla="*/ 4 w 56"/>
                  <a:gd name="T13" fmla="*/ 28 h 56"/>
                  <a:gd name="T14" fmla="*/ 28 w 56"/>
                  <a:gd name="T15" fmla="*/ 4 h 56"/>
                  <a:gd name="T16" fmla="*/ 53 w 56"/>
                  <a:gd name="T17" fmla="*/ 28 h 56"/>
                  <a:gd name="T18" fmla="*/ 28 w 56"/>
                  <a:gd name="T19" fmla="*/ 53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56" h="56">
                    <a:moveTo>
                      <a:pt x="28" y="0"/>
                    </a:moveTo>
                    <a:cubicBezTo>
                      <a:pt x="13" y="0"/>
                      <a:pt x="0" y="13"/>
                      <a:pt x="0" y="28"/>
                    </a:cubicBezTo>
                    <a:cubicBezTo>
                      <a:pt x="0" y="43"/>
                      <a:pt x="13" y="56"/>
                      <a:pt x="28" y="56"/>
                    </a:cubicBezTo>
                    <a:cubicBezTo>
                      <a:pt x="43" y="56"/>
                      <a:pt x="56" y="43"/>
                      <a:pt x="56" y="28"/>
                    </a:cubicBezTo>
                    <a:cubicBezTo>
                      <a:pt x="56" y="13"/>
                      <a:pt x="43" y="0"/>
                      <a:pt x="28" y="0"/>
                    </a:cubicBezTo>
                    <a:close/>
                    <a:moveTo>
                      <a:pt x="28" y="53"/>
                    </a:moveTo>
                    <a:cubicBezTo>
                      <a:pt x="14" y="53"/>
                      <a:pt x="4" y="42"/>
                      <a:pt x="4" y="28"/>
                    </a:cubicBezTo>
                    <a:cubicBezTo>
                      <a:pt x="4" y="14"/>
                      <a:pt x="14" y="4"/>
                      <a:pt x="28" y="4"/>
                    </a:cubicBezTo>
                    <a:cubicBezTo>
                      <a:pt x="42" y="4"/>
                      <a:pt x="53" y="14"/>
                      <a:pt x="53" y="28"/>
                    </a:cubicBezTo>
                    <a:cubicBezTo>
                      <a:pt x="53" y="42"/>
                      <a:pt x="42" y="53"/>
                      <a:pt x="28" y="53"/>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8" name="Freeform 10">
                <a:extLst>
                  <a:ext uri="{FF2B5EF4-FFF2-40B4-BE49-F238E27FC236}">
                    <a16:creationId xmlns:a16="http://schemas.microsoft.com/office/drawing/2014/main" id="{E8F660A5-D8A3-7B0F-47BD-6C8ABC2317D7}"/>
                  </a:ext>
                </a:extLst>
              </p:cNvPr>
              <p:cNvSpPr>
                <a:spLocks noEditPoints="1"/>
              </p:cNvSpPr>
              <p:nvPr/>
            </p:nvSpPr>
            <p:spPr bwMode="auto">
              <a:xfrm rot="21036247">
                <a:off x="3152527" y="5969255"/>
                <a:ext cx="195108" cy="195107"/>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sp>
            <p:nvSpPr>
              <p:cNvPr id="69" name="Freeform 10">
                <a:extLst>
                  <a:ext uri="{FF2B5EF4-FFF2-40B4-BE49-F238E27FC236}">
                    <a16:creationId xmlns:a16="http://schemas.microsoft.com/office/drawing/2014/main" id="{1A516EBD-0EF3-70D3-A667-E94277A0DB91}"/>
                  </a:ext>
                </a:extLst>
              </p:cNvPr>
              <p:cNvSpPr>
                <a:spLocks noEditPoints="1"/>
              </p:cNvSpPr>
              <p:nvPr/>
            </p:nvSpPr>
            <p:spPr bwMode="auto">
              <a:xfrm rot="21036247">
                <a:off x="2943269" y="6031634"/>
                <a:ext cx="232946" cy="232945"/>
              </a:xfrm>
              <a:custGeom>
                <a:avLst/>
                <a:gdLst>
                  <a:gd name="T0" fmla="*/ 109 w 128"/>
                  <a:gd name="T1" fmla="*/ 48 h 128"/>
                  <a:gd name="T2" fmla="*/ 114 w 128"/>
                  <a:gd name="T3" fmla="*/ 33 h 128"/>
                  <a:gd name="T4" fmla="*/ 105 w 128"/>
                  <a:gd name="T5" fmla="*/ 15 h 128"/>
                  <a:gd name="T6" fmla="*/ 95 w 128"/>
                  <a:gd name="T7" fmla="*/ 14 h 128"/>
                  <a:gd name="T8" fmla="*/ 80 w 128"/>
                  <a:gd name="T9" fmla="*/ 19 h 128"/>
                  <a:gd name="T10" fmla="*/ 69 w 128"/>
                  <a:gd name="T11" fmla="*/ 0 h 128"/>
                  <a:gd name="T12" fmla="*/ 51 w 128"/>
                  <a:gd name="T13" fmla="*/ 6 h 128"/>
                  <a:gd name="T14" fmla="*/ 43 w 128"/>
                  <a:gd name="T15" fmla="*/ 21 h 128"/>
                  <a:gd name="T16" fmla="*/ 28 w 128"/>
                  <a:gd name="T17" fmla="*/ 13 h 128"/>
                  <a:gd name="T18" fmla="*/ 15 w 128"/>
                  <a:gd name="T19" fmla="*/ 23 h 128"/>
                  <a:gd name="T20" fmla="*/ 21 w 128"/>
                  <a:gd name="T21" fmla="*/ 43 h 128"/>
                  <a:gd name="T22" fmla="*/ 6 w 128"/>
                  <a:gd name="T23" fmla="*/ 51 h 128"/>
                  <a:gd name="T24" fmla="*/ 0 w 128"/>
                  <a:gd name="T25" fmla="*/ 69 h 128"/>
                  <a:gd name="T26" fmla="*/ 19 w 128"/>
                  <a:gd name="T27" fmla="*/ 80 h 128"/>
                  <a:gd name="T28" fmla="*/ 14 w 128"/>
                  <a:gd name="T29" fmla="*/ 95 h 128"/>
                  <a:gd name="T30" fmla="*/ 23 w 128"/>
                  <a:gd name="T31" fmla="*/ 113 h 128"/>
                  <a:gd name="T32" fmla="*/ 33 w 128"/>
                  <a:gd name="T33" fmla="*/ 114 h 128"/>
                  <a:gd name="T34" fmla="*/ 48 w 128"/>
                  <a:gd name="T35" fmla="*/ 109 h 128"/>
                  <a:gd name="T36" fmla="*/ 59 w 128"/>
                  <a:gd name="T37" fmla="*/ 128 h 128"/>
                  <a:gd name="T38" fmla="*/ 77 w 128"/>
                  <a:gd name="T39" fmla="*/ 122 h 128"/>
                  <a:gd name="T40" fmla="*/ 85 w 128"/>
                  <a:gd name="T41" fmla="*/ 107 h 128"/>
                  <a:gd name="T42" fmla="*/ 100 w 128"/>
                  <a:gd name="T43" fmla="*/ 115 h 128"/>
                  <a:gd name="T44" fmla="*/ 113 w 128"/>
                  <a:gd name="T45" fmla="*/ 105 h 128"/>
                  <a:gd name="T46" fmla="*/ 107 w 128"/>
                  <a:gd name="T47" fmla="*/ 85 h 128"/>
                  <a:gd name="T48" fmla="*/ 122 w 128"/>
                  <a:gd name="T49" fmla="*/ 77 h 128"/>
                  <a:gd name="T50" fmla="*/ 128 w 128"/>
                  <a:gd name="T51" fmla="*/ 59 h 128"/>
                  <a:gd name="T52" fmla="*/ 108 w 128"/>
                  <a:gd name="T53" fmla="*/ 72 h 128"/>
                  <a:gd name="T54" fmla="*/ 100 w 128"/>
                  <a:gd name="T55" fmla="*/ 81 h 128"/>
                  <a:gd name="T56" fmla="*/ 107 w 128"/>
                  <a:gd name="T57" fmla="*/ 100 h 128"/>
                  <a:gd name="T58" fmla="*/ 89 w 128"/>
                  <a:gd name="T59" fmla="*/ 101 h 128"/>
                  <a:gd name="T60" fmla="*/ 81 w 128"/>
                  <a:gd name="T61" fmla="*/ 100 h 128"/>
                  <a:gd name="T62" fmla="*/ 72 w 128"/>
                  <a:gd name="T63" fmla="*/ 108 h 128"/>
                  <a:gd name="T64" fmla="*/ 59 w 128"/>
                  <a:gd name="T65" fmla="*/ 120 h 128"/>
                  <a:gd name="T66" fmla="*/ 51 w 128"/>
                  <a:gd name="T67" fmla="*/ 102 h 128"/>
                  <a:gd name="T68" fmla="*/ 43 w 128"/>
                  <a:gd name="T69" fmla="*/ 99 h 128"/>
                  <a:gd name="T70" fmla="*/ 28 w 128"/>
                  <a:gd name="T71" fmla="*/ 107 h 128"/>
                  <a:gd name="T72" fmla="*/ 27 w 128"/>
                  <a:gd name="T73" fmla="*/ 89 h 128"/>
                  <a:gd name="T74" fmla="*/ 26 w 128"/>
                  <a:gd name="T75" fmla="*/ 77 h 128"/>
                  <a:gd name="T76" fmla="*/ 8 w 128"/>
                  <a:gd name="T77" fmla="*/ 69 h 128"/>
                  <a:gd name="T78" fmla="*/ 20 w 128"/>
                  <a:gd name="T79" fmla="*/ 56 h 128"/>
                  <a:gd name="T80" fmla="*/ 28 w 128"/>
                  <a:gd name="T81" fmla="*/ 47 h 128"/>
                  <a:gd name="T82" fmla="*/ 21 w 128"/>
                  <a:gd name="T83" fmla="*/ 28 h 128"/>
                  <a:gd name="T84" fmla="*/ 39 w 128"/>
                  <a:gd name="T85" fmla="*/ 27 h 128"/>
                  <a:gd name="T86" fmla="*/ 47 w 128"/>
                  <a:gd name="T87" fmla="*/ 28 h 128"/>
                  <a:gd name="T88" fmla="*/ 56 w 128"/>
                  <a:gd name="T89" fmla="*/ 20 h 128"/>
                  <a:gd name="T90" fmla="*/ 69 w 128"/>
                  <a:gd name="T91" fmla="*/ 8 h 128"/>
                  <a:gd name="T92" fmla="*/ 77 w 128"/>
                  <a:gd name="T93" fmla="*/ 26 h 128"/>
                  <a:gd name="T94" fmla="*/ 85 w 128"/>
                  <a:gd name="T95" fmla="*/ 29 h 128"/>
                  <a:gd name="T96" fmla="*/ 100 w 128"/>
                  <a:gd name="T97" fmla="*/ 21 h 128"/>
                  <a:gd name="T98" fmla="*/ 101 w 128"/>
                  <a:gd name="T99" fmla="*/ 39 h 128"/>
                  <a:gd name="T100" fmla="*/ 102 w 128"/>
                  <a:gd name="T101" fmla="*/ 51 h 128"/>
                  <a:gd name="T102" fmla="*/ 120 w 128"/>
                  <a:gd name="T103" fmla="*/ 59 h 128"/>
                  <a:gd name="T104" fmla="*/ 108 w 128"/>
                  <a:gd name="T105" fmla="*/ 72 h 1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28" h="128">
                    <a:moveTo>
                      <a:pt x="122" y="51"/>
                    </a:moveTo>
                    <a:cubicBezTo>
                      <a:pt x="109" y="48"/>
                      <a:pt x="109" y="48"/>
                      <a:pt x="109" y="48"/>
                    </a:cubicBezTo>
                    <a:cubicBezTo>
                      <a:pt x="109" y="46"/>
                      <a:pt x="108" y="45"/>
                      <a:pt x="107" y="43"/>
                    </a:cubicBezTo>
                    <a:cubicBezTo>
                      <a:pt x="114" y="33"/>
                      <a:pt x="114" y="33"/>
                      <a:pt x="114" y="33"/>
                    </a:cubicBezTo>
                    <a:cubicBezTo>
                      <a:pt x="116" y="30"/>
                      <a:pt x="116" y="25"/>
                      <a:pt x="113" y="23"/>
                    </a:cubicBezTo>
                    <a:cubicBezTo>
                      <a:pt x="105" y="15"/>
                      <a:pt x="105" y="15"/>
                      <a:pt x="105" y="15"/>
                    </a:cubicBezTo>
                    <a:cubicBezTo>
                      <a:pt x="104" y="13"/>
                      <a:pt x="102" y="13"/>
                      <a:pt x="100" y="13"/>
                    </a:cubicBezTo>
                    <a:cubicBezTo>
                      <a:pt x="98" y="13"/>
                      <a:pt x="97" y="13"/>
                      <a:pt x="95" y="14"/>
                    </a:cubicBezTo>
                    <a:cubicBezTo>
                      <a:pt x="85" y="21"/>
                      <a:pt x="85" y="21"/>
                      <a:pt x="85" y="21"/>
                    </a:cubicBezTo>
                    <a:cubicBezTo>
                      <a:pt x="83" y="20"/>
                      <a:pt x="82" y="19"/>
                      <a:pt x="80" y="19"/>
                    </a:cubicBezTo>
                    <a:cubicBezTo>
                      <a:pt x="77" y="6"/>
                      <a:pt x="77" y="6"/>
                      <a:pt x="77" y="6"/>
                    </a:cubicBezTo>
                    <a:cubicBezTo>
                      <a:pt x="77" y="3"/>
                      <a:pt x="73" y="0"/>
                      <a:pt x="69" y="0"/>
                    </a:cubicBezTo>
                    <a:cubicBezTo>
                      <a:pt x="59" y="0"/>
                      <a:pt x="59" y="0"/>
                      <a:pt x="59" y="0"/>
                    </a:cubicBezTo>
                    <a:cubicBezTo>
                      <a:pt x="55" y="0"/>
                      <a:pt x="51" y="3"/>
                      <a:pt x="51" y="6"/>
                    </a:cubicBezTo>
                    <a:cubicBezTo>
                      <a:pt x="48" y="19"/>
                      <a:pt x="48" y="19"/>
                      <a:pt x="48" y="19"/>
                    </a:cubicBezTo>
                    <a:cubicBezTo>
                      <a:pt x="46" y="19"/>
                      <a:pt x="45" y="20"/>
                      <a:pt x="43" y="21"/>
                    </a:cubicBezTo>
                    <a:cubicBezTo>
                      <a:pt x="33" y="14"/>
                      <a:pt x="33" y="14"/>
                      <a:pt x="33" y="14"/>
                    </a:cubicBezTo>
                    <a:cubicBezTo>
                      <a:pt x="31" y="13"/>
                      <a:pt x="30" y="13"/>
                      <a:pt x="28" y="13"/>
                    </a:cubicBezTo>
                    <a:cubicBezTo>
                      <a:pt x="26" y="13"/>
                      <a:pt x="24" y="13"/>
                      <a:pt x="23" y="15"/>
                    </a:cubicBezTo>
                    <a:cubicBezTo>
                      <a:pt x="15" y="23"/>
                      <a:pt x="15" y="23"/>
                      <a:pt x="15" y="23"/>
                    </a:cubicBezTo>
                    <a:cubicBezTo>
                      <a:pt x="12" y="25"/>
                      <a:pt x="12" y="30"/>
                      <a:pt x="14" y="33"/>
                    </a:cubicBezTo>
                    <a:cubicBezTo>
                      <a:pt x="21" y="43"/>
                      <a:pt x="21" y="43"/>
                      <a:pt x="21" y="43"/>
                    </a:cubicBezTo>
                    <a:cubicBezTo>
                      <a:pt x="20" y="45"/>
                      <a:pt x="19" y="46"/>
                      <a:pt x="19" y="48"/>
                    </a:cubicBezTo>
                    <a:cubicBezTo>
                      <a:pt x="6" y="51"/>
                      <a:pt x="6" y="51"/>
                      <a:pt x="6" y="51"/>
                    </a:cubicBezTo>
                    <a:cubicBezTo>
                      <a:pt x="3" y="51"/>
                      <a:pt x="0" y="55"/>
                      <a:pt x="0" y="59"/>
                    </a:cubicBezTo>
                    <a:cubicBezTo>
                      <a:pt x="0" y="69"/>
                      <a:pt x="0" y="69"/>
                      <a:pt x="0" y="69"/>
                    </a:cubicBezTo>
                    <a:cubicBezTo>
                      <a:pt x="0" y="73"/>
                      <a:pt x="3" y="77"/>
                      <a:pt x="6" y="77"/>
                    </a:cubicBezTo>
                    <a:cubicBezTo>
                      <a:pt x="19" y="80"/>
                      <a:pt x="19" y="80"/>
                      <a:pt x="19" y="80"/>
                    </a:cubicBezTo>
                    <a:cubicBezTo>
                      <a:pt x="19" y="82"/>
                      <a:pt x="20" y="83"/>
                      <a:pt x="21" y="85"/>
                    </a:cubicBezTo>
                    <a:cubicBezTo>
                      <a:pt x="14" y="95"/>
                      <a:pt x="14" y="95"/>
                      <a:pt x="14" y="95"/>
                    </a:cubicBezTo>
                    <a:cubicBezTo>
                      <a:pt x="12" y="98"/>
                      <a:pt x="12" y="103"/>
                      <a:pt x="15" y="105"/>
                    </a:cubicBezTo>
                    <a:cubicBezTo>
                      <a:pt x="23" y="113"/>
                      <a:pt x="23" y="113"/>
                      <a:pt x="23" y="113"/>
                    </a:cubicBezTo>
                    <a:cubicBezTo>
                      <a:pt x="24" y="115"/>
                      <a:pt x="26" y="115"/>
                      <a:pt x="28" y="115"/>
                    </a:cubicBezTo>
                    <a:cubicBezTo>
                      <a:pt x="30" y="115"/>
                      <a:pt x="31" y="115"/>
                      <a:pt x="33" y="114"/>
                    </a:cubicBezTo>
                    <a:cubicBezTo>
                      <a:pt x="43" y="107"/>
                      <a:pt x="43" y="107"/>
                      <a:pt x="43" y="107"/>
                    </a:cubicBezTo>
                    <a:cubicBezTo>
                      <a:pt x="45" y="108"/>
                      <a:pt x="46" y="109"/>
                      <a:pt x="48" y="109"/>
                    </a:cubicBezTo>
                    <a:cubicBezTo>
                      <a:pt x="51" y="122"/>
                      <a:pt x="51" y="122"/>
                      <a:pt x="51" y="122"/>
                    </a:cubicBezTo>
                    <a:cubicBezTo>
                      <a:pt x="51" y="125"/>
                      <a:pt x="55" y="128"/>
                      <a:pt x="59" y="128"/>
                    </a:cubicBezTo>
                    <a:cubicBezTo>
                      <a:pt x="69" y="128"/>
                      <a:pt x="69" y="128"/>
                      <a:pt x="69" y="128"/>
                    </a:cubicBezTo>
                    <a:cubicBezTo>
                      <a:pt x="73" y="128"/>
                      <a:pt x="77" y="125"/>
                      <a:pt x="77" y="122"/>
                    </a:cubicBezTo>
                    <a:cubicBezTo>
                      <a:pt x="80" y="109"/>
                      <a:pt x="80" y="109"/>
                      <a:pt x="80" y="109"/>
                    </a:cubicBezTo>
                    <a:cubicBezTo>
                      <a:pt x="82" y="109"/>
                      <a:pt x="83" y="108"/>
                      <a:pt x="85" y="107"/>
                    </a:cubicBezTo>
                    <a:cubicBezTo>
                      <a:pt x="95" y="114"/>
                      <a:pt x="95" y="114"/>
                      <a:pt x="95" y="114"/>
                    </a:cubicBezTo>
                    <a:cubicBezTo>
                      <a:pt x="97" y="115"/>
                      <a:pt x="98" y="115"/>
                      <a:pt x="100" y="115"/>
                    </a:cubicBezTo>
                    <a:cubicBezTo>
                      <a:pt x="102" y="115"/>
                      <a:pt x="104" y="115"/>
                      <a:pt x="105" y="113"/>
                    </a:cubicBezTo>
                    <a:cubicBezTo>
                      <a:pt x="113" y="105"/>
                      <a:pt x="113" y="105"/>
                      <a:pt x="113" y="105"/>
                    </a:cubicBezTo>
                    <a:cubicBezTo>
                      <a:pt x="116" y="103"/>
                      <a:pt x="116" y="98"/>
                      <a:pt x="114" y="95"/>
                    </a:cubicBezTo>
                    <a:cubicBezTo>
                      <a:pt x="107" y="85"/>
                      <a:pt x="107" y="85"/>
                      <a:pt x="107" y="85"/>
                    </a:cubicBezTo>
                    <a:cubicBezTo>
                      <a:pt x="108" y="83"/>
                      <a:pt x="109" y="82"/>
                      <a:pt x="109" y="80"/>
                    </a:cubicBezTo>
                    <a:cubicBezTo>
                      <a:pt x="122" y="77"/>
                      <a:pt x="122" y="77"/>
                      <a:pt x="122" y="77"/>
                    </a:cubicBezTo>
                    <a:cubicBezTo>
                      <a:pt x="125" y="77"/>
                      <a:pt x="128" y="73"/>
                      <a:pt x="128" y="69"/>
                    </a:cubicBezTo>
                    <a:cubicBezTo>
                      <a:pt x="128" y="59"/>
                      <a:pt x="128" y="59"/>
                      <a:pt x="128" y="59"/>
                    </a:cubicBezTo>
                    <a:cubicBezTo>
                      <a:pt x="128" y="55"/>
                      <a:pt x="125" y="51"/>
                      <a:pt x="122" y="51"/>
                    </a:cubicBezTo>
                    <a:close/>
                    <a:moveTo>
                      <a:pt x="108" y="72"/>
                    </a:moveTo>
                    <a:cubicBezTo>
                      <a:pt x="105" y="72"/>
                      <a:pt x="103" y="74"/>
                      <a:pt x="102" y="77"/>
                    </a:cubicBezTo>
                    <a:cubicBezTo>
                      <a:pt x="101" y="79"/>
                      <a:pt x="101" y="80"/>
                      <a:pt x="100" y="81"/>
                    </a:cubicBezTo>
                    <a:cubicBezTo>
                      <a:pt x="99" y="84"/>
                      <a:pt x="99" y="87"/>
                      <a:pt x="101" y="89"/>
                    </a:cubicBezTo>
                    <a:cubicBezTo>
                      <a:pt x="107" y="100"/>
                      <a:pt x="107" y="100"/>
                      <a:pt x="107" y="100"/>
                    </a:cubicBezTo>
                    <a:cubicBezTo>
                      <a:pt x="100" y="107"/>
                      <a:pt x="100" y="107"/>
                      <a:pt x="100" y="107"/>
                    </a:cubicBezTo>
                    <a:cubicBezTo>
                      <a:pt x="89" y="101"/>
                      <a:pt x="89" y="101"/>
                      <a:pt x="89" y="101"/>
                    </a:cubicBezTo>
                    <a:cubicBezTo>
                      <a:pt x="88" y="100"/>
                      <a:pt x="86" y="99"/>
                      <a:pt x="85" y="99"/>
                    </a:cubicBezTo>
                    <a:cubicBezTo>
                      <a:pt x="84" y="99"/>
                      <a:pt x="83" y="99"/>
                      <a:pt x="81" y="100"/>
                    </a:cubicBezTo>
                    <a:cubicBezTo>
                      <a:pt x="80" y="101"/>
                      <a:pt x="79" y="101"/>
                      <a:pt x="77" y="102"/>
                    </a:cubicBezTo>
                    <a:cubicBezTo>
                      <a:pt x="74" y="103"/>
                      <a:pt x="72" y="105"/>
                      <a:pt x="72" y="108"/>
                    </a:cubicBezTo>
                    <a:cubicBezTo>
                      <a:pt x="69" y="120"/>
                      <a:pt x="69" y="120"/>
                      <a:pt x="69" y="120"/>
                    </a:cubicBezTo>
                    <a:cubicBezTo>
                      <a:pt x="59" y="120"/>
                      <a:pt x="59" y="120"/>
                      <a:pt x="59" y="120"/>
                    </a:cubicBezTo>
                    <a:cubicBezTo>
                      <a:pt x="56" y="108"/>
                      <a:pt x="56" y="108"/>
                      <a:pt x="56" y="108"/>
                    </a:cubicBezTo>
                    <a:cubicBezTo>
                      <a:pt x="56" y="105"/>
                      <a:pt x="54" y="103"/>
                      <a:pt x="51" y="102"/>
                    </a:cubicBezTo>
                    <a:cubicBezTo>
                      <a:pt x="49" y="101"/>
                      <a:pt x="48" y="101"/>
                      <a:pt x="47" y="100"/>
                    </a:cubicBezTo>
                    <a:cubicBezTo>
                      <a:pt x="45" y="99"/>
                      <a:pt x="44" y="99"/>
                      <a:pt x="43" y="99"/>
                    </a:cubicBezTo>
                    <a:cubicBezTo>
                      <a:pt x="42" y="99"/>
                      <a:pt x="40" y="100"/>
                      <a:pt x="39" y="101"/>
                    </a:cubicBezTo>
                    <a:cubicBezTo>
                      <a:pt x="28" y="107"/>
                      <a:pt x="28" y="107"/>
                      <a:pt x="28" y="107"/>
                    </a:cubicBezTo>
                    <a:cubicBezTo>
                      <a:pt x="21" y="100"/>
                      <a:pt x="21" y="100"/>
                      <a:pt x="21" y="100"/>
                    </a:cubicBezTo>
                    <a:cubicBezTo>
                      <a:pt x="27" y="89"/>
                      <a:pt x="27" y="89"/>
                      <a:pt x="27" y="89"/>
                    </a:cubicBezTo>
                    <a:cubicBezTo>
                      <a:pt x="29" y="87"/>
                      <a:pt x="29" y="84"/>
                      <a:pt x="28" y="81"/>
                    </a:cubicBezTo>
                    <a:cubicBezTo>
                      <a:pt x="27" y="80"/>
                      <a:pt x="27" y="79"/>
                      <a:pt x="26" y="77"/>
                    </a:cubicBezTo>
                    <a:cubicBezTo>
                      <a:pt x="25" y="74"/>
                      <a:pt x="23" y="72"/>
                      <a:pt x="20" y="72"/>
                    </a:cubicBezTo>
                    <a:cubicBezTo>
                      <a:pt x="8" y="69"/>
                      <a:pt x="8" y="69"/>
                      <a:pt x="8" y="69"/>
                    </a:cubicBezTo>
                    <a:cubicBezTo>
                      <a:pt x="8" y="59"/>
                      <a:pt x="8" y="59"/>
                      <a:pt x="8" y="59"/>
                    </a:cubicBezTo>
                    <a:cubicBezTo>
                      <a:pt x="20" y="56"/>
                      <a:pt x="20" y="56"/>
                      <a:pt x="20" y="56"/>
                    </a:cubicBezTo>
                    <a:cubicBezTo>
                      <a:pt x="23" y="56"/>
                      <a:pt x="25" y="54"/>
                      <a:pt x="26" y="51"/>
                    </a:cubicBezTo>
                    <a:cubicBezTo>
                      <a:pt x="27" y="49"/>
                      <a:pt x="27" y="48"/>
                      <a:pt x="28" y="47"/>
                    </a:cubicBezTo>
                    <a:cubicBezTo>
                      <a:pt x="29" y="44"/>
                      <a:pt x="29" y="41"/>
                      <a:pt x="27" y="39"/>
                    </a:cubicBezTo>
                    <a:cubicBezTo>
                      <a:pt x="21" y="28"/>
                      <a:pt x="21" y="28"/>
                      <a:pt x="21" y="28"/>
                    </a:cubicBezTo>
                    <a:cubicBezTo>
                      <a:pt x="28" y="21"/>
                      <a:pt x="28" y="21"/>
                      <a:pt x="28" y="21"/>
                    </a:cubicBezTo>
                    <a:cubicBezTo>
                      <a:pt x="39" y="27"/>
                      <a:pt x="39" y="27"/>
                      <a:pt x="39" y="27"/>
                    </a:cubicBezTo>
                    <a:cubicBezTo>
                      <a:pt x="40" y="28"/>
                      <a:pt x="42" y="29"/>
                      <a:pt x="43" y="29"/>
                    </a:cubicBezTo>
                    <a:cubicBezTo>
                      <a:pt x="44" y="29"/>
                      <a:pt x="45" y="29"/>
                      <a:pt x="47" y="28"/>
                    </a:cubicBezTo>
                    <a:cubicBezTo>
                      <a:pt x="48" y="27"/>
                      <a:pt x="49" y="27"/>
                      <a:pt x="51" y="26"/>
                    </a:cubicBezTo>
                    <a:cubicBezTo>
                      <a:pt x="54" y="25"/>
                      <a:pt x="56" y="23"/>
                      <a:pt x="56" y="20"/>
                    </a:cubicBezTo>
                    <a:cubicBezTo>
                      <a:pt x="59" y="8"/>
                      <a:pt x="59" y="8"/>
                      <a:pt x="59" y="8"/>
                    </a:cubicBezTo>
                    <a:cubicBezTo>
                      <a:pt x="69" y="8"/>
                      <a:pt x="69" y="8"/>
                      <a:pt x="69" y="8"/>
                    </a:cubicBezTo>
                    <a:cubicBezTo>
                      <a:pt x="72" y="20"/>
                      <a:pt x="72" y="20"/>
                      <a:pt x="72" y="20"/>
                    </a:cubicBezTo>
                    <a:cubicBezTo>
                      <a:pt x="72" y="23"/>
                      <a:pt x="74" y="25"/>
                      <a:pt x="77" y="26"/>
                    </a:cubicBezTo>
                    <a:cubicBezTo>
                      <a:pt x="79" y="27"/>
                      <a:pt x="80" y="27"/>
                      <a:pt x="81" y="28"/>
                    </a:cubicBezTo>
                    <a:cubicBezTo>
                      <a:pt x="83" y="29"/>
                      <a:pt x="84" y="29"/>
                      <a:pt x="85" y="29"/>
                    </a:cubicBezTo>
                    <a:cubicBezTo>
                      <a:pt x="86" y="29"/>
                      <a:pt x="88" y="28"/>
                      <a:pt x="89" y="27"/>
                    </a:cubicBezTo>
                    <a:cubicBezTo>
                      <a:pt x="100" y="21"/>
                      <a:pt x="100" y="21"/>
                      <a:pt x="100" y="21"/>
                    </a:cubicBezTo>
                    <a:cubicBezTo>
                      <a:pt x="107" y="28"/>
                      <a:pt x="107" y="28"/>
                      <a:pt x="107" y="28"/>
                    </a:cubicBezTo>
                    <a:cubicBezTo>
                      <a:pt x="101" y="39"/>
                      <a:pt x="101" y="39"/>
                      <a:pt x="101" y="39"/>
                    </a:cubicBezTo>
                    <a:cubicBezTo>
                      <a:pt x="99" y="41"/>
                      <a:pt x="99" y="44"/>
                      <a:pt x="100" y="47"/>
                    </a:cubicBezTo>
                    <a:cubicBezTo>
                      <a:pt x="101" y="48"/>
                      <a:pt x="101" y="49"/>
                      <a:pt x="102" y="51"/>
                    </a:cubicBezTo>
                    <a:cubicBezTo>
                      <a:pt x="103" y="54"/>
                      <a:pt x="105" y="56"/>
                      <a:pt x="108" y="56"/>
                    </a:cubicBezTo>
                    <a:cubicBezTo>
                      <a:pt x="120" y="59"/>
                      <a:pt x="120" y="59"/>
                      <a:pt x="120" y="59"/>
                    </a:cubicBezTo>
                    <a:cubicBezTo>
                      <a:pt x="120" y="69"/>
                      <a:pt x="120" y="69"/>
                      <a:pt x="120" y="69"/>
                    </a:cubicBezTo>
                    <a:lnTo>
                      <a:pt x="108" y="72"/>
                    </a:lnTo>
                    <a:close/>
                  </a:path>
                </a:pathLst>
              </a:custGeom>
              <a:solidFill>
                <a:schemeClr val="bg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endParaRPr lang="id-ID" b="0">
                  <a:solidFill>
                    <a:prstClr val="black"/>
                  </a:solidFill>
                  <a:latin typeface="Lato Light"/>
                  <a:ea typeface="Helvetica Neue"/>
                  <a:cs typeface="Helvetica Neue"/>
                  <a:sym typeface="Helvetica Neue Medium"/>
                </a:endParaRPr>
              </a:p>
            </p:txBody>
          </p:sp>
          <p:sp>
            <p:nvSpPr>
              <p:cNvPr id="70" name="Freeform 12">
                <a:extLst>
                  <a:ext uri="{FF2B5EF4-FFF2-40B4-BE49-F238E27FC236}">
                    <a16:creationId xmlns:a16="http://schemas.microsoft.com/office/drawing/2014/main" id="{CA1E4271-9890-DB99-E13F-028F09934546}"/>
                  </a:ext>
                </a:extLst>
              </p:cNvPr>
              <p:cNvSpPr>
                <a:spLocks noEditPoints="1"/>
              </p:cNvSpPr>
              <p:nvPr/>
            </p:nvSpPr>
            <p:spPr bwMode="auto">
              <a:xfrm rot="21036247">
                <a:off x="3226212" y="6042837"/>
                <a:ext cx="48463" cy="48462"/>
              </a:xfrm>
              <a:custGeom>
                <a:avLst/>
                <a:gdLst>
                  <a:gd name="T0" fmla="*/ 16 w 32"/>
                  <a:gd name="T1" fmla="*/ 0 h 32"/>
                  <a:gd name="T2" fmla="*/ 0 w 32"/>
                  <a:gd name="T3" fmla="*/ 16 h 32"/>
                  <a:gd name="T4" fmla="*/ 16 w 32"/>
                  <a:gd name="T5" fmla="*/ 32 h 32"/>
                  <a:gd name="T6" fmla="*/ 32 w 32"/>
                  <a:gd name="T7" fmla="*/ 16 h 32"/>
                  <a:gd name="T8" fmla="*/ 16 w 32"/>
                  <a:gd name="T9" fmla="*/ 0 h 32"/>
                  <a:gd name="T10" fmla="*/ 16 w 32"/>
                  <a:gd name="T11" fmla="*/ 28 h 32"/>
                  <a:gd name="T12" fmla="*/ 4 w 32"/>
                  <a:gd name="T13" fmla="*/ 16 h 32"/>
                  <a:gd name="T14" fmla="*/ 16 w 32"/>
                  <a:gd name="T15" fmla="*/ 4 h 32"/>
                  <a:gd name="T16" fmla="*/ 28 w 32"/>
                  <a:gd name="T17" fmla="*/ 16 h 32"/>
                  <a:gd name="T18" fmla="*/ 16 w 32"/>
                  <a:gd name="T19" fmla="*/ 28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2" h="32">
                    <a:moveTo>
                      <a:pt x="16" y="0"/>
                    </a:moveTo>
                    <a:cubicBezTo>
                      <a:pt x="7" y="0"/>
                      <a:pt x="0" y="7"/>
                      <a:pt x="0" y="16"/>
                    </a:cubicBezTo>
                    <a:cubicBezTo>
                      <a:pt x="0" y="25"/>
                      <a:pt x="7" y="32"/>
                      <a:pt x="16" y="32"/>
                    </a:cubicBezTo>
                    <a:cubicBezTo>
                      <a:pt x="25" y="32"/>
                      <a:pt x="32" y="25"/>
                      <a:pt x="32" y="16"/>
                    </a:cubicBezTo>
                    <a:cubicBezTo>
                      <a:pt x="32" y="7"/>
                      <a:pt x="25" y="0"/>
                      <a:pt x="16" y="0"/>
                    </a:cubicBezTo>
                    <a:close/>
                    <a:moveTo>
                      <a:pt x="16" y="28"/>
                    </a:moveTo>
                    <a:cubicBezTo>
                      <a:pt x="9" y="28"/>
                      <a:pt x="4" y="23"/>
                      <a:pt x="4" y="16"/>
                    </a:cubicBezTo>
                    <a:cubicBezTo>
                      <a:pt x="4" y="9"/>
                      <a:pt x="9" y="4"/>
                      <a:pt x="16" y="4"/>
                    </a:cubicBezTo>
                    <a:cubicBezTo>
                      <a:pt x="23" y="4"/>
                      <a:pt x="28" y="9"/>
                      <a:pt x="28" y="16"/>
                    </a:cubicBezTo>
                    <a:cubicBezTo>
                      <a:pt x="28" y="23"/>
                      <a:pt x="23" y="28"/>
                      <a:pt x="16" y="28"/>
                    </a:cubicBezTo>
                    <a:close/>
                  </a:path>
                </a:pathLst>
              </a:custGeom>
              <a:solidFill>
                <a:sysClr val="window" lastClr="FFFFF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defPPr>
                  <a:defRPr lang="pl-P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id-ID" sz="1800" b="0" i="0" u="none" strike="noStrike" kern="1200" cap="none" spc="0" normalizeH="0" baseline="0" noProof="0">
                  <a:ln>
                    <a:noFill/>
                  </a:ln>
                  <a:solidFill>
                    <a:prstClr val="black"/>
                  </a:solidFill>
                  <a:effectLst/>
                  <a:uLnTx/>
                  <a:uFillTx/>
                  <a:latin typeface="Lato Light"/>
                  <a:ea typeface="Helvetica Neue"/>
                  <a:cs typeface="Helvetica Neue"/>
                  <a:sym typeface="Helvetica Neue Medium"/>
                </a:endParaRPr>
              </a:p>
            </p:txBody>
          </p:sp>
        </p:grpSp>
        <p:sp>
          <p:nvSpPr>
            <p:cNvPr id="66" name="object 6">
              <a:extLst>
                <a:ext uri="{FF2B5EF4-FFF2-40B4-BE49-F238E27FC236}">
                  <a16:creationId xmlns:a16="http://schemas.microsoft.com/office/drawing/2014/main" id="{BE641147-B751-911C-DE6A-FE9F5C872C70}"/>
                </a:ext>
              </a:extLst>
            </p:cNvPr>
            <p:cNvSpPr/>
            <p:nvPr/>
          </p:nvSpPr>
          <p:spPr>
            <a:xfrm flipV="1">
              <a:off x="3401607" y="6461148"/>
              <a:ext cx="4015193" cy="57995"/>
            </a:xfrm>
            <a:custGeom>
              <a:avLst/>
              <a:gdLst/>
              <a:ahLst/>
              <a:cxnLst/>
              <a:rect l="l" t="t" r="r" b="b"/>
              <a:pathLst>
                <a:path w="3613150">
                  <a:moveTo>
                    <a:pt x="0" y="0"/>
                  </a:moveTo>
                  <a:lnTo>
                    <a:pt x="3613044" y="0"/>
                  </a:lnTo>
                </a:path>
              </a:pathLst>
            </a:custGeom>
            <a:ln w="9532">
              <a:solidFill>
                <a:srgbClr val="00AA7E"/>
              </a:solidFill>
            </a:ln>
          </p:spPr>
          <p:txBody>
            <a:bodyPr wrap="square" lIns="0" tIns="0" rIns="0" bIns="0" rtlCol="0"/>
            <a:lstStyle/>
            <a:p>
              <a:endParaRPr/>
            </a:p>
          </p:txBody>
        </p:sp>
      </p:grpSp>
      <p:grpSp>
        <p:nvGrpSpPr>
          <p:cNvPr id="2" name="Group 1">
            <a:extLst>
              <a:ext uri="{FF2B5EF4-FFF2-40B4-BE49-F238E27FC236}">
                <a16:creationId xmlns:a16="http://schemas.microsoft.com/office/drawing/2014/main" id="{301720E1-A6FB-6BAB-F3C9-E604BD0B9028}"/>
              </a:ext>
            </a:extLst>
          </p:cNvPr>
          <p:cNvGrpSpPr/>
          <p:nvPr/>
        </p:nvGrpSpPr>
        <p:grpSpPr>
          <a:xfrm>
            <a:off x="2907256" y="5755416"/>
            <a:ext cx="469793" cy="276488"/>
            <a:chOff x="3589646" y="5349549"/>
            <a:chExt cx="566513" cy="301910"/>
          </a:xfrm>
        </p:grpSpPr>
        <p:sp>
          <p:nvSpPr>
            <p:cNvPr id="77" name="Rectangle 76">
              <a:extLst>
                <a:ext uri="{FF2B5EF4-FFF2-40B4-BE49-F238E27FC236}">
                  <a16:creationId xmlns:a16="http://schemas.microsoft.com/office/drawing/2014/main" id="{8100690C-8344-747C-7D5C-E56ABEC5E1FC}"/>
                </a:ext>
              </a:extLst>
            </p:cNvPr>
            <p:cNvSpPr/>
            <p:nvPr/>
          </p:nvSpPr>
          <p:spPr>
            <a:xfrm>
              <a:off x="3589646" y="5408000"/>
              <a:ext cx="566513" cy="243459"/>
            </a:xfrm>
            <a:prstGeom prst="rect">
              <a:avLst/>
            </a:prstGeom>
            <a:solidFill>
              <a:srgbClr val="FAFAF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AU"/>
            </a:p>
          </p:txBody>
        </p:sp>
        <p:sp>
          <p:nvSpPr>
            <p:cNvPr id="27" name="object 25">
              <a:extLst>
                <a:ext uri="{FF2B5EF4-FFF2-40B4-BE49-F238E27FC236}">
                  <a16:creationId xmlns:a16="http://schemas.microsoft.com/office/drawing/2014/main" id="{DCC902E3-7B91-1A00-84BC-58D7087343B7}"/>
                </a:ext>
              </a:extLst>
            </p:cNvPr>
            <p:cNvSpPr/>
            <p:nvPr/>
          </p:nvSpPr>
          <p:spPr>
            <a:xfrm>
              <a:off x="3675372" y="5349549"/>
              <a:ext cx="391160" cy="276860"/>
            </a:xfrm>
            <a:custGeom>
              <a:avLst/>
              <a:gdLst/>
              <a:ahLst/>
              <a:cxnLst/>
              <a:rect l="l" t="t" r="r" b="b"/>
              <a:pathLst>
                <a:path w="391159" h="276859">
                  <a:moveTo>
                    <a:pt x="105284" y="276359"/>
                  </a:moveTo>
                  <a:lnTo>
                    <a:pt x="64908" y="268424"/>
                  </a:lnTo>
                  <a:lnTo>
                    <a:pt x="31758" y="246740"/>
                  </a:lnTo>
                  <a:lnTo>
                    <a:pt x="9050" y="214493"/>
                  </a:lnTo>
                  <a:lnTo>
                    <a:pt x="0" y="174867"/>
                  </a:lnTo>
                  <a:lnTo>
                    <a:pt x="0" y="169167"/>
                  </a:lnTo>
                  <a:lnTo>
                    <a:pt x="6582" y="123552"/>
                  </a:lnTo>
                  <a:lnTo>
                    <a:pt x="23879" y="82351"/>
                  </a:lnTo>
                  <a:lnTo>
                    <a:pt x="50401" y="47041"/>
                  </a:lnTo>
                  <a:lnTo>
                    <a:pt x="84658" y="19098"/>
                  </a:lnTo>
                  <a:lnTo>
                    <a:pt x="125160" y="0"/>
                  </a:lnTo>
                  <a:lnTo>
                    <a:pt x="115371" y="15620"/>
                  </a:lnTo>
                  <a:lnTo>
                    <a:pt x="107199" y="32238"/>
                  </a:lnTo>
                  <a:lnTo>
                    <a:pt x="100747" y="49751"/>
                  </a:lnTo>
                  <a:lnTo>
                    <a:pt x="96123" y="68056"/>
                  </a:lnTo>
                  <a:lnTo>
                    <a:pt x="108425" y="68056"/>
                  </a:lnTo>
                  <a:lnTo>
                    <a:pt x="130811" y="70765"/>
                  </a:lnTo>
                  <a:lnTo>
                    <a:pt x="174309" y="93234"/>
                  </a:lnTo>
                  <a:lnTo>
                    <a:pt x="199139" y="124667"/>
                  </a:lnTo>
                  <a:lnTo>
                    <a:pt x="210513" y="171067"/>
                  </a:lnTo>
                  <a:lnTo>
                    <a:pt x="210522" y="172967"/>
                  </a:lnTo>
                  <a:lnTo>
                    <a:pt x="209569" y="186587"/>
                  </a:lnTo>
                  <a:lnTo>
                    <a:pt x="195379" y="226034"/>
                  </a:lnTo>
                  <a:lnTo>
                    <a:pt x="157670" y="262555"/>
                  </a:lnTo>
                  <a:lnTo>
                    <a:pt x="123907" y="274732"/>
                  </a:lnTo>
                  <a:lnTo>
                    <a:pt x="105284" y="276359"/>
                  </a:lnTo>
                  <a:close/>
                </a:path>
                <a:path w="391159" h="276859">
                  <a:moveTo>
                    <a:pt x="285494" y="276359"/>
                  </a:moveTo>
                  <a:lnTo>
                    <a:pt x="263566" y="274097"/>
                  </a:lnTo>
                  <a:lnTo>
                    <a:pt x="243216" y="267618"/>
                  </a:lnTo>
                  <a:lnTo>
                    <a:pt x="224911" y="257382"/>
                  </a:lnTo>
                  <a:lnTo>
                    <a:pt x="209119" y="243852"/>
                  </a:lnTo>
                  <a:lnTo>
                    <a:pt x="218880" y="227501"/>
                  </a:lnTo>
                  <a:lnTo>
                    <a:pt x="226019" y="209890"/>
                  </a:lnTo>
                  <a:lnTo>
                    <a:pt x="230402" y="191301"/>
                  </a:lnTo>
                  <a:lnTo>
                    <a:pt x="231820" y="172967"/>
                  </a:lnTo>
                  <a:lnTo>
                    <a:pt x="231804" y="171067"/>
                  </a:lnTo>
                  <a:lnTo>
                    <a:pt x="229726" y="148826"/>
                  </a:lnTo>
                  <a:lnTo>
                    <a:pt x="223484" y="127039"/>
                  </a:lnTo>
                  <a:lnTo>
                    <a:pt x="213559" y="107050"/>
                  </a:lnTo>
                  <a:lnTo>
                    <a:pt x="200342" y="89249"/>
                  </a:lnTo>
                  <a:lnTo>
                    <a:pt x="219492" y="59766"/>
                  </a:lnTo>
                  <a:lnTo>
                    <a:pt x="243880" y="34571"/>
                  </a:lnTo>
                  <a:lnTo>
                    <a:pt x="272762" y="14402"/>
                  </a:lnTo>
                  <a:lnTo>
                    <a:pt x="305393" y="0"/>
                  </a:lnTo>
                  <a:lnTo>
                    <a:pt x="295604" y="15620"/>
                  </a:lnTo>
                  <a:lnTo>
                    <a:pt x="287430" y="32238"/>
                  </a:lnTo>
                  <a:lnTo>
                    <a:pt x="280978" y="49751"/>
                  </a:lnTo>
                  <a:lnTo>
                    <a:pt x="276354" y="68056"/>
                  </a:lnTo>
                  <a:lnTo>
                    <a:pt x="287393" y="68056"/>
                  </a:lnTo>
                  <a:lnTo>
                    <a:pt x="326484" y="75875"/>
                  </a:lnTo>
                  <a:lnTo>
                    <a:pt x="359957" y="98236"/>
                  </a:lnTo>
                  <a:lnTo>
                    <a:pt x="382525" y="131402"/>
                  </a:lnTo>
                  <a:lnTo>
                    <a:pt x="390800" y="172017"/>
                  </a:lnTo>
                  <a:lnTo>
                    <a:pt x="388104" y="195599"/>
                  </a:lnTo>
                  <a:lnTo>
                    <a:pt x="368331" y="236468"/>
                  </a:lnTo>
                  <a:lnTo>
                    <a:pt x="337890" y="262555"/>
                  </a:lnTo>
                  <a:lnTo>
                    <a:pt x="304121" y="274732"/>
                  </a:lnTo>
                  <a:lnTo>
                    <a:pt x="285494" y="276359"/>
                  </a:lnTo>
                  <a:close/>
                </a:path>
                <a:path w="391159" h="276859">
                  <a:moveTo>
                    <a:pt x="108425" y="68056"/>
                  </a:moveTo>
                  <a:lnTo>
                    <a:pt x="96123" y="68056"/>
                  </a:lnTo>
                  <a:lnTo>
                    <a:pt x="99149" y="67801"/>
                  </a:lnTo>
                  <a:lnTo>
                    <a:pt x="102194" y="67676"/>
                  </a:lnTo>
                  <a:lnTo>
                    <a:pt x="105284" y="67676"/>
                  </a:lnTo>
                  <a:lnTo>
                    <a:pt x="108425" y="68056"/>
                  </a:lnTo>
                  <a:close/>
                </a:path>
                <a:path w="391159" h="276859">
                  <a:moveTo>
                    <a:pt x="287393" y="68056"/>
                  </a:moveTo>
                  <a:lnTo>
                    <a:pt x="276354" y="68056"/>
                  </a:lnTo>
                  <a:lnTo>
                    <a:pt x="279360" y="67801"/>
                  </a:lnTo>
                  <a:lnTo>
                    <a:pt x="282427" y="67676"/>
                  </a:lnTo>
                  <a:lnTo>
                    <a:pt x="285494" y="67676"/>
                  </a:lnTo>
                  <a:lnTo>
                    <a:pt x="287393" y="68056"/>
                  </a:lnTo>
                  <a:close/>
                </a:path>
              </a:pathLst>
            </a:custGeom>
            <a:solidFill>
              <a:srgbClr val="00AA7E"/>
            </a:solidFill>
          </p:spPr>
          <p:txBody>
            <a:bodyPr wrap="square" lIns="0" tIns="0" rIns="0" bIns="0" rtlCol="0"/>
            <a:lstStyle/>
            <a:p>
              <a:endParaRPr/>
            </a:p>
          </p:txBody>
        </p:sp>
      </p:grpSp>
      <p:pic>
        <p:nvPicPr>
          <p:cNvPr id="5" name="Picture 4">
            <a:extLst>
              <a:ext uri="{FF2B5EF4-FFF2-40B4-BE49-F238E27FC236}">
                <a16:creationId xmlns:a16="http://schemas.microsoft.com/office/drawing/2014/main" id="{2704A92F-1A75-5DBB-32A2-FB8AABEB65A8}"/>
              </a:ext>
            </a:extLst>
          </p:cNvPr>
          <p:cNvPicPr>
            <a:picLocks noChangeAspect="1"/>
          </p:cNvPicPr>
          <p:nvPr/>
        </p:nvPicPr>
        <p:blipFill>
          <a:blip r:embed="rId9"/>
          <a:stretch>
            <a:fillRect/>
          </a:stretch>
        </p:blipFill>
        <p:spPr>
          <a:xfrm>
            <a:off x="416677" y="6046535"/>
            <a:ext cx="1480687" cy="409819"/>
          </a:xfrm>
          <a:prstGeom prst="rect">
            <a:avLst/>
          </a:prstGeom>
        </p:spPr>
      </p:pic>
      <p:sp>
        <p:nvSpPr>
          <p:cNvPr id="3" name="object 31">
            <a:extLst>
              <a:ext uri="{FF2B5EF4-FFF2-40B4-BE49-F238E27FC236}">
                <a16:creationId xmlns:a16="http://schemas.microsoft.com/office/drawing/2014/main" id="{66C6F953-5BF3-351C-67E5-ADBC59319D1C}"/>
              </a:ext>
            </a:extLst>
          </p:cNvPr>
          <p:cNvSpPr txBox="1"/>
          <p:nvPr/>
        </p:nvSpPr>
        <p:spPr>
          <a:xfrm>
            <a:off x="3275588" y="1902933"/>
            <a:ext cx="4013879" cy="1416029"/>
          </a:xfrm>
          <a:prstGeom prst="rect">
            <a:avLst/>
          </a:prstGeom>
        </p:spPr>
        <p:txBody>
          <a:bodyPr vert="horz" wrap="square" lIns="0" tIns="12700" rIns="0" bIns="0" rtlCol="0" anchor="t">
            <a:spAutoFit/>
          </a:bodyPr>
          <a:lstStyle/>
          <a:p>
            <a:pPr marL="12700" marR="5080">
              <a:lnSpc>
                <a:spcPct val="132100"/>
              </a:lnSpc>
              <a:spcBef>
                <a:spcPts val="100"/>
              </a:spcBef>
            </a:pPr>
            <a:r>
              <a:rPr lang="en-AU" sz="1000" spc="50" dirty="0">
                <a:solidFill>
                  <a:srgbClr val="212121"/>
                </a:solidFill>
                <a:latin typeface="Roboto"/>
                <a:ea typeface="Roboto"/>
                <a:cs typeface="Tahoma"/>
              </a:rPr>
              <a:t>Nine Entertainment engaged intelia to improve the management of its growing media archive. Their existing processes relied on manual tagging of video and image assets, with little automation and significant effort to find and retrieve relevant content. They needed a solution to enhance accessibility, streamline discovery, and unlock new opportunities for content creation </a:t>
            </a:r>
            <a:r>
              <a:rPr lang="en-AU" sz="1000" spc="50">
                <a:solidFill>
                  <a:srgbClr val="212121"/>
                </a:solidFill>
                <a:latin typeface="Roboto"/>
                <a:ea typeface="Roboto"/>
                <a:cs typeface="Tahoma"/>
              </a:rPr>
              <a:t>and monetisation</a:t>
            </a:r>
            <a:r>
              <a:rPr lang="en-AU" sz="1000" spc="50" dirty="0">
                <a:solidFill>
                  <a:srgbClr val="212121"/>
                </a:solidFill>
                <a:latin typeface="Roboto"/>
                <a:ea typeface="Roboto"/>
                <a:cs typeface="Tahoma"/>
              </a:rPr>
              <a:t>.</a:t>
            </a:r>
          </a:p>
        </p:txBody>
      </p:sp>
      <p:sp>
        <p:nvSpPr>
          <p:cNvPr id="7" name="object 31">
            <a:extLst>
              <a:ext uri="{FF2B5EF4-FFF2-40B4-BE49-F238E27FC236}">
                <a16:creationId xmlns:a16="http://schemas.microsoft.com/office/drawing/2014/main" id="{E1F2B1FA-3777-7992-D8F1-5CF126606609}"/>
              </a:ext>
            </a:extLst>
          </p:cNvPr>
          <p:cNvSpPr txBox="1"/>
          <p:nvPr/>
        </p:nvSpPr>
        <p:spPr>
          <a:xfrm>
            <a:off x="3288156" y="3746237"/>
            <a:ext cx="3929145" cy="197233"/>
          </a:xfrm>
          <a:prstGeom prst="rect">
            <a:avLst/>
          </a:prstGeom>
        </p:spPr>
        <p:txBody>
          <a:bodyPr vert="horz" wrap="square" lIns="0" tIns="12700" rIns="0" bIns="0" rtlCol="0" anchor="t">
            <a:spAutoFit/>
          </a:bodyPr>
          <a:lstStyle/>
          <a:p>
            <a:pPr marL="12700" marR="5080">
              <a:lnSpc>
                <a:spcPct val="132100"/>
              </a:lnSpc>
              <a:spcBef>
                <a:spcPts val="100"/>
              </a:spcBef>
            </a:pPr>
            <a:r>
              <a:rPr lang="en-AU" sz="1000" spc="50">
                <a:solidFill>
                  <a:srgbClr val="212121"/>
                </a:solidFill>
                <a:latin typeface="Roboto"/>
                <a:ea typeface="Roboto"/>
                <a:cs typeface="Tahoma"/>
              </a:rPr>
              <a:t>.</a:t>
            </a:r>
          </a:p>
        </p:txBody>
      </p:sp>
      <p:sp>
        <p:nvSpPr>
          <p:cNvPr id="12" name="object 31">
            <a:extLst>
              <a:ext uri="{FF2B5EF4-FFF2-40B4-BE49-F238E27FC236}">
                <a16:creationId xmlns:a16="http://schemas.microsoft.com/office/drawing/2014/main" id="{3CE15FFF-3B34-D968-C0A8-184647C0E20A}"/>
              </a:ext>
            </a:extLst>
          </p:cNvPr>
          <p:cNvSpPr txBox="1"/>
          <p:nvPr/>
        </p:nvSpPr>
        <p:spPr>
          <a:xfrm>
            <a:off x="3281037" y="3734420"/>
            <a:ext cx="4206361" cy="1886414"/>
          </a:xfrm>
          <a:prstGeom prst="rect">
            <a:avLst/>
          </a:prstGeom>
        </p:spPr>
        <p:txBody>
          <a:bodyPr vert="horz" wrap="square" lIns="0" tIns="12700" rIns="0" bIns="0" rtlCol="0" anchor="t">
            <a:spAutoFit/>
          </a:bodyPr>
          <a:lstStyle/>
          <a:p>
            <a:pPr marL="12700" marR="5080">
              <a:lnSpc>
                <a:spcPct val="132100"/>
              </a:lnSpc>
              <a:spcBef>
                <a:spcPts val="100"/>
              </a:spcBef>
            </a:pPr>
            <a:r>
              <a:rPr lang="en-AU" sz="1000" spc="50">
                <a:solidFill>
                  <a:srgbClr val="212121"/>
                </a:solidFill>
                <a:latin typeface="Roboto"/>
                <a:ea typeface="Roboto"/>
                <a:cs typeface="Tahoma"/>
              </a:rPr>
              <a:t>intelia solved the problem by taking the following approach:</a:t>
            </a:r>
          </a:p>
          <a:p>
            <a:pPr marL="184150" marR="5080" indent="-171450">
              <a:lnSpc>
                <a:spcPct val="132100"/>
              </a:lnSpc>
              <a:spcBef>
                <a:spcPts val="100"/>
              </a:spcBef>
              <a:buFont typeface="Arial" panose="020B0604020202020204" pitchFamily="34" charset="0"/>
              <a:buChar char="•"/>
            </a:pPr>
            <a:r>
              <a:rPr lang="en-AU" sz="1000" spc="50">
                <a:solidFill>
                  <a:srgbClr val="212121"/>
                </a:solidFill>
                <a:latin typeface="Roboto"/>
                <a:ea typeface="Roboto"/>
                <a:cs typeface="Tahoma"/>
              </a:rPr>
              <a:t>Conducted workshops to align leadership on </a:t>
            </a:r>
            <a:r>
              <a:rPr lang="en-AU" sz="1000" b="1" spc="50">
                <a:solidFill>
                  <a:srgbClr val="212121"/>
                </a:solidFill>
                <a:latin typeface="Roboto"/>
                <a:ea typeface="Roboto"/>
                <a:cs typeface="Tahoma"/>
              </a:rPr>
              <a:t>Generative AI </a:t>
            </a:r>
            <a:r>
              <a:rPr lang="en-AU" sz="1000" spc="50">
                <a:solidFill>
                  <a:srgbClr val="212121"/>
                </a:solidFill>
                <a:latin typeface="Roboto"/>
                <a:ea typeface="Roboto"/>
                <a:cs typeface="Tahoma"/>
              </a:rPr>
              <a:t>(GenAI) &amp; </a:t>
            </a:r>
            <a:r>
              <a:rPr lang="en-AU" sz="1000" b="1" spc="50">
                <a:solidFill>
                  <a:srgbClr val="212121"/>
                </a:solidFill>
                <a:latin typeface="Roboto"/>
                <a:ea typeface="Roboto"/>
                <a:cs typeface="Tahoma"/>
              </a:rPr>
              <a:t>Google Cloud </a:t>
            </a:r>
            <a:r>
              <a:rPr lang="en-AU" sz="1000" spc="50">
                <a:solidFill>
                  <a:srgbClr val="212121"/>
                </a:solidFill>
                <a:latin typeface="Roboto"/>
                <a:ea typeface="Roboto"/>
                <a:cs typeface="Tahoma"/>
              </a:rPr>
              <a:t>capabilities</a:t>
            </a:r>
          </a:p>
          <a:p>
            <a:pPr marL="184150" marR="5080" indent="-171450">
              <a:lnSpc>
                <a:spcPct val="132100"/>
              </a:lnSpc>
              <a:spcBef>
                <a:spcPts val="100"/>
              </a:spcBef>
              <a:buFont typeface="Arial" panose="020B0604020202020204" pitchFamily="34" charset="0"/>
              <a:buChar char="•"/>
            </a:pPr>
            <a:r>
              <a:rPr lang="en-AU" sz="1000" spc="50">
                <a:solidFill>
                  <a:srgbClr val="212121"/>
                </a:solidFill>
                <a:latin typeface="Roboto"/>
                <a:ea typeface="Roboto"/>
                <a:cs typeface="Tahoma"/>
              </a:rPr>
              <a:t>Leveraged </a:t>
            </a:r>
            <a:r>
              <a:rPr lang="en-AU" sz="1000" b="1" spc="50">
                <a:solidFill>
                  <a:srgbClr val="212121"/>
                </a:solidFill>
                <a:latin typeface="Roboto"/>
                <a:ea typeface="Roboto"/>
                <a:cs typeface="Tahoma"/>
              </a:rPr>
              <a:t>Vertex AI, Gemini, </a:t>
            </a:r>
            <a:r>
              <a:rPr lang="en-AU" sz="1000" spc="50">
                <a:solidFill>
                  <a:srgbClr val="212121"/>
                </a:solidFill>
                <a:latin typeface="Roboto"/>
                <a:ea typeface="Roboto"/>
                <a:cs typeface="Tahoma"/>
              </a:rPr>
              <a:t>and </a:t>
            </a:r>
            <a:r>
              <a:rPr lang="en-AU" sz="1000" b="1" spc="50">
                <a:solidFill>
                  <a:srgbClr val="212121"/>
                </a:solidFill>
                <a:latin typeface="Roboto"/>
                <a:ea typeface="Roboto"/>
                <a:cs typeface="Tahoma"/>
              </a:rPr>
              <a:t>Text &amp;</a:t>
            </a:r>
            <a:r>
              <a:rPr lang="en-AU" sz="1000" spc="50">
                <a:solidFill>
                  <a:srgbClr val="212121"/>
                </a:solidFill>
                <a:latin typeface="Roboto"/>
                <a:ea typeface="Roboto"/>
                <a:cs typeface="Tahoma"/>
              </a:rPr>
              <a:t> </a:t>
            </a:r>
            <a:r>
              <a:rPr lang="en-AU" sz="1000" b="1" spc="50">
                <a:solidFill>
                  <a:srgbClr val="212121"/>
                </a:solidFill>
                <a:latin typeface="Roboto"/>
                <a:ea typeface="Roboto"/>
                <a:cs typeface="Tahoma"/>
              </a:rPr>
              <a:t>Multimodal Embeddings </a:t>
            </a:r>
            <a:r>
              <a:rPr lang="en-AU" sz="1000" spc="50">
                <a:solidFill>
                  <a:srgbClr val="212121"/>
                </a:solidFill>
                <a:latin typeface="Roboto"/>
                <a:ea typeface="Roboto"/>
                <a:cs typeface="Tahoma"/>
              </a:rPr>
              <a:t>for content understanding, creation and search</a:t>
            </a:r>
          </a:p>
          <a:p>
            <a:pPr marL="184150" marR="5080" indent="-171450">
              <a:lnSpc>
                <a:spcPct val="132100"/>
              </a:lnSpc>
              <a:spcBef>
                <a:spcPts val="100"/>
              </a:spcBef>
              <a:buFont typeface="Arial" panose="020B0604020202020204" pitchFamily="34" charset="0"/>
              <a:buChar char="•"/>
            </a:pPr>
            <a:r>
              <a:rPr lang="en-AU" sz="1000" spc="50">
                <a:solidFill>
                  <a:srgbClr val="212121"/>
                </a:solidFill>
                <a:latin typeface="Roboto"/>
                <a:ea typeface="Roboto"/>
                <a:cs typeface="Tahoma"/>
              </a:rPr>
              <a:t>Refined prompts for metadata extraction to improve accuracy in identifying celebrities, commercial entities and landmarks</a:t>
            </a:r>
          </a:p>
          <a:p>
            <a:pPr marL="184150" marR="5080" indent="-171450">
              <a:lnSpc>
                <a:spcPct val="132100"/>
              </a:lnSpc>
              <a:spcBef>
                <a:spcPts val="100"/>
              </a:spcBef>
              <a:buFont typeface="Arial" panose="020B0604020202020204" pitchFamily="34" charset="0"/>
              <a:buChar char="•"/>
            </a:pPr>
            <a:r>
              <a:rPr lang="en-AU" sz="1000" spc="50">
                <a:solidFill>
                  <a:srgbClr val="212121"/>
                </a:solidFill>
                <a:latin typeface="Roboto"/>
                <a:ea typeface="Roboto"/>
                <a:cs typeface="Tahoma"/>
              </a:rPr>
              <a:t>Developed a cost-saving solution for reviewing hour-long videos </a:t>
            </a:r>
          </a:p>
          <a:p>
            <a:pPr marL="184150" marR="5080" indent="-171450">
              <a:lnSpc>
                <a:spcPct val="132100"/>
              </a:lnSpc>
              <a:spcBef>
                <a:spcPts val="100"/>
              </a:spcBef>
              <a:buFont typeface="Arial" panose="020B0604020202020204" pitchFamily="34" charset="0"/>
              <a:buChar char="•"/>
            </a:pPr>
            <a:r>
              <a:rPr lang="en-AU" sz="1000" spc="50">
                <a:solidFill>
                  <a:srgbClr val="212121"/>
                </a:solidFill>
                <a:latin typeface="Roboto"/>
                <a:ea typeface="Roboto"/>
                <a:cs typeface="Tahoma"/>
              </a:rPr>
              <a:t>Collaborated with Google to unblock Nine’s sensitive content</a:t>
            </a:r>
          </a:p>
        </p:txBody>
      </p:sp>
    </p:spTree>
    <p:extLst>
      <p:ext uri="{BB962C8B-B14F-4D97-AF65-F5344CB8AC3E}">
        <p14:creationId xmlns:p14="http://schemas.microsoft.com/office/powerpoint/2010/main" val="405822744"/>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134bf45-6637-4d46-9e0b-ea5dfe480f7b">
      <Terms xmlns="http://schemas.microsoft.com/office/infopath/2007/PartnerControls"/>
    </lcf76f155ced4ddcb4097134ff3c332f>
    <TaxCatchAll xmlns="906d9bb4-c53b-48ce-ad74-2ebc50fbcd8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A28F1C7168B774DBA0D947BAC95ADD1" ma:contentTypeVersion="12" ma:contentTypeDescription="Create a new document." ma:contentTypeScope="" ma:versionID="ab68f2c833e09aa7e176d4542494896f">
  <xsd:schema xmlns:xsd="http://www.w3.org/2001/XMLSchema" xmlns:xs="http://www.w3.org/2001/XMLSchema" xmlns:p="http://schemas.microsoft.com/office/2006/metadata/properties" xmlns:ns2="b134bf45-6637-4d46-9e0b-ea5dfe480f7b" xmlns:ns3="906d9bb4-c53b-48ce-ad74-2ebc50fbcd89" targetNamespace="http://schemas.microsoft.com/office/2006/metadata/properties" ma:root="true" ma:fieldsID="12b19f84125535d4bd20ca612ab127f9" ns2:_="" ns3:_="">
    <xsd:import namespace="b134bf45-6637-4d46-9e0b-ea5dfe480f7b"/>
    <xsd:import namespace="906d9bb4-c53b-48ce-ad74-2ebc50fbcd8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ObjectDetectorVersion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134bf45-6637-4d46-9e0b-ea5dfe480f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lcf76f155ced4ddcb4097134ff3c332f" ma:index="14" nillable="true" ma:taxonomy="true" ma:internalName="lcf76f155ced4ddcb4097134ff3c332f" ma:taxonomyFieldName="MediaServiceImageTags" ma:displayName="Image Tags" ma:readOnly="false" ma:fieldId="{5cf76f15-5ced-4ddc-b409-7134ff3c332f}" ma:taxonomyMulti="true" ma:sspId="97d36a7d-b0e2-49af-8978-949f6811527e" ma:termSetId="09814cd3-568e-fe90-9814-8d621ff8fb84" ma:anchorId="fba54fb3-c3e1-fe81-a776-ca4b69148c4d" ma:open="true" ma:isKeyword="false">
      <xsd:complexType>
        <xsd:sequence>
          <xsd:element ref="pc:Terms" minOccurs="0" maxOccurs="1"/>
        </xsd:sequence>
      </xsd:complex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ServiceSearchProperties" ma:index="1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06d9bb4-c53b-48ce-ad74-2ebc50fbcd8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5" nillable="true" ma:displayName="Taxonomy Catch All Column" ma:hidden="true" ma:list="{95f110a1-b8bf-4206-8128-bb6383551f4c}" ma:internalName="TaxCatchAll" ma:showField="CatchAllData" ma:web="906d9bb4-c53b-48ce-ad74-2ebc50fbcd8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CF5D41E-5647-4C4C-ABC5-212DCEBFF334}">
  <ds:schemaRefs>
    <ds:schemaRef ds:uri="http://schemas.microsoft.com/sharepoint/v3/contenttype/forms"/>
  </ds:schemaRefs>
</ds:datastoreItem>
</file>

<file path=customXml/itemProps2.xml><?xml version="1.0" encoding="utf-8"?>
<ds:datastoreItem xmlns:ds="http://schemas.openxmlformats.org/officeDocument/2006/customXml" ds:itemID="{8BD62E0D-C58F-4CEE-99A2-97ED1A8D755E}">
  <ds:schemaRefs>
    <ds:schemaRef ds:uri="http://schemas.microsoft.com/office/2006/documentManagement/types"/>
    <ds:schemaRef ds:uri="http://schemas.openxmlformats.org/package/2006/metadata/core-properties"/>
    <ds:schemaRef ds:uri="http://schemas.microsoft.com/office/2006/metadata/properties"/>
    <ds:schemaRef ds:uri="http://schemas.microsoft.com/office/infopath/2007/PartnerControls"/>
    <ds:schemaRef ds:uri="http://purl.org/dc/terms/"/>
    <ds:schemaRef ds:uri="http://www.w3.org/XML/1998/namespace"/>
    <ds:schemaRef ds:uri="http://purl.org/dc/elements/1.1/"/>
    <ds:schemaRef ds:uri="http://purl.org/dc/dcmitype/"/>
    <ds:schemaRef ds:uri="906d9bb4-c53b-48ce-ad74-2ebc50fbcd89"/>
    <ds:schemaRef ds:uri="b134bf45-6637-4d46-9e0b-ea5dfe480f7b"/>
  </ds:schemaRefs>
</ds:datastoreItem>
</file>

<file path=customXml/itemProps3.xml><?xml version="1.0" encoding="utf-8"?>
<ds:datastoreItem xmlns:ds="http://schemas.openxmlformats.org/officeDocument/2006/customXml" ds:itemID="{13FA6304-9B42-4D9C-8DF2-5CF085578F86}">
  <ds:schemaRefs>
    <ds:schemaRef ds:uri="906d9bb4-c53b-48ce-ad74-2ebc50fbcd89"/>
    <ds:schemaRef ds:uri="b134bf45-6637-4d46-9e0b-ea5dfe480f7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otalTime>1</TotalTime>
  <Words>453</Words>
  <Application>Microsoft Office PowerPoint</Application>
  <PresentationFormat>Widescreen</PresentationFormat>
  <Paragraphs>36</Paragraphs>
  <Slides>1</Slides>
  <Notes>0</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Darcy Roach</dc:creator>
  <cp:lastModifiedBy>Sara Boguszewicz</cp:lastModifiedBy>
  <cp:revision>4</cp:revision>
  <dcterms:created xsi:type="dcterms:W3CDTF">2023-09-07T03:51:20Z</dcterms:created>
  <dcterms:modified xsi:type="dcterms:W3CDTF">2025-03-12T01:16:07Z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0x010100EA28F1C7168B774DBA0D947BAC95ADD1</vt:lpwstr>
  </property>
  <property fmtid="{D5CDD505-2E9C-101B-9397-08002B2CF9AE}" pid="3" name="MediaServiceImageTags">
    <vt:lpwstr/>
  </property>
</Properties>
</file>