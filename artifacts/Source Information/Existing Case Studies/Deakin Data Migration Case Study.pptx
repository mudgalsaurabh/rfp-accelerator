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08" d="100"/>
          <a:sy n="108" d="100"/>
        </p:scale>
        <p:origin x="51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B1D4446B-F2D2-487F-AB78-49A0A2F4AD85}"/>
    <pc:docChg chg="modSld">
      <pc:chgData name="Darcy Roach" userId="ba676ee9-e9b4-49e8-a515-8077106c948d" providerId="ADAL" clId="{B1D4446B-F2D2-487F-AB78-49A0A2F4AD85}" dt="2024-12-09T04:18:55.009" v="36" actId="1035"/>
      <pc:docMkLst>
        <pc:docMk/>
      </pc:docMkLst>
      <pc:sldChg chg="modSp mod">
        <pc:chgData name="Darcy Roach" userId="ba676ee9-e9b4-49e8-a515-8077106c948d" providerId="ADAL" clId="{B1D4446B-F2D2-487F-AB78-49A0A2F4AD85}" dt="2024-12-09T04:18:55.009" v="36" actId="1035"/>
        <pc:sldMkLst>
          <pc:docMk/>
          <pc:sldMk cId="1836725786" sldId="257"/>
        </pc:sldMkLst>
        <pc:spChg chg="mod">
          <ac:chgData name="Darcy Roach" userId="ba676ee9-e9b4-49e8-a515-8077106c948d" providerId="ADAL" clId="{B1D4446B-F2D2-487F-AB78-49A0A2F4AD85}" dt="2024-12-09T04:18:55.009" v="36" actId="1035"/>
          <ac:spMkLst>
            <pc:docMk/>
            <pc:sldMk cId="1836725786" sldId="257"/>
            <ac:spMk id="22" creationId="{E338DC0E-B0F1-63C8-F4A1-7A91E83C02F5}"/>
          </ac:spMkLst>
        </pc:spChg>
        <pc:spChg chg="mod">
          <ac:chgData name="Darcy Roach" userId="ba676ee9-e9b4-49e8-a515-8077106c948d" providerId="ADAL" clId="{B1D4446B-F2D2-487F-AB78-49A0A2F4AD85}" dt="2024-12-09T04:18:55.009" v="36" actId="1035"/>
          <ac:spMkLst>
            <pc:docMk/>
            <pc:sldMk cId="1836725786" sldId="257"/>
            <ac:spMk id="25" creationId="{EA7C1E8D-2B3C-F2D1-E212-1AF5BADCD60C}"/>
          </ac:spMkLst>
        </pc:spChg>
        <pc:picChg chg="mod">
          <ac:chgData name="Darcy Roach" userId="ba676ee9-e9b4-49e8-a515-8077106c948d" providerId="ADAL" clId="{B1D4446B-F2D2-487F-AB78-49A0A2F4AD85}" dt="2024-12-09T04:18:55.009" v="36" actId="1035"/>
          <ac:picMkLst>
            <pc:docMk/>
            <pc:sldMk cId="1836725786" sldId="257"/>
            <ac:picMk id="4" creationId="{CFD5F414-07E6-0303-6772-0700DF78D346}"/>
          </ac:picMkLst>
        </pc:picChg>
      </pc:sldChg>
    </pc:docChg>
  </pc:docChgLst>
  <pc:docChgLst>
    <pc:chgData name="John Petridis" userId="S::john.petridis@intelia.com.au::949713b9-10c0-4e71-8435-a260976fba35" providerId="AD" clId="Web-{4BD9793B-AE5E-277D-D9DA-FDC5AFB878C0}"/>
    <pc:docChg chg="modSld">
      <pc:chgData name="John Petridis" userId="S::john.petridis@intelia.com.au::949713b9-10c0-4e71-8435-a260976fba35" providerId="AD" clId="Web-{4BD9793B-AE5E-277D-D9DA-FDC5AFB878C0}" dt="2024-07-23T04:20:17.339" v="108" actId="20577"/>
      <pc:docMkLst>
        <pc:docMk/>
      </pc:docMkLst>
      <pc:sldChg chg="modSp">
        <pc:chgData name="John Petridis" userId="S::john.petridis@intelia.com.au::949713b9-10c0-4e71-8435-a260976fba35" providerId="AD" clId="Web-{4BD9793B-AE5E-277D-D9DA-FDC5AFB878C0}" dt="2024-07-23T04:20:17.339" v="108" actId="20577"/>
        <pc:sldMkLst>
          <pc:docMk/>
          <pc:sldMk cId="1836725786" sldId="257"/>
        </pc:sldMkLst>
        <pc:spChg chg="mod">
          <ac:chgData name="John Petridis" userId="S::john.petridis@intelia.com.au::949713b9-10c0-4e71-8435-a260976fba35" providerId="AD" clId="Web-{4BD9793B-AE5E-277D-D9DA-FDC5AFB878C0}" dt="2024-07-23T04:20:17.339" v="108" actId="20577"/>
          <ac:spMkLst>
            <pc:docMk/>
            <pc:sldMk cId="1836725786" sldId="257"/>
            <ac:spMk id="39" creationId="{B0A14E16-6211-D3B5-C236-8D6E6A379CB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E8FF6-17C8-417C-8287-CA27A1BF4F8F}" type="datetimeFigureOut">
              <a:rPr lang="en-AU" smtClean="0"/>
              <a:t>9/12/2024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56563-11AB-4020-BB42-C67E58AA822B}" type="slidenum">
              <a:rPr lang="en-AU" smtClean="0"/>
              <a:t>‹#›</a:t>
            </a:fld>
            <a:endParaRPr lang="en-AU"/>
          </a:p>
        </p:txBody>
      </p:sp>
    </p:spTree>
    <p:extLst>
      <p:ext uri="{BB962C8B-B14F-4D97-AF65-F5344CB8AC3E}">
        <p14:creationId xmlns:p14="http://schemas.microsoft.com/office/powerpoint/2010/main" val="2459639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E5774E-369C-4248-9E14-0810446CC3A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0817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B8C7-C31B-EA93-C25A-D05D59DA85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7764816-39A8-B8D9-8702-E66CD7488B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8B9A866-5501-8BEE-4686-7B98EEBDE785}"/>
              </a:ext>
            </a:extLst>
          </p:cNvPr>
          <p:cNvSpPr>
            <a:spLocks noGrp="1"/>
          </p:cNvSpPr>
          <p:nvPr>
            <p:ph type="dt" sz="half" idx="10"/>
          </p:nvPr>
        </p:nvSpPr>
        <p:spPr/>
        <p:txBody>
          <a:bodyPr/>
          <a:lstStyle/>
          <a:p>
            <a:fld id="{23B745D6-BD15-46F4-8F61-5B76DC6813A2}" type="datetimeFigureOut">
              <a:rPr lang="en-AU" smtClean="0"/>
              <a:t>9/12/2024</a:t>
            </a:fld>
            <a:endParaRPr lang="en-AU"/>
          </a:p>
        </p:txBody>
      </p:sp>
      <p:sp>
        <p:nvSpPr>
          <p:cNvPr id="5" name="Footer Placeholder 4">
            <a:extLst>
              <a:ext uri="{FF2B5EF4-FFF2-40B4-BE49-F238E27FC236}">
                <a16:creationId xmlns:a16="http://schemas.microsoft.com/office/drawing/2014/main" id="{E16724CB-0C18-F1D2-363B-7B28B575C9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DD70DE3-8418-4D97-6BC6-AE135200418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923852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491A-5D76-336C-9759-9938EB44B84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759AE5-2FC2-F159-F5BE-8153714890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51EAAD9-3D44-AF7E-7A7F-F9CD4159D95F}"/>
              </a:ext>
            </a:extLst>
          </p:cNvPr>
          <p:cNvSpPr>
            <a:spLocks noGrp="1"/>
          </p:cNvSpPr>
          <p:nvPr>
            <p:ph type="dt" sz="half" idx="10"/>
          </p:nvPr>
        </p:nvSpPr>
        <p:spPr/>
        <p:txBody>
          <a:bodyPr/>
          <a:lstStyle/>
          <a:p>
            <a:fld id="{23B745D6-BD15-46F4-8F61-5B76DC6813A2}" type="datetimeFigureOut">
              <a:rPr lang="en-AU" smtClean="0"/>
              <a:t>9/12/2024</a:t>
            </a:fld>
            <a:endParaRPr lang="en-AU"/>
          </a:p>
        </p:txBody>
      </p:sp>
      <p:sp>
        <p:nvSpPr>
          <p:cNvPr id="5" name="Footer Placeholder 4">
            <a:extLst>
              <a:ext uri="{FF2B5EF4-FFF2-40B4-BE49-F238E27FC236}">
                <a16:creationId xmlns:a16="http://schemas.microsoft.com/office/drawing/2014/main" id="{537259BA-2DDC-453B-3CFA-FBC059A9936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4434620-F20B-9C76-A750-8839942E0AA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367528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0102-CBF0-D843-369D-B5B0888AD1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4873907-1245-B3E1-B551-4544EF3DB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BEF4-E1D4-2AD0-5F9F-BA93B5DF32DC}"/>
              </a:ext>
            </a:extLst>
          </p:cNvPr>
          <p:cNvSpPr>
            <a:spLocks noGrp="1"/>
          </p:cNvSpPr>
          <p:nvPr>
            <p:ph type="dt" sz="half" idx="10"/>
          </p:nvPr>
        </p:nvSpPr>
        <p:spPr/>
        <p:txBody>
          <a:bodyPr/>
          <a:lstStyle/>
          <a:p>
            <a:fld id="{23B745D6-BD15-46F4-8F61-5B76DC6813A2}" type="datetimeFigureOut">
              <a:rPr lang="en-AU" smtClean="0"/>
              <a:t>9/12/2024</a:t>
            </a:fld>
            <a:endParaRPr lang="en-AU"/>
          </a:p>
        </p:txBody>
      </p:sp>
      <p:sp>
        <p:nvSpPr>
          <p:cNvPr id="5" name="Footer Placeholder 4">
            <a:extLst>
              <a:ext uri="{FF2B5EF4-FFF2-40B4-BE49-F238E27FC236}">
                <a16:creationId xmlns:a16="http://schemas.microsoft.com/office/drawing/2014/main" id="{17E2E788-017F-6F13-54DD-1E52E1AE08E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E7DEF14-4604-513B-A851-69578D66C23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923786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406C-0E11-A439-6365-CA35F62757B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0254C9C-351D-2880-FACD-D6F50600EE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89A863F-F3E1-1117-CDC1-2D16E76C65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A6BA5F7-508C-204F-3300-40F111799652}"/>
              </a:ext>
            </a:extLst>
          </p:cNvPr>
          <p:cNvSpPr>
            <a:spLocks noGrp="1"/>
          </p:cNvSpPr>
          <p:nvPr>
            <p:ph type="dt" sz="half" idx="10"/>
          </p:nvPr>
        </p:nvSpPr>
        <p:spPr/>
        <p:txBody>
          <a:bodyPr/>
          <a:lstStyle/>
          <a:p>
            <a:fld id="{23B745D6-BD15-46F4-8F61-5B76DC6813A2}" type="datetimeFigureOut">
              <a:rPr lang="en-AU" smtClean="0"/>
              <a:t>9/12/2024</a:t>
            </a:fld>
            <a:endParaRPr lang="en-AU"/>
          </a:p>
        </p:txBody>
      </p:sp>
      <p:sp>
        <p:nvSpPr>
          <p:cNvPr id="6" name="Footer Placeholder 5">
            <a:extLst>
              <a:ext uri="{FF2B5EF4-FFF2-40B4-BE49-F238E27FC236}">
                <a16:creationId xmlns:a16="http://schemas.microsoft.com/office/drawing/2014/main" id="{630523C9-553E-3DA4-B45A-3127E7F2525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3305383-37DA-C93A-D22A-BBCB1FFDCACF}"/>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824843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F650-1A3A-FB0D-6B99-51A9CEB651D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4CE073-89B8-917C-7986-01451B9C45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6DAE6D-9EB9-D9FF-04FC-4CAF5F0C1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210CC00-36C5-7482-E885-2DC8197CE0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EEFCE-B2E5-064D-2E85-A5A7C357F0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E3BC028-8045-73F5-14E5-D2549F1C87EB}"/>
              </a:ext>
            </a:extLst>
          </p:cNvPr>
          <p:cNvSpPr>
            <a:spLocks noGrp="1"/>
          </p:cNvSpPr>
          <p:nvPr>
            <p:ph type="dt" sz="half" idx="10"/>
          </p:nvPr>
        </p:nvSpPr>
        <p:spPr/>
        <p:txBody>
          <a:bodyPr/>
          <a:lstStyle/>
          <a:p>
            <a:fld id="{23B745D6-BD15-46F4-8F61-5B76DC6813A2}" type="datetimeFigureOut">
              <a:rPr lang="en-AU" smtClean="0"/>
              <a:t>9/12/2024</a:t>
            </a:fld>
            <a:endParaRPr lang="en-AU"/>
          </a:p>
        </p:txBody>
      </p:sp>
      <p:sp>
        <p:nvSpPr>
          <p:cNvPr id="8" name="Footer Placeholder 7">
            <a:extLst>
              <a:ext uri="{FF2B5EF4-FFF2-40B4-BE49-F238E27FC236}">
                <a16:creationId xmlns:a16="http://schemas.microsoft.com/office/drawing/2014/main" id="{306C4AB4-3BE0-AB67-0718-D1A68AB2776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C97BBBE-7B81-A400-ACE5-ECD2477E891A}"/>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1985717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1856-B1CF-90EA-B782-4811DB7B17B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3EBF581-0D70-407B-53B9-8153E2EAAB3F}"/>
              </a:ext>
            </a:extLst>
          </p:cNvPr>
          <p:cNvSpPr>
            <a:spLocks noGrp="1"/>
          </p:cNvSpPr>
          <p:nvPr>
            <p:ph type="dt" sz="half" idx="10"/>
          </p:nvPr>
        </p:nvSpPr>
        <p:spPr/>
        <p:txBody>
          <a:bodyPr/>
          <a:lstStyle/>
          <a:p>
            <a:fld id="{23B745D6-BD15-46F4-8F61-5B76DC6813A2}" type="datetimeFigureOut">
              <a:rPr lang="en-AU" smtClean="0"/>
              <a:t>9/12/2024</a:t>
            </a:fld>
            <a:endParaRPr lang="en-AU"/>
          </a:p>
        </p:txBody>
      </p:sp>
      <p:sp>
        <p:nvSpPr>
          <p:cNvPr id="4" name="Footer Placeholder 3">
            <a:extLst>
              <a:ext uri="{FF2B5EF4-FFF2-40B4-BE49-F238E27FC236}">
                <a16:creationId xmlns:a16="http://schemas.microsoft.com/office/drawing/2014/main" id="{FB1548F0-5D0F-2C95-5915-1C244C9BD25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D8EDBD-8AEB-1CF8-3458-C8C26CFACF6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914031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72DFA-CF95-6F45-0C81-C76BB33B15AA}"/>
              </a:ext>
            </a:extLst>
          </p:cNvPr>
          <p:cNvSpPr>
            <a:spLocks noGrp="1"/>
          </p:cNvSpPr>
          <p:nvPr>
            <p:ph type="dt" sz="half" idx="10"/>
          </p:nvPr>
        </p:nvSpPr>
        <p:spPr/>
        <p:txBody>
          <a:bodyPr/>
          <a:lstStyle/>
          <a:p>
            <a:fld id="{23B745D6-BD15-46F4-8F61-5B76DC6813A2}" type="datetimeFigureOut">
              <a:rPr lang="en-AU" smtClean="0"/>
              <a:t>9/12/2024</a:t>
            </a:fld>
            <a:endParaRPr lang="en-AU"/>
          </a:p>
        </p:txBody>
      </p:sp>
      <p:sp>
        <p:nvSpPr>
          <p:cNvPr id="3" name="Footer Placeholder 2">
            <a:extLst>
              <a:ext uri="{FF2B5EF4-FFF2-40B4-BE49-F238E27FC236}">
                <a16:creationId xmlns:a16="http://schemas.microsoft.com/office/drawing/2014/main" id="{3A41ABBF-E37B-A334-896D-AC3D737A37C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369ADC4-277E-6936-D0F0-CDAE8CF7D316}"/>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266849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AF14-DB75-0CB2-9679-44B3312C9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6B5469A-D73A-848D-FA3B-2DEF825D34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242080A-A7A1-ED5A-0786-848EB52C3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C2B081-067F-4EB4-48C8-898D12FE3A95}"/>
              </a:ext>
            </a:extLst>
          </p:cNvPr>
          <p:cNvSpPr>
            <a:spLocks noGrp="1"/>
          </p:cNvSpPr>
          <p:nvPr>
            <p:ph type="dt" sz="half" idx="10"/>
          </p:nvPr>
        </p:nvSpPr>
        <p:spPr/>
        <p:txBody>
          <a:bodyPr/>
          <a:lstStyle/>
          <a:p>
            <a:fld id="{23B745D6-BD15-46F4-8F61-5B76DC6813A2}" type="datetimeFigureOut">
              <a:rPr lang="en-AU" smtClean="0"/>
              <a:t>9/12/2024</a:t>
            </a:fld>
            <a:endParaRPr lang="en-AU"/>
          </a:p>
        </p:txBody>
      </p:sp>
      <p:sp>
        <p:nvSpPr>
          <p:cNvPr id="6" name="Footer Placeholder 5">
            <a:extLst>
              <a:ext uri="{FF2B5EF4-FFF2-40B4-BE49-F238E27FC236}">
                <a16:creationId xmlns:a16="http://schemas.microsoft.com/office/drawing/2014/main" id="{B1B9DB5D-2FD5-66A6-DA58-25747D4D2D3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F9C774-F79D-24D1-9ABF-603E3B30FE0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196954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A743-6A46-0AAF-B7C5-6E2B0E87A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92989FF-5850-18D2-AB3F-9056C5685B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D651E8F-FF7C-6985-295D-EC7E4994E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957EB6-FA17-1918-DA46-2FC41FD76FFF}"/>
              </a:ext>
            </a:extLst>
          </p:cNvPr>
          <p:cNvSpPr>
            <a:spLocks noGrp="1"/>
          </p:cNvSpPr>
          <p:nvPr>
            <p:ph type="dt" sz="half" idx="10"/>
          </p:nvPr>
        </p:nvSpPr>
        <p:spPr/>
        <p:txBody>
          <a:bodyPr/>
          <a:lstStyle/>
          <a:p>
            <a:fld id="{23B745D6-BD15-46F4-8F61-5B76DC6813A2}" type="datetimeFigureOut">
              <a:rPr lang="en-AU" smtClean="0"/>
              <a:t>9/12/2024</a:t>
            </a:fld>
            <a:endParaRPr lang="en-AU"/>
          </a:p>
        </p:txBody>
      </p:sp>
      <p:sp>
        <p:nvSpPr>
          <p:cNvPr id="6" name="Footer Placeholder 5">
            <a:extLst>
              <a:ext uri="{FF2B5EF4-FFF2-40B4-BE49-F238E27FC236}">
                <a16:creationId xmlns:a16="http://schemas.microsoft.com/office/drawing/2014/main" id="{EC0294D8-4894-D6A0-6131-FB93D61CE7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6483919-BFA3-F826-E6F5-F4FC68AAEC52}"/>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4023894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44B3D-2126-5F91-B55A-F61DEED799C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B7CF0A9-CCF6-C245-D658-4B0F5460C2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3559A2-FC84-8761-C9A3-3833C32C7D1F}"/>
              </a:ext>
            </a:extLst>
          </p:cNvPr>
          <p:cNvSpPr>
            <a:spLocks noGrp="1"/>
          </p:cNvSpPr>
          <p:nvPr>
            <p:ph type="dt" sz="half" idx="10"/>
          </p:nvPr>
        </p:nvSpPr>
        <p:spPr/>
        <p:txBody>
          <a:bodyPr/>
          <a:lstStyle/>
          <a:p>
            <a:fld id="{23B745D6-BD15-46F4-8F61-5B76DC6813A2}" type="datetimeFigureOut">
              <a:rPr lang="en-AU" smtClean="0"/>
              <a:t>9/12/2024</a:t>
            </a:fld>
            <a:endParaRPr lang="en-AU"/>
          </a:p>
        </p:txBody>
      </p:sp>
      <p:sp>
        <p:nvSpPr>
          <p:cNvPr id="5" name="Footer Placeholder 4">
            <a:extLst>
              <a:ext uri="{FF2B5EF4-FFF2-40B4-BE49-F238E27FC236}">
                <a16:creationId xmlns:a16="http://schemas.microsoft.com/office/drawing/2014/main" id="{4FF58D60-1729-7ACF-29F0-6F9117990F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5C1282-B0FE-9DB9-1046-41680730E62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270974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85CCD-0CA2-FC23-9DEF-60C27B2C9E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DA3091C-AD3B-5C92-2C49-AC2E4C693B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558B523-BA5B-0AA6-7EDA-BE283BE9C512}"/>
              </a:ext>
            </a:extLst>
          </p:cNvPr>
          <p:cNvSpPr>
            <a:spLocks noGrp="1"/>
          </p:cNvSpPr>
          <p:nvPr>
            <p:ph type="dt" sz="half" idx="10"/>
          </p:nvPr>
        </p:nvSpPr>
        <p:spPr/>
        <p:txBody>
          <a:bodyPr/>
          <a:lstStyle/>
          <a:p>
            <a:fld id="{23B745D6-BD15-46F4-8F61-5B76DC6813A2}" type="datetimeFigureOut">
              <a:rPr lang="en-AU" smtClean="0"/>
              <a:t>9/12/2024</a:t>
            </a:fld>
            <a:endParaRPr lang="en-AU"/>
          </a:p>
        </p:txBody>
      </p:sp>
      <p:sp>
        <p:nvSpPr>
          <p:cNvPr id="5" name="Footer Placeholder 4">
            <a:extLst>
              <a:ext uri="{FF2B5EF4-FFF2-40B4-BE49-F238E27FC236}">
                <a16:creationId xmlns:a16="http://schemas.microsoft.com/office/drawing/2014/main" id="{F1A9D627-0CF5-2E8B-2FAC-86772E4D031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8003FB6-991A-6E88-18E5-9F5DD0418AFB}"/>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679916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0188D05B-C9B1-9F8E-E8F8-58E8F8AA3A0E}"/>
              </a:ext>
            </a:extLst>
          </p:cNvPr>
          <p:cNvPicPr>
            <a:picLocks noChangeAspect="1"/>
          </p:cNvPicPr>
          <p:nvPr userDrawn="1"/>
        </p:nvPicPr>
        <p:blipFill>
          <a:blip r:embed="rId13">
            <a:alphaModFix amt="70000"/>
          </a:blip>
          <a:srcRect t="20571" r="13865" b="6706"/>
          <a:stretch>
            <a:fillRect/>
          </a:stretch>
        </p:blipFill>
        <p:spPr>
          <a:xfrm>
            <a:off x="0" y="893"/>
            <a:ext cx="12192000" cy="6856214"/>
          </a:xfrm>
          <a:prstGeom prst="rect">
            <a:avLst/>
          </a:prstGeom>
        </p:spPr>
      </p:pic>
      <p:sp>
        <p:nvSpPr>
          <p:cNvPr id="2" name="Title Placeholder 1">
            <a:extLst>
              <a:ext uri="{FF2B5EF4-FFF2-40B4-BE49-F238E27FC236}">
                <a16:creationId xmlns:a16="http://schemas.microsoft.com/office/drawing/2014/main" id="{A214F7C2-ACAC-9218-ADFF-A96CC3ECA3C8}"/>
              </a:ext>
            </a:extLst>
          </p:cNvPr>
          <p:cNvSpPr>
            <a:spLocks noGrp="1"/>
          </p:cNvSpPr>
          <p:nvPr>
            <p:ph type="title"/>
          </p:nvPr>
        </p:nvSpPr>
        <p:spPr>
          <a:xfrm>
            <a:off x="838200" y="365125"/>
            <a:ext cx="10515600" cy="883647"/>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04291D6-18A1-75A2-0433-A613EEEDB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3DB3AEE-24A0-9046-27B2-6B77D57DAB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745D6-BD15-46F4-8F61-5B76DC6813A2}" type="datetimeFigureOut">
              <a:rPr lang="en-AU" smtClean="0"/>
              <a:t>9/12/2024</a:t>
            </a:fld>
            <a:endParaRPr lang="en-AU"/>
          </a:p>
        </p:txBody>
      </p:sp>
      <p:sp>
        <p:nvSpPr>
          <p:cNvPr id="5" name="Footer Placeholder 4">
            <a:extLst>
              <a:ext uri="{FF2B5EF4-FFF2-40B4-BE49-F238E27FC236}">
                <a16:creationId xmlns:a16="http://schemas.microsoft.com/office/drawing/2014/main" id="{AF4FADA7-7278-A9BE-3200-452300DDD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CD4787B9-44F7-ABCA-9067-AA1D31CD22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56EAF8-6659-4771-8BB2-799448F6FC8E}" type="slidenum">
              <a:rPr lang="en-AU" smtClean="0"/>
              <a:t>‹#›</a:t>
            </a:fld>
            <a:endParaRPr lang="en-AU"/>
          </a:p>
        </p:txBody>
      </p:sp>
      <p:pic>
        <p:nvPicPr>
          <p:cNvPr id="7" name="bg object 21">
            <a:extLst>
              <a:ext uri="{FF2B5EF4-FFF2-40B4-BE49-F238E27FC236}">
                <a16:creationId xmlns:a16="http://schemas.microsoft.com/office/drawing/2014/main" id="{93A3F3C9-669E-C711-876F-3DBFCBD16E8C}"/>
              </a:ext>
            </a:extLst>
          </p:cNvPr>
          <p:cNvPicPr/>
          <p:nvPr userDrawn="1"/>
        </p:nvPicPr>
        <p:blipFill>
          <a:blip r:embed="rId14" cstate="print"/>
          <a:stretch>
            <a:fillRect/>
          </a:stretch>
        </p:blipFill>
        <p:spPr>
          <a:xfrm>
            <a:off x="-1" y="-4682"/>
            <a:ext cx="12191999" cy="1338183"/>
          </a:xfrm>
          <a:prstGeom prst="rect">
            <a:avLst/>
          </a:prstGeom>
        </p:spPr>
      </p:pic>
      <p:pic>
        <p:nvPicPr>
          <p:cNvPr id="8" name="Picture 7">
            <a:extLst>
              <a:ext uri="{FF2B5EF4-FFF2-40B4-BE49-F238E27FC236}">
                <a16:creationId xmlns:a16="http://schemas.microsoft.com/office/drawing/2014/main" id="{A68CFD8C-1D1A-A751-3387-EEECA19420BD}"/>
              </a:ext>
            </a:extLst>
          </p:cNvPr>
          <p:cNvPicPr>
            <a:picLocks noChangeAspect="1"/>
          </p:cNvPicPr>
          <p:nvPr userDrawn="1"/>
        </p:nvPicPr>
        <p:blipFill rotWithShape="1">
          <a:blip r:embed="rId15"/>
          <a:srcRect l="4899"/>
          <a:stretch/>
        </p:blipFill>
        <p:spPr>
          <a:xfrm>
            <a:off x="0" y="-4681"/>
            <a:ext cx="12192000" cy="1338182"/>
          </a:xfrm>
          <a:prstGeom prst="rect">
            <a:avLst/>
          </a:prstGeom>
        </p:spPr>
      </p:pic>
    </p:spTree>
    <p:extLst>
      <p:ext uri="{BB962C8B-B14F-4D97-AF65-F5344CB8AC3E}">
        <p14:creationId xmlns:p14="http://schemas.microsoft.com/office/powerpoint/2010/main" val="34443415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FF06217B-3145-6D21-94AC-E634370CF8FF}"/>
              </a:ext>
            </a:extLst>
          </p:cNvPr>
          <p:cNvGrpSpPr/>
          <p:nvPr/>
        </p:nvGrpSpPr>
        <p:grpSpPr>
          <a:xfrm>
            <a:off x="2886429" y="5735572"/>
            <a:ext cx="4479367" cy="1046476"/>
            <a:chOff x="91266" y="8196071"/>
            <a:chExt cx="2498725" cy="2218184"/>
          </a:xfrm>
        </p:grpSpPr>
        <p:sp>
          <p:nvSpPr>
            <p:cNvPr id="48" name="object 41">
              <a:extLst>
                <a:ext uri="{FF2B5EF4-FFF2-40B4-BE49-F238E27FC236}">
                  <a16:creationId xmlns:a16="http://schemas.microsoft.com/office/drawing/2014/main" id="{CB9CDF36-C1E7-9DC5-C072-8FE9940570F8}"/>
                </a:ext>
              </a:extLst>
            </p:cNvPr>
            <p:cNvSpPr txBox="1"/>
            <p:nvPr/>
          </p:nvSpPr>
          <p:spPr>
            <a:xfrm>
              <a:off x="684499" y="9764746"/>
              <a:ext cx="1362513" cy="320755"/>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900" b="0" i="0" u="none" strike="noStrike" kern="1200" cap="none" spc="35"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rPr>
                <a:t>- Deakin University </a:t>
              </a:r>
              <a:r>
                <a:rPr kumimoji="0" sz="900" b="0" i="0" u="none" strike="noStrike" kern="1200" cap="none" spc="35"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rPr>
                <a:t>P</a:t>
              </a:r>
              <a:r>
                <a:rPr kumimoji="0" lang="en-US" sz="900" b="0" i="0" u="none" strike="noStrike" kern="1200" cap="none" spc="35"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rPr>
                <a:t>rogram Manager</a:t>
              </a:r>
              <a:endParaRPr kumimoji="0" sz="900" b="0" i="0" u="none" strike="noStrike" kern="1200" cap="none" spc="0"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endParaRPr>
            </a:p>
          </p:txBody>
        </p:sp>
        <p:sp>
          <p:nvSpPr>
            <p:cNvPr id="50" name="Rectangle 49">
              <a:extLst>
                <a:ext uri="{FF2B5EF4-FFF2-40B4-BE49-F238E27FC236}">
                  <a16:creationId xmlns:a16="http://schemas.microsoft.com/office/drawing/2014/main" id="{8C318E8E-FF15-FFA8-A833-1E97C3047EE1}"/>
                </a:ext>
              </a:extLst>
            </p:cNvPr>
            <p:cNvSpPr/>
            <p:nvPr/>
          </p:nvSpPr>
          <p:spPr>
            <a:xfrm>
              <a:off x="91266" y="8196071"/>
              <a:ext cx="2498725" cy="2218184"/>
            </a:xfrm>
            <a:prstGeom prst="rect">
              <a:avLst/>
            </a:prstGeom>
            <a:noFill/>
            <a:ln>
              <a:solidFill>
                <a:srgbClr val="0E2A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object 42">
              <a:extLst>
                <a:ext uri="{FF2B5EF4-FFF2-40B4-BE49-F238E27FC236}">
                  <a16:creationId xmlns:a16="http://schemas.microsoft.com/office/drawing/2014/main" id="{675A7C81-6A86-C5DE-4101-842DAD62F0C6}"/>
                </a:ext>
              </a:extLst>
            </p:cNvPr>
            <p:cNvSpPr txBox="1"/>
            <p:nvPr/>
          </p:nvSpPr>
          <p:spPr>
            <a:xfrm>
              <a:off x="160430" y="8588445"/>
              <a:ext cx="2402124" cy="848644"/>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32100"/>
                </a:lnSpc>
                <a:spcBef>
                  <a:spcPts val="100"/>
                </a:spcBef>
                <a:spcAft>
                  <a:spcPts val="0"/>
                </a:spcAft>
                <a:buClrTx/>
                <a:buSzTx/>
                <a:buFontTx/>
                <a:buNone/>
                <a:tabLst/>
                <a:defRPr/>
              </a:pPr>
              <a:r>
                <a:rPr kumimoji="0" lang="en-US" sz="1000" b="0" i="0" u="none" strike="noStrike" kern="1200" cap="none" spc="0" normalizeH="0" baseline="0" noProof="0">
                  <a:ln>
                    <a:noFill/>
                  </a:ln>
                  <a:solidFill>
                    <a:srgbClr val="0F2B3F"/>
                  </a:solidFill>
                  <a:effectLst/>
                  <a:uLnTx/>
                  <a:uFillTx/>
                  <a:latin typeface="Roboto" panose="02000000000000000000" pitchFamily="2" charset="0"/>
                  <a:ea typeface="Roboto" panose="02000000000000000000" pitchFamily="2" charset="0"/>
                  <a:cs typeface="Tahoma"/>
                </a:rPr>
                <a:t>“The intelia team are highly professional and are experts in data and getting the job done</a:t>
              </a:r>
              <a:r>
                <a:rPr kumimoji="0" sz="1000" b="0" i="0" u="none" strike="noStrike" kern="1200" cap="none" spc="-10" normalizeH="0" baseline="0" noProof="0">
                  <a:ln>
                    <a:noFill/>
                  </a:ln>
                  <a:solidFill>
                    <a:srgbClr val="0F2B3F"/>
                  </a:solidFill>
                  <a:effectLst/>
                  <a:uLnTx/>
                  <a:uFillTx/>
                  <a:latin typeface="Roboto" panose="02000000000000000000" pitchFamily="2" charset="0"/>
                  <a:ea typeface="Roboto" panose="02000000000000000000" pitchFamily="2" charset="0"/>
                  <a:cs typeface="Tahoma"/>
                </a:rPr>
                <a:t>.</a:t>
              </a:r>
              <a:r>
                <a:rPr kumimoji="0" lang="en-US" sz="1000" b="0" i="0" u="none" strike="noStrike" kern="1200" cap="none" spc="-10" normalizeH="0" baseline="0" noProof="0">
                  <a:ln>
                    <a:noFill/>
                  </a:ln>
                  <a:solidFill>
                    <a:srgbClr val="0F2B3F"/>
                  </a:solidFill>
                  <a:effectLst/>
                  <a:uLnTx/>
                  <a:uFillTx/>
                  <a:latin typeface="Roboto" panose="02000000000000000000" pitchFamily="2" charset="0"/>
                  <a:ea typeface="Roboto" panose="02000000000000000000" pitchFamily="2" charset="0"/>
                  <a:cs typeface="Tahoma"/>
                </a:rPr>
                <a:t> We don’t see them as another vendor but rather one of us "</a:t>
              </a:r>
              <a:endParaRPr kumimoji="0" sz="1000" b="0" i="0" u="none" strike="noStrike" kern="1200" cap="none" spc="0" normalizeH="0" baseline="0" noProof="0">
                <a:ln>
                  <a:noFill/>
                </a:ln>
                <a:solidFill>
                  <a:srgbClr val="0F2B3F"/>
                </a:solidFill>
                <a:effectLst/>
                <a:uLnTx/>
                <a:uFillTx/>
                <a:latin typeface="Roboto" panose="02000000000000000000" pitchFamily="2" charset="0"/>
                <a:ea typeface="Roboto" panose="02000000000000000000" pitchFamily="2" charset="0"/>
                <a:cs typeface="Tahoma"/>
              </a:endParaRPr>
            </a:p>
          </p:txBody>
        </p:sp>
      </p:grpSp>
      <p:cxnSp>
        <p:nvCxnSpPr>
          <p:cNvPr id="75" name="Straight Connector 74">
            <a:extLst>
              <a:ext uri="{FF2B5EF4-FFF2-40B4-BE49-F238E27FC236}">
                <a16:creationId xmlns:a16="http://schemas.microsoft.com/office/drawing/2014/main" id="{7594B3FF-E945-5D47-0FA3-057E4E7A6C97}"/>
              </a:ext>
            </a:extLst>
          </p:cNvPr>
          <p:cNvCxnSpPr>
            <a:cxnSpLocks/>
          </p:cNvCxnSpPr>
          <p:nvPr/>
        </p:nvCxnSpPr>
        <p:spPr>
          <a:xfrm>
            <a:off x="7618317" y="1611330"/>
            <a:ext cx="0" cy="4144312"/>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15" name="object 37">
            <a:extLst>
              <a:ext uri="{FF2B5EF4-FFF2-40B4-BE49-F238E27FC236}">
                <a16:creationId xmlns:a16="http://schemas.microsoft.com/office/drawing/2014/main" id="{CD324C2E-9ED2-FD3D-F0AA-E97D44868E6C}"/>
              </a:ext>
            </a:extLst>
          </p:cNvPr>
          <p:cNvSpPr txBox="1">
            <a:spLocks/>
          </p:cNvSpPr>
          <p:nvPr/>
        </p:nvSpPr>
        <p:spPr>
          <a:xfrm>
            <a:off x="316834" y="614156"/>
            <a:ext cx="9809812" cy="874598"/>
          </a:xfrm>
          <a:prstGeom prst="rect">
            <a:avLst/>
          </a:prstGeom>
        </p:spPr>
        <p:txBody>
          <a:bodyPr vert="horz" wrap="square" lIns="0" tIns="12700" rIns="0" bIns="0" rtlCol="0" anchor="t">
            <a:spAutoFit/>
          </a:bodyPr>
          <a:lstStyle>
            <a:lvl1pPr>
              <a:defRPr sz="4200" b="1" i="0">
                <a:solidFill>
                  <a:schemeClr val="bg1"/>
                </a:solidFill>
                <a:latin typeface="Roboto"/>
                <a:ea typeface="+mj-ea"/>
                <a:cs typeface="Roboto"/>
              </a:defRPr>
            </a:lvl1p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2800" b="1" i="0" u="none" strike="noStrike" kern="0" cap="none" spc="0" normalizeH="0" baseline="0" noProof="0">
                <a:ln>
                  <a:noFill/>
                </a:ln>
                <a:solidFill>
                  <a:prstClr val="white"/>
                </a:solidFill>
                <a:effectLst/>
                <a:uLnTx/>
                <a:uFillTx/>
                <a:latin typeface="Roboto"/>
                <a:ea typeface="+mj-ea"/>
              </a:rPr>
              <a:t>Case</a:t>
            </a:r>
            <a:r>
              <a:rPr kumimoji="0" lang="en-AU" sz="2800" b="1" i="0" u="none" strike="noStrike" kern="0" cap="none" spc="-15" normalizeH="0" baseline="0" noProof="0">
                <a:ln>
                  <a:noFill/>
                </a:ln>
                <a:solidFill>
                  <a:prstClr val="white"/>
                </a:solidFill>
                <a:effectLst/>
                <a:uLnTx/>
                <a:uFillTx/>
                <a:latin typeface="Roboto"/>
                <a:ea typeface="+mj-ea"/>
              </a:rPr>
              <a:t> </a:t>
            </a:r>
            <a:r>
              <a:rPr kumimoji="0" lang="en-AU" sz="2800" b="1" i="0" u="none" strike="noStrike" kern="0" cap="none" spc="-10" normalizeH="0" baseline="0" noProof="0">
                <a:ln>
                  <a:noFill/>
                </a:ln>
                <a:solidFill>
                  <a:prstClr val="white"/>
                </a:solidFill>
                <a:effectLst/>
                <a:uLnTx/>
                <a:uFillTx/>
                <a:latin typeface="Roboto"/>
                <a:ea typeface="+mj-ea"/>
              </a:rPr>
              <a:t>Study – Once in a Decade Data Migration Program</a:t>
            </a:r>
            <a:br>
              <a:rPr kumimoji="0" lang="en-AU" sz="2800" b="0" i="0" u="none" strike="noStrike" kern="0" cap="none" spc="0" normalizeH="0" baseline="0" noProof="0">
                <a:ln>
                  <a:noFill/>
                </a:ln>
                <a:solidFill>
                  <a:prstClr val="white"/>
                </a:solidFill>
                <a:effectLst/>
                <a:uLnTx/>
                <a:uFillTx/>
                <a:latin typeface="Roboto" panose="02000000000000000000" pitchFamily="2" charset="0"/>
                <a:ea typeface="+mj-ea"/>
              </a:rPr>
            </a:br>
            <a:endParaRPr kumimoji="0" lang="en-AU" sz="2800" b="1" i="0" u="none" strike="noStrike" kern="0" cap="none" spc="-10" normalizeH="0" baseline="0" noProof="0">
              <a:ln>
                <a:noFill/>
              </a:ln>
              <a:solidFill>
                <a:sysClr val="window" lastClr="FFFFFF"/>
              </a:solidFill>
              <a:effectLst/>
              <a:uLnTx/>
              <a:uFillTx/>
              <a:latin typeface="Roboto"/>
              <a:ea typeface="+mj-ea"/>
            </a:endParaRPr>
          </a:p>
        </p:txBody>
      </p:sp>
      <p:pic>
        <p:nvPicPr>
          <p:cNvPr id="16" name="bg object 23">
            <a:extLst>
              <a:ext uri="{FF2B5EF4-FFF2-40B4-BE49-F238E27FC236}">
                <a16:creationId xmlns:a16="http://schemas.microsoft.com/office/drawing/2014/main" id="{1F963E9B-BB0D-444B-59F4-E587E16A2F55}"/>
              </a:ext>
            </a:extLst>
          </p:cNvPr>
          <p:cNvPicPr/>
          <p:nvPr/>
        </p:nvPicPr>
        <p:blipFill>
          <a:blip r:embed="rId3" cstate="print"/>
          <a:stretch>
            <a:fillRect/>
          </a:stretch>
        </p:blipFill>
        <p:spPr>
          <a:xfrm>
            <a:off x="273542" y="156801"/>
            <a:ext cx="1368092" cy="361961"/>
          </a:xfrm>
          <a:prstGeom prst="rect">
            <a:avLst/>
          </a:prstGeom>
        </p:spPr>
      </p:pic>
      <p:pic>
        <p:nvPicPr>
          <p:cNvPr id="17" name="Picture 16" descr="A group of colorful symbols&#10;&#10;Description automatically generated with medium confidence">
            <a:extLst>
              <a:ext uri="{FF2B5EF4-FFF2-40B4-BE49-F238E27FC236}">
                <a16:creationId xmlns:a16="http://schemas.microsoft.com/office/drawing/2014/main" id="{865152CC-7651-C287-3FEF-D7C2C715E4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63341" y="70998"/>
            <a:ext cx="1394557" cy="563411"/>
          </a:xfrm>
          <a:prstGeom prst="rect">
            <a:avLst/>
          </a:prstGeom>
        </p:spPr>
      </p:pic>
      <p:sp>
        <p:nvSpPr>
          <p:cNvPr id="18" name="object 27">
            <a:extLst>
              <a:ext uri="{FF2B5EF4-FFF2-40B4-BE49-F238E27FC236}">
                <a16:creationId xmlns:a16="http://schemas.microsoft.com/office/drawing/2014/main" id="{1759BADB-DBF3-5EEA-C278-C70AE3057212}"/>
              </a:ext>
            </a:extLst>
          </p:cNvPr>
          <p:cNvSpPr txBox="1"/>
          <p:nvPr/>
        </p:nvSpPr>
        <p:spPr>
          <a:xfrm>
            <a:off x="10860567" y="249594"/>
            <a:ext cx="1331433" cy="197233"/>
          </a:xfrm>
          <a:prstGeom prst="rect">
            <a:avLst/>
          </a:prstGeom>
        </p:spPr>
        <p:txBody>
          <a:bodyPr vert="horz" wrap="square" lIns="0" tIns="12700" rIns="0" bIns="0" rtlCol="0">
            <a:spAutoFit/>
          </a:bodyPr>
          <a:lstStyle/>
          <a:p>
            <a:pPr marL="12700" marR="5080" lvl="0" indent="0" algn="ctr" defTabSz="914400" rtl="0" eaLnBrk="1" fontAlgn="auto" latinLnBrk="0" hangingPunct="1">
              <a:lnSpc>
                <a:spcPct val="132100"/>
              </a:lnSpc>
              <a:spcBef>
                <a:spcPts val="365"/>
              </a:spcBef>
              <a:spcAft>
                <a:spcPts val="0"/>
              </a:spcAft>
              <a:buClrTx/>
              <a:buSzTx/>
              <a:buFontTx/>
              <a:buNone/>
              <a:tabLst/>
              <a:defRPr/>
            </a:pPr>
            <a:r>
              <a:rPr kumimoji="0" lang="en-US" sz="1000" b="0" i="0" u="none" strike="noStrike" kern="0" cap="none" spc="35" normalizeH="0" baseline="0" noProof="0">
                <a:ln>
                  <a:noFill/>
                </a:ln>
                <a:solidFill>
                  <a:prstClr val="white"/>
                </a:solidFill>
                <a:effectLst/>
                <a:uLnTx/>
                <a:uFillTx/>
                <a:latin typeface="Roboto" panose="02000000000000000000" pitchFamily="2" charset="0"/>
                <a:ea typeface="Roboto" panose="02000000000000000000" pitchFamily="2" charset="0"/>
                <a:cs typeface="Tahoma"/>
              </a:rPr>
              <a:t>www.intelia.ai</a:t>
            </a:r>
            <a:endParaRPr kumimoji="0" sz="1000" b="0" i="0" u="none" strike="noStrike" kern="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Tahoma"/>
            </a:endParaRPr>
          </a:p>
        </p:txBody>
      </p:sp>
      <p:cxnSp>
        <p:nvCxnSpPr>
          <p:cNvPr id="20" name="Straight Connector 19">
            <a:extLst>
              <a:ext uri="{FF2B5EF4-FFF2-40B4-BE49-F238E27FC236}">
                <a16:creationId xmlns:a16="http://schemas.microsoft.com/office/drawing/2014/main" id="{BE0D2C8A-B3B2-2928-7B96-948A4BD3F81C}"/>
              </a:ext>
            </a:extLst>
          </p:cNvPr>
          <p:cNvCxnSpPr>
            <a:cxnSpLocks/>
          </p:cNvCxnSpPr>
          <p:nvPr/>
        </p:nvCxnSpPr>
        <p:spPr>
          <a:xfrm>
            <a:off x="2886429" y="2129318"/>
            <a:ext cx="0" cy="3298359"/>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883365EC-7DB8-AD71-8EC5-1ADBB2192780}"/>
              </a:ext>
            </a:extLst>
          </p:cNvPr>
          <p:cNvSpPr/>
          <p:nvPr/>
        </p:nvSpPr>
        <p:spPr>
          <a:xfrm>
            <a:off x="7398322" y="1588697"/>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22" name="bg object 16">
            <a:extLst>
              <a:ext uri="{FF2B5EF4-FFF2-40B4-BE49-F238E27FC236}">
                <a16:creationId xmlns:a16="http://schemas.microsoft.com/office/drawing/2014/main" id="{E338DC0E-B0F1-63C8-F4A1-7A91E83C02F5}"/>
              </a:ext>
            </a:extLst>
          </p:cNvPr>
          <p:cNvSpPr/>
          <p:nvPr/>
        </p:nvSpPr>
        <p:spPr>
          <a:xfrm>
            <a:off x="1" y="3685924"/>
            <a:ext cx="2475986" cy="2792525"/>
          </a:xfrm>
          <a:custGeom>
            <a:avLst/>
            <a:gdLst/>
            <a:ahLst/>
            <a:cxnLst/>
            <a:rect l="l" t="t" r="r" b="b"/>
            <a:pathLst>
              <a:path w="2695575" h="3548379">
                <a:moveTo>
                  <a:pt x="2424390" y="3547959"/>
                </a:moveTo>
                <a:lnTo>
                  <a:pt x="0" y="3547959"/>
                </a:lnTo>
                <a:lnTo>
                  <a:pt x="0" y="0"/>
                </a:lnTo>
                <a:lnTo>
                  <a:pt x="2424385" y="0"/>
                </a:lnTo>
                <a:lnTo>
                  <a:pt x="2472939" y="4371"/>
                </a:lnTo>
                <a:lnTo>
                  <a:pt x="2518675" y="16970"/>
                </a:lnTo>
                <a:lnTo>
                  <a:pt x="2560820" y="37023"/>
                </a:lnTo>
                <a:lnTo>
                  <a:pt x="2598602" y="63759"/>
                </a:lnTo>
                <a:lnTo>
                  <a:pt x="2631247" y="96404"/>
                </a:lnTo>
                <a:lnTo>
                  <a:pt x="2657982" y="134185"/>
                </a:lnTo>
                <a:lnTo>
                  <a:pt x="2678036" y="176330"/>
                </a:lnTo>
                <a:lnTo>
                  <a:pt x="2690635" y="222066"/>
                </a:lnTo>
                <a:lnTo>
                  <a:pt x="2695006" y="270620"/>
                </a:lnTo>
                <a:lnTo>
                  <a:pt x="2695006" y="3277339"/>
                </a:lnTo>
                <a:lnTo>
                  <a:pt x="2690635" y="3325892"/>
                </a:lnTo>
                <a:lnTo>
                  <a:pt x="2678036" y="3371628"/>
                </a:lnTo>
                <a:lnTo>
                  <a:pt x="2657982" y="3413774"/>
                </a:lnTo>
                <a:lnTo>
                  <a:pt x="2631247" y="3451555"/>
                </a:lnTo>
                <a:lnTo>
                  <a:pt x="2598602" y="3484200"/>
                </a:lnTo>
                <a:lnTo>
                  <a:pt x="2560820" y="3510935"/>
                </a:lnTo>
                <a:lnTo>
                  <a:pt x="2518675" y="3530989"/>
                </a:lnTo>
                <a:lnTo>
                  <a:pt x="2472939" y="3543588"/>
                </a:lnTo>
                <a:lnTo>
                  <a:pt x="2424390" y="3547959"/>
                </a:lnTo>
                <a:close/>
              </a:path>
            </a:pathLst>
          </a:custGeom>
          <a:solidFill>
            <a:srgbClr val="00AA7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object 29">
            <a:extLst>
              <a:ext uri="{FF2B5EF4-FFF2-40B4-BE49-F238E27FC236}">
                <a16:creationId xmlns:a16="http://schemas.microsoft.com/office/drawing/2014/main" id="{A21E5D37-428B-2E67-F4E6-08740D6B4F86}"/>
              </a:ext>
            </a:extLst>
          </p:cNvPr>
          <p:cNvSpPr txBox="1"/>
          <p:nvPr/>
        </p:nvSpPr>
        <p:spPr>
          <a:xfrm>
            <a:off x="3266508" y="1891093"/>
            <a:ext cx="4008453" cy="1859483"/>
          </a:xfrm>
          <a:prstGeom prst="rect">
            <a:avLst/>
          </a:prstGeom>
        </p:spPr>
        <p:txBody>
          <a:bodyPr vert="horz" wrap="square" lIns="0" tIns="12700" rIns="0" bIns="0" rtlCol="0">
            <a:spAutoFit/>
          </a:bodyPr>
          <a:lstStyle>
            <a:defPPr>
              <a:defRPr lang="en-US"/>
            </a:defPPr>
            <a:lvl1pPr marR="0" lvl="0" indent="0" defTabSz="584200" fontAlgn="auto" hangingPunct="0">
              <a:lnSpc>
                <a:spcPct val="100000"/>
              </a:lnSpc>
              <a:spcBef>
                <a:spcPts val="0"/>
              </a:spcBef>
              <a:spcAft>
                <a:spcPts val="0"/>
              </a:spcAft>
              <a:buClrTx/>
              <a:buSzTx/>
              <a:buFontTx/>
              <a:buNone/>
              <a:tabLst/>
              <a:defRPr sz="1000">
                <a:solidFill>
                  <a:srgbClr val="212B40"/>
                </a:solidFill>
                <a:latin typeface="Roboto"/>
                <a:cs typeface="Roboto"/>
              </a:defRPr>
            </a:lvl1p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AU" sz="1000" b="0" i="0" u="none" strike="noStrike" kern="1200" cap="none" spc="0" normalizeH="0" baseline="0" noProof="0">
                <a:ln>
                  <a:noFill/>
                </a:ln>
                <a:solidFill>
                  <a:srgbClr val="212B40"/>
                </a:solidFill>
                <a:effectLst/>
                <a:uLnTx/>
                <a:uFillTx/>
                <a:latin typeface="Roboto"/>
                <a:ea typeface="+mn-ea"/>
              </a:rPr>
              <a:t>Deakin University continues to increase in terms of size, complexity and needs, current systems and processes will impact the support and success of researchers and their innovation. There is a risk that researchers could fall behind competitors who have already uplifted systems and processes to drive efficiencies and transform research administration and support to inform strategic decision-making. There are also potential risks posed by legacy, unsupported systems and gaps that may impact meeting both regulatory, strategic reporting and analytics requirements. As Deakin looked to tackle this challenge through a program of work they sought the expert assistance of a data consultancy as they did not have the data skills internally. </a:t>
            </a:r>
          </a:p>
          <a:p>
            <a:pPr marL="0" marR="0" lvl="0" indent="0" algn="l" defTabSz="584200" rtl="0" eaLnBrk="1" fontAlgn="auto" latinLnBrk="0" hangingPunct="0">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srgbClr val="212B40"/>
              </a:solidFill>
              <a:effectLst/>
              <a:uLnTx/>
              <a:uFillTx/>
              <a:latin typeface="Roboto"/>
              <a:ea typeface="+mn-ea"/>
            </a:endParaRPr>
          </a:p>
        </p:txBody>
      </p:sp>
      <p:sp>
        <p:nvSpPr>
          <p:cNvPr id="24" name="object 31">
            <a:extLst>
              <a:ext uri="{FF2B5EF4-FFF2-40B4-BE49-F238E27FC236}">
                <a16:creationId xmlns:a16="http://schemas.microsoft.com/office/drawing/2014/main" id="{54188DC0-D0FE-EA63-1873-8482ADFFEAF5}"/>
              </a:ext>
            </a:extLst>
          </p:cNvPr>
          <p:cNvSpPr txBox="1"/>
          <p:nvPr/>
        </p:nvSpPr>
        <p:spPr>
          <a:xfrm>
            <a:off x="3266508" y="4126032"/>
            <a:ext cx="4112912" cy="1397819"/>
          </a:xfrm>
          <a:prstGeom prst="rect">
            <a:avLst/>
          </a:prstGeom>
        </p:spPr>
        <p:txBody>
          <a:bodyPr vert="horz" wrap="square" lIns="0" tIns="12700" rIns="0" bIns="0" rtlCol="0">
            <a:spAutoFit/>
          </a:body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rPr>
              <a:t>intelia was engaged as a key data partner for the University to commence on a program of work to ultimately assist the ineffective information management preventing the University from making more informed and timely decisions. By engaging intelia as their key data partner, the Program wanted to realise benefits that would:</a:t>
            </a:r>
          </a:p>
          <a:p>
            <a:pPr marL="171450" marR="0" lvl="0" indent="-171450" algn="l" defTabSz="584200" rtl="0" eaLnBrk="1" fontAlgn="auto" latinLnBrk="0" hangingPunct="0">
              <a:lnSpc>
                <a:spcPct val="100000"/>
              </a:lnSpc>
              <a:spcBef>
                <a:spcPts val="0"/>
              </a:spcBef>
              <a:spcAft>
                <a:spcPts val="0"/>
              </a:spcAft>
              <a:buClr>
                <a:srgbClr val="00AA7F"/>
              </a:buClr>
              <a:buSzTx/>
              <a:buFont typeface="Arial" panose="020B0604020202020204" pitchFamily="34" charset="0"/>
              <a:buChar char="•"/>
              <a:tabLst/>
              <a:defRPr/>
            </a:pPr>
            <a:r>
              <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rPr>
              <a:t>Improve staff and higher degrees by research (HDR) student productivity and capacity to undertake research and innovation. </a:t>
            </a:r>
          </a:p>
          <a:p>
            <a:pPr marL="171450" marR="0" lvl="0" indent="-171450" algn="l" defTabSz="584200" rtl="0" eaLnBrk="1" fontAlgn="auto" latinLnBrk="0" hangingPunct="0">
              <a:lnSpc>
                <a:spcPct val="100000"/>
              </a:lnSpc>
              <a:spcBef>
                <a:spcPts val="0"/>
              </a:spcBef>
              <a:spcAft>
                <a:spcPts val="0"/>
              </a:spcAft>
              <a:buClr>
                <a:srgbClr val="00AA7F"/>
              </a:buClr>
              <a:buSzTx/>
              <a:buFont typeface="Arial" panose="020B0604020202020204" pitchFamily="34" charset="0"/>
              <a:buChar char="•"/>
              <a:tabLst/>
              <a:defRPr/>
            </a:pPr>
            <a:r>
              <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rPr>
              <a:t>Be more effective research operations and services. </a:t>
            </a:r>
          </a:p>
          <a:p>
            <a:pPr marL="171450" marR="0" lvl="0" indent="-171450" algn="l" defTabSz="584200" rtl="0" eaLnBrk="1" fontAlgn="auto" latinLnBrk="0" hangingPunct="0">
              <a:lnSpc>
                <a:spcPct val="100000"/>
              </a:lnSpc>
              <a:spcBef>
                <a:spcPts val="0"/>
              </a:spcBef>
              <a:spcAft>
                <a:spcPts val="0"/>
              </a:spcAft>
              <a:buClr>
                <a:srgbClr val="00AA7F"/>
              </a:buClr>
              <a:buSzTx/>
              <a:buFont typeface="Arial" panose="020B0604020202020204" pitchFamily="34" charset="0"/>
              <a:buChar char="•"/>
              <a:tabLst/>
              <a:defRPr/>
            </a:pPr>
            <a:r>
              <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rPr>
              <a:t>Have better data driven decisions to optimise strategic investment.  </a:t>
            </a:r>
          </a:p>
        </p:txBody>
      </p:sp>
      <p:sp>
        <p:nvSpPr>
          <p:cNvPr id="25" name="object 34">
            <a:extLst>
              <a:ext uri="{FF2B5EF4-FFF2-40B4-BE49-F238E27FC236}">
                <a16:creationId xmlns:a16="http://schemas.microsoft.com/office/drawing/2014/main" id="{EA7C1E8D-2B3C-F2D1-E212-1AF5BADCD60C}"/>
              </a:ext>
            </a:extLst>
          </p:cNvPr>
          <p:cNvSpPr txBox="1"/>
          <p:nvPr/>
        </p:nvSpPr>
        <p:spPr>
          <a:xfrm>
            <a:off x="192673" y="3855279"/>
            <a:ext cx="2116944" cy="1561966"/>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500" b="1" i="0" u="none" strike="noStrike" kern="1200" cap="none" spc="-10" normalizeH="0" baseline="0" noProof="0">
                <a:ln>
                  <a:noFill/>
                </a:ln>
                <a:solidFill>
                  <a:srgbClr val="FFFFFF"/>
                </a:solidFill>
                <a:effectLst/>
                <a:uLnTx/>
                <a:uFillTx/>
                <a:latin typeface="Roboto"/>
                <a:ea typeface="+mn-ea"/>
                <a:cs typeface="Roboto"/>
              </a:rPr>
              <a:t>Deakin University</a:t>
            </a:r>
          </a:p>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200" b="0" i="0" u="none" strike="noStrike" kern="1200" cap="none" spc="0" normalizeH="0" baseline="0" noProof="0">
                <a:ln>
                  <a:noFill/>
                </a:ln>
                <a:solidFill>
                  <a:prstClr val="black"/>
                </a:solidFill>
                <a:effectLst/>
                <a:uLnTx/>
                <a:uFillTx/>
                <a:latin typeface="Roboto"/>
                <a:ea typeface="+mn-ea"/>
                <a:cs typeface="Roboto"/>
              </a:rPr>
              <a:t> </a:t>
            </a:r>
          </a:p>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200" b="0" i="0" u="none" strike="noStrike" kern="1200" cap="none" spc="0" normalizeH="0" baseline="0" noProof="0">
                <a:ln>
                  <a:noFill/>
                </a:ln>
                <a:solidFill>
                  <a:prstClr val="white"/>
                </a:solidFill>
                <a:effectLst/>
                <a:uLnTx/>
                <a:uFillTx/>
                <a:latin typeface="Roboto"/>
                <a:ea typeface="+mn-ea"/>
                <a:cs typeface="Roboto"/>
              </a:rPr>
              <a:t>Deakin University is a leading public university enabling globally connected education for the jobs of the future and research that makes a difference to our communities.  </a:t>
            </a:r>
            <a:endParaRPr kumimoji="0" lang="en-AU" sz="1200" b="0" i="0" u="none" strike="noStrike" kern="1200" cap="none" spc="0" normalizeH="0" baseline="0" noProof="0">
              <a:ln>
                <a:noFill/>
              </a:ln>
              <a:solidFill>
                <a:prstClr val="black"/>
              </a:solidFill>
              <a:effectLst/>
              <a:uLnTx/>
              <a:uFillTx/>
              <a:latin typeface="Roboto"/>
              <a:ea typeface="+mn-ea"/>
              <a:cs typeface="Roboto"/>
            </a:endParaRPr>
          </a:p>
        </p:txBody>
      </p:sp>
      <p:sp>
        <p:nvSpPr>
          <p:cNvPr id="26" name="object 38">
            <a:extLst>
              <a:ext uri="{FF2B5EF4-FFF2-40B4-BE49-F238E27FC236}">
                <a16:creationId xmlns:a16="http://schemas.microsoft.com/office/drawing/2014/main" id="{C66AC46E-2735-98D6-F6F0-4163DEF07545}"/>
              </a:ext>
            </a:extLst>
          </p:cNvPr>
          <p:cNvSpPr txBox="1"/>
          <p:nvPr/>
        </p:nvSpPr>
        <p:spPr>
          <a:xfrm>
            <a:off x="313698" y="1700642"/>
            <a:ext cx="2706690" cy="1431161"/>
          </a:xfrm>
          <a:prstGeom prst="rect">
            <a:avLst/>
          </a:prstGeom>
          <a:ln w="19050" cmpd="sng">
            <a:noFill/>
            <a:prstDash val="solid"/>
          </a:ln>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a:ln>
                  <a:noFill/>
                </a:ln>
                <a:solidFill>
                  <a:srgbClr val="0E2A3F"/>
                </a:solidFill>
                <a:effectLst/>
                <a:uLnTx/>
                <a:uFillTx/>
                <a:latin typeface="Roboto"/>
                <a:ea typeface="+mn-ea"/>
                <a:cs typeface="Roboto"/>
              </a:rPr>
              <a:t>Data Migration</a:t>
            </a:r>
          </a:p>
          <a:p>
            <a:pPr marL="298450" marR="0" lvl="0" indent="-285750" algn="l" defTabSz="914400" rtl="0" eaLnBrk="1" fontAlgn="auto" latinLnBrk="0" hangingPunct="1">
              <a:lnSpc>
                <a:spcPct val="100000"/>
              </a:lnSpc>
              <a:spcBef>
                <a:spcPts val="100"/>
              </a:spcBef>
              <a:spcAft>
                <a:spcPts val="0"/>
              </a:spcAft>
              <a:buClr>
                <a:srgbClr val="00AA7F"/>
              </a:buClr>
              <a:buSzTx/>
              <a:buFont typeface="Arial"/>
              <a:buChar char="•"/>
              <a:tabLst/>
              <a:defRPr/>
            </a:pPr>
            <a:r>
              <a:rPr kumimoji="0" lang="en-AU" sz="1200" b="0" i="0" u="none" strike="noStrike" kern="1200" cap="none" spc="0" normalizeH="0" baseline="0" noProof="0">
                <a:ln>
                  <a:noFill/>
                </a:ln>
                <a:solidFill>
                  <a:srgbClr val="0E2A3F"/>
                </a:solidFill>
                <a:effectLst/>
                <a:uLnTx/>
                <a:uFillTx/>
                <a:latin typeface="Roboto"/>
                <a:ea typeface="+mn-ea"/>
                <a:cs typeface="Roboto"/>
              </a:rPr>
              <a:t>Data Strategy </a:t>
            </a:r>
          </a:p>
          <a:p>
            <a:pPr marL="298450" marR="0" lvl="0" indent="-285750" algn="l" defTabSz="914400" rtl="0" eaLnBrk="1" fontAlgn="auto" latinLnBrk="0" hangingPunct="1">
              <a:lnSpc>
                <a:spcPct val="100000"/>
              </a:lnSpc>
              <a:spcBef>
                <a:spcPts val="100"/>
              </a:spcBef>
              <a:spcAft>
                <a:spcPts val="0"/>
              </a:spcAft>
              <a:buClr>
                <a:srgbClr val="00AA7F"/>
              </a:buClr>
              <a:buSzTx/>
              <a:buFont typeface="Arial"/>
              <a:buChar char="•"/>
              <a:tabLst/>
              <a:defRPr/>
            </a:pPr>
            <a:r>
              <a:rPr kumimoji="0" lang="en-AU" sz="1200" b="0" i="0" u="none" strike="noStrike" kern="1200" cap="none" spc="0" normalizeH="0" baseline="0" noProof="0">
                <a:ln>
                  <a:noFill/>
                </a:ln>
                <a:solidFill>
                  <a:srgbClr val="0E2A3F"/>
                </a:solidFill>
                <a:effectLst/>
                <a:uLnTx/>
                <a:uFillTx/>
                <a:latin typeface="Roboto"/>
                <a:ea typeface="+mn-ea"/>
                <a:cs typeface="Roboto"/>
              </a:rPr>
              <a:t>Unified Data Model</a:t>
            </a:r>
          </a:p>
          <a:p>
            <a:pPr marL="298450" marR="0" lvl="0" indent="-285750" algn="l" defTabSz="914400" rtl="0" eaLnBrk="1" fontAlgn="auto" latinLnBrk="0" hangingPunct="1">
              <a:lnSpc>
                <a:spcPct val="100000"/>
              </a:lnSpc>
              <a:spcBef>
                <a:spcPts val="100"/>
              </a:spcBef>
              <a:spcAft>
                <a:spcPts val="0"/>
              </a:spcAft>
              <a:buClr>
                <a:srgbClr val="00AA7F"/>
              </a:buClr>
              <a:buSzTx/>
              <a:buFont typeface="Arial"/>
              <a:buChar char="•"/>
              <a:tabLst/>
              <a:defRPr/>
            </a:pPr>
            <a:r>
              <a:rPr kumimoji="0" lang="en-AU" sz="1200" b="0" i="0" u="none" strike="noStrike" kern="1200" cap="none" spc="0" normalizeH="0" baseline="0" noProof="0">
                <a:ln>
                  <a:noFill/>
                </a:ln>
                <a:solidFill>
                  <a:srgbClr val="0E2A3F"/>
                </a:solidFill>
                <a:effectLst/>
                <a:uLnTx/>
                <a:uFillTx/>
                <a:latin typeface="Roboto"/>
                <a:ea typeface="+mn-ea"/>
                <a:cs typeface="Roboto"/>
              </a:rPr>
              <a:t>Data Vault Methodology</a:t>
            </a:r>
          </a:p>
          <a:p>
            <a:pPr marL="298450" marR="0" lvl="0" indent="-285750" algn="l" defTabSz="914400" rtl="0" eaLnBrk="1" fontAlgn="auto" latinLnBrk="0" hangingPunct="1">
              <a:lnSpc>
                <a:spcPct val="100000"/>
              </a:lnSpc>
              <a:spcBef>
                <a:spcPts val="100"/>
              </a:spcBef>
              <a:spcAft>
                <a:spcPts val="0"/>
              </a:spcAft>
              <a:buClr>
                <a:srgbClr val="00AA7F"/>
              </a:buClr>
              <a:buSzTx/>
              <a:buFont typeface="Arial"/>
              <a:buChar char="•"/>
              <a:tabLst/>
              <a:defRPr/>
            </a:pPr>
            <a:r>
              <a:rPr kumimoji="0" lang="en-AU" sz="1200" b="0" i="0" u="none" strike="noStrike" kern="1200" cap="none" spc="0" normalizeH="0" baseline="0" noProof="0">
                <a:ln>
                  <a:noFill/>
                </a:ln>
                <a:solidFill>
                  <a:srgbClr val="0E2A3F"/>
                </a:solidFill>
                <a:effectLst/>
                <a:uLnTx/>
                <a:uFillTx/>
                <a:latin typeface="Roboto"/>
                <a:ea typeface="+mn-ea"/>
                <a:cs typeface="Roboto"/>
              </a:rPr>
              <a:t>Data Quality and Tech Reconciliation</a:t>
            </a:r>
          </a:p>
          <a:p>
            <a:pPr marL="298450" marR="0" lvl="0" indent="-285750" algn="l" defTabSz="914400" rtl="0" eaLnBrk="1" fontAlgn="auto" latinLnBrk="0" hangingPunct="1">
              <a:lnSpc>
                <a:spcPct val="100000"/>
              </a:lnSpc>
              <a:spcBef>
                <a:spcPts val="100"/>
              </a:spcBef>
              <a:spcAft>
                <a:spcPts val="0"/>
              </a:spcAft>
              <a:buClr>
                <a:srgbClr val="00AA7F"/>
              </a:buClr>
              <a:buSzTx/>
              <a:buFont typeface="Arial"/>
              <a:buChar char="•"/>
              <a:tabLst/>
              <a:defRPr/>
            </a:pPr>
            <a:endParaRPr kumimoji="0" lang="en-AU" sz="1200" b="0" i="0" u="none" strike="noStrike" kern="1200" cap="none" spc="0" normalizeH="0" baseline="0" noProof="0">
              <a:ln>
                <a:noFill/>
              </a:ln>
              <a:solidFill>
                <a:srgbClr val="0E2A3F"/>
              </a:solidFill>
              <a:effectLst/>
              <a:uLnTx/>
              <a:uFillTx/>
              <a:latin typeface="Roboto"/>
              <a:ea typeface="+mn-ea"/>
              <a:cs typeface="Roboto"/>
            </a:endParaRPr>
          </a:p>
        </p:txBody>
      </p:sp>
      <p:sp>
        <p:nvSpPr>
          <p:cNvPr id="28" name="object 31">
            <a:extLst>
              <a:ext uri="{FF2B5EF4-FFF2-40B4-BE49-F238E27FC236}">
                <a16:creationId xmlns:a16="http://schemas.microsoft.com/office/drawing/2014/main" id="{1762D708-DDFE-CFAB-4EBA-820BC48A4944}"/>
              </a:ext>
            </a:extLst>
          </p:cNvPr>
          <p:cNvSpPr txBox="1"/>
          <p:nvPr/>
        </p:nvSpPr>
        <p:spPr>
          <a:xfrm>
            <a:off x="8071833" y="1965068"/>
            <a:ext cx="3912244" cy="2475037"/>
          </a:xfrm>
          <a:prstGeom prst="rect">
            <a:avLst/>
          </a:prstGeom>
        </p:spPr>
        <p:txBody>
          <a:bodyPr vert="horz" wrap="square" lIns="0" tIns="12700" rIns="0" bIns="0" rtlCol="0">
            <a:spAutoFit/>
          </a:body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rPr>
              <a:t>The solution included the following; </a:t>
            </a:r>
          </a:p>
          <a:p>
            <a:pPr marL="171450" marR="0" lvl="0" indent="-171450" algn="l" defTabSz="584200" rtl="0" eaLnBrk="1" fontAlgn="auto" latinLnBrk="0" hangingPunct="0">
              <a:lnSpc>
                <a:spcPct val="100000"/>
              </a:lnSpc>
              <a:spcBef>
                <a:spcPts val="0"/>
              </a:spcBef>
              <a:spcAft>
                <a:spcPts val="0"/>
              </a:spcAft>
              <a:buClr>
                <a:srgbClr val="00AA7F"/>
              </a:buClr>
              <a:buSzTx/>
              <a:buFont typeface="Arial" panose="020B0604020202020204" pitchFamily="34" charset="0"/>
              <a:buChar char="•"/>
              <a:tabLst/>
              <a:defRPr/>
            </a:pPr>
            <a:r>
              <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rPr>
              <a:t>Data Migration Strategy: outlining how the proposed technology solution, in this case, SSIS would be used to migrate data.</a:t>
            </a:r>
          </a:p>
          <a:p>
            <a:pPr marL="171450" marR="0" lvl="0" indent="-171450" algn="l" defTabSz="584200" rtl="0" eaLnBrk="1" fontAlgn="auto" latinLnBrk="0" hangingPunct="0">
              <a:lnSpc>
                <a:spcPct val="100000"/>
              </a:lnSpc>
              <a:spcBef>
                <a:spcPts val="0"/>
              </a:spcBef>
              <a:spcAft>
                <a:spcPts val="0"/>
              </a:spcAft>
              <a:buClr>
                <a:srgbClr val="00AA7F"/>
              </a:buClr>
              <a:buSzTx/>
              <a:buFont typeface="Arial" panose="020B0604020202020204" pitchFamily="34" charset="0"/>
              <a:buChar char="•"/>
              <a:tabLst/>
              <a:defRPr/>
            </a:pPr>
            <a:r>
              <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rPr>
              <a:t>Data Migration Governance Model - this highlighted how data being migrated would be reviewed, how data </a:t>
            </a:r>
            <a:r>
              <a:rPr kumimoji="0" lang="en-AU" sz="1000" b="0" i="0" u="none" strike="noStrike" kern="1200" cap="none" spc="0" normalizeH="0" baseline="0" noProof="0" err="1">
                <a:ln>
                  <a:noFill/>
                </a:ln>
                <a:solidFill>
                  <a:srgbClr val="212B40"/>
                </a:solidFill>
                <a:effectLst/>
                <a:uLnTx/>
                <a:uFillTx/>
                <a:latin typeface="Roboto"/>
                <a:ea typeface="+mn-ea"/>
                <a:cs typeface="Roboto"/>
                <a:sym typeface="Helvetica Neue Medium"/>
              </a:rPr>
              <a:t>Data</a:t>
            </a:r>
            <a:r>
              <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rPr>
              <a:t> Quality issues could be resolved and escalated.</a:t>
            </a:r>
          </a:p>
          <a:p>
            <a:pPr marL="171450" marR="0" lvl="0" indent="-171450" algn="l" defTabSz="584200" rtl="0" eaLnBrk="1" fontAlgn="auto" latinLnBrk="0" hangingPunct="0">
              <a:lnSpc>
                <a:spcPct val="100000"/>
              </a:lnSpc>
              <a:spcBef>
                <a:spcPts val="0"/>
              </a:spcBef>
              <a:spcAft>
                <a:spcPts val="0"/>
              </a:spcAft>
              <a:buClr>
                <a:srgbClr val="00AA7E"/>
              </a:buClr>
              <a:buSzTx/>
              <a:buFont typeface="Arial" panose="020B0604020202020204" pitchFamily="34" charset="0"/>
              <a:buChar char="•"/>
              <a:tabLst/>
              <a:defRPr/>
            </a:pPr>
            <a:r>
              <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rPr>
              <a:t>Unified Data Model - intelia defined a Unified Data Model to ensure that all data from multiple sources were correctly modelled to then be consumed and ingested into a data migration engine </a:t>
            </a:r>
          </a:p>
          <a:p>
            <a:pPr marL="171450" marR="0" lvl="0" indent="-171450" algn="l" defTabSz="584200" rtl="0" eaLnBrk="1" fontAlgn="auto" latinLnBrk="0" hangingPunct="0">
              <a:lnSpc>
                <a:spcPct val="100000"/>
              </a:lnSpc>
              <a:spcBef>
                <a:spcPts val="0"/>
              </a:spcBef>
              <a:spcAft>
                <a:spcPts val="0"/>
              </a:spcAft>
              <a:buClr>
                <a:srgbClr val="00AA7E"/>
              </a:buClr>
              <a:buSzTx/>
              <a:buFont typeface="Arial" panose="020B0604020202020204" pitchFamily="34" charset="0"/>
              <a:buChar char="•"/>
              <a:tabLst/>
              <a:defRPr/>
            </a:pPr>
            <a:r>
              <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rPr>
              <a:t>Data Vault Methodology intelia utilised the Data Vault methodology to migrate data from source system to target. </a:t>
            </a:r>
          </a:p>
          <a:p>
            <a:pPr marL="171450" marR="0" lvl="0" indent="-171450" algn="l" defTabSz="584200" rtl="0" eaLnBrk="1" fontAlgn="auto" latinLnBrk="0" hangingPunct="0">
              <a:lnSpc>
                <a:spcPct val="100000"/>
              </a:lnSpc>
              <a:spcBef>
                <a:spcPts val="0"/>
              </a:spcBef>
              <a:spcAft>
                <a:spcPts val="0"/>
              </a:spcAft>
              <a:buClr>
                <a:srgbClr val="00AA7E"/>
              </a:buClr>
              <a:buSzTx/>
              <a:buFont typeface="Arial" panose="020B0604020202020204" pitchFamily="34" charset="0"/>
              <a:buChar char="•"/>
              <a:tabLst/>
              <a:defRPr/>
            </a:pPr>
            <a:r>
              <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rPr>
              <a:t>Technical Reconciliation - Within a metadata view and using SSIS we adopted a repeatable technical reconciliation process that ensured DQ standards were met before presenting findings to the business</a:t>
            </a:r>
          </a:p>
          <a:p>
            <a:pPr marL="0" marR="0" lvl="0" indent="0" algn="l" defTabSz="584200" rtl="0" eaLnBrk="1" fontAlgn="auto" latinLnBrk="0" hangingPunct="0">
              <a:lnSpc>
                <a:spcPct val="100000"/>
              </a:lnSpc>
              <a:spcBef>
                <a:spcPts val="0"/>
              </a:spcBef>
              <a:spcAft>
                <a:spcPts val="0"/>
              </a:spcAft>
              <a:buClrTx/>
              <a:buSzTx/>
              <a:buFontTx/>
              <a:buNone/>
              <a:tabLst/>
              <a:defRPr/>
            </a:pPr>
            <a:endParaRPr kumimoji="0" lang="en-AU" sz="1000" b="0" i="0" u="none" strike="noStrike" kern="1200" cap="none" spc="0" normalizeH="0" baseline="0" noProof="0">
              <a:ln>
                <a:noFill/>
              </a:ln>
              <a:solidFill>
                <a:srgbClr val="212B40"/>
              </a:solidFill>
              <a:effectLst/>
              <a:uLnTx/>
              <a:uFillTx/>
              <a:latin typeface="Roboto Light"/>
              <a:ea typeface="+mn-ea"/>
              <a:cs typeface="+mn-cs"/>
              <a:sym typeface="Helvetica Neue Medium"/>
            </a:endParaRPr>
          </a:p>
        </p:txBody>
      </p:sp>
      <p:sp>
        <p:nvSpPr>
          <p:cNvPr id="29" name="Freeform 30">
            <a:extLst>
              <a:ext uri="{FF2B5EF4-FFF2-40B4-BE49-F238E27FC236}">
                <a16:creationId xmlns:a16="http://schemas.microsoft.com/office/drawing/2014/main" id="{1F995815-1FE3-293D-DC1F-AAEB999DF020}"/>
              </a:ext>
            </a:extLst>
          </p:cNvPr>
          <p:cNvSpPr>
            <a:spLocks/>
          </p:cNvSpPr>
          <p:nvPr/>
        </p:nvSpPr>
        <p:spPr bwMode="auto">
          <a:xfrm>
            <a:off x="5246510" y="1573917"/>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0" name="Freeform 31">
            <a:extLst>
              <a:ext uri="{FF2B5EF4-FFF2-40B4-BE49-F238E27FC236}">
                <a16:creationId xmlns:a16="http://schemas.microsoft.com/office/drawing/2014/main" id="{C18F2289-1AA9-8CA2-79F2-700DDCEDBB63}"/>
              </a:ext>
            </a:extLst>
          </p:cNvPr>
          <p:cNvSpPr>
            <a:spLocks/>
          </p:cNvSpPr>
          <p:nvPr/>
        </p:nvSpPr>
        <p:spPr bwMode="auto">
          <a:xfrm>
            <a:off x="5389678" y="1666264"/>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nvGrpSpPr>
          <p:cNvPr id="31" name="Group 30">
            <a:extLst>
              <a:ext uri="{FF2B5EF4-FFF2-40B4-BE49-F238E27FC236}">
                <a16:creationId xmlns:a16="http://schemas.microsoft.com/office/drawing/2014/main" id="{EFDBFCB3-F3ED-B667-53B1-2F85A1D95499}"/>
              </a:ext>
            </a:extLst>
          </p:cNvPr>
          <p:cNvGrpSpPr/>
          <p:nvPr/>
        </p:nvGrpSpPr>
        <p:grpSpPr>
          <a:xfrm>
            <a:off x="2612856" y="3681886"/>
            <a:ext cx="4540498" cy="615272"/>
            <a:chOff x="2825502" y="4368434"/>
            <a:chExt cx="4540498" cy="615272"/>
          </a:xfrm>
        </p:grpSpPr>
        <p:sp>
          <p:nvSpPr>
            <p:cNvPr id="32" name="object 6">
              <a:extLst>
                <a:ext uri="{FF2B5EF4-FFF2-40B4-BE49-F238E27FC236}">
                  <a16:creationId xmlns:a16="http://schemas.microsoft.com/office/drawing/2014/main" id="{551197A2-F607-E6BD-ADFF-3451399F376E}"/>
                </a:ext>
              </a:extLst>
            </p:cNvPr>
            <p:cNvSpPr/>
            <p:nvPr/>
          </p:nvSpPr>
          <p:spPr>
            <a:xfrm flipV="1">
              <a:off x="3350807" y="46537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object 23">
              <a:extLst>
                <a:ext uri="{FF2B5EF4-FFF2-40B4-BE49-F238E27FC236}">
                  <a16:creationId xmlns:a16="http://schemas.microsoft.com/office/drawing/2014/main" id="{134B9576-5C77-18EF-390C-0443EB6C6672}"/>
                </a:ext>
              </a:extLst>
            </p:cNvPr>
            <p:cNvPicPr/>
            <p:nvPr/>
          </p:nvPicPr>
          <p:blipFill>
            <a:blip r:embed="rId5" cstate="print"/>
            <a:stretch>
              <a:fillRect/>
            </a:stretch>
          </p:blipFill>
          <p:spPr>
            <a:xfrm>
              <a:off x="7156293" y="4473100"/>
              <a:ext cx="162060" cy="103902"/>
            </a:xfrm>
            <a:prstGeom prst="rect">
              <a:avLst/>
            </a:prstGeom>
          </p:spPr>
        </p:pic>
        <p:sp>
          <p:nvSpPr>
            <p:cNvPr id="34" name="object 32">
              <a:extLst>
                <a:ext uri="{FF2B5EF4-FFF2-40B4-BE49-F238E27FC236}">
                  <a16:creationId xmlns:a16="http://schemas.microsoft.com/office/drawing/2014/main" id="{32371B57-4C21-0400-EF5B-D687E89FCAC4}"/>
                </a:ext>
              </a:extLst>
            </p:cNvPr>
            <p:cNvSpPr txBox="1"/>
            <p:nvPr/>
          </p:nvSpPr>
          <p:spPr>
            <a:xfrm>
              <a:off x="3498831" y="4368434"/>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a:ln>
                    <a:noFill/>
                  </a:ln>
                  <a:solidFill>
                    <a:srgbClr val="0E2A3F"/>
                  </a:solidFill>
                  <a:effectLst/>
                  <a:uLnTx/>
                  <a:uFillTx/>
                  <a:latin typeface="Roboto"/>
                  <a:ea typeface="+mn-ea"/>
                  <a:cs typeface="Roboto"/>
                </a:rPr>
                <a:t>intelia’s Approach</a:t>
              </a:r>
              <a:endParaRPr kumimoji="0" sz="1600" b="0" i="0" u="none" strike="noStrike" kern="1200" cap="none" spc="0" normalizeH="0" baseline="0" noProof="0">
                <a:ln>
                  <a:noFill/>
                </a:ln>
                <a:solidFill>
                  <a:srgbClr val="0E2A3F"/>
                </a:solidFill>
                <a:effectLst/>
                <a:uLnTx/>
                <a:uFillTx/>
                <a:latin typeface="Roboto"/>
                <a:ea typeface="+mn-ea"/>
                <a:cs typeface="Roboto"/>
              </a:endParaRPr>
            </a:p>
          </p:txBody>
        </p:sp>
        <p:grpSp>
          <p:nvGrpSpPr>
            <p:cNvPr id="35" name="Group 34">
              <a:extLst>
                <a:ext uri="{FF2B5EF4-FFF2-40B4-BE49-F238E27FC236}">
                  <a16:creationId xmlns:a16="http://schemas.microsoft.com/office/drawing/2014/main" id="{BDCAFD0A-22F5-6D89-8BA5-4F040D4BE9C7}"/>
                </a:ext>
              </a:extLst>
            </p:cNvPr>
            <p:cNvGrpSpPr/>
            <p:nvPr/>
          </p:nvGrpSpPr>
          <p:grpSpPr>
            <a:xfrm>
              <a:off x="2825502" y="4466181"/>
              <a:ext cx="565150" cy="517525"/>
              <a:chOff x="2880896" y="4105275"/>
              <a:chExt cx="565150" cy="517525"/>
            </a:xfrm>
          </p:grpSpPr>
          <p:sp>
            <p:nvSpPr>
              <p:cNvPr id="36" name="Oval 35">
                <a:extLst>
                  <a:ext uri="{FF2B5EF4-FFF2-40B4-BE49-F238E27FC236}">
                    <a16:creationId xmlns:a16="http://schemas.microsoft.com/office/drawing/2014/main" id="{D08FA88A-18FD-8FDF-6283-1A3B8A0276BD}"/>
                  </a:ext>
                </a:extLst>
              </p:cNvPr>
              <p:cNvSpPr/>
              <p:nvPr/>
            </p:nvSpPr>
            <p:spPr>
              <a:xfrm>
                <a:off x="2880896" y="4105275"/>
                <a:ext cx="565150" cy="517525"/>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37" name="Freeform 30">
                <a:extLst>
                  <a:ext uri="{FF2B5EF4-FFF2-40B4-BE49-F238E27FC236}">
                    <a16:creationId xmlns:a16="http://schemas.microsoft.com/office/drawing/2014/main" id="{92224B68-3FBD-5EE3-74E8-59D8E35A15E1}"/>
                  </a:ext>
                </a:extLst>
              </p:cNvPr>
              <p:cNvSpPr>
                <a:spLocks noEditPoints="1"/>
              </p:cNvSpPr>
              <p:nvPr/>
            </p:nvSpPr>
            <p:spPr bwMode="auto">
              <a:xfrm rot="2700000">
                <a:off x="3029023" y="4139633"/>
                <a:ext cx="261322" cy="435932"/>
              </a:xfrm>
              <a:custGeom>
                <a:avLst/>
                <a:gdLst>
                  <a:gd name="T0" fmla="*/ 50 w 184"/>
                  <a:gd name="T1" fmla="*/ 310 h 310"/>
                  <a:gd name="T2" fmla="*/ 32 w 184"/>
                  <a:gd name="T3" fmla="*/ 282 h 310"/>
                  <a:gd name="T4" fmla="*/ 10 w 184"/>
                  <a:gd name="T5" fmla="*/ 199 h 310"/>
                  <a:gd name="T6" fmla="*/ 39 w 184"/>
                  <a:gd name="T7" fmla="*/ 171 h 310"/>
                  <a:gd name="T8" fmla="*/ 30 w 184"/>
                  <a:gd name="T9" fmla="*/ 116 h 310"/>
                  <a:gd name="T10" fmla="*/ 36 w 184"/>
                  <a:gd name="T11" fmla="*/ 73 h 310"/>
                  <a:gd name="T12" fmla="*/ 36 w 184"/>
                  <a:gd name="T13" fmla="*/ 72 h 310"/>
                  <a:gd name="T14" fmla="*/ 92 w 184"/>
                  <a:gd name="T15" fmla="*/ 0 h 310"/>
                  <a:gd name="T16" fmla="*/ 148 w 184"/>
                  <a:gd name="T17" fmla="*/ 72 h 310"/>
                  <a:gd name="T18" fmla="*/ 148 w 184"/>
                  <a:gd name="T19" fmla="*/ 73 h 310"/>
                  <a:gd name="T20" fmla="*/ 155 w 184"/>
                  <a:gd name="T21" fmla="*/ 116 h 310"/>
                  <a:gd name="T22" fmla="*/ 145 w 184"/>
                  <a:gd name="T23" fmla="*/ 171 h 310"/>
                  <a:gd name="T24" fmla="*/ 174 w 184"/>
                  <a:gd name="T25" fmla="*/ 199 h 310"/>
                  <a:gd name="T26" fmla="*/ 153 w 184"/>
                  <a:gd name="T27" fmla="*/ 282 h 310"/>
                  <a:gd name="T28" fmla="*/ 134 w 184"/>
                  <a:gd name="T29" fmla="*/ 310 h 310"/>
                  <a:gd name="T30" fmla="*/ 134 w 184"/>
                  <a:gd name="T31" fmla="*/ 276 h 310"/>
                  <a:gd name="T32" fmla="*/ 118 w 184"/>
                  <a:gd name="T33" fmla="*/ 239 h 310"/>
                  <a:gd name="T34" fmla="*/ 118 w 184"/>
                  <a:gd name="T35" fmla="*/ 240 h 310"/>
                  <a:gd name="T36" fmla="*/ 115 w 184"/>
                  <a:gd name="T37" fmla="*/ 246 h 310"/>
                  <a:gd name="T38" fmla="*/ 108 w 184"/>
                  <a:gd name="T39" fmla="*/ 245 h 310"/>
                  <a:gd name="T40" fmla="*/ 76 w 184"/>
                  <a:gd name="T41" fmla="*/ 245 h 310"/>
                  <a:gd name="T42" fmla="*/ 69 w 184"/>
                  <a:gd name="T43" fmla="*/ 246 h 310"/>
                  <a:gd name="T44" fmla="*/ 66 w 184"/>
                  <a:gd name="T45" fmla="*/ 240 h 310"/>
                  <a:gd name="T46" fmla="*/ 66 w 184"/>
                  <a:gd name="T47" fmla="*/ 239 h 310"/>
                  <a:gd name="T48" fmla="*/ 50 w 184"/>
                  <a:gd name="T49" fmla="*/ 276 h 310"/>
                  <a:gd name="T50" fmla="*/ 50 w 184"/>
                  <a:gd name="T51" fmla="*/ 310 h 310"/>
                  <a:gd name="T52" fmla="*/ 55 w 184"/>
                  <a:gd name="T53" fmla="*/ 79 h 310"/>
                  <a:gd name="T54" fmla="*/ 50 w 184"/>
                  <a:gd name="T55" fmla="*/ 116 h 310"/>
                  <a:gd name="T56" fmla="*/ 61 w 184"/>
                  <a:gd name="T57" fmla="*/ 174 h 310"/>
                  <a:gd name="T58" fmla="*/ 64 w 184"/>
                  <a:gd name="T59" fmla="*/ 184 h 310"/>
                  <a:gd name="T60" fmla="*/ 54 w 184"/>
                  <a:gd name="T61" fmla="*/ 187 h 310"/>
                  <a:gd name="T62" fmla="*/ 29 w 184"/>
                  <a:gd name="T63" fmla="*/ 205 h 310"/>
                  <a:gd name="T64" fmla="*/ 36 w 184"/>
                  <a:gd name="T65" fmla="*/ 247 h 310"/>
                  <a:gd name="T66" fmla="*/ 65 w 184"/>
                  <a:gd name="T67" fmla="*/ 215 h 310"/>
                  <a:gd name="T68" fmla="*/ 74 w 184"/>
                  <a:gd name="T69" fmla="*/ 209 h 310"/>
                  <a:gd name="T70" fmla="*/ 79 w 184"/>
                  <a:gd name="T71" fmla="*/ 219 h 310"/>
                  <a:gd name="T72" fmla="*/ 82 w 184"/>
                  <a:gd name="T73" fmla="*/ 225 h 310"/>
                  <a:gd name="T74" fmla="*/ 103 w 184"/>
                  <a:gd name="T75" fmla="*/ 225 h 310"/>
                  <a:gd name="T76" fmla="*/ 105 w 184"/>
                  <a:gd name="T77" fmla="*/ 219 h 310"/>
                  <a:gd name="T78" fmla="*/ 110 w 184"/>
                  <a:gd name="T79" fmla="*/ 209 h 310"/>
                  <a:gd name="T80" fmla="*/ 120 w 184"/>
                  <a:gd name="T81" fmla="*/ 215 h 310"/>
                  <a:gd name="T82" fmla="*/ 148 w 184"/>
                  <a:gd name="T83" fmla="*/ 247 h 310"/>
                  <a:gd name="T84" fmla="*/ 155 w 184"/>
                  <a:gd name="T85" fmla="*/ 205 h 310"/>
                  <a:gd name="T86" fmla="*/ 130 w 184"/>
                  <a:gd name="T87" fmla="*/ 187 h 310"/>
                  <a:gd name="T88" fmla="*/ 120 w 184"/>
                  <a:gd name="T89" fmla="*/ 184 h 310"/>
                  <a:gd name="T90" fmla="*/ 123 w 184"/>
                  <a:gd name="T91" fmla="*/ 174 h 310"/>
                  <a:gd name="T92" fmla="*/ 135 w 184"/>
                  <a:gd name="T93" fmla="*/ 116 h 310"/>
                  <a:gd name="T94" fmla="*/ 129 w 184"/>
                  <a:gd name="T95" fmla="*/ 79 h 310"/>
                  <a:gd name="T96" fmla="*/ 92 w 184"/>
                  <a:gd name="T97" fmla="*/ 21 h 310"/>
                  <a:gd name="T98" fmla="*/ 55 w 184"/>
                  <a:gd name="T99" fmla="*/ 7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4" h="310">
                    <a:moveTo>
                      <a:pt x="50" y="310"/>
                    </a:moveTo>
                    <a:cubicBezTo>
                      <a:pt x="32" y="282"/>
                      <a:pt x="32" y="282"/>
                      <a:pt x="32" y="282"/>
                    </a:cubicBezTo>
                    <a:cubicBezTo>
                      <a:pt x="28" y="276"/>
                      <a:pt x="0" y="230"/>
                      <a:pt x="10" y="199"/>
                    </a:cubicBezTo>
                    <a:cubicBezTo>
                      <a:pt x="14" y="187"/>
                      <a:pt x="24" y="178"/>
                      <a:pt x="39" y="171"/>
                    </a:cubicBezTo>
                    <a:cubicBezTo>
                      <a:pt x="33" y="151"/>
                      <a:pt x="30" y="132"/>
                      <a:pt x="30" y="116"/>
                    </a:cubicBezTo>
                    <a:cubicBezTo>
                      <a:pt x="30" y="102"/>
                      <a:pt x="32" y="87"/>
                      <a:pt x="36" y="73"/>
                    </a:cubicBezTo>
                    <a:cubicBezTo>
                      <a:pt x="36" y="72"/>
                      <a:pt x="36" y="72"/>
                      <a:pt x="36" y="72"/>
                    </a:cubicBezTo>
                    <a:cubicBezTo>
                      <a:pt x="50" y="35"/>
                      <a:pt x="77" y="0"/>
                      <a:pt x="92" y="0"/>
                    </a:cubicBezTo>
                    <a:cubicBezTo>
                      <a:pt x="107" y="0"/>
                      <a:pt x="134" y="35"/>
                      <a:pt x="148" y="72"/>
                    </a:cubicBezTo>
                    <a:cubicBezTo>
                      <a:pt x="148" y="73"/>
                      <a:pt x="148" y="73"/>
                      <a:pt x="148" y="73"/>
                    </a:cubicBezTo>
                    <a:cubicBezTo>
                      <a:pt x="152" y="87"/>
                      <a:pt x="155" y="102"/>
                      <a:pt x="155" y="116"/>
                    </a:cubicBezTo>
                    <a:cubicBezTo>
                      <a:pt x="155" y="132"/>
                      <a:pt x="152" y="151"/>
                      <a:pt x="145" y="171"/>
                    </a:cubicBezTo>
                    <a:cubicBezTo>
                      <a:pt x="160" y="178"/>
                      <a:pt x="170" y="187"/>
                      <a:pt x="174" y="199"/>
                    </a:cubicBezTo>
                    <a:cubicBezTo>
                      <a:pt x="184" y="230"/>
                      <a:pt x="156" y="276"/>
                      <a:pt x="153" y="282"/>
                    </a:cubicBezTo>
                    <a:cubicBezTo>
                      <a:pt x="134" y="310"/>
                      <a:pt x="134" y="310"/>
                      <a:pt x="134" y="310"/>
                    </a:cubicBezTo>
                    <a:cubicBezTo>
                      <a:pt x="134" y="276"/>
                      <a:pt x="134" y="276"/>
                      <a:pt x="134" y="276"/>
                    </a:cubicBezTo>
                    <a:cubicBezTo>
                      <a:pt x="134" y="262"/>
                      <a:pt x="128" y="248"/>
                      <a:pt x="118" y="239"/>
                    </a:cubicBezTo>
                    <a:cubicBezTo>
                      <a:pt x="118" y="239"/>
                      <a:pt x="118" y="239"/>
                      <a:pt x="118" y="240"/>
                    </a:cubicBezTo>
                    <a:cubicBezTo>
                      <a:pt x="115" y="246"/>
                      <a:pt x="115" y="246"/>
                      <a:pt x="115" y="246"/>
                    </a:cubicBezTo>
                    <a:cubicBezTo>
                      <a:pt x="108" y="245"/>
                      <a:pt x="108" y="245"/>
                      <a:pt x="108" y="245"/>
                    </a:cubicBezTo>
                    <a:cubicBezTo>
                      <a:pt x="98" y="245"/>
                      <a:pt x="87" y="245"/>
                      <a:pt x="76" y="245"/>
                    </a:cubicBezTo>
                    <a:cubicBezTo>
                      <a:pt x="69" y="246"/>
                      <a:pt x="69" y="246"/>
                      <a:pt x="69" y="246"/>
                    </a:cubicBezTo>
                    <a:cubicBezTo>
                      <a:pt x="66" y="240"/>
                      <a:pt x="66" y="240"/>
                      <a:pt x="66" y="240"/>
                    </a:cubicBezTo>
                    <a:cubicBezTo>
                      <a:pt x="66" y="239"/>
                      <a:pt x="66" y="239"/>
                      <a:pt x="66" y="239"/>
                    </a:cubicBezTo>
                    <a:cubicBezTo>
                      <a:pt x="56" y="249"/>
                      <a:pt x="50" y="262"/>
                      <a:pt x="50" y="276"/>
                    </a:cubicBezTo>
                    <a:lnTo>
                      <a:pt x="50" y="310"/>
                    </a:lnTo>
                    <a:close/>
                    <a:moveTo>
                      <a:pt x="55" y="79"/>
                    </a:moveTo>
                    <a:cubicBezTo>
                      <a:pt x="52" y="91"/>
                      <a:pt x="50" y="104"/>
                      <a:pt x="50" y="116"/>
                    </a:cubicBezTo>
                    <a:cubicBezTo>
                      <a:pt x="50" y="132"/>
                      <a:pt x="53" y="152"/>
                      <a:pt x="61" y="174"/>
                    </a:cubicBezTo>
                    <a:cubicBezTo>
                      <a:pt x="64" y="184"/>
                      <a:pt x="64" y="184"/>
                      <a:pt x="64" y="184"/>
                    </a:cubicBezTo>
                    <a:cubicBezTo>
                      <a:pt x="54" y="187"/>
                      <a:pt x="54" y="187"/>
                      <a:pt x="54" y="187"/>
                    </a:cubicBezTo>
                    <a:cubicBezTo>
                      <a:pt x="45" y="190"/>
                      <a:pt x="33" y="196"/>
                      <a:pt x="29" y="205"/>
                    </a:cubicBezTo>
                    <a:cubicBezTo>
                      <a:pt x="26" y="216"/>
                      <a:pt x="30" y="233"/>
                      <a:pt x="36" y="247"/>
                    </a:cubicBezTo>
                    <a:cubicBezTo>
                      <a:pt x="42" y="234"/>
                      <a:pt x="52" y="223"/>
                      <a:pt x="65" y="215"/>
                    </a:cubicBezTo>
                    <a:cubicBezTo>
                      <a:pt x="74" y="209"/>
                      <a:pt x="74" y="209"/>
                      <a:pt x="74" y="209"/>
                    </a:cubicBezTo>
                    <a:cubicBezTo>
                      <a:pt x="79" y="219"/>
                      <a:pt x="79" y="219"/>
                      <a:pt x="79" y="219"/>
                    </a:cubicBezTo>
                    <a:cubicBezTo>
                      <a:pt x="80" y="221"/>
                      <a:pt x="81" y="223"/>
                      <a:pt x="82" y="225"/>
                    </a:cubicBezTo>
                    <a:cubicBezTo>
                      <a:pt x="89" y="225"/>
                      <a:pt x="96" y="225"/>
                      <a:pt x="103" y="225"/>
                    </a:cubicBezTo>
                    <a:cubicBezTo>
                      <a:pt x="104" y="223"/>
                      <a:pt x="105" y="221"/>
                      <a:pt x="105" y="219"/>
                    </a:cubicBezTo>
                    <a:cubicBezTo>
                      <a:pt x="110" y="209"/>
                      <a:pt x="110" y="209"/>
                      <a:pt x="110" y="209"/>
                    </a:cubicBezTo>
                    <a:cubicBezTo>
                      <a:pt x="120" y="215"/>
                      <a:pt x="120" y="215"/>
                      <a:pt x="120" y="215"/>
                    </a:cubicBezTo>
                    <a:cubicBezTo>
                      <a:pt x="133" y="223"/>
                      <a:pt x="142" y="234"/>
                      <a:pt x="148" y="247"/>
                    </a:cubicBezTo>
                    <a:cubicBezTo>
                      <a:pt x="154" y="233"/>
                      <a:pt x="159" y="216"/>
                      <a:pt x="155" y="205"/>
                    </a:cubicBezTo>
                    <a:cubicBezTo>
                      <a:pt x="152" y="196"/>
                      <a:pt x="140" y="190"/>
                      <a:pt x="130" y="187"/>
                    </a:cubicBezTo>
                    <a:cubicBezTo>
                      <a:pt x="120" y="184"/>
                      <a:pt x="120" y="184"/>
                      <a:pt x="120" y="184"/>
                    </a:cubicBezTo>
                    <a:cubicBezTo>
                      <a:pt x="123" y="174"/>
                      <a:pt x="123" y="174"/>
                      <a:pt x="123" y="174"/>
                    </a:cubicBezTo>
                    <a:cubicBezTo>
                      <a:pt x="131" y="152"/>
                      <a:pt x="135" y="132"/>
                      <a:pt x="135" y="116"/>
                    </a:cubicBezTo>
                    <a:cubicBezTo>
                      <a:pt x="135" y="104"/>
                      <a:pt x="133" y="91"/>
                      <a:pt x="129" y="79"/>
                    </a:cubicBezTo>
                    <a:cubicBezTo>
                      <a:pt x="117" y="47"/>
                      <a:pt x="99" y="26"/>
                      <a:pt x="92" y="21"/>
                    </a:cubicBezTo>
                    <a:cubicBezTo>
                      <a:pt x="85" y="26"/>
                      <a:pt x="67" y="47"/>
                      <a:pt x="55" y="79"/>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8" name="Freeform 32">
                <a:extLst>
                  <a:ext uri="{FF2B5EF4-FFF2-40B4-BE49-F238E27FC236}">
                    <a16:creationId xmlns:a16="http://schemas.microsoft.com/office/drawing/2014/main" id="{21D8F4D2-8B53-8BDF-B4F3-F11CD1DCA96D}"/>
                  </a:ext>
                </a:extLst>
              </p:cNvPr>
              <p:cNvSpPr>
                <a:spLocks noEditPoints="1"/>
              </p:cNvSpPr>
              <p:nvPr/>
            </p:nvSpPr>
            <p:spPr bwMode="auto">
              <a:xfrm rot="2700000">
                <a:off x="3014273" y="4394936"/>
                <a:ext cx="83765" cy="133316"/>
              </a:xfrm>
              <a:custGeom>
                <a:avLst/>
                <a:gdLst>
                  <a:gd name="T0" fmla="*/ 29 w 59"/>
                  <a:gd name="T1" fmla="*/ 95 h 95"/>
                  <a:gd name="T2" fmla="*/ 24 w 59"/>
                  <a:gd name="T3" fmla="*/ 85 h 95"/>
                  <a:gd name="T4" fmla="*/ 0 w 59"/>
                  <a:gd name="T5" fmla="*/ 26 h 95"/>
                  <a:gd name="T6" fmla="*/ 29 w 59"/>
                  <a:gd name="T7" fmla="*/ 0 h 95"/>
                  <a:gd name="T8" fmla="*/ 59 w 59"/>
                  <a:gd name="T9" fmla="*/ 26 h 95"/>
                  <a:gd name="T10" fmla="*/ 34 w 59"/>
                  <a:gd name="T11" fmla="*/ 85 h 95"/>
                  <a:gd name="T12" fmla="*/ 29 w 59"/>
                  <a:gd name="T13" fmla="*/ 95 h 95"/>
                  <a:gd name="T14" fmla="*/ 29 w 59"/>
                  <a:gd name="T15" fmla="*/ 12 h 95"/>
                  <a:gd name="T16" fmla="*/ 12 w 59"/>
                  <a:gd name="T17" fmla="*/ 26 h 95"/>
                  <a:gd name="T18" fmla="*/ 29 w 59"/>
                  <a:gd name="T19" fmla="*/ 69 h 95"/>
                  <a:gd name="T20" fmla="*/ 47 w 59"/>
                  <a:gd name="T21" fmla="*/ 26 h 95"/>
                  <a:gd name="T22" fmla="*/ 29 w 59"/>
                  <a:gd name="T23" fmla="*/ 1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95">
                    <a:moveTo>
                      <a:pt x="29" y="95"/>
                    </a:moveTo>
                    <a:cubicBezTo>
                      <a:pt x="24" y="85"/>
                      <a:pt x="24" y="85"/>
                      <a:pt x="24" y="85"/>
                    </a:cubicBezTo>
                    <a:cubicBezTo>
                      <a:pt x="20" y="77"/>
                      <a:pt x="0" y="38"/>
                      <a:pt x="0" y="26"/>
                    </a:cubicBezTo>
                    <a:cubicBezTo>
                      <a:pt x="0" y="12"/>
                      <a:pt x="13" y="0"/>
                      <a:pt x="29" y="0"/>
                    </a:cubicBezTo>
                    <a:cubicBezTo>
                      <a:pt x="45" y="0"/>
                      <a:pt x="59" y="12"/>
                      <a:pt x="59" y="26"/>
                    </a:cubicBezTo>
                    <a:cubicBezTo>
                      <a:pt x="59" y="38"/>
                      <a:pt x="39" y="77"/>
                      <a:pt x="34" y="85"/>
                    </a:cubicBezTo>
                    <a:lnTo>
                      <a:pt x="29" y="95"/>
                    </a:lnTo>
                    <a:close/>
                    <a:moveTo>
                      <a:pt x="29" y="12"/>
                    </a:moveTo>
                    <a:cubicBezTo>
                      <a:pt x="19" y="12"/>
                      <a:pt x="12" y="18"/>
                      <a:pt x="12" y="26"/>
                    </a:cubicBezTo>
                    <a:cubicBezTo>
                      <a:pt x="12" y="31"/>
                      <a:pt x="20" y="50"/>
                      <a:pt x="29" y="69"/>
                    </a:cubicBezTo>
                    <a:cubicBezTo>
                      <a:pt x="38" y="50"/>
                      <a:pt x="47" y="31"/>
                      <a:pt x="47" y="26"/>
                    </a:cubicBezTo>
                    <a:cubicBezTo>
                      <a:pt x="47" y="18"/>
                      <a:pt x="39" y="12"/>
                      <a:pt x="29" y="12"/>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grpSp>
      <p:sp>
        <p:nvSpPr>
          <p:cNvPr id="39" name="object 31">
            <a:extLst>
              <a:ext uri="{FF2B5EF4-FFF2-40B4-BE49-F238E27FC236}">
                <a16:creationId xmlns:a16="http://schemas.microsoft.com/office/drawing/2014/main" id="{B0A14E16-6211-D3B5-C236-8D6E6A379CB9}"/>
              </a:ext>
            </a:extLst>
          </p:cNvPr>
          <p:cNvSpPr txBox="1"/>
          <p:nvPr/>
        </p:nvSpPr>
        <p:spPr>
          <a:xfrm>
            <a:off x="8081230" y="4747107"/>
            <a:ext cx="3902849" cy="1551707"/>
          </a:xfrm>
          <a:prstGeom prst="rect">
            <a:avLst/>
          </a:prstGeom>
        </p:spPr>
        <p:txBody>
          <a:bodyPr vert="horz" wrap="square" lIns="0" tIns="12700" rIns="0" bIns="0" rtlCol="0" anchor="t">
            <a:spAutoFit/>
          </a:bodyPr>
          <a:lstStyle/>
          <a:p>
            <a:pPr defTabSz="584200" hangingPunct="0">
              <a:defRPr/>
            </a:pPr>
            <a:r>
              <a:rPr kumimoji="0" lang="en-AU" sz="1000" b="0" i="0" u="none" strike="noStrike" kern="1200" cap="none" spc="0" normalizeH="0" baseline="0" noProof="0" dirty="0">
                <a:ln>
                  <a:noFill/>
                </a:ln>
                <a:solidFill>
                  <a:srgbClr val="212B40"/>
                </a:solidFill>
                <a:effectLst/>
                <a:uLnTx/>
                <a:uFillTx/>
                <a:latin typeface="Roboto"/>
                <a:ea typeface="+mn-ea"/>
                <a:cs typeface="Roboto"/>
                <a:sym typeface="Helvetica Neue Medium"/>
              </a:rPr>
              <a:t>Having an agreed and endorsed Data Migration Strategy, assisted Deakin to understand how technically data will be migrated as well as set expectations on effort, time and skill needed. Utilising the Unified Data Model and </a:t>
            </a:r>
            <a:r>
              <a:rPr lang="en-AU" sz="1000" dirty="0">
                <a:solidFill>
                  <a:srgbClr val="212B40"/>
                </a:solidFill>
                <a:latin typeface="Roboto"/>
                <a:cs typeface="Roboto"/>
                <a:sym typeface="Helvetica Neue Medium"/>
              </a:rPr>
              <a:t>migrating</a:t>
            </a:r>
            <a:r>
              <a:rPr kumimoji="0" lang="en-AU" sz="1000" b="0" i="0" u="none" strike="noStrike" kern="1200" cap="none" spc="0" normalizeH="0" baseline="0" noProof="0" dirty="0">
                <a:ln>
                  <a:noFill/>
                </a:ln>
                <a:solidFill>
                  <a:srgbClr val="212B40"/>
                </a:solidFill>
                <a:effectLst/>
                <a:uLnTx/>
                <a:uFillTx/>
                <a:latin typeface="Roboto"/>
                <a:ea typeface="+mn-ea"/>
                <a:cs typeface="Roboto"/>
                <a:sym typeface="Helvetica Neue Medium"/>
              </a:rPr>
              <a:t> data </a:t>
            </a:r>
            <a:r>
              <a:rPr lang="en-AU" sz="1000" dirty="0">
                <a:solidFill>
                  <a:srgbClr val="212B40"/>
                </a:solidFill>
                <a:latin typeface="Roboto"/>
                <a:cs typeface="Roboto"/>
                <a:sym typeface="Helvetica Neue Medium"/>
              </a:rPr>
              <a:t>through the </a:t>
            </a:r>
            <a:r>
              <a:rPr kumimoji="0" lang="en-AU" sz="1000" b="0" i="0" u="none" strike="noStrike" kern="1200" cap="none" spc="0" normalizeH="0" baseline="0" noProof="0" dirty="0">
                <a:ln>
                  <a:noFill/>
                </a:ln>
                <a:solidFill>
                  <a:srgbClr val="212B40"/>
                </a:solidFill>
                <a:effectLst/>
                <a:uLnTx/>
                <a:uFillTx/>
                <a:latin typeface="Roboto"/>
                <a:ea typeface="+mn-ea"/>
                <a:cs typeface="Roboto"/>
                <a:sym typeface="Helvetica Neue Medium"/>
              </a:rPr>
              <a:t>Data Vault</a:t>
            </a:r>
            <a:r>
              <a:rPr lang="en-AU" sz="1000" dirty="0">
                <a:solidFill>
                  <a:srgbClr val="212B40"/>
                </a:solidFill>
                <a:latin typeface="Roboto"/>
                <a:cs typeface="Roboto"/>
                <a:sym typeface="Helvetica Neue Medium"/>
              </a:rPr>
              <a:t> methodology</a:t>
            </a:r>
            <a:r>
              <a:rPr kumimoji="0" lang="en-AU" sz="1000" b="0" i="0" u="none" strike="noStrike" kern="1200" cap="none" spc="0" normalizeH="0" baseline="0" noProof="0" dirty="0">
                <a:ln>
                  <a:noFill/>
                </a:ln>
                <a:solidFill>
                  <a:srgbClr val="212B40"/>
                </a:solidFill>
                <a:effectLst/>
                <a:uLnTx/>
                <a:uFillTx/>
                <a:latin typeface="Roboto"/>
                <a:ea typeface="+mn-ea"/>
                <a:cs typeface="Roboto"/>
                <a:sym typeface="Helvetica Neue Medium"/>
              </a:rPr>
              <a:t>, data was in a consumable format to easily allow for technical transformations, Data Quality reconciliations, business approvals in an iterative approach allowed us the ability to and migrate data.</a:t>
            </a:r>
            <a:br>
              <a:rPr lang="en-AU" sz="1000" dirty="0">
                <a:solidFill>
                  <a:srgbClr val="212B40"/>
                </a:solidFill>
                <a:latin typeface="Roboto"/>
                <a:cs typeface="Roboto"/>
                <a:sym typeface="Helvetica Neue Medium"/>
              </a:rPr>
            </a:br>
            <a:r>
              <a:rPr lang="en-AU" sz="1000" dirty="0">
                <a:solidFill>
                  <a:srgbClr val="212B40"/>
                </a:solidFill>
                <a:latin typeface="Roboto"/>
                <a:ea typeface="Roboto"/>
                <a:cs typeface="Roboto"/>
              </a:rPr>
              <a:t>As a result of executing on our strategy, data was successfully migrated into production </a:t>
            </a:r>
            <a:r>
              <a:rPr lang="en-AU" sz="1000">
                <a:solidFill>
                  <a:srgbClr val="212B40"/>
                </a:solidFill>
                <a:latin typeface="Roboto"/>
                <a:ea typeface="Roboto"/>
                <a:cs typeface="Roboto"/>
              </a:rPr>
              <a:t>without any defects.</a:t>
            </a:r>
            <a:endParaRPr lang="en-AU" sz="1000" b="0" i="0" u="none" strike="noStrike" kern="1200" cap="none" spc="0" normalizeH="0" baseline="0" noProof="0">
              <a:ln>
                <a:noFill/>
              </a:ln>
              <a:solidFill>
                <a:srgbClr val="212B40"/>
              </a:solidFill>
              <a:effectLst/>
              <a:uLnTx/>
              <a:uFillTx/>
              <a:latin typeface="Roboto"/>
              <a:ea typeface="Roboto"/>
              <a:cs typeface="Roboto"/>
            </a:endParaRPr>
          </a:p>
          <a:p>
            <a:pPr marL="0" marR="0" lvl="0" indent="0" algn="l" defTabSz="584200" rtl="0" eaLnBrk="1" fontAlgn="auto" latinLnBrk="0" hangingPunct="0">
              <a:lnSpc>
                <a:spcPct val="100000"/>
              </a:lnSpc>
              <a:spcBef>
                <a:spcPts val="0"/>
              </a:spcBef>
              <a:spcAft>
                <a:spcPts val="0"/>
              </a:spcAft>
              <a:buClrTx/>
              <a:buSzTx/>
              <a:buFontTx/>
              <a:buNone/>
              <a:tabLst/>
              <a:defRPr/>
            </a:pPr>
            <a:endParaRPr kumimoji="0" lang="en-AU" sz="1000" b="0" i="0" u="none" strike="noStrike" kern="1200" cap="none" spc="0" normalizeH="0" baseline="0" noProof="0">
              <a:ln>
                <a:noFill/>
              </a:ln>
              <a:solidFill>
                <a:srgbClr val="212B40"/>
              </a:solidFill>
              <a:effectLst/>
              <a:uLnTx/>
              <a:uFillTx/>
              <a:latin typeface="Roboto"/>
              <a:ea typeface="+mn-ea"/>
              <a:cs typeface="Roboto"/>
              <a:sym typeface="Helvetica Neue Medium"/>
            </a:endParaRPr>
          </a:p>
        </p:txBody>
      </p:sp>
      <p:grpSp>
        <p:nvGrpSpPr>
          <p:cNvPr id="40" name="Group 39">
            <a:extLst>
              <a:ext uri="{FF2B5EF4-FFF2-40B4-BE49-F238E27FC236}">
                <a16:creationId xmlns:a16="http://schemas.microsoft.com/office/drawing/2014/main" id="{8E5AC439-79DA-E440-79C8-A9EDED65B305}"/>
              </a:ext>
            </a:extLst>
          </p:cNvPr>
          <p:cNvGrpSpPr/>
          <p:nvPr/>
        </p:nvGrpSpPr>
        <p:grpSpPr>
          <a:xfrm>
            <a:off x="7400205" y="4339491"/>
            <a:ext cx="4533074" cy="558587"/>
            <a:chOff x="2832926" y="8434440"/>
            <a:chExt cx="4533074" cy="558587"/>
          </a:xfrm>
        </p:grpSpPr>
        <p:sp>
          <p:nvSpPr>
            <p:cNvPr id="41" name="object 6">
              <a:extLst>
                <a:ext uri="{FF2B5EF4-FFF2-40B4-BE49-F238E27FC236}">
                  <a16:creationId xmlns:a16="http://schemas.microsoft.com/office/drawing/2014/main" id="{F0660766-C7E2-198A-510D-FB47BA3785BD}"/>
                </a:ext>
              </a:extLst>
            </p:cNvPr>
            <p:cNvSpPr/>
            <p:nvPr/>
          </p:nvSpPr>
          <p:spPr>
            <a:xfrm flipV="1">
              <a:off x="3371321" y="8691162"/>
              <a:ext cx="3994679" cy="45719"/>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2" name="object 23">
              <a:extLst>
                <a:ext uri="{FF2B5EF4-FFF2-40B4-BE49-F238E27FC236}">
                  <a16:creationId xmlns:a16="http://schemas.microsoft.com/office/drawing/2014/main" id="{4AE8F55D-6743-1891-D55D-B8CA1A744126}"/>
                </a:ext>
              </a:extLst>
            </p:cNvPr>
            <p:cNvPicPr/>
            <p:nvPr/>
          </p:nvPicPr>
          <p:blipFill>
            <a:blip r:embed="rId5" cstate="print"/>
            <a:stretch>
              <a:fillRect/>
            </a:stretch>
          </p:blipFill>
          <p:spPr>
            <a:xfrm>
              <a:off x="7105493" y="8539106"/>
              <a:ext cx="162060" cy="103902"/>
            </a:xfrm>
            <a:prstGeom prst="rect">
              <a:avLst/>
            </a:prstGeom>
          </p:spPr>
        </p:pic>
        <p:sp>
          <p:nvSpPr>
            <p:cNvPr id="43" name="object 32">
              <a:extLst>
                <a:ext uri="{FF2B5EF4-FFF2-40B4-BE49-F238E27FC236}">
                  <a16:creationId xmlns:a16="http://schemas.microsoft.com/office/drawing/2014/main" id="{209DAB07-BC1C-9636-6150-68D736197C39}"/>
                </a:ext>
              </a:extLst>
            </p:cNvPr>
            <p:cNvSpPr txBox="1"/>
            <p:nvPr/>
          </p:nvSpPr>
          <p:spPr>
            <a:xfrm>
              <a:off x="3513951" y="8434440"/>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a:ln>
                    <a:noFill/>
                  </a:ln>
                  <a:solidFill>
                    <a:srgbClr val="0E2A3F"/>
                  </a:solidFill>
                  <a:effectLst/>
                  <a:uLnTx/>
                  <a:uFillTx/>
                  <a:latin typeface="Roboto"/>
                  <a:ea typeface="+mn-ea"/>
                  <a:cs typeface="Roboto"/>
                </a:rPr>
                <a:t>Outcome </a:t>
              </a:r>
              <a:endParaRPr kumimoji="0" sz="1600" b="0" i="0" u="none" strike="noStrike" kern="1200" cap="none" spc="0" normalizeH="0" baseline="0" noProof="0">
                <a:ln>
                  <a:noFill/>
                </a:ln>
                <a:solidFill>
                  <a:srgbClr val="0E2A3F"/>
                </a:solidFill>
                <a:effectLst/>
                <a:uLnTx/>
                <a:uFillTx/>
                <a:latin typeface="Roboto"/>
                <a:ea typeface="+mn-ea"/>
                <a:cs typeface="Roboto"/>
              </a:endParaRPr>
            </a:p>
          </p:txBody>
        </p:sp>
        <p:grpSp>
          <p:nvGrpSpPr>
            <p:cNvPr id="44" name="Group 43">
              <a:extLst>
                <a:ext uri="{FF2B5EF4-FFF2-40B4-BE49-F238E27FC236}">
                  <a16:creationId xmlns:a16="http://schemas.microsoft.com/office/drawing/2014/main" id="{A94BFE55-B71C-8458-1CDA-C5CDF5D0C2BC}"/>
                </a:ext>
              </a:extLst>
            </p:cNvPr>
            <p:cNvGrpSpPr/>
            <p:nvPr/>
          </p:nvGrpSpPr>
          <p:grpSpPr>
            <a:xfrm>
              <a:off x="2832926" y="8475039"/>
              <a:ext cx="574768" cy="517988"/>
              <a:chOff x="2910256" y="7805799"/>
              <a:chExt cx="574768" cy="517988"/>
            </a:xfrm>
          </p:grpSpPr>
          <p:sp>
            <p:nvSpPr>
              <p:cNvPr id="45" name="Oval 44">
                <a:extLst>
                  <a:ext uri="{FF2B5EF4-FFF2-40B4-BE49-F238E27FC236}">
                    <a16:creationId xmlns:a16="http://schemas.microsoft.com/office/drawing/2014/main" id="{A0B375ED-5B17-C556-17A5-4D9467D58521}"/>
                  </a:ext>
                </a:extLst>
              </p:cNvPr>
              <p:cNvSpPr/>
              <p:nvPr/>
            </p:nvSpPr>
            <p:spPr>
              <a:xfrm>
                <a:off x="2910256" y="7805799"/>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pic>
            <p:nvPicPr>
              <p:cNvPr id="46" name="Picture 2" descr="Handshake - Free hands and gestures icons">
                <a:extLst>
                  <a:ext uri="{FF2B5EF4-FFF2-40B4-BE49-F238E27FC236}">
                    <a16:creationId xmlns:a16="http://schemas.microsoft.com/office/drawing/2014/main" id="{53D9A795-AAEB-18A8-48D1-9A8B412C708B}"/>
                  </a:ext>
                </a:extLst>
              </p:cNvPr>
              <p:cNvPicPr>
                <a:picLocks noChangeAspect="1" noChangeArrowheads="1"/>
              </p:cNvPicPr>
              <p:nvPr/>
            </p:nvPicPr>
            <p:blipFill>
              <a:blip r:embed="rId6" cstate="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003967" y="7884155"/>
                <a:ext cx="407854" cy="407854"/>
              </a:xfrm>
              <a:prstGeom prst="rect">
                <a:avLst/>
              </a:prstGeom>
              <a:noFill/>
              <a:extLst>
                <a:ext uri="{909E8E84-426E-40dd-AFC4-6F175D3DCCD1}">
                  <a14:hiddenFill xmlns:a14="http://schemas.microsoft.com/office/drawing/2010/main" xmlns="">
                    <a:solidFill>
                      <a:srgbClr val="FFFFFF"/>
                    </a:solidFill>
                  </a14:hiddenFill>
                </a:ext>
              </a:extLst>
            </p:spPr>
          </p:pic>
        </p:grpSp>
      </p:grpSp>
      <p:sp>
        <p:nvSpPr>
          <p:cNvPr id="53" name="TextBox 52">
            <a:extLst>
              <a:ext uri="{FF2B5EF4-FFF2-40B4-BE49-F238E27FC236}">
                <a16:creationId xmlns:a16="http://schemas.microsoft.com/office/drawing/2014/main" id="{6E4EAC1C-0A9E-A326-9FAC-F0EE18A9117D}"/>
              </a:ext>
            </a:extLst>
          </p:cNvPr>
          <p:cNvSpPr txBox="1"/>
          <p:nvPr/>
        </p:nvSpPr>
        <p:spPr>
          <a:xfrm>
            <a:off x="7759447" y="6499764"/>
            <a:ext cx="4624370" cy="32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With offices in Melbourne and Sydney, intelia is a technology consultancy specializing in all things data (strategy, architecture, governance, analytics, modern cloud data platforms and intelligent automation)</a:t>
            </a:r>
            <a:endParaRPr kumimoji="0" lang="en-AU" sz="75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grpSp>
        <p:nvGrpSpPr>
          <p:cNvPr id="54" name="Group 53">
            <a:extLst>
              <a:ext uri="{FF2B5EF4-FFF2-40B4-BE49-F238E27FC236}">
                <a16:creationId xmlns:a16="http://schemas.microsoft.com/office/drawing/2014/main" id="{62FA0344-63B8-FA85-9673-CAE06602E31E}"/>
              </a:ext>
            </a:extLst>
          </p:cNvPr>
          <p:cNvGrpSpPr/>
          <p:nvPr/>
        </p:nvGrpSpPr>
        <p:grpSpPr>
          <a:xfrm>
            <a:off x="2599045" y="1493031"/>
            <a:ext cx="4579709" cy="636287"/>
            <a:chOff x="2811691" y="2281883"/>
            <a:chExt cx="4579709" cy="636287"/>
          </a:xfrm>
        </p:grpSpPr>
        <p:pic>
          <p:nvPicPr>
            <p:cNvPr id="55" name="object 22">
              <a:extLst>
                <a:ext uri="{FF2B5EF4-FFF2-40B4-BE49-F238E27FC236}">
                  <a16:creationId xmlns:a16="http://schemas.microsoft.com/office/drawing/2014/main" id="{7C441AE6-669F-489C-6CA8-575B3418D532}"/>
                </a:ext>
              </a:extLst>
            </p:cNvPr>
            <p:cNvPicPr/>
            <p:nvPr/>
          </p:nvPicPr>
          <p:blipFill>
            <a:blip r:embed="rId8" cstate="print"/>
            <a:stretch>
              <a:fillRect/>
            </a:stretch>
          </p:blipFill>
          <p:spPr>
            <a:xfrm>
              <a:off x="7168993" y="2372549"/>
              <a:ext cx="162060" cy="103902"/>
            </a:xfrm>
            <a:prstGeom prst="rect">
              <a:avLst/>
            </a:prstGeom>
          </p:spPr>
        </p:pic>
        <p:sp>
          <p:nvSpPr>
            <p:cNvPr id="56" name="object 30">
              <a:extLst>
                <a:ext uri="{FF2B5EF4-FFF2-40B4-BE49-F238E27FC236}">
                  <a16:creationId xmlns:a16="http://schemas.microsoft.com/office/drawing/2014/main" id="{EB93F986-1D5D-4B85-38B2-589E3EF0BE8C}"/>
                </a:ext>
              </a:extLst>
            </p:cNvPr>
            <p:cNvSpPr txBox="1"/>
            <p:nvPr/>
          </p:nvSpPr>
          <p:spPr>
            <a:xfrm>
              <a:off x="3489852" y="2281883"/>
              <a:ext cx="22371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a:ln>
                    <a:noFill/>
                  </a:ln>
                  <a:solidFill>
                    <a:srgbClr val="0E2A3F"/>
                  </a:solidFill>
                  <a:effectLst/>
                  <a:uLnTx/>
                  <a:uFillTx/>
                  <a:latin typeface="Roboto"/>
                  <a:ea typeface="+mn-ea"/>
                  <a:cs typeface="Roboto"/>
                </a:rPr>
                <a:t>Problem </a:t>
              </a:r>
              <a:endParaRPr kumimoji="0" sz="1600" b="0" i="0" u="none" strike="noStrike" kern="1200" cap="none" spc="0" normalizeH="0" baseline="0" noProof="0">
                <a:ln>
                  <a:noFill/>
                </a:ln>
                <a:solidFill>
                  <a:srgbClr val="0E2A3F"/>
                </a:solidFill>
                <a:effectLst/>
                <a:uLnTx/>
                <a:uFillTx/>
                <a:latin typeface="Roboto"/>
                <a:ea typeface="+mn-ea"/>
                <a:cs typeface="Roboto"/>
              </a:endParaRPr>
            </a:p>
          </p:txBody>
        </p:sp>
        <p:grpSp>
          <p:nvGrpSpPr>
            <p:cNvPr id="57" name="Group 56">
              <a:extLst>
                <a:ext uri="{FF2B5EF4-FFF2-40B4-BE49-F238E27FC236}">
                  <a16:creationId xmlns:a16="http://schemas.microsoft.com/office/drawing/2014/main" id="{82782396-1318-3797-A305-CA956384A3F3}"/>
                </a:ext>
              </a:extLst>
            </p:cNvPr>
            <p:cNvGrpSpPr/>
            <p:nvPr/>
          </p:nvGrpSpPr>
          <p:grpSpPr>
            <a:xfrm>
              <a:off x="2811691" y="2400182"/>
              <a:ext cx="574768" cy="517988"/>
              <a:chOff x="2947478" y="2453812"/>
              <a:chExt cx="574768" cy="517988"/>
            </a:xfrm>
          </p:grpSpPr>
          <p:sp>
            <p:nvSpPr>
              <p:cNvPr id="59" name="Oval 58">
                <a:extLst>
                  <a:ext uri="{FF2B5EF4-FFF2-40B4-BE49-F238E27FC236}">
                    <a16:creationId xmlns:a16="http://schemas.microsoft.com/office/drawing/2014/main" id="{A76EA8AC-FBE4-A906-6DD2-A62A137B55AA}"/>
                  </a:ext>
                </a:extLst>
              </p:cNvPr>
              <p:cNvSpPr/>
              <p:nvPr/>
            </p:nvSpPr>
            <p:spPr>
              <a:xfrm>
                <a:off x="2947478" y="2453812"/>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60" name="Freeform 30">
                <a:extLst>
                  <a:ext uri="{FF2B5EF4-FFF2-40B4-BE49-F238E27FC236}">
                    <a16:creationId xmlns:a16="http://schemas.microsoft.com/office/drawing/2014/main" id="{305E174D-2C0E-5C48-ACC3-0161C36BF988}"/>
                  </a:ext>
                </a:extLst>
              </p:cNvPr>
              <p:cNvSpPr>
                <a:spLocks/>
              </p:cNvSpPr>
              <p:nvPr/>
            </p:nvSpPr>
            <p:spPr bwMode="auto">
              <a:xfrm>
                <a:off x="3023845" y="2543825"/>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1" name="Freeform 31">
                <a:extLst>
                  <a:ext uri="{FF2B5EF4-FFF2-40B4-BE49-F238E27FC236}">
                    <a16:creationId xmlns:a16="http://schemas.microsoft.com/office/drawing/2014/main" id="{0936550C-5551-F20D-516B-4026E912ECB8}"/>
                  </a:ext>
                </a:extLst>
              </p:cNvPr>
              <p:cNvSpPr>
                <a:spLocks/>
              </p:cNvSpPr>
              <p:nvPr/>
            </p:nvSpPr>
            <p:spPr bwMode="auto">
              <a:xfrm>
                <a:off x="3167013" y="2610772"/>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58" name="object 6">
              <a:extLst>
                <a:ext uri="{FF2B5EF4-FFF2-40B4-BE49-F238E27FC236}">
                  <a16:creationId xmlns:a16="http://schemas.microsoft.com/office/drawing/2014/main" id="{66080398-0508-3EEB-5FD4-19C7476A78B8}"/>
                </a:ext>
              </a:extLst>
            </p:cNvPr>
            <p:cNvSpPr/>
            <p:nvPr/>
          </p:nvSpPr>
          <p:spPr>
            <a:xfrm flipV="1">
              <a:off x="3376207" y="25709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2" name="Group 61">
            <a:extLst>
              <a:ext uri="{FF2B5EF4-FFF2-40B4-BE49-F238E27FC236}">
                <a16:creationId xmlns:a16="http://schemas.microsoft.com/office/drawing/2014/main" id="{B7648D23-386E-773E-A17A-37C34272BAE7}"/>
              </a:ext>
            </a:extLst>
          </p:cNvPr>
          <p:cNvGrpSpPr/>
          <p:nvPr/>
        </p:nvGrpSpPr>
        <p:grpSpPr>
          <a:xfrm>
            <a:off x="7482414" y="1573917"/>
            <a:ext cx="4501665" cy="424565"/>
            <a:chOff x="2915135" y="6239199"/>
            <a:chExt cx="4501665" cy="424565"/>
          </a:xfrm>
        </p:grpSpPr>
        <p:pic>
          <p:nvPicPr>
            <p:cNvPr id="63" name="object 23">
              <a:extLst>
                <a:ext uri="{FF2B5EF4-FFF2-40B4-BE49-F238E27FC236}">
                  <a16:creationId xmlns:a16="http://schemas.microsoft.com/office/drawing/2014/main" id="{BCFE86E4-2D92-39FF-F2AD-A1D9974EE878}"/>
                </a:ext>
              </a:extLst>
            </p:cNvPr>
            <p:cNvPicPr/>
            <p:nvPr/>
          </p:nvPicPr>
          <p:blipFill>
            <a:blip r:embed="rId5" cstate="print"/>
            <a:stretch>
              <a:fillRect/>
            </a:stretch>
          </p:blipFill>
          <p:spPr>
            <a:xfrm>
              <a:off x="7168993" y="6318644"/>
              <a:ext cx="162060" cy="103902"/>
            </a:xfrm>
            <a:prstGeom prst="rect">
              <a:avLst/>
            </a:prstGeom>
          </p:spPr>
        </p:pic>
        <p:sp>
          <p:nvSpPr>
            <p:cNvPr id="64" name="object 32">
              <a:extLst>
                <a:ext uri="{FF2B5EF4-FFF2-40B4-BE49-F238E27FC236}">
                  <a16:creationId xmlns:a16="http://schemas.microsoft.com/office/drawing/2014/main" id="{2B4844E5-96CE-0FD0-3809-592B5EC28501}"/>
                </a:ext>
              </a:extLst>
            </p:cNvPr>
            <p:cNvSpPr txBox="1"/>
            <p:nvPr/>
          </p:nvSpPr>
          <p:spPr>
            <a:xfrm>
              <a:off x="3498830" y="6239199"/>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a:ln>
                    <a:noFill/>
                  </a:ln>
                  <a:solidFill>
                    <a:srgbClr val="0E2A3F"/>
                  </a:solidFill>
                  <a:effectLst/>
                  <a:uLnTx/>
                  <a:uFillTx/>
                  <a:latin typeface="Roboto"/>
                  <a:ea typeface="+mn-ea"/>
                  <a:cs typeface="Roboto"/>
                </a:rPr>
                <a:t>Solution</a:t>
              </a:r>
              <a:endParaRPr kumimoji="0" sz="1600" b="0" i="0" u="none" strike="noStrike" kern="1200" cap="none" spc="0" normalizeH="0" baseline="0" noProof="0">
                <a:ln>
                  <a:noFill/>
                </a:ln>
                <a:solidFill>
                  <a:srgbClr val="0E2A3F"/>
                </a:solidFill>
                <a:effectLst/>
                <a:uLnTx/>
                <a:uFillTx/>
                <a:latin typeface="Roboto"/>
                <a:ea typeface="+mn-ea"/>
                <a:cs typeface="Roboto"/>
              </a:endParaRPr>
            </a:p>
          </p:txBody>
        </p:sp>
        <p:grpSp>
          <p:nvGrpSpPr>
            <p:cNvPr id="65" name="Group 64">
              <a:extLst>
                <a:ext uri="{FF2B5EF4-FFF2-40B4-BE49-F238E27FC236}">
                  <a16:creationId xmlns:a16="http://schemas.microsoft.com/office/drawing/2014/main" id="{DD53A769-EEF1-BF1C-F502-3A9935413C86}"/>
                </a:ext>
              </a:extLst>
            </p:cNvPr>
            <p:cNvGrpSpPr/>
            <p:nvPr/>
          </p:nvGrpSpPr>
          <p:grpSpPr>
            <a:xfrm>
              <a:off x="2915135" y="6368440"/>
              <a:ext cx="404366" cy="295324"/>
              <a:chOff x="2943269" y="5969255"/>
              <a:chExt cx="404366" cy="295324"/>
            </a:xfrm>
          </p:grpSpPr>
          <p:sp>
            <p:nvSpPr>
              <p:cNvPr id="67" name="Freeform 11">
                <a:extLst>
                  <a:ext uri="{FF2B5EF4-FFF2-40B4-BE49-F238E27FC236}">
                    <a16:creationId xmlns:a16="http://schemas.microsoft.com/office/drawing/2014/main" id="{E3C68016-9401-4746-15CC-6C4AD1139919}"/>
                  </a:ext>
                </a:extLst>
              </p:cNvPr>
              <p:cNvSpPr>
                <a:spLocks noEditPoints="1"/>
              </p:cNvSpPr>
              <p:nvPr/>
            </p:nvSpPr>
            <p:spPr bwMode="auto">
              <a:xfrm rot="21036247">
                <a:off x="3009452" y="6097694"/>
                <a:ext cx="101444" cy="101444"/>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3"/>
                    </a:moveTo>
                    <a:cubicBezTo>
                      <a:pt x="14" y="53"/>
                      <a:pt x="4" y="42"/>
                      <a:pt x="4" y="28"/>
                    </a:cubicBezTo>
                    <a:cubicBezTo>
                      <a:pt x="4" y="14"/>
                      <a:pt x="14" y="4"/>
                      <a:pt x="28" y="4"/>
                    </a:cubicBezTo>
                    <a:cubicBezTo>
                      <a:pt x="42" y="4"/>
                      <a:pt x="53" y="14"/>
                      <a:pt x="53" y="28"/>
                    </a:cubicBezTo>
                    <a:cubicBezTo>
                      <a:pt x="53" y="42"/>
                      <a:pt x="42" y="53"/>
                      <a:pt x="28" y="53"/>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8" name="Freeform 10">
                <a:extLst>
                  <a:ext uri="{FF2B5EF4-FFF2-40B4-BE49-F238E27FC236}">
                    <a16:creationId xmlns:a16="http://schemas.microsoft.com/office/drawing/2014/main" id="{E8F660A5-D8A3-7B0F-47BD-6C8ABC2317D7}"/>
                  </a:ext>
                </a:extLst>
              </p:cNvPr>
              <p:cNvSpPr>
                <a:spLocks noEditPoints="1"/>
              </p:cNvSpPr>
              <p:nvPr/>
            </p:nvSpPr>
            <p:spPr bwMode="auto">
              <a:xfrm rot="21036247">
                <a:off x="3152527" y="5969255"/>
                <a:ext cx="195108" cy="195107"/>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9" name="Freeform 10">
                <a:extLst>
                  <a:ext uri="{FF2B5EF4-FFF2-40B4-BE49-F238E27FC236}">
                    <a16:creationId xmlns:a16="http://schemas.microsoft.com/office/drawing/2014/main" id="{1A516EBD-0EF3-70D3-A667-E94277A0DB91}"/>
                  </a:ext>
                </a:extLst>
              </p:cNvPr>
              <p:cNvSpPr>
                <a:spLocks noEditPoints="1"/>
              </p:cNvSpPr>
              <p:nvPr/>
            </p:nvSpPr>
            <p:spPr bwMode="auto">
              <a:xfrm rot="21036247">
                <a:off x="2943269" y="6031634"/>
                <a:ext cx="232946" cy="232945"/>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70" name="Freeform 12">
                <a:extLst>
                  <a:ext uri="{FF2B5EF4-FFF2-40B4-BE49-F238E27FC236}">
                    <a16:creationId xmlns:a16="http://schemas.microsoft.com/office/drawing/2014/main" id="{CA1E4271-9890-DB99-E13F-028F09934546}"/>
                  </a:ext>
                </a:extLst>
              </p:cNvPr>
              <p:cNvSpPr>
                <a:spLocks noEditPoints="1"/>
              </p:cNvSpPr>
              <p:nvPr/>
            </p:nvSpPr>
            <p:spPr bwMode="auto">
              <a:xfrm rot="21036247">
                <a:off x="3226212" y="6042837"/>
                <a:ext cx="48463" cy="48462"/>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3" y="4"/>
                      <a:pt x="28" y="9"/>
                      <a:pt x="28" y="16"/>
                    </a:cubicBezTo>
                    <a:cubicBezTo>
                      <a:pt x="28" y="23"/>
                      <a:pt x="23" y="28"/>
                      <a:pt x="16" y="28"/>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66" name="object 6">
              <a:extLst>
                <a:ext uri="{FF2B5EF4-FFF2-40B4-BE49-F238E27FC236}">
                  <a16:creationId xmlns:a16="http://schemas.microsoft.com/office/drawing/2014/main" id="{BE641147-B751-911C-DE6A-FE9F5C872C70}"/>
                </a:ext>
              </a:extLst>
            </p:cNvPr>
            <p:cNvSpPr/>
            <p:nvPr/>
          </p:nvSpPr>
          <p:spPr>
            <a:xfrm flipV="1">
              <a:off x="3401607" y="6461148"/>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4" name="Picture 3" descr="A white circle with black text&#10;&#10;Description automatically generated">
            <a:extLst>
              <a:ext uri="{FF2B5EF4-FFF2-40B4-BE49-F238E27FC236}">
                <a16:creationId xmlns:a16="http://schemas.microsoft.com/office/drawing/2014/main" id="{CFD5F414-07E6-0303-6772-0700DF78D34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92804" y="5586600"/>
            <a:ext cx="794077" cy="794077"/>
          </a:xfrm>
          <a:prstGeom prst="rect">
            <a:avLst/>
          </a:prstGeom>
        </p:spPr>
      </p:pic>
      <p:grpSp>
        <p:nvGrpSpPr>
          <p:cNvPr id="9" name="Group 8">
            <a:extLst>
              <a:ext uri="{FF2B5EF4-FFF2-40B4-BE49-F238E27FC236}">
                <a16:creationId xmlns:a16="http://schemas.microsoft.com/office/drawing/2014/main" id="{1FC67E4C-73A2-897E-6348-7891123E92EE}"/>
              </a:ext>
            </a:extLst>
          </p:cNvPr>
          <p:cNvGrpSpPr/>
          <p:nvPr/>
        </p:nvGrpSpPr>
        <p:grpSpPr>
          <a:xfrm>
            <a:off x="3098263" y="5608183"/>
            <a:ext cx="463632" cy="247082"/>
            <a:chOff x="3517624" y="5569904"/>
            <a:chExt cx="566513" cy="301910"/>
          </a:xfrm>
        </p:grpSpPr>
        <p:sp>
          <p:nvSpPr>
            <p:cNvPr id="7" name="Rectangle 6">
              <a:extLst>
                <a:ext uri="{FF2B5EF4-FFF2-40B4-BE49-F238E27FC236}">
                  <a16:creationId xmlns:a16="http://schemas.microsoft.com/office/drawing/2014/main" id="{812685A3-20FD-E11A-F2AA-0049E044DD1D}"/>
                </a:ext>
              </a:extLst>
            </p:cNvPr>
            <p:cNvSpPr/>
            <p:nvPr/>
          </p:nvSpPr>
          <p:spPr>
            <a:xfrm>
              <a:off x="3517624" y="5628355"/>
              <a:ext cx="566513" cy="243459"/>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bject 25">
              <a:extLst>
                <a:ext uri="{FF2B5EF4-FFF2-40B4-BE49-F238E27FC236}">
                  <a16:creationId xmlns:a16="http://schemas.microsoft.com/office/drawing/2014/main" id="{617EBBB1-A008-9335-516A-DEC257B48FCF}"/>
                </a:ext>
              </a:extLst>
            </p:cNvPr>
            <p:cNvSpPr/>
            <p:nvPr/>
          </p:nvSpPr>
          <p:spPr>
            <a:xfrm>
              <a:off x="3603350" y="5569904"/>
              <a:ext cx="391160" cy="276860"/>
            </a:xfrm>
            <a:custGeom>
              <a:avLst/>
              <a:gdLst/>
              <a:ahLst/>
              <a:cxnLst/>
              <a:rect l="l" t="t" r="r" b="b"/>
              <a:pathLst>
                <a:path w="391159" h="276859">
                  <a:moveTo>
                    <a:pt x="105284" y="276359"/>
                  </a:moveTo>
                  <a:lnTo>
                    <a:pt x="64908" y="268424"/>
                  </a:lnTo>
                  <a:lnTo>
                    <a:pt x="31758" y="246740"/>
                  </a:lnTo>
                  <a:lnTo>
                    <a:pt x="9050" y="214493"/>
                  </a:lnTo>
                  <a:lnTo>
                    <a:pt x="0" y="174867"/>
                  </a:lnTo>
                  <a:lnTo>
                    <a:pt x="0" y="169167"/>
                  </a:lnTo>
                  <a:lnTo>
                    <a:pt x="6582" y="123552"/>
                  </a:lnTo>
                  <a:lnTo>
                    <a:pt x="23879" y="82351"/>
                  </a:lnTo>
                  <a:lnTo>
                    <a:pt x="50401" y="47041"/>
                  </a:lnTo>
                  <a:lnTo>
                    <a:pt x="84658" y="19098"/>
                  </a:lnTo>
                  <a:lnTo>
                    <a:pt x="125160" y="0"/>
                  </a:lnTo>
                  <a:lnTo>
                    <a:pt x="115371" y="15620"/>
                  </a:lnTo>
                  <a:lnTo>
                    <a:pt x="107199" y="32238"/>
                  </a:lnTo>
                  <a:lnTo>
                    <a:pt x="100747" y="49751"/>
                  </a:lnTo>
                  <a:lnTo>
                    <a:pt x="96123" y="68056"/>
                  </a:lnTo>
                  <a:lnTo>
                    <a:pt x="108425" y="68056"/>
                  </a:lnTo>
                  <a:lnTo>
                    <a:pt x="130811" y="70765"/>
                  </a:lnTo>
                  <a:lnTo>
                    <a:pt x="174309" y="93234"/>
                  </a:lnTo>
                  <a:lnTo>
                    <a:pt x="199139" y="124667"/>
                  </a:lnTo>
                  <a:lnTo>
                    <a:pt x="210513" y="171067"/>
                  </a:lnTo>
                  <a:lnTo>
                    <a:pt x="210522" y="172967"/>
                  </a:lnTo>
                  <a:lnTo>
                    <a:pt x="209569" y="186587"/>
                  </a:lnTo>
                  <a:lnTo>
                    <a:pt x="195379" y="226034"/>
                  </a:lnTo>
                  <a:lnTo>
                    <a:pt x="157670" y="262555"/>
                  </a:lnTo>
                  <a:lnTo>
                    <a:pt x="123907" y="274732"/>
                  </a:lnTo>
                  <a:lnTo>
                    <a:pt x="105284" y="276359"/>
                  </a:lnTo>
                  <a:close/>
                </a:path>
                <a:path w="391159" h="276859">
                  <a:moveTo>
                    <a:pt x="285494" y="276359"/>
                  </a:moveTo>
                  <a:lnTo>
                    <a:pt x="263566" y="274097"/>
                  </a:lnTo>
                  <a:lnTo>
                    <a:pt x="243216" y="267618"/>
                  </a:lnTo>
                  <a:lnTo>
                    <a:pt x="224911" y="257382"/>
                  </a:lnTo>
                  <a:lnTo>
                    <a:pt x="209119" y="243852"/>
                  </a:lnTo>
                  <a:lnTo>
                    <a:pt x="218880" y="227501"/>
                  </a:lnTo>
                  <a:lnTo>
                    <a:pt x="226019" y="209890"/>
                  </a:lnTo>
                  <a:lnTo>
                    <a:pt x="230402" y="191301"/>
                  </a:lnTo>
                  <a:lnTo>
                    <a:pt x="231820" y="172967"/>
                  </a:lnTo>
                  <a:lnTo>
                    <a:pt x="231804" y="171067"/>
                  </a:lnTo>
                  <a:lnTo>
                    <a:pt x="229726" y="148826"/>
                  </a:lnTo>
                  <a:lnTo>
                    <a:pt x="223484" y="127039"/>
                  </a:lnTo>
                  <a:lnTo>
                    <a:pt x="213559" y="107050"/>
                  </a:lnTo>
                  <a:lnTo>
                    <a:pt x="200342" y="89249"/>
                  </a:lnTo>
                  <a:lnTo>
                    <a:pt x="219492" y="59766"/>
                  </a:lnTo>
                  <a:lnTo>
                    <a:pt x="243880" y="34571"/>
                  </a:lnTo>
                  <a:lnTo>
                    <a:pt x="272762" y="14402"/>
                  </a:lnTo>
                  <a:lnTo>
                    <a:pt x="305393" y="0"/>
                  </a:lnTo>
                  <a:lnTo>
                    <a:pt x="295604" y="15620"/>
                  </a:lnTo>
                  <a:lnTo>
                    <a:pt x="287430" y="32238"/>
                  </a:lnTo>
                  <a:lnTo>
                    <a:pt x="280978" y="49751"/>
                  </a:lnTo>
                  <a:lnTo>
                    <a:pt x="276354" y="68056"/>
                  </a:lnTo>
                  <a:lnTo>
                    <a:pt x="287393" y="68056"/>
                  </a:lnTo>
                  <a:lnTo>
                    <a:pt x="326484" y="75875"/>
                  </a:lnTo>
                  <a:lnTo>
                    <a:pt x="359957" y="98236"/>
                  </a:lnTo>
                  <a:lnTo>
                    <a:pt x="382525" y="131402"/>
                  </a:lnTo>
                  <a:lnTo>
                    <a:pt x="390800" y="172017"/>
                  </a:lnTo>
                  <a:lnTo>
                    <a:pt x="388104" y="195599"/>
                  </a:lnTo>
                  <a:lnTo>
                    <a:pt x="368331" y="236468"/>
                  </a:lnTo>
                  <a:lnTo>
                    <a:pt x="337890" y="262555"/>
                  </a:lnTo>
                  <a:lnTo>
                    <a:pt x="304121" y="274732"/>
                  </a:lnTo>
                  <a:lnTo>
                    <a:pt x="285494" y="276359"/>
                  </a:lnTo>
                  <a:close/>
                </a:path>
                <a:path w="391159" h="276859">
                  <a:moveTo>
                    <a:pt x="108425" y="68056"/>
                  </a:moveTo>
                  <a:lnTo>
                    <a:pt x="96123" y="68056"/>
                  </a:lnTo>
                  <a:lnTo>
                    <a:pt x="99149" y="67801"/>
                  </a:lnTo>
                  <a:lnTo>
                    <a:pt x="102194" y="67676"/>
                  </a:lnTo>
                  <a:lnTo>
                    <a:pt x="105284" y="67676"/>
                  </a:lnTo>
                  <a:lnTo>
                    <a:pt x="108425" y="68056"/>
                  </a:lnTo>
                  <a:close/>
                </a:path>
                <a:path w="391159" h="276859">
                  <a:moveTo>
                    <a:pt x="287393" y="68056"/>
                  </a:moveTo>
                  <a:lnTo>
                    <a:pt x="276354" y="68056"/>
                  </a:lnTo>
                  <a:lnTo>
                    <a:pt x="279360" y="67801"/>
                  </a:lnTo>
                  <a:lnTo>
                    <a:pt x="282427" y="67676"/>
                  </a:lnTo>
                  <a:lnTo>
                    <a:pt x="285494" y="67676"/>
                  </a:lnTo>
                  <a:lnTo>
                    <a:pt x="287393" y="68056"/>
                  </a:lnTo>
                  <a:close/>
                </a:path>
              </a:pathLst>
            </a:custGeom>
            <a:solidFill>
              <a:srgbClr val="00AA7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83672578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28F1C7168B774DBA0D947BAC95ADD1" ma:contentTypeVersion="12" ma:contentTypeDescription="Create a new document." ma:contentTypeScope="" ma:versionID="ab68f2c833e09aa7e176d4542494896f">
  <xsd:schema xmlns:xsd="http://www.w3.org/2001/XMLSchema" xmlns:xs="http://www.w3.org/2001/XMLSchema" xmlns:p="http://schemas.microsoft.com/office/2006/metadata/properties" xmlns:ns2="b134bf45-6637-4d46-9e0b-ea5dfe480f7b" xmlns:ns3="906d9bb4-c53b-48ce-ad74-2ebc50fbcd89" targetNamespace="http://schemas.microsoft.com/office/2006/metadata/properties" ma:root="true" ma:fieldsID="12b19f84125535d4bd20ca612ab127f9" ns2:_="" ns3:_="">
    <xsd:import namespace="b134bf45-6637-4d46-9e0b-ea5dfe480f7b"/>
    <xsd:import namespace="906d9bb4-c53b-48ce-ad74-2ebc50fbcd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34bf45-6637-4d46-9e0b-ea5dfe480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97d36a7d-b0e2-49af-8978-949f6811527e"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06d9bb4-c53b-48ce-ad74-2ebc50fbcd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95f110a1-b8bf-4206-8128-bb6383551f4c}" ma:internalName="TaxCatchAll" ma:showField="CatchAllData" ma:web="906d9bb4-c53b-48ce-ad74-2ebc50fbcd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134bf45-6637-4d46-9e0b-ea5dfe480f7b">
      <Terms xmlns="http://schemas.microsoft.com/office/infopath/2007/PartnerControls"/>
    </lcf76f155ced4ddcb4097134ff3c332f>
    <TaxCatchAll xmlns="906d9bb4-c53b-48ce-ad74-2ebc50fbcd89" xsi:nil="true"/>
  </documentManagement>
</p:properties>
</file>

<file path=customXml/itemProps1.xml><?xml version="1.0" encoding="utf-8"?>
<ds:datastoreItem xmlns:ds="http://schemas.openxmlformats.org/officeDocument/2006/customXml" ds:itemID="{8DF67C82-E179-408A-9787-21A82844F9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34bf45-6637-4d46-9e0b-ea5dfe480f7b"/>
    <ds:schemaRef ds:uri="906d9bb4-c53b-48ce-ad74-2ebc50fbcd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935AB53-550C-4B0E-A59B-4E4C52480936}">
  <ds:schemaRefs>
    <ds:schemaRef ds:uri="http://schemas.microsoft.com/sharepoint/v3/contenttype/forms"/>
  </ds:schemaRefs>
</ds:datastoreItem>
</file>

<file path=customXml/itemProps3.xml><?xml version="1.0" encoding="utf-8"?>
<ds:datastoreItem xmlns:ds="http://schemas.openxmlformats.org/officeDocument/2006/customXml" ds:itemID="{C33442FE-AD8D-4094-8102-D2A44B70EA08}">
  <ds:schemaRefs>
    <ds:schemaRef ds:uri="http://purl.org/dc/dcmitype/"/>
    <ds:schemaRef ds:uri="http://purl.org/dc/terms/"/>
    <ds:schemaRef ds:uri="http://schemas.microsoft.com/office/2006/documentManagement/types"/>
    <ds:schemaRef ds:uri="http://schemas.microsoft.com/office/2006/metadata/properties"/>
    <ds:schemaRef ds:uri="http://purl.org/dc/elements/1.1/"/>
    <ds:schemaRef ds:uri="http://www.w3.org/XML/1998/namespace"/>
    <ds:schemaRef ds:uri="http://schemas.microsoft.com/office/infopath/2007/PartnerControls"/>
    <ds:schemaRef ds:uri="http://schemas.openxmlformats.org/package/2006/metadata/core-properties"/>
    <ds:schemaRef ds:uri="906d9bb4-c53b-48ce-ad74-2ebc50fbcd89"/>
    <ds:schemaRef ds:uri="b134bf45-6637-4d46-9e0b-ea5dfe480f7b"/>
  </ds:schemaRefs>
</ds:datastoreItem>
</file>

<file path=docProps/app.xml><?xml version="1.0" encoding="utf-8"?>
<Properties xmlns="http://schemas.openxmlformats.org/officeDocument/2006/extended-properties" xmlns:vt="http://schemas.openxmlformats.org/officeDocument/2006/docPropsVTypes">
  <TotalTime>0</TotalTime>
  <Words>580</Words>
  <Application>Microsoft Office PowerPoint</Application>
  <PresentationFormat>Widescreen</PresentationFormat>
  <Paragraphs>30</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Helvetica Neue Medium</vt:lpstr>
      <vt:lpstr>Lato Light</vt:lpstr>
      <vt:lpstr>Roboto</vt:lpstr>
      <vt:lpstr>Roboto Light</vt:lpstr>
      <vt:lpstr>1_Office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Darcy Roach</dc:creator>
  <cp:lastModifiedBy>Darcy Roach</cp:lastModifiedBy>
  <cp:revision>37</cp:revision>
  <dcterms:created xsi:type="dcterms:W3CDTF">2023-09-17T23:19:06Z</dcterms:created>
  <dcterms:modified xsi:type="dcterms:W3CDTF">2024-12-09T04:18:59Z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0x010100EA28F1C7168B774DBA0D947BAC95ADD1</vt:lpwstr>
  </property>
  <property fmtid="{D5CDD505-2E9C-101B-9397-08002B2CF9AE}" pid="3" name="MediaServiceImageTags">
    <vt:lpwstr/>
  </property>
</Properties>
</file>